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324" r:id="rId4"/>
    <p:sldId id="724" r:id="rId5"/>
    <p:sldId id="802" r:id="rId6"/>
    <p:sldId id="328" r:id="rId7"/>
    <p:sldId id="803" r:id="rId8"/>
    <p:sldId id="746" r:id="rId9"/>
    <p:sldId id="782" r:id="rId10"/>
    <p:sldId id="783" r:id="rId11"/>
    <p:sldId id="784" r:id="rId12"/>
    <p:sldId id="785" r:id="rId13"/>
    <p:sldId id="786" r:id="rId14"/>
    <p:sldId id="787" r:id="rId15"/>
    <p:sldId id="789" r:id="rId16"/>
    <p:sldId id="790" r:id="rId17"/>
    <p:sldId id="791" r:id="rId18"/>
    <p:sldId id="792" r:id="rId19"/>
    <p:sldId id="793" r:id="rId20"/>
    <p:sldId id="794" r:id="rId21"/>
    <p:sldId id="795" r:id="rId22"/>
    <p:sldId id="796" r:id="rId23"/>
    <p:sldId id="797" r:id="rId24"/>
    <p:sldId id="798" r:id="rId25"/>
    <p:sldId id="799" r:id="rId26"/>
    <p:sldId id="800" r:id="rId27"/>
    <p:sldId id="801" r:id="rId28"/>
    <p:sldId id="781" r:id="rId29"/>
    <p:sldId id="779" r:id="rId30"/>
    <p:sldId id="273" r:id="rId31"/>
    <p:sldId id="274" r:id="rId32"/>
    <p:sldId id="495" r:id="rId33"/>
    <p:sldId id="780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01" autoAdjust="0"/>
  </p:normalViewPr>
  <p:slideViewPr>
    <p:cSldViewPr snapToGrid="0">
      <p:cViewPr varScale="1">
        <p:scale>
          <a:sx n="72" d="100"/>
          <a:sy n="72" d="100"/>
        </p:scale>
        <p:origin x="107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74A2D-C15E-45C6-8A02-FCE81FFE4094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810EE-DF2A-4EEC-BA0D-5226B6602E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50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60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619D5C2-162B-1C80-FB72-99BE0E40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CE9DB5E7-9049-4548-92C8-066AEDE1A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587CB5B8-B893-222D-B8FA-B4BC8248F8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0970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A5FA78C-624E-6F94-122F-D86D5A50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4152EEE0-9ECB-FEA8-F5AB-8AA1FE9949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CF132542-1260-DD62-442A-F63F5E2B5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0355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759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E46161C7-0A06-3001-D750-2372FF07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5C3D642A-26E0-6537-4EEC-C1C2DCFE2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2560D4DE-AE27-AF72-768A-1BEC4A21F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2335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82A3A45-656F-E885-2385-F00BA9F3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BF1C5DB5-A4AA-B704-1742-D96A6A718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29A907DC-E14B-1E9D-30C4-475162601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4134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95531B5-80EE-46C1-1655-45D29EC8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ADDDAA35-E01D-93EF-929B-DD43E49B6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A6921218-D206-D57F-6A3B-603CE6A9E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6570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9CEE519-565B-6CC7-5300-D65EE307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F744268E-5D70-8C0C-832D-979AECF44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C7E01D8F-C53F-89DF-47B2-815B905BF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1885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B064843F-7FBA-DC62-D98D-5198E6EA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ADFCD46B-407C-B689-ABD7-58C63410D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03F80C9B-1341-FD67-91D2-266F45AA0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099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90B1D89-4E0B-E6E1-D005-0EBC39F9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6778460F-2AF7-A427-6DD7-1967881E7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7BBCA90F-75C9-BCC2-C365-0ACC1E87F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510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942F639-7AE5-B6E4-F4FD-2B3D9F5F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2FBDE2E6-1DD4-0F20-5920-778F46DF5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E3E25DA9-9B63-43F8-0ED7-5CE53E40E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0474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942D2AF-A76F-C1C2-C50A-BAA1CF53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28DAD99F-760A-C88D-2FEC-D13481ECE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4FE6EF49-FFBA-A5A0-4ED4-C169DAD3D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899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531D504-A072-4468-E794-492CCF15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AFD8BC84-A9BB-F86B-9C15-797074300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2DBD5773-233A-23C1-CB0C-1013659EB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7515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301CA36-A4F4-5E1E-FA9B-367E3A73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6EA23157-1BEC-ECD4-51CF-DDD836A46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F1BE92F6-8B39-F4EB-FCB4-0E93A1B24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7785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0573050-C1FC-48D1-FE83-6C48D370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AB9D07D7-8D99-9A98-E471-C30103E6BD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915AE6D8-2DB7-E4BC-A7E6-EFCD4076F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2232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4ED2125-AB0F-3DDD-951B-88B668FE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7AFC3E4F-7956-468B-78A5-6F8BFFCEC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4874DE80-CD5E-7D8F-8E74-084B30669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598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5C4BC6A-51A0-CCED-9CF7-27961CA3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86A2D724-BDC6-A6F8-F6C5-4A5E4ED57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59685B07-75C9-F8E3-BF26-4B0DDCCB0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6054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D9D5AB9-EF04-E432-B2EB-9E2D8BBF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F2D9E4F0-DA46-43D5-97B0-B27627B62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DE85350F-57D9-A745-C2B5-118259E718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6491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A83A24B-A099-2277-6301-6EBCACC8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943A6DD2-2B50-4397-ABCB-C85DCE1AB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5F47090F-1CC4-34AB-6832-E2066B714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0000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D8F7196-6171-DEFD-FA0E-7779648C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4A33308F-162E-4985-7616-6ECFE9352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E62A6698-42B0-BC95-E9BE-9BFF2FDFC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576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AAD12CD-FC22-2235-A72E-E6C470C2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FC7533C4-A765-7B07-5CF7-347846AF8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09C68371-D288-7B8C-901E-3FCDAEEB7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2618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B1D0207-9B3E-4715-CDC6-38427BE4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344440EF-DAAA-9284-F2C6-BE4C30E18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D767B455-6EB9-398E-ACF9-3E68E297B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041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2A3DE7C-EEF1-7C03-8C55-8ADBCDF3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C10A656C-2001-56B1-6686-92FB4F3B6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1CACC890-6316-AB15-A0B9-C4A486676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9157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E87859C1-FA09-475B-CEF4-585D7C75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6180E9C8-780A-321E-7882-2AEDC7547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B086EFAA-2F71-9ED6-144B-A062AFD04D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7691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C6DBEA3-8D28-A40D-8E7C-E048AC93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42F32AD9-1F62-AC14-9291-C8C1C3BFC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691909E4-9C70-EE0C-3D26-3303A8F13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961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5572537-1040-7B21-CDE2-F55AA38C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DFE570A1-D4E3-80FB-881F-4B0F4A5A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4D9E5055-AC94-D27E-ECFE-4A9CC26E7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8159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2D742C0-7065-9237-65B8-CFFE4CEB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CFDB6210-2D69-6286-16A9-8CFB57F8C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>
            <a:extLst>
              <a:ext uri="{FF2B5EF4-FFF2-40B4-BE49-F238E27FC236}">
                <a16:creationId xmlns:a16="http://schemas.microsoft.com/office/drawing/2014/main" id="{9CB2C45B-0E13-A99E-269B-4C54FE7E6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5976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E698-340F-4EBF-8F30-50453018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3148B-081B-4AAA-A608-7C7248C86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61F22-6C42-4B66-95B6-11D31254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95534-CCD6-491F-A2E1-73E332F4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2B9C3-B338-421F-97FF-D83A38E1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03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B48-7FAE-4D90-A750-F67CA7D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795F3-C7D4-4453-8EF9-EF2AD65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FD1F5-C29A-4D4D-AEFD-CEAC58A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B0816-DD1A-4889-8D4B-FEACBD91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DFF90-7FA0-4AF1-8FB3-17268578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4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219B9-C203-4DDB-9622-439B05E8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070E03-BE51-4677-897D-A0FBB7BB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B72A9-AE11-4C2C-96FA-E5412F97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9E67E6-F866-44DA-95E5-3C586795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EFE0C1-F50E-4535-A077-E85F2666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59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307CC-1EE9-4E03-A8E4-A188391F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40398-DF18-428D-8BD6-A81755299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4F92D6-2AA9-476A-9428-74BB2155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3D60A-99C0-43D8-A538-032756C6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A64066-069D-4832-9E95-87DFF30E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A151F2-785F-48FC-A706-B3B6CEEA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86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4693D-5F3B-4CFD-8A7E-0661B4EC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396E33-A9FA-4134-9F74-F9D43767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F8C7B-A663-44AD-8D10-14F2C930E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6EBEE3-CA07-4782-A360-635B2120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918A83-2868-4683-8EEC-E911D02AE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54105-C3CE-40D9-9F51-066AC34C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0CC430-9377-457F-87BC-4325C1B4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52A023-5E54-45CF-A288-75AAC3A9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32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64EE1-7D51-4138-8413-1DB8E29F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1B466E-6465-432B-BF93-A670E7A9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9E9D2F-30CA-41C1-9878-03445A92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A8759-97ED-4356-8F07-F67B3CF2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869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2641B1-C909-4EF1-BF0C-5B3B01B5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D9BBBB-43C7-48A3-A705-96F0A365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98FEE4-F7DE-4CBB-B498-A904FF32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67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773E6-1F86-48B3-B617-62BA8F4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73076-EBF9-4E18-B856-EEF4B299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AB3B9D-23F1-4980-9A8B-4EE72F5A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0468B-BDA6-4BF0-A2B9-97923EAA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45E7B-CFB3-4806-A8E5-64E2B710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F8A86-EA15-4FCE-AD77-5C42440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4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B41D0-1716-4F0A-89E3-B7F24280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61BD11-CA16-472C-A2E4-13BA64C4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A3AF83-743F-4AB8-BD33-8B1B86873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B877D6-E487-4A25-A13D-B193F3D2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99429D-CDCA-4E9C-BCCE-7CC6466B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B507C-82C3-4DEB-8CE5-D4444D2D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27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1B732-27AE-438A-8BFF-862D6A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01D6B1-9A93-4213-8E10-574E11F3D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6302D-DC45-4A1A-995E-B976A6B9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9D52E-42B7-496A-9698-ECC761DD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73E8CC-B11F-40DA-A0D6-F03C115F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41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6A2BCF-45B9-4EA2-AFEA-551F296F6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7FC913-1466-4466-93FC-3B186E5F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DB044-85AF-401E-A0A1-A087317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EAAF9-5F5C-48BF-B1DB-37067F2F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DFBD-9EB4-4D00-94D0-C67DF97A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28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72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17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6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49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87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66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49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35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0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9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1A4B0C-CEB8-4239-B7CB-D30F63DB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FDA91-4622-4472-BA27-C1B09036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3F8B6-BF5F-4566-A90D-925F57210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B83AC9-2DF1-4775-B7F8-DCE61C444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6475A-9735-477F-BA89-044917D79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16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onathan.bandeira@souunit.com.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onathan.bandeira@souunit.com.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2257994-BD97-4691-8B89-198A6D2BA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C3EE67-EB9B-4CDC-90C2-8819DDDCA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2849909"/>
            <a:ext cx="11344275" cy="1637503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Teoria dos Grafos </a:t>
            </a:r>
            <a:b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/>
              <a:t>Ordenação Topológica</a:t>
            </a:r>
            <a:endParaRPr lang="pt-BR" sz="5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9F6184-63F4-4F05-8CE5-111C47729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66" y="5041078"/>
            <a:ext cx="8519882" cy="847176"/>
          </a:xfrm>
        </p:spPr>
        <p:txBody>
          <a:bodyPr>
            <a:normAutofit/>
          </a:bodyPr>
          <a:lstStyle/>
          <a:p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Bandeira: 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2"/>
              </a:rPr>
              <a:t>jonathan.bandeira@souunit.com.br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endParaRPr lang="pt-BR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CFCA72-CEF0-4B59-9249-2FF30437C0E2}"/>
              </a:ext>
            </a:extLst>
          </p:cNvPr>
          <p:cNvSpPr/>
          <p:nvPr/>
        </p:nvSpPr>
        <p:spPr>
          <a:xfrm>
            <a:off x="3979097" y="6319351"/>
            <a:ext cx="36070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da Computação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3" y="140903"/>
            <a:ext cx="4110038" cy="2195590"/>
          </a:xfrm>
          <a:prstGeom prst="rect">
            <a:avLst/>
          </a:prstGeom>
        </p:spPr>
      </p:pic>
      <p:pic>
        <p:nvPicPr>
          <p:cNvPr id="2052" name="Picture 4" descr="Porto Digital | Linked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2910" cy="281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29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838200" y="169068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 para Ordenação Topológica;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de Kahn;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46"/>
            <a:fld id="{43A91214-D368-4B4F-B4B3-73A619B7B87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446"/>
              <a:t>2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027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095212E-5EA8-80CB-54CE-2C394A0C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1D373E10-AA6A-A263-4C07-E9979EBA4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5BD2EA7-E590-85D2-8874-49959DB2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3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C08709-8A89-336F-6CFB-D729969B8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teoria dos grafos, uma </a:t>
            </a:r>
            <a:r>
              <a:rPr lang="pt-BR" b="1" dirty="0"/>
              <a:t>ordenação topológica </a:t>
            </a:r>
            <a:r>
              <a:rPr lang="pt-BR" dirty="0"/>
              <a:t>de um </a:t>
            </a:r>
            <a:r>
              <a:rPr lang="pt-BR" b="1" dirty="0" err="1"/>
              <a:t>digrafo</a:t>
            </a:r>
            <a:r>
              <a:rPr lang="pt-BR" b="1" dirty="0"/>
              <a:t> acíclico dirigido </a:t>
            </a:r>
            <a:r>
              <a:rPr lang="pt-BR" dirty="0"/>
              <a:t>(GAD) é uma ordem linear de seus nós em que cada nó vem antes de todos nós para os quais este tenha arestas de saída. </a:t>
            </a:r>
          </a:p>
          <a:p>
            <a:r>
              <a:rPr lang="pt-BR" dirty="0"/>
              <a:t>A aplicação canônica da ordenação topológica (ordem topológica) está na programação de uma sequência de trabalhos ou tarefas.</a:t>
            </a:r>
          </a:p>
          <a:p>
            <a:r>
              <a:rPr lang="pt-BR" dirty="0"/>
              <a:t>Os algoritmos usuais de ordenação topológica tem tempo de execução linear no número de nós, mais o número de arestas (O(|V|+|E|)).</a:t>
            </a:r>
          </a:p>
        </p:txBody>
      </p:sp>
    </p:spTree>
    <p:extLst>
      <p:ext uri="{BB962C8B-B14F-4D97-AF65-F5344CB8AC3E}">
        <p14:creationId xmlns:p14="http://schemas.microsoft.com/office/powerpoint/2010/main" val="346596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C0730CF-9E89-049A-BED1-45B38DA4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E73D7569-ACA2-2308-49A8-D253D5F5B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CBC027A-6C9B-143F-D94F-A540746D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4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B3C4C2-49FE-7B38-3CDC-E9C94D4DD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Algoritmos de ordenação topológica </a:t>
            </a:r>
            <a:r>
              <a:rPr lang="pt-BR" dirty="0"/>
              <a:t>começaram a ser estudados no início dos anos </a:t>
            </a:r>
            <a:r>
              <a:rPr lang="pt-BR" b="1" dirty="0"/>
              <a:t>1960</a:t>
            </a:r>
            <a:r>
              <a:rPr lang="pt-BR" dirty="0"/>
              <a:t> no contexto da técnica </a:t>
            </a:r>
            <a:r>
              <a:rPr lang="pt-BR" b="1" dirty="0"/>
              <a:t>PERT</a:t>
            </a:r>
            <a:r>
              <a:rPr lang="pt-BR" dirty="0"/>
              <a:t> para a agendamento de tarefas em gerenciamento de projetos. </a:t>
            </a:r>
          </a:p>
          <a:p>
            <a:r>
              <a:rPr lang="pt-BR" dirty="0"/>
              <a:t>Os trabalhos são representados por vértices, e existe uma aresta de x para y se o trabalho x deve estar concluído antes do trabalho y poder ser iniciado (por exemplo, ao lavar roupas, a máquina de lavar deve terminar antes de se poder colocar as roupas para secar). </a:t>
            </a:r>
          </a:p>
          <a:p>
            <a:r>
              <a:rPr lang="pt-BR" dirty="0"/>
              <a:t>Em seguida, uma ordenação topológica dá uma ordem na qual se possa realizar os trabalhos.</a:t>
            </a:r>
          </a:p>
        </p:txBody>
      </p:sp>
    </p:spTree>
    <p:extLst>
      <p:ext uri="{BB962C8B-B14F-4D97-AF65-F5344CB8AC3E}">
        <p14:creationId xmlns:p14="http://schemas.microsoft.com/office/powerpoint/2010/main" val="1047408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5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9CBCCF-4F1F-9278-8244-57DCF3483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Se uma ordenação topológica tem a propriedade de todos os pares de vértices consecutivos na ordem de classificação serem conectados por arestas, essas arestas formam um caminho hamiltoniano dirigido no GAD. </a:t>
            </a:r>
          </a:p>
          <a:p>
            <a:r>
              <a:rPr lang="pt-BR" dirty="0"/>
              <a:t>Se existe um caminho Hamiltoniano, a ordenação topológica é única, nenhuma outra ordem respeita as arestas caminho. </a:t>
            </a:r>
          </a:p>
          <a:p>
            <a:r>
              <a:rPr lang="pt-BR" dirty="0"/>
              <a:t>Inversamente, se uma ordenação topológica não formar um caminho Hamiltoniano, o GAD terá duas ou mais ordenações topológicas válidas, porque neste caso, é sempre possível formar-se uma segunda ordenação válida ao se trocar dois vértices consecutivos, que não são ligados por uma aresta, uns com os outros. </a:t>
            </a:r>
          </a:p>
        </p:txBody>
      </p:sp>
    </p:spTree>
    <p:extLst>
      <p:ext uri="{BB962C8B-B14F-4D97-AF65-F5344CB8AC3E}">
        <p14:creationId xmlns:p14="http://schemas.microsoft.com/office/powerpoint/2010/main" val="141594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9FA7812-BA63-D99E-F32A-968D77B0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A0BD00BD-EA9C-A3A4-8449-E637A3751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6D0883A-8F73-8CE0-4021-F227677D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6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FC6480-482B-463E-4585-972D3281D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8023" cy="4351338"/>
          </a:xfrm>
        </p:spPr>
        <p:txBody>
          <a:bodyPr>
            <a:normAutofit fontScale="92500"/>
          </a:bodyPr>
          <a:lstStyle/>
          <a:p>
            <a:r>
              <a:rPr lang="pt-BR" dirty="0"/>
              <a:t>Cada GAD tem uma ou mais ordenações topológicas.</a:t>
            </a:r>
          </a:p>
          <a:p>
            <a:r>
              <a:rPr lang="pt-BR" dirty="0"/>
              <a:t>O grafo mostrado no exemplo tem muitas ordenações topológicas, incluindo:</a:t>
            </a:r>
          </a:p>
          <a:p>
            <a:pPr lvl="1"/>
            <a:r>
              <a:rPr lang="pt-BR" dirty="0"/>
              <a:t>7, 5, 3, 11, 8, 2, 9, 10 (visual esquerda-para-direita, de-cima-para-baixo)</a:t>
            </a:r>
          </a:p>
          <a:p>
            <a:pPr lvl="1"/>
            <a:r>
              <a:rPr lang="pt-BR" dirty="0"/>
              <a:t>3, 5, 7, 8, 11, 2, 9, 10 (vértice de menor número disponível primeiro)</a:t>
            </a:r>
          </a:p>
          <a:p>
            <a:pPr lvl="1"/>
            <a:r>
              <a:rPr lang="pt-BR" dirty="0"/>
              <a:t>5, 7, 3, 8, 11, 10, 2, 9 (menor número de arestas primeiro)</a:t>
            </a:r>
          </a:p>
          <a:p>
            <a:pPr lvl="1"/>
            <a:r>
              <a:rPr lang="pt-BR" dirty="0"/>
              <a:t>7, 5, 11, 3, 10, 8, 9, 2 (vértice de maior número disponível primeiro)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AA074BA-3B27-FFDA-9C2D-96D696E66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82" y="2339495"/>
            <a:ext cx="3818418" cy="339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712DF63-636F-A46A-B74F-2C9D3AAD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77F79419-0D48-037F-DA32-38B81CC84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C7D3C9D-CE1A-3FAA-6535-2369E4BC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7</a:t>
            </a:fld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93D56A8-2748-1CBF-3145-F20AD51A1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9109" y="1825625"/>
            <a:ext cx="100337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0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F541CE46-5C10-52F1-9004-4D45DE37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BBE1A495-DA8A-6467-5FB7-067BAE3099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C164768-BABD-8EF2-35D1-A2F5E99A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8</a:t>
            </a:fld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C603C33-F2AC-AFA8-9163-FBEF99452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5098" y="2215107"/>
            <a:ext cx="10421804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12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96D90C8-EC48-A458-BAC4-E56948D9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B59ABF69-B7EA-E5AF-7719-A99674AAF8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3FD3328-240F-0C95-B4D2-8DEF8080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9</a:t>
            </a:fld>
            <a:endParaRPr lang="pt-BR"/>
          </a:p>
        </p:txBody>
      </p:sp>
      <p:pic>
        <p:nvPicPr>
          <p:cNvPr id="7" name="Espaço Reservado para Conteúdo 6" descr="Tabela&#10;&#10;O conteúdo gerado por IA pode estar incorreto.">
            <a:extLst>
              <a:ext uri="{FF2B5EF4-FFF2-40B4-BE49-F238E27FC236}">
                <a16:creationId xmlns:a16="http://schemas.microsoft.com/office/drawing/2014/main" id="{E3CBFE09-656B-13A5-BDA0-9D048D4ECC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387" y="1953133"/>
            <a:ext cx="10393225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5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20B76924-601B-ED89-D16E-ADCD9A4D6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841F7C5D-0FBA-BFF8-AD69-A817F0CE2A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FEAC55F-D186-026F-591A-42A6AA01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10</a:t>
            </a:fld>
            <a:endParaRPr lang="pt-BR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C35B003A-3C8D-278F-FF1E-673E1B1CA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5657" y="1825625"/>
            <a:ext cx="95606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3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A407E1D1-92A2-0786-B8A6-4043152E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002A4AB3-16BB-AEBC-7CBE-3A3D154763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0FA7655-24FC-F068-D035-AEFDC465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11</a:t>
            </a:fld>
            <a:endParaRPr lang="pt-BR"/>
          </a:p>
        </p:txBody>
      </p:sp>
      <p:pic>
        <p:nvPicPr>
          <p:cNvPr id="7" name="Espaço Reservado para Conteúdo 6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EA83685B-8A4F-679B-D68F-128093FCC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7519" y="2658081"/>
            <a:ext cx="10116962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808BFD9-5C04-3A48-300D-2BCBBE37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0E9EA4F3-9CB7-D090-5A7F-3945B9817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C729EE8-014C-0465-5BF3-F852D25D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12</a:t>
            </a:fld>
            <a:endParaRPr lang="pt-BR"/>
          </a:p>
        </p:txBody>
      </p:sp>
      <p:pic>
        <p:nvPicPr>
          <p:cNvPr id="6" name="Espaço Reservado para Conteúdo 5" descr="Diagrama&#10;&#10;O conteúdo gerado por IA pode estar incorreto.">
            <a:extLst>
              <a:ext uri="{FF2B5EF4-FFF2-40B4-BE49-F238E27FC236}">
                <a16:creationId xmlns:a16="http://schemas.microsoft.com/office/drawing/2014/main" id="{75DEBC0C-7BD5-CC70-1173-E73B4B6CE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5902" y="1825625"/>
            <a:ext cx="83001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42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2971F87D-888E-4F0F-AFF9-B7B42994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CB356E6E-93DE-CEFC-94C8-88C0E5FFF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0DEE2E9-9E65-290A-6DEB-996A2733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13</a:t>
            </a:fld>
            <a:endParaRPr lang="pt-BR"/>
          </a:p>
        </p:txBody>
      </p:sp>
      <p:pic>
        <p:nvPicPr>
          <p:cNvPr id="7" name="Espaço Reservado para Conteúdo 6" descr="Texto&#10;&#10;O conteúdo gerado por IA pode estar incorreto.">
            <a:extLst>
              <a:ext uri="{FF2B5EF4-FFF2-40B4-BE49-F238E27FC236}">
                <a16:creationId xmlns:a16="http://schemas.microsoft.com/office/drawing/2014/main" id="{B0062903-AF17-B63A-BEC8-F2F0AB26A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5098" y="2310370"/>
            <a:ext cx="10421804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8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6C5D31D-872F-4792-09BA-D34528A6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D80B65CB-FA42-E213-AC8E-314519A05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 - Algoritmos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8BA083E-6E63-596D-60F7-7FABB739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14</a:t>
            </a:fld>
            <a:endParaRPr lang="pt-BR"/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5176EF0-1A0A-1817-B68F-6A8B8FFBB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0334" y="2648555"/>
            <a:ext cx="10431331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36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1F5F3E1-D80A-A97E-B779-A740F96C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71368ABF-3AF3-2CA6-674E-667626734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6ACE4BC-F509-872E-5B04-EB247C1B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15</a:t>
            </a:fld>
            <a:endParaRPr lang="pt-BR"/>
          </a:p>
        </p:txBody>
      </p:sp>
      <p:pic>
        <p:nvPicPr>
          <p:cNvPr id="7" name="Espaço Reservado para Conteúdo 6" descr="Interface gráfica do usuário, Texto, Email&#10;&#10;O conteúdo gerado por IA pode estar incorreto.">
            <a:extLst>
              <a:ext uri="{FF2B5EF4-FFF2-40B4-BE49-F238E27FC236}">
                <a16:creationId xmlns:a16="http://schemas.microsoft.com/office/drawing/2014/main" id="{6E9D4A0F-ABF3-C635-C343-AA8364C83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6045" y="2710476"/>
            <a:ext cx="1045991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79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82769F7-3E8E-0A2B-92B7-3B5543D38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AD93150B-4DF8-0792-61E2-B61541C6B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524D7BE-99C1-60D0-759F-D69E5FCA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16</a:t>
            </a:fld>
            <a:endParaRPr lang="pt-BR"/>
          </a:p>
        </p:txBody>
      </p:sp>
      <p:pic>
        <p:nvPicPr>
          <p:cNvPr id="6" name="Espaço Reservado para Conteúdo 5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525267A0-ED88-12AB-7734-BDF00F5C3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5337" y="1825625"/>
            <a:ext cx="93413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7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429E1DF-5B9A-5D8B-3E96-86928456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A1B1A697-64B3-406C-2F23-896085B44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65ECB9B-9A4E-FAF8-26DA-09EA1542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17</a:t>
            </a:fld>
            <a:endParaRPr lang="pt-BR"/>
          </a:p>
        </p:txBody>
      </p:sp>
      <p:pic>
        <p:nvPicPr>
          <p:cNvPr id="7" name="Espaço Reservado para Conteúdo 6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7C9EE472-9321-D7DA-99AD-F5512BCBF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2769" y="1825625"/>
            <a:ext cx="80064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89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7BBAE74-88A7-B160-AAB6-DCD68197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0E783BF5-26C0-F32B-A9DF-5F1263B3A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em Profundidade - Exemplo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90B392A-9F1E-60CA-B5D4-7632B2AB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18</a:t>
            </a:fld>
            <a:endParaRPr lang="pt-BR"/>
          </a:p>
        </p:txBody>
      </p:sp>
      <p:pic>
        <p:nvPicPr>
          <p:cNvPr id="6" name="Espaço Reservado para Conteúdo 5" descr="Diagrama&#10;&#10;O conteúdo gerado por IA pode estar incorreto.">
            <a:extLst>
              <a:ext uri="{FF2B5EF4-FFF2-40B4-BE49-F238E27FC236}">
                <a16:creationId xmlns:a16="http://schemas.microsoft.com/office/drawing/2014/main" id="{CC59D724-EDED-96C3-DC4A-FC96C3249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7422" y="1825625"/>
            <a:ext cx="62571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15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928027F-BB7D-C226-7FC4-FBF6AA46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4F723E5A-5E21-E9CB-2441-DED5AB774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de Kahn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18E6A5A-4A6E-6A88-D289-3ACA172E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19</a:t>
            </a:fld>
            <a:endParaRPr lang="pt-BR"/>
          </a:p>
        </p:txBody>
      </p:sp>
      <p:pic>
        <p:nvPicPr>
          <p:cNvPr id="7" name="Espaço Reservado para Conteúdo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903FC5C-56D0-BC4F-AF88-C37A0C0DA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0887" y="1825625"/>
            <a:ext cx="95502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00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53F7AC2-C522-EE45-099D-A3D22A1F3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C002E758-D9FB-07F7-CF80-E79DE79D3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de Kahn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7E2C4E6-C9FC-6CC3-FE22-BF05EB38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20</a:t>
            </a:fld>
            <a:endParaRPr lang="pt-BR"/>
          </a:p>
        </p:txBody>
      </p:sp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CE448C85-62BE-1E87-B6C5-4356A08B9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8804" y="1825625"/>
            <a:ext cx="85343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1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74D6976-08A4-FC20-972C-76CE4308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09F994FF-6822-91FE-A017-7D853CE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de Kahn - Exemplo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9390EA5-EF00-73BB-330D-01EB92C1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21</a:t>
            </a:fld>
            <a:endParaRPr lang="pt-BR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C470D8F5-B673-2FC0-FA10-EEB01F607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4010" y="1825625"/>
            <a:ext cx="67239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1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73D1E2E-2398-B3B2-4E7B-E5F8B033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F217A2CA-9961-E408-C96D-DAEF77E751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D3475A5-EF6E-8979-6F52-0EA45D43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22</a:t>
            </a:fld>
            <a:endParaRPr lang="pt-BR"/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29C88C83-6443-1EEA-E5E3-761FC1E22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6045" y="2243686"/>
            <a:ext cx="1045991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72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F51E796-BC07-5F82-767A-B6025940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D8A9282C-3B51-D354-7F20-672B8DCDE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 - Dependências do Pacote GCC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EDE7F7C-93C7-30CA-F6A7-840E3014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23</a:t>
            </a:fld>
            <a:endParaRPr lang="pt-BR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34A0AF71-9C42-03D7-5795-BA3C52364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75126" y="1825625"/>
            <a:ext cx="96417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25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015667F-971F-B624-B317-8D748731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53D3430C-3835-4179-A826-1BD3DE52A6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 - Caminho Crítico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F17A15E-DCB0-3974-00CC-A32453CB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24</a:t>
            </a:fld>
            <a:endParaRPr lang="pt-BR"/>
          </a:p>
        </p:txBody>
      </p:sp>
      <p:pic>
        <p:nvPicPr>
          <p:cNvPr id="6" name="Espaço Reservado para Conteúdo 5" descr="Diagrama&#10;&#10;O conteúdo gerado por IA pode estar incorreto.">
            <a:extLst>
              <a:ext uri="{FF2B5EF4-FFF2-40B4-BE49-F238E27FC236}">
                <a16:creationId xmlns:a16="http://schemas.microsoft.com/office/drawing/2014/main" id="{B0357B4B-E411-AA5B-ACD6-7CC35884A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4677" y="2315133"/>
            <a:ext cx="1000264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66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8292796-FACE-CC28-756B-FFDC47E4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41B96CAF-1570-6460-82D1-86C48ACF2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 - Caminho Crítico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9F18CE5-5E03-4CAD-8DB2-E7EE41A5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25</a:t>
            </a:fld>
            <a:endParaRPr lang="pt-BR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48E1DF2C-3B2E-5086-2583-EC6B3C6AF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6271" y="1825625"/>
            <a:ext cx="93394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18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18E2969-2316-B3DF-4A33-23826028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035BAAFB-6078-89E1-FEA9-BAC45896F5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Ordenação Topológica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1656376-3370-C243-1192-016C6DFC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26</a:t>
            </a:fld>
            <a:endParaRPr lang="pt-BR"/>
          </a:p>
        </p:txBody>
      </p:sp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53F0EB2C-0296-4D11-4322-668A32E68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0334" y="3086766"/>
            <a:ext cx="10431331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5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B46CB08-FF05-CDF9-C233-0A1A8DF0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4CD93514-76A0-57B9-06D8-F28551783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71D5A86-C6EF-11DF-B05F-040615EE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27</a:t>
            </a:fld>
            <a:endParaRPr lang="pt-BR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7DEF4E8F-7EB2-085E-EB2B-FC3243A56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52800" y="2187574"/>
            <a:ext cx="4746166" cy="43513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02C1359-AD3B-5F09-41F5-147C40E10BDC}"/>
              </a:ext>
            </a:extLst>
          </p:cNvPr>
          <p:cNvSpPr txBox="1"/>
          <p:nvPr/>
        </p:nvSpPr>
        <p:spPr>
          <a:xfrm>
            <a:off x="534839" y="2894613"/>
            <a:ext cx="50726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Utilizando o algoritmo de </a:t>
            </a:r>
            <a:r>
              <a:rPr lang="pt-BR" sz="2800" b="1" dirty="0"/>
              <a:t>Busca em Profundidade</a:t>
            </a:r>
            <a:r>
              <a:rPr lang="pt-BR" sz="2800" dirty="0"/>
              <a:t>, determine uma possível Ordem Topológica para o grafo a seguir:</a:t>
            </a:r>
          </a:p>
        </p:txBody>
      </p:sp>
    </p:spTree>
    <p:extLst>
      <p:ext uri="{BB962C8B-B14F-4D97-AF65-F5344CB8AC3E}">
        <p14:creationId xmlns:p14="http://schemas.microsoft.com/office/powerpoint/2010/main" val="3159976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65F5ADE-85C3-016C-D371-875401F9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C5739402-94F7-3FF6-8073-46AC5CE1A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0D7653D-3639-2C7C-FAAB-6CEB6F28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28</a:t>
            </a:fld>
            <a:endParaRPr lang="pt-BR"/>
          </a:p>
        </p:txBody>
      </p:sp>
      <p:pic>
        <p:nvPicPr>
          <p:cNvPr id="6" name="Espaço Reservado para Conteúdo 5" descr="Desenho de pessoa com relógio no topo&#10;&#10;O conteúdo gerado por IA pode estar incorreto.">
            <a:extLst>
              <a:ext uri="{FF2B5EF4-FFF2-40B4-BE49-F238E27FC236}">
                <a16:creationId xmlns:a16="http://schemas.microsoft.com/office/drawing/2014/main" id="{6246097C-0164-512C-C2C0-24F900DBE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9468" y="2008700"/>
            <a:ext cx="7363853" cy="402963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86B6356-3860-3BCA-93BE-32E8AC66D9C2}"/>
              </a:ext>
            </a:extLst>
          </p:cNvPr>
          <p:cNvSpPr txBox="1"/>
          <p:nvPr/>
        </p:nvSpPr>
        <p:spPr>
          <a:xfrm>
            <a:off x="978679" y="2700693"/>
            <a:ext cx="34976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Utilizando o </a:t>
            </a:r>
            <a:r>
              <a:rPr lang="pt-BR" sz="2800" b="1" dirty="0"/>
              <a:t>algoritmo de</a:t>
            </a:r>
            <a:r>
              <a:rPr lang="pt-BR" sz="2800" dirty="0"/>
              <a:t> </a:t>
            </a:r>
            <a:r>
              <a:rPr lang="pt-BR" sz="2800" b="1" dirty="0"/>
              <a:t>Kahn</a:t>
            </a:r>
            <a:r>
              <a:rPr lang="pt-BR" sz="2800" dirty="0"/>
              <a:t>, determine uma possível Ordem Topológica para o grafo a seguir:</a:t>
            </a:r>
          </a:p>
        </p:txBody>
      </p:sp>
    </p:spTree>
    <p:extLst>
      <p:ext uri="{BB962C8B-B14F-4D97-AF65-F5344CB8AC3E}">
        <p14:creationId xmlns:p14="http://schemas.microsoft.com/office/powerpoint/2010/main" val="4022796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5131" y="685801"/>
            <a:ext cx="261731" cy="2617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defTabSz="609630"/>
              <a:endParaRPr lang="pt-BR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86631" y="684213"/>
            <a:ext cx="7832871" cy="3175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86584" y="1351389"/>
            <a:ext cx="7832918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35355" y="0"/>
            <a:ext cx="1956645" cy="6858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6632" y="2965450"/>
            <a:ext cx="468710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200"/>
              </a:lnSpc>
            </a:pPr>
            <a:r>
              <a:rPr lang="en-US" sz="6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6888" y="886782"/>
            <a:ext cx="252261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767" y="886782"/>
            <a:ext cx="253025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24003" y="2000678"/>
            <a:ext cx="5372783" cy="2662993"/>
            <a:chOff x="0" y="-28575"/>
            <a:chExt cx="10745567" cy="532598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40705"/>
              <a:ext cx="10745567" cy="4356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GOLDBARG, Marco; GOLDBARG, Elizabeth.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Aplicações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Elsevier, 2012.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SZWARCFITER, Jayme Luiz. Teoria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Computacional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Série SBC. Elsevier. 2018.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NICOLETTI, Maria do Carmo; HRUSCHKA JR, E. R.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Fundamentos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teoria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dos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para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computação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LTC, 2018.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745567" cy="5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361"/>
                </a:lnSpc>
              </a:pPr>
              <a:r>
                <a:rPr lang="en-US" sz="1816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Principal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5131" y="685801"/>
            <a:ext cx="261731" cy="26173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pPr defTabSz="609630"/>
              <a:endParaRPr lang="pt-BR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186630" y="279400"/>
            <a:ext cx="7832871" cy="3175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86630" y="802166"/>
            <a:ext cx="7832918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740" y="2793082"/>
            <a:ext cx="407247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200"/>
              </a:lnSpc>
            </a:pPr>
            <a:r>
              <a:rPr lang="en-US" sz="6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3823" y="452967"/>
            <a:ext cx="252261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8322" y="452967"/>
            <a:ext cx="2530255" cy="22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867"/>
              </a:lnSpc>
            </a:pPr>
            <a:r>
              <a:rPr lang="en-US" sz="1333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18474" y="1333294"/>
            <a:ext cx="5372783" cy="4368588"/>
            <a:chOff x="0" y="-28575"/>
            <a:chExt cx="10745567" cy="873717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40705"/>
              <a:ext cx="10745567" cy="7767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BOAVENTURA NETTO, Paulo Oswaldo. NETTO, Boaventura, OSWALDIO, Paulo.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Modelos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45ª ed. São Paulo: Edgard Blucher.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CORMEN, Thomas H. et al.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 e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Prática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Elsevier, 2012.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FEOFILOFF, Paulo; KOHAYAKAWA,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Yoshiahuro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; WAKABAYASHI, Yoshiro. Teoria dos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Uma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Introdução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1483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Sucinta</a:t>
              </a: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São Paulo: USP, 2011.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TRUDEAU, Richard J. Introduction to graph theory. Courier Corporation, 2013.</a:t>
              </a:r>
            </a:p>
            <a:p>
              <a:pPr defTabSz="609630">
                <a:lnSpc>
                  <a:spcPts val="1928"/>
                </a:lnSpc>
              </a:pPr>
              <a:endParaRPr lang="en-US" sz="1483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defTabSz="609630">
                <a:lnSpc>
                  <a:spcPts val="1928"/>
                </a:lnSpc>
              </a:pPr>
              <a:r>
                <a:rPr lang="en-US" sz="1483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WILSON, Robin J. Introduction to Graph Theory. 5. ed. Prentice Hall, 2015.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745567" cy="567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361"/>
                </a:lnSpc>
              </a:pPr>
              <a:r>
                <a:rPr lang="en-US" sz="1816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Complementar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35355" y="0"/>
            <a:ext cx="1956645" cy="6858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41805-F623-41AB-B29A-D374D78B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3958" y="276726"/>
            <a:ext cx="6471186" cy="762000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>
                <a:ln w="0"/>
                <a:latin typeface="+mn-lt"/>
                <a:ea typeface="+mn-ea"/>
                <a:cs typeface="+mn-cs"/>
              </a:rPr>
              <a:t>Muito obrigado e até a Próxima!</a:t>
            </a:r>
            <a:endParaRPr lang="pt-BR" b="1" dirty="0">
              <a:ln w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2BD879-6317-CE97-0A36-E66775D3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14" y="1358403"/>
            <a:ext cx="7357730" cy="52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33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25D7B-9F7F-4ED5-C713-53054E59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5336CF-32C9-8978-51F0-B5AD46C06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2E320-405D-BA35-7C50-6979E785B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2849909"/>
            <a:ext cx="11344275" cy="1637503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Teoria dos Grafos </a:t>
            </a:r>
            <a:br>
              <a:rPr lang="pt-BR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/>
              <a:t>Ordenação Topológica</a:t>
            </a:r>
            <a:endParaRPr lang="pt-BR" sz="56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21BE72-DAD9-E2E1-257D-720069489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66" y="5041078"/>
            <a:ext cx="8519882" cy="847176"/>
          </a:xfrm>
        </p:spPr>
        <p:txBody>
          <a:bodyPr>
            <a:normAutofit/>
          </a:bodyPr>
          <a:lstStyle/>
          <a:p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Bandeira: 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hlinkClick r:id="rId2"/>
              </a:rPr>
              <a:t>jonathan.bandeira@souunit.com.br</a:t>
            </a:r>
            <a:r>
              <a:rPr lang="pt-BR" sz="2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</a:p>
          <a:p>
            <a:endParaRPr lang="pt-BR"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BCA664-27A8-2B90-1F7D-BDD4CFE67FB5}"/>
              </a:ext>
            </a:extLst>
          </p:cNvPr>
          <p:cNvSpPr/>
          <p:nvPr/>
        </p:nvSpPr>
        <p:spPr>
          <a:xfrm>
            <a:off x="3979097" y="6319351"/>
            <a:ext cx="36070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 da Computação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54507F-BD27-4AE1-5C10-C87BD1DE8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113" y="140903"/>
            <a:ext cx="4110038" cy="2195590"/>
          </a:xfrm>
          <a:prstGeom prst="rect">
            <a:avLst/>
          </a:prstGeom>
        </p:spPr>
      </p:pic>
      <p:pic>
        <p:nvPicPr>
          <p:cNvPr id="2052" name="Picture 4" descr="Porto Digital | LinkedIn">
            <a:extLst>
              <a:ext uri="{FF2B5EF4-FFF2-40B4-BE49-F238E27FC236}">
                <a16:creationId xmlns:a16="http://schemas.microsoft.com/office/drawing/2014/main" id="{72E64D98-B18B-9560-A738-9FDF0B50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2910" cy="281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540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5173</TotalTime>
  <Words>805</Words>
  <Application>Microsoft Office PowerPoint</Application>
  <PresentationFormat>Widescreen</PresentationFormat>
  <Paragraphs>107</Paragraphs>
  <Slides>32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Libre Franklin Light</vt:lpstr>
      <vt:lpstr>Libre Franklin Semi-Bold</vt:lpstr>
      <vt:lpstr>Libre Franklin Thin</vt:lpstr>
      <vt:lpstr>Times New Roman</vt:lpstr>
      <vt:lpstr>Tema do Office</vt:lpstr>
      <vt:lpstr>Office Theme</vt:lpstr>
      <vt:lpstr>Teoria dos Grafos  Ordenação Topológica</vt:lpstr>
      <vt:lpstr>Roteiro</vt:lpstr>
      <vt:lpstr>Introdução</vt:lpstr>
      <vt:lpstr>Introdução</vt:lpstr>
      <vt:lpstr>Introdução</vt:lpstr>
      <vt:lpstr>Introdução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</vt:lpstr>
      <vt:lpstr>Ordenação Topológica - Algoritmos</vt:lpstr>
      <vt:lpstr>Busca em Profundidade</vt:lpstr>
      <vt:lpstr>Busca em Profundidade</vt:lpstr>
      <vt:lpstr>Busca em Profundidade</vt:lpstr>
      <vt:lpstr>Busca em Profundidade - Exemplo</vt:lpstr>
      <vt:lpstr>Algoritmo de Kahn</vt:lpstr>
      <vt:lpstr>Algoritmo de Kahn</vt:lpstr>
      <vt:lpstr>Algoritmo de Kahn - Exemplo</vt:lpstr>
      <vt:lpstr>Aplicações</vt:lpstr>
      <vt:lpstr>Aplicações - Dependências do Pacote GCC</vt:lpstr>
      <vt:lpstr>Aplicações - Caminho Crítico</vt:lpstr>
      <vt:lpstr>Aplicações - Caminho Crítico</vt:lpstr>
      <vt:lpstr>Ordenação Topológica</vt:lpstr>
      <vt:lpstr>Exercícios</vt:lpstr>
      <vt:lpstr>Exercícios</vt:lpstr>
      <vt:lpstr>Apresentação do PowerPoint</vt:lpstr>
      <vt:lpstr>Apresentação do PowerPoint</vt:lpstr>
      <vt:lpstr>Muito obrigado e até a Próxima!</vt:lpstr>
      <vt:lpstr>Teoria dos Grafos  Ordenação Topológica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ORIENTADA A OBJETOS</dc:title>
  <dc:creator>FLAVIO DA SILVA NEVES</dc:creator>
  <cp:lastModifiedBy>Jonathan da Silva Bandeira</cp:lastModifiedBy>
  <cp:revision>209</cp:revision>
  <dcterms:created xsi:type="dcterms:W3CDTF">2020-02-02T23:21:56Z</dcterms:created>
  <dcterms:modified xsi:type="dcterms:W3CDTF">2026-05-20T20:04:40Z</dcterms:modified>
</cp:coreProperties>
</file>