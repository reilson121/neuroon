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2"/>
  </p:notesMasterIdLst>
  <p:sldIdLst>
    <p:sldId id="256" r:id="rId3"/>
    <p:sldId id="324" r:id="rId4"/>
    <p:sldId id="513" r:id="rId5"/>
    <p:sldId id="418" r:id="rId6"/>
    <p:sldId id="419" r:id="rId7"/>
    <p:sldId id="420" r:id="rId8"/>
    <p:sldId id="421" r:id="rId9"/>
    <p:sldId id="422" r:id="rId10"/>
    <p:sldId id="423" r:id="rId11"/>
    <p:sldId id="424" r:id="rId12"/>
    <p:sldId id="425" r:id="rId13"/>
    <p:sldId id="426" r:id="rId14"/>
    <p:sldId id="427" r:id="rId15"/>
    <p:sldId id="516" r:id="rId16"/>
    <p:sldId id="429" r:id="rId17"/>
    <p:sldId id="430" r:id="rId18"/>
    <p:sldId id="431" r:id="rId19"/>
    <p:sldId id="432" r:id="rId20"/>
    <p:sldId id="433" r:id="rId21"/>
    <p:sldId id="434" r:id="rId22"/>
    <p:sldId id="435" r:id="rId23"/>
    <p:sldId id="524" r:id="rId24"/>
    <p:sldId id="436" r:id="rId25"/>
    <p:sldId id="437" r:id="rId26"/>
    <p:sldId id="438" r:id="rId27"/>
    <p:sldId id="439" r:id="rId28"/>
    <p:sldId id="440" r:id="rId29"/>
    <p:sldId id="441" r:id="rId30"/>
    <p:sldId id="443" r:id="rId31"/>
    <p:sldId id="449" r:id="rId32"/>
    <p:sldId id="450" r:id="rId33"/>
    <p:sldId id="451" r:id="rId34"/>
    <p:sldId id="452" r:id="rId35"/>
    <p:sldId id="453" r:id="rId36"/>
    <p:sldId id="339" r:id="rId37"/>
    <p:sldId id="340" r:id="rId38"/>
    <p:sldId id="517" r:id="rId39"/>
    <p:sldId id="518" r:id="rId40"/>
    <p:sldId id="519" r:id="rId41"/>
    <p:sldId id="523" r:id="rId42"/>
    <p:sldId id="522" r:id="rId43"/>
    <p:sldId id="520" r:id="rId44"/>
    <p:sldId id="521" r:id="rId45"/>
    <p:sldId id="334" r:id="rId46"/>
    <p:sldId id="335" r:id="rId47"/>
    <p:sldId id="337" r:id="rId48"/>
    <p:sldId id="362" r:id="rId49"/>
    <p:sldId id="363" r:id="rId50"/>
    <p:sldId id="336" r:id="rId51"/>
    <p:sldId id="360" r:id="rId52"/>
    <p:sldId id="313" r:id="rId53"/>
    <p:sldId id="314" r:id="rId54"/>
    <p:sldId id="446" r:id="rId55"/>
    <p:sldId id="447" r:id="rId56"/>
    <p:sldId id="448" r:id="rId57"/>
    <p:sldId id="273" r:id="rId58"/>
    <p:sldId id="274" r:id="rId59"/>
    <p:sldId id="495" r:id="rId60"/>
    <p:sldId id="514" r:id="rId6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201" autoAdjust="0"/>
  </p:normalViewPr>
  <p:slideViewPr>
    <p:cSldViewPr snapToGrid="0">
      <p:cViewPr varScale="1">
        <p:scale>
          <a:sx n="72" d="100"/>
          <a:sy n="72" d="100"/>
        </p:scale>
        <p:origin x="1075"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74A2D-C15E-45C6-8A02-FCE81FFE4094}" type="datetimeFigureOut">
              <a:rPr lang="pt-BR" smtClean="0"/>
              <a:t>28/01/2026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5810EE-DF2A-4EEC-BA0D-5226B6602E43}" type="slidenum">
              <a:rPr lang="pt-BR" smtClean="0"/>
              <a:t>‹nº›</a:t>
            </a:fld>
            <a:endParaRPr lang="pt-BR"/>
          </a:p>
        </p:txBody>
      </p:sp>
    </p:spTree>
    <p:extLst>
      <p:ext uri="{BB962C8B-B14F-4D97-AF65-F5344CB8AC3E}">
        <p14:creationId xmlns:p14="http://schemas.microsoft.com/office/powerpoint/2010/main" val="1154500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1601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A7E698-340F-4EBF-8F30-5045301893D1}"/>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C353148B-081B-4AAA-A608-7C7248C868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79561F22-6C42-4B66-95B6-11D312543A74}"/>
              </a:ext>
            </a:extLst>
          </p:cNvPr>
          <p:cNvSpPr>
            <a:spLocks noGrp="1"/>
          </p:cNvSpPr>
          <p:nvPr>
            <p:ph type="dt" sz="half" idx="10"/>
          </p:nvPr>
        </p:nvSpPr>
        <p:spPr/>
        <p:txBody>
          <a:bodyPr/>
          <a:lstStyle/>
          <a:p>
            <a:r>
              <a:rPr lang="pt-BR"/>
              <a:t>09/02/2011</a:t>
            </a:r>
          </a:p>
        </p:txBody>
      </p:sp>
      <p:sp>
        <p:nvSpPr>
          <p:cNvPr id="5" name="Espaço Reservado para Rodapé 4">
            <a:extLst>
              <a:ext uri="{FF2B5EF4-FFF2-40B4-BE49-F238E27FC236}">
                <a16:creationId xmlns:a16="http://schemas.microsoft.com/office/drawing/2014/main" id="{75795534-CCD6-491F-A2E1-73E332F45781}"/>
              </a:ext>
            </a:extLst>
          </p:cNvPr>
          <p:cNvSpPr>
            <a:spLocks noGrp="1"/>
          </p:cNvSpPr>
          <p:nvPr>
            <p:ph type="ftr" sz="quarter" idx="11"/>
          </p:nvPr>
        </p:nvSpPr>
        <p:spPr/>
        <p:txBody>
          <a:bodyPr/>
          <a:lstStyle/>
          <a:p>
            <a:r>
              <a:rPr lang="pt-BR"/>
              <a:t>Banco de Dados</a:t>
            </a:r>
          </a:p>
        </p:txBody>
      </p:sp>
      <p:sp>
        <p:nvSpPr>
          <p:cNvPr id="6" name="Espaço Reservado para Número de Slide 5">
            <a:extLst>
              <a:ext uri="{FF2B5EF4-FFF2-40B4-BE49-F238E27FC236}">
                <a16:creationId xmlns:a16="http://schemas.microsoft.com/office/drawing/2014/main" id="{2A52B9C3-B338-421F-97FF-D83A38E1DFD8}"/>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342038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772B48-7FAE-4D90-A750-F67CA7DE25DB}"/>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2C795F3-C7D4-4453-8EF9-EF2AD65DE0FB}"/>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C5FD1F5-C29A-4D4D-AEFD-CEAC58ACF556}"/>
              </a:ext>
            </a:extLst>
          </p:cNvPr>
          <p:cNvSpPr>
            <a:spLocks noGrp="1"/>
          </p:cNvSpPr>
          <p:nvPr>
            <p:ph type="dt" sz="half" idx="10"/>
          </p:nvPr>
        </p:nvSpPr>
        <p:spPr/>
        <p:txBody>
          <a:bodyPr/>
          <a:lstStyle/>
          <a:p>
            <a:r>
              <a:rPr lang="pt-BR"/>
              <a:t>09/02/2011</a:t>
            </a:r>
          </a:p>
        </p:txBody>
      </p:sp>
      <p:sp>
        <p:nvSpPr>
          <p:cNvPr id="5" name="Espaço Reservado para Rodapé 4">
            <a:extLst>
              <a:ext uri="{FF2B5EF4-FFF2-40B4-BE49-F238E27FC236}">
                <a16:creationId xmlns:a16="http://schemas.microsoft.com/office/drawing/2014/main" id="{B29B0816-DD1A-4889-8D4B-FEACBD913229}"/>
              </a:ext>
            </a:extLst>
          </p:cNvPr>
          <p:cNvSpPr>
            <a:spLocks noGrp="1"/>
          </p:cNvSpPr>
          <p:nvPr>
            <p:ph type="ftr" sz="quarter" idx="11"/>
          </p:nvPr>
        </p:nvSpPr>
        <p:spPr/>
        <p:txBody>
          <a:bodyPr/>
          <a:lstStyle/>
          <a:p>
            <a:r>
              <a:rPr lang="pt-BR"/>
              <a:t>Banco de Dados</a:t>
            </a:r>
          </a:p>
        </p:txBody>
      </p:sp>
      <p:sp>
        <p:nvSpPr>
          <p:cNvPr id="6" name="Espaço Reservado para Número de Slide 5">
            <a:extLst>
              <a:ext uri="{FF2B5EF4-FFF2-40B4-BE49-F238E27FC236}">
                <a16:creationId xmlns:a16="http://schemas.microsoft.com/office/drawing/2014/main" id="{48FDFF90-7FA0-4AF1-8FB3-172685785788}"/>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2515405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B219B9-C203-4DDB-9622-439B05E8223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AC070E03-BE51-4677-897D-A0FBB7BB43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933B72A9-AE11-4C2C-96FA-E5412F97FF5F}"/>
              </a:ext>
            </a:extLst>
          </p:cNvPr>
          <p:cNvSpPr>
            <a:spLocks noGrp="1"/>
          </p:cNvSpPr>
          <p:nvPr>
            <p:ph type="dt" sz="half" idx="10"/>
          </p:nvPr>
        </p:nvSpPr>
        <p:spPr/>
        <p:txBody>
          <a:bodyPr/>
          <a:lstStyle/>
          <a:p>
            <a:r>
              <a:rPr lang="pt-BR"/>
              <a:t>09/02/2011</a:t>
            </a:r>
          </a:p>
        </p:txBody>
      </p:sp>
      <p:sp>
        <p:nvSpPr>
          <p:cNvPr id="5" name="Espaço Reservado para Rodapé 4">
            <a:extLst>
              <a:ext uri="{FF2B5EF4-FFF2-40B4-BE49-F238E27FC236}">
                <a16:creationId xmlns:a16="http://schemas.microsoft.com/office/drawing/2014/main" id="{B39E67E6-F866-44DA-95E5-3C58679554AB}"/>
              </a:ext>
            </a:extLst>
          </p:cNvPr>
          <p:cNvSpPr>
            <a:spLocks noGrp="1"/>
          </p:cNvSpPr>
          <p:nvPr>
            <p:ph type="ftr" sz="quarter" idx="11"/>
          </p:nvPr>
        </p:nvSpPr>
        <p:spPr/>
        <p:txBody>
          <a:bodyPr/>
          <a:lstStyle/>
          <a:p>
            <a:r>
              <a:rPr lang="pt-BR"/>
              <a:t>Banco de Dados</a:t>
            </a:r>
          </a:p>
        </p:txBody>
      </p:sp>
      <p:sp>
        <p:nvSpPr>
          <p:cNvPr id="6" name="Espaço Reservado para Número de Slide 5">
            <a:extLst>
              <a:ext uri="{FF2B5EF4-FFF2-40B4-BE49-F238E27FC236}">
                <a16:creationId xmlns:a16="http://schemas.microsoft.com/office/drawing/2014/main" id="{C9EFE0C1-F50E-4535-A077-E85F2666FB78}"/>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2107596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C307CC-1EE9-4E03-A8E4-A188391FB9CF}"/>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0F640398-DF18-428D-8BD6-A81755299ECE}"/>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874F92D6-2AA9-476A-9428-74BB2155EA2C}"/>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B5A3D60A-99C0-43D8-A538-032756C6BFF2}"/>
              </a:ext>
            </a:extLst>
          </p:cNvPr>
          <p:cNvSpPr>
            <a:spLocks noGrp="1"/>
          </p:cNvSpPr>
          <p:nvPr>
            <p:ph type="dt" sz="half" idx="10"/>
          </p:nvPr>
        </p:nvSpPr>
        <p:spPr/>
        <p:txBody>
          <a:bodyPr/>
          <a:lstStyle/>
          <a:p>
            <a:r>
              <a:rPr lang="pt-BR"/>
              <a:t>09/02/2011</a:t>
            </a:r>
          </a:p>
        </p:txBody>
      </p:sp>
      <p:sp>
        <p:nvSpPr>
          <p:cNvPr id="6" name="Espaço Reservado para Rodapé 5">
            <a:extLst>
              <a:ext uri="{FF2B5EF4-FFF2-40B4-BE49-F238E27FC236}">
                <a16:creationId xmlns:a16="http://schemas.microsoft.com/office/drawing/2014/main" id="{D1A64066-069D-4832-9E95-87DFF30E26E9}"/>
              </a:ext>
            </a:extLst>
          </p:cNvPr>
          <p:cNvSpPr>
            <a:spLocks noGrp="1"/>
          </p:cNvSpPr>
          <p:nvPr>
            <p:ph type="ftr" sz="quarter" idx="11"/>
          </p:nvPr>
        </p:nvSpPr>
        <p:spPr/>
        <p:txBody>
          <a:bodyPr/>
          <a:lstStyle/>
          <a:p>
            <a:r>
              <a:rPr lang="pt-BR"/>
              <a:t>Banco de Dados</a:t>
            </a:r>
          </a:p>
        </p:txBody>
      </p:sp>
      <p:sp>
        <p:nvSpPr>
          <p:cNvPr id="7" name="Espaço Reservado para Número de Slide 6">
            <a:extLst>
              <a:ext uri="{FF2B5EF4-FFF2-40B4-BE49-F238E27FC236}">
                <a16:creationId xmlns:a16="http://schemas.microsoft.com/office/drawing/2014/main" id="{FCA151F2-785F-48FC-A706-B3B6CEEAB18A}"/>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1398869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94693D-5F3B-4CFD-8A7E-0661B4ECB03C}"/>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E1396E33-A9FA-4134-9F74-F9D43767D8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BCFF8C7B-A663-44AD-8D10-14F2C930EB8B}"/>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046EBEE3-CA07-4782-A360-635B212032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EE918A83-2868-4683-8EEC-E911D02AE454}"/>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69454105-C3CE-40D9-9F51-066AC34C9057}"/>
              </a:ext>
            </a:extLst>
          </p:cNvPr>
          <p:cNvSpPr>
            <a:spLocks noGrp="1"/>
          </p:cNvSpPr>
          <p:nvPr>
            <p:ph type="dt" sz="half" idx="10"/>
          </p:nvPr>
        </p:nvSpPr>
        <p:spPr/>
        <p:txBody>
          <a:bodyPr/>
          <a:lstStyle/>
          <a:p>
            <a:r>
              <a:rPr lang="pt-BR"/>
              <a:t>09/02/2011</a:t>
            </a:r>
          </a:p>
        </p:txBody>
      </p:sp>
      <p:sp>
        <p:nvSpPr>
          <p:cNvPr id="8" name="Espaço Reservado para Rodapé 7">
            <a:extLst>
              <a:ext uri="{FF2B5EF4-FFF2-40B4-BE49-F238E27FC236}">
                <a16:creationId xmlns:a16="http://schemas.microsoft.com/office/drawing/2014/main" id="{F30CC430-9377-457F-87BC-4325C1B4F176}"/>
              </a:ext>
            </a:extLst>
          </p:cNvPr>
          <p:cNvSpPr>
            <a:spLocks noGrp="1"/>
          </p:cNvSpPr>
          <p:nvPr>
            <p:ph type="ftr" sz="quarter" idx="11"/>
          </p:nvPr>
        </p:nvSpPr>
        <p:spPr/>
        <p:txBody>
          <a:bodyPr/>
          <a:lstStyle/>
          <a:p>
            <a:r>
              <a:rPr lang="pt-BR"/>
              <a:t>Banco de Dados</a:t>
            </a:r>
          </a:p>
        </p:txBody>
      </p:sp>
      <p:sp>
        <p:nvSpPr>
          <p:cNvPr id="9" name="Espaço Reservado para Número de Slide 8">
            <a:extLst>
              <a:ext uri="{FF2B5EF4-FFF2-40B4-BE49-F238E27FC236}">
                <a16:creationId xmlns:a16="http://schemas.microsoft.com/office/drawing/2014/main" id="{C552A023-5E54-45CF-A288-75AAC3A919CE}"/>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3478328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764EE1-7D51-4138-8413-1DB8E29FE38F}"/>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F71B466E-6465-432B-BF93-A670E7A92E96}"/>
              </a:ext>
            </a:extLst>
          </p:cNvPr>
          <p:cNvSpPr>
            <a:spLocks noGrp="1"/>
          </p:cNvSpPr>
          <p:nvPr>
            <p:ph type="dt" sz="half" idx="10"/>
          </p:nvPr>
        </p:nvSpPr>
        <p:spPr/>
        <p:txBody>
          <a:bodyPr/>
          <a:lstStyle/>
          <a:p>
            <a:r>
              <a:rPr lang="pt-BR"/>
              <a:t>09/02/2011</a:t>
            </a:r>
          </a:p>
        </p:txBody>
      </p:sp>
      <p:sp>
        <p:nvSpPr>
          <p:cNvPr id="4" name="Espaço Reservado para Rodapé 3">
            <a:extLst>
              <a:ext uri="{FF2B5EF4-FFF2-40B4-BE49-F238E27FC236}">
                <a16:creationId xmlns:a16="http://schemas.microsoft.com/office/drawing/2014/main" id="{379E9D2F-30CA-41C1-9878-03445A926299}"/>
              </a:ext>
            </a:extLst>
          </p:cNvPr>
          <p:cNvSpPr>
            <a:spLocks noGrp="1"/>
          </p:cNvSpPr>
          <p:nvPr>
            <p:ph type="ftr" sz="quarter" idx="11"/>
          </p:nvPr>
        </p:nvSpPr>
        <p:spPr/>
        <p:txBody>
          <a:bodyPr/>
          <a:lstStyle/>
          <a:p>
            <a:r>
              <a:rPr lang="pt-BR"/>
              <a:t>Banco de Dados</a:t>
            </a:r>
          </a:p>
        </p:txBody>
      </p:sp>
      <p:sp>
        <p:nvSpPr>
          <p:cNvPr id="5" name="Espaço Reservado para Número de Slide 4">
            <a:extLst>
              <a:ext uri="{FF2B5EF4-FFF2-40B4-BE49-F238E27FC236}">
                <a16:creationId xmlns:a16="http://schemas.microsoft.com/office/drawing/2014/main" id="{F4BA8759-97ED-4356-8F07-F67B3CF20B3E}"/>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2885869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32641B1-C909-4EF1-BF0C-5B3B01B55214}"/>
              </a:ext>
            </a:extLst>
          </p:cNvPr>
          <p:cNvSpPr>
            <a:spLocks noGrp="1"/>
          </p:cNvSpPr>
          <p:nvPr>
            <p:ph type="dt" sz="half" idx="10"/>
          </p:nvPr>
        </p:nvSpPr>
        <p:spPr/>
        <p:txBody>
          <a:bodyPr/>
          <a:lstStyle/>
          <a:p>
            <a:r>
              <a:rPr lang="pt-BR"/>
              <a:t>09/02/2011</a:t>
            </a:r>
          </a:p>
        </p:txBody>
      </p:sp>
      <p:sp>
        <p:nvSpPr>
          <p:cNvPr id="3" name="Espaço Reservado para Rodapé 2">
            <a:extLst>
              <a:ext uri="{FF2B5EF4-FFF2-40B4-BE49-F238E27FC236}">
                <a16:creationId xmlns:a16="http://schemas.microsoft.com/office/drawing/2014/main" id="{46D9BBBB-43C7-48A3-A705-96F0A36512CD}"/>
              </a:ext>
            </a:extLst>
          </p:cNvPr>
          <p:cNvSpPr>
            <a:spLocks noGrp="1"/>
          </p:cNvSpPr>
          <p:nvPr>
            <p:ph type="ftr" sz="quarter" idx="11"/>
          </p:nvPr>
        </p:nvSpPr>
        <p:spPr/>
        <p:txBody>
          <a:bodyPr/>
          <a:lstStyle/>
          <a:p>
            <a:r>
              <a:rPr lang="pt-BR"/>
              <a:t>Banco de Dados</a:t>
            </a:r>
          </a:p>
        </p:txBody>
      </p:sp>
      <p:sp>
        <p:nvSpPr>
          <p:cNvPr id="4" name="Espaço Reservado para Número de Slide 3">
            <a:extLst>
              <a:ext uri="{FF2B5EF4-FFF2-40B4-BE49-F238E27FC236}">
                <a16:creationId xmlns:a16="http://schemas.microsoft.com/office/drawing/2014/main" id="{8098FEE4-F7DE-4CBB-B498-A904FF32F798}"/>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3383678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1773E6-1F86-48B3-B617-62BA8F4101D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99673076-EBF9-4E18-B856-EEF4B29908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92AB3B9D-23F1-4980-9A8B-4EE72F5AB6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010468B-BDA6-4BF0-A2B9-97923EAAC50D}"/>
              </a:ext>
            </a:extLst>
          </p:cNvPr>
          <p:cNvSpPr>
            <a:spLocks noGrp="1"/>
          </p:cNvSpPr>
          <p:nvPr>
            <p:ph type="dt" sz="half" idx="10"/>
          </p:nvPr>
        </p:nvSpPr>
        <p:spPr/>
        <p:txBody>
          <a:bodyPr/>
          <a:lstStyle/>
          <a:p>
            <a:r>
              <a:rPr lang="pt-BR"/>
              <a:t>09/02/2011</a:t>
            </a:r>
          </a:p>
        </p:txBody>
      </p:sp>
      <p:sp>
        <p:nvSpPr>
          <p:cNvPr id="6" name="Espaço Reservado para Rodapé 5">
            <a:extLst>
              <a:ext uri="{FF2B5EF4-FFF2-40B4-BE49-F238E27FC236}">
                <a16:creationId xmlns:a16="http://schemas.microsoft.com/office/drawing/2014/main" id="{CB745E7B-CFB3-4806-A8E5-64E2B710ADA9}"/>
              </a:ext>
            </a:extLst>
          </p:cNvPr>
          <p:cNvSpPr>
            <a:spLocks noGrp="1"/>
          </p:cNvSpPr>
          <p:nvPr>
            <p:ph type="ftr" sz="quarter" idx="11"/>
          </p:nvPr>
        </p:nvSpPr>
        <p:spPr/>
        <p:txBody>
          <a:bodyPr/>
          <a:lstStyle/>
          <a:p>
            <a:r>
              <a:rPr lang="pt-BR"/>
              <a:t>Banco de Dados</a:t>
            </a:r>
          </a:p>
        </p:txBody>
      </p:sp>
      <p:sp>
        <p:nvSpPr>
          <p:cNvPr id="7" name="Espaço Reservado para Número de Slide 6">
            <a:extLst>
              <a:ext uri="{FF2B5EF4-FFF2-40B4-BE49-F238E27FC236}">
                <a16:creationId xmlns:a16="http://schemas.microsoft.com/office/drawing/2014/main" id="{DC0F8A86-EA15-4FCE-AD77-5C42440432A7}"/>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4208461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4B41D0-1716-4F0A-89E3-B7F242807FE4}"/>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8361BD11-CA16-472C-A2E4-13BA64C44D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CAA3AF83-743F-4AB8-BD33-8B1B868737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0B877D6-E487-4A25-A13D-B193F3D2131D}"/>
              </a:ext>
            </a:extLst>
          </p:cNvPr>
          <p:cNvSpPr>
            <a:spLocks noGrp="1"/>
          </p:cNvSpPr>
          <p:nvPr>
            <p:ph type="dt" sz="half" idx="10"/>
          </p:nvPr>
        </p:nvSpPr>
        <p:spPr/>
        <p:txBody>
          <a:bodyPr/>
          <a:lstStyle/>
          <a:p>
            <a:r>
              <a:rPr lang="pt-BR"/>
              <a:t>09/02/2011</a:t>
            </a:r>
          </a:p>
        </p:txBody>
      </p:sp>
      <p:sp>
        <p:nvSpPr>
          <p:cNvPr id="6" name="Espaço Reservado para Rodapé 5">
            <a:extLst>
              <a:ext uri="{FF2B5EF4-FFF2-40B4-BE49-F238E27FC236}">
                <a16:creationId xmlns:a16="http://schemas.microsoft.com/office/drawing/2014/main" id="{9299429D-CDCA-4E9C-BCCE-7CC6466B2EEF}"/>
              </a:ext>
            </a:extLst>
          </p:cNvPr>
          <p:cNvSpPr>
            <a:spLocks noGrp="1"/>
          </p:cNvSpPr>
          <p:nvPr>
            <p:ph type="ftr" sz="quarter" idx="11"/>
          </p:nvPr>
        </p:nvSpPr>
        <p:spPr/>
        <p:txBody>
          <a:bodyPr/>
          <a:lstStyle/>
          <a:p>
            <a:r>
              <a:rPr lang="pt-BR"/>
              <a:t>Banco de Dados</a:t>
            </a:r>
          </a:p>
        </p:txBody>
      </p:sp>
      <p:sp>
        <p:nvSpPr>
          <p:cNvPr id="7" name="Espaço Reservado para Número de Slide 6">
            <a:extLst>
              <a:ext uri="{FF2B5EF4-FFF2-40B4-BE49-F238E27FC236}">
                <a16:creationId xmlns:a16="http://schemas.microsoft.com/office/drawing/2014/main" id="{BC6B507C-82C3-4DEB-8CE5-D4444D2DFB9E}"/>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903279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91B732-27AE-438A-8BFF-862D6AB24C66}"/>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3601D6B1-9A93-4213-8E10-574E11F3D98B}"/>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C66302D-DC45-4A1A-995E-B976A6B9DA10}"/>
              </a:ext>
            </a:extLst>
          </p:cNvPr>
          <p:cNvSpPr>
            <a:spLocks noGrp="1"/>
          </p:cNvSpPr>
          <p:nvPr>
            <p:ph type="dt" sz="half" idx="10"/>
          </p:nvPr>
        </p:nvSpPr>
        <p:spPr/>
        <p:txBody>
          <a:bodyPr/>
          <a:lstStyle/>
          <a:p>
            <a:r>
              <a:rPr lang="pt-BR"/>
              <a:t>09/02/2011</a:t>
            </a:r>
          </a:p>
        </p:txBody>
      </p:sp>
      <p:sp>
        <p:nvSpPr>
          <p:cNvPr id="5" name="Espaço Reservado para Rodapé 4">
            <a:extLst>
              <a:ext uri="{FF2B5EF4-FFF2-40B4-BE49-F238E27FC236}">
                <a16:creationId xmlns:a16="http://schemas.microsoft.com/office/drawing/2014/main" id="{CFF9D52E-42B7-496A-9698-ECC761DDDA30}"/>
              </a:ext>
            </a:extLst>
          </p:cNvPr>
          <p:cNvSpPr>
            <a:spLocks noGrp="1"/>
          </p:cNvSpPr>
          <p:nvPr>
            <p:ph type="ftr" sz="quarter" idx="11"/>
          </p:nvPr>
        </p:nvSpPr>
        <p:spPr/>
        <p:txBody>
          <a:bodyPr/>
          <a:lstStyle/>
          <a:p>
            <a:r>
              <a:rPr lang="pt-BR"/>
              <a:t>Banco de Dados</a:t>
            </a:r>
          </a:p>
        </p:txBody>
      </p:sp>
      <p:sp>
        <p:nvSpPr>
          <p:cNvPr id="6" name="Espaço Reservado para Número de Slide 5">
            <a:extLst>
              <a:ext uri="{FF2B5EF4-FFF2-40B4-BE49-F238E27FC236}">
                <a16:creationId xmlns:a16="http://schemas.microsoft.com/office/drawing/2014/main" id="{9C73E8CC-B11F-40DA-A0D6-F03C115FFC20}"/>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3184413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16A2BCF-45B9-4EA2-AFEA-551F296F6A2E}"/>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6D7FC913-1466-4466-93FC-3B186E5F0BFF}"/>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76DB044-85AF-401E-A0A1-A087317E6212}"/>
              </a:ext>
            </a:extLst>
          </p:cNvPr>
          <p:cNvSpPr>
            <a:spLocks noGrp="1"/>
          </p:cNvSpPr>
          <p:nvPr>
            <p:ph type="dt" sz="half" idx="10"/>
          </p:nvPr>
        </p:nvSpPr>
        <p:spPr/>
        <p:txBody>
          <a:bodyPr/>
          <a:lstStyle/>
          <a:p>
            <a:r>
              <a:rPr lang="pt-BR"/>
              <a:t>09/02/2011</a:t>
            </a:r>
          </a:p>
        </p:txBody>
      </p:sp>
      <p:sp>
        <p:nvSpPr>
          <p:cNvPr id="5" name="Espaço Reservado para Rodapé 4">
            <a:extLst>
              <a:ext uri="{FF2B5EF4-FFF2-40B4-BE49-F238E27FC236}">
                <a16:creationId xmlns:a16="http://schemas.microsoft.com/office/drawing/2014/main" id="{3C1EAAF9-5F5C-48BF-B1DB-37067F2F9251}"/>
              </a:ext>
            </a:extLst>
          </p:cNvPr>
          <p:cNvSpPr>
            <a:spLocks noGrp="1"/>
          </p:cNvSpPr>
          <p:nvPr>
            <p:ph type="ftr" sz="quarter" idx="11"/>
          </p:nvPr>
        </p:nvSpPr>
        <p:spPr/>
        <p:txBody>
          <a:bodyPr/>
          <a:lstStyle/>
          <a:p>
            <a:r>
              <a:rPr lang="pt-BR"/>
              <a:t>Banco de Dados</a:t>
            </a:r>
          </a:p>
        </p:txBody>
      </p:sp>
      <p:sp>
        <p:nvSpPr>
          <p:cNvPr id="6" name="Espaço Reservado para Número de Slide 5">
            <a:extLst>
              <a:ext uri="{FF2B5EF4-FFF2-40B4-BE49-F238E27FC236}">
                <a16:creationId xmlns:a16="http://schemas.microsoft.com/office/drawing/2014/main" id="{F756DFBD-9EB4-4D00-94D0-C67DF97A15B9}"/>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3406284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1512720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751317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332867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014449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0147879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2381668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3747495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8425359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155720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292490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176202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C41A4B0C-CEB8-4239-B7CB-D30F63DBCD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D3DFDA91-4622-4472-BA27-C1B09036F7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273F8B6-BF5F-4566-A90D-925F57210E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pt-BR"/>
              <a:t>09/02/2011</a:t>
            </a:r>
          </a:p>
        </p:txBody>
      </p:sp>
      <p:sp>
        <p:nvSpPr>
          <p:cNvPr id="5" name="Espaço Reservado para Rodapé 4">
            <a:extLst>
              <a:ext uri="{FF2B5EF4-FFF2-40B4-BE49-F238E27FC236}">
                <a16:creationId xmlns:a16="http://schemas.microsoft.com/office/drawing/2014/main" id="{F2B83AC9-2DF1-4775-B7F8-DCE61C4448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pt-BR"/>
              <a:t>Banco de Dados</a:t>
            </a:r>
          </a:p>
        </p:txBody>
      </p:sp>
      <p:sp>
        <p:nvSpPr>
          <p:cNvPr id="6" name="Espaço Reservado para Número de Slide 5">
            <a:extLst>
              <a:ext uri="{FF2B5EF4-FFF2-40B4-BE49-F238E27FC236}">
                <a16:creationId xmlns:a16="http://schemas.microsoft.com/office/drawing/2014/main" id="{1A96475A-9735-477F-BA89-044917D79F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A91214-D368-4B4F-B4B3-73A619B7B876}" type="slidenum">
              <a:rPr lang="pt-BR" smtClean="0"/>
              <a:t>‹nº›</a:t>
            </a:fld>
            <a:endParaRPr lang="pt-BR"/>
          </a:p>
        </p:txBody>
      </p:sp>
    </p:spTree>
    <p:extLst>
      <p:ext uri="{BB962C8B-B14F-4D97-AF65-F5344CB8AC3E}">
        <p14:creationId xmlns:p14="http://schemas.microsoft.com/office/powerpoint/2010/main" val="38271676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1/28/2026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‹nº›</a:t>
            </a:fld>
            <a:endParaRPr lang="en-US"/>
          </a:p>
        </p:txBody>
      </p:sp>
    </p:spTree>
    <p:extLst>
      <p:ext uri="{BB962C8B-B14F-4D97-AF65-F5344CB8AC3E}">
        <p14:creationId xmlns:p14="http://schemas.microsoft.com/office/powerpoint/2010/main" val="3678488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jonathan.bandeira@souunit.com.br" TargetMode="Externa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image" Target="../media/image53.gi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jonathan.bandeira@souunit.com.br" TargetMode="Externa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2257994-BD97-4691-8B89-198A6D2BAB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0C3EE67-EB9B-4CDC-90C2-8819DDDCAFFF}"/>
              </a:ext>
            </a:extLst>
          </p:cNvPr>
          <p:cNvSpPr>
            <a:spLocks noGrp="1"/>
          </p:cNvSpPr>
          <p:nvPr>
            <p:ph type="ctrTitle"/>
          </p:nvPr>
        </p:nvSpPr>
        <p:spPr>
          <a:xfrm>
            <a:off x="514349" y="2849909"/>
            <a:ext cx="11344275" cy="1637503"/>
          </a:xfrm>
          <a:solidFill>
            <a:srgbClr val="FFFFFF"/>
          </a:solidFill>
          <a:ln w="38100">
            <a:solidFill>
              <a:srgbClr val="404040"/>
            </a:solidFill>
            <a:miter lim="800000"/>
          </a:ln>
        </p:spPr>
        <p:txBody>
          <a:bodyPr anchor="ctr">
            <a:noAutofit/>
          </a:bodyPr>
          <a:lstStyle/>
          <a:p>
            <a:r>
              <a:rPr lang="pt-BR" sz="6000" b="1" dirty="0">
                <a:latin typeface="Times New Roman" panose="02020603050405020304" pitchFamily="18" charset="0"/>
                <a:cs typeface="Times New Roman" panose="02020603050405020304" pitchFamily="18" charset="0"/>
              </a:rPr>
              <a:t>Teoria dos Grafos                 </a:t>
            </a:r>
            <a:r>
              <a:rPr lang="pt-BR" sz="5600" dirty="0"/>
              <a:t>Conceitos Básicos</a:t>
            </a:r>
            <a:endParaRPr lang="pt-BR" sz="5600" dirty="0">
              <a:solidFill>
                <a:srgbClr val="404040"/>
              </a:solidFill>
              <a:latin typeface="Times New Roman" panose="02020603050405020304" pitchFamily="18" charset="0"/>
              <a:cs typeface="Times New Roman" panose="02020603050405020304" pitchFamily="18" charset="0"/>
            </a:endParaRPr>
          </a:p>
        </p:txBody>
      </p:sp>
      <p:sp>
        <p:nvSpPr>
          <p:cNvPr id="3" name="Subtítulo 2">
            <a:extLst>
              <a:ext uri="{FF2B5EF4-FFF2-40B4-BE49-F238E27FC236}">
                <a16:creationId xmlns:a16="http://schemas.microsoft.com/office/drawing/2014/main" id="{019F6184-63F4-4F05-8CE5-111C47729D17}"/>
              </a:ext>
            </a:extLst>
          </p:cNvPr>
          <p:cNvSpPr>
            <a:spLocks noGrp="1"/>
          </p:cNvSpPr>
          <p:nvPr>
            <p:ph type="subTitle" idx="1"/>
          </p:nvPr>
        </p:nvSpPr>
        <p:spPr>
          <a:xfrm>
            <a:off x="2247966" y="5041078"/>
            <a:ext cx="8519882" cy="847176"/>
          </a:xfrm>
        </p:spPr>
        <p:txBody>
          <a:bodyPr>
            <a:normAutofit/>
          </a:bodyPr>
          <a:lstStyle/>
          <a:p>
            <a:r>
              <a:rPr lang="pt-BR" sz="2900" dirty="0">
                <a:solidFill>
                  <a:srgbClr val="FFFFFF"/>
                </a:solidFill>
                <a:latin typeface="Times New Roman" panose="02020603050405020304" pitchFamily="18" charset="0"/>
                <a:cs typeface="Times New Roman" panose="02020603050405020304" pitchFamily="18" charset="0"/>
              </a:rPr>
              <a:t>Jonathan Bandeira: </a:t>
            </a:r>
            <a:r>
              <a:rPr lang="pt-BR" sz="2900" dirty="0">
                <a:solidFill>
                  <a:srgbClr val="FFFFFF"/>
                </a:solidFill>
                <a:latin typeface="Times New Roman" panose="02020603050405020304" pitchFamily="18" charset="0"/>
                <a:cs typeface="Times New Roman" panose="02020603050405020304" pitchFamily="18" charset="0"/>
                <a:sym typeface="Calibri"/>
                <a:hlinkClick r:id="rId2"/>
              </a:rPr>
              <a:t>jonathan.bandeira@souunit.com.br</a:t>
            </a:r>
            <a:r>
              <a:rPr lang="pt-BR" sz="2900" dirty="0">
                <a:solidFill>
                  <a:srgbClr val="FFFFFF"/>
                </a:solidFill>
                <a:latin typeface="Times New Roman" panose="02020603050405020304" pitchFamily="18" charset="0"/>
                <a:cs typeface="Times New Roman" panose="02020603050405020304" pitchFamily="18" charset="0"/>
                <a:sym typeface="Calibri"/>
              </a:rPr>
              <a:t> </a:t>
            </a:r>
          </a:p>
          <a:p>
            <a:endParaRPr lang="pt-BR" sz="1600" dirty="0">
              <a:solidFill>
                <a:srgbClr val="FFFFFF"/>
              </a:solidFill>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2FCFCA72-CEF0-4B59-9249-2FF30437C0E2}"/>
              </a:ext>
            </a:extLst>
          </p:cNvPr>
          <p:cNvSpPr/>
          <p:nvPr/>
        </p:nvSpPr>
        <p:spPr>
          <a:xfrm>
            <a:off x="3979097" y="6319351"/>
            <a:ext cx="3607078" cy="480131"/>
          </a:xfrm>
          <a:prstGeom prst="rect">
            <a:avLst/>
          </a:prstGeom>
        </p:spPr>
        <p:txBody>
          <a:bodyPr wrap="none">
            <a:spAutoFit/>
          </a:bodyPr>
          <a:lstStyle/>
          <a:p>
            <a:pPr algn="ctr">
              <a:lnSpc>
                <a:spcPct val="90000"/>
              </a:lnSpc>
              <a:spcBef>
                <a:spcPts val="1000"/>
              </a:spcBef>
            </a:pPr>
            <a:r>
              <a:rPr lang="pt-BR" sz="2800" dirty="0">
                <a:solidFill>
                  <a:srgbClr val="FFFFFF"/>
                </a:solidFill>
                <a:latin typeface="Times New Roman" panose="02020603050405020304" pitchFamily="18" charset="0"/>
                <a:cs typeface="Times New Roman" panose="02020603050405020304" pitchFamily="18" charset="0"/>
              </a:rPr>
              <a:t>Ciência da Computação</a:t>
            </a:r>
          </a:p>
        </p:txBody>
      </p:sp>
      <p:pic>
        <p:nvPicPr>
          <p:cNvPr id="6" name="Imagem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8113" y="140903"/>
            <a:ext cx="4110038" cy="2195590"/>
          </a:xfrm>
          <a:prstGeom prst="rect">
            <a:avLst/>
          </a:prstGeom>
        </p:spPr>
      </p:pic>
      <p:pic>
        <p:nvPicPr>
          <p:cNvPr id="2052" name="Picture 4" descr="Porto Digital | Linked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812910" cy="2812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299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838200" y="365126"/>
            <a:ext cx="10515600" cy="1325563"/>
          </a:xfrm>
          <a:prstGeom prst="rect">
            <a:avLst/>
          </a:prstGeom>
          <a:noFill/>
          <a:ln>
            <a:noFill/>
          </a:ln>
        </p:spPr>
        <p:txBody>
          <a:bodyPr spcFirstLastPara="1" vert="horz" wrap="square" lIns="91425" tIns="45700" rIns="91425" bIns="45700" rtlCol="0" anchor="ctr" anchorCtr="0">
            <a:noAutofit/>
          </a:bodyPr>
          <a:lstStyle/>
          <a:p>
            <a:pPr algn="ctr">
              <a:buClr>
                <a:schemeClr val="dk1"/>
              </a:buClr>
              <a:buSzPts val="4400"/>
            </a:pPr>
            <a:r>
              <a:rPr lang="pt-BR" b="1" dirty="0">
                <a:solidFill>
                  <a:schemeClr val="dk1"/>
                </a:solidFill>
                <a:latin typeface="Calibri"/>
                <a:ea typeface="Calibri"/>
                <a:cs typeface="Calibri"/>
                <a:sym typeface="Calibri"/>
              </a:rPr>
              <a:t>Roteiro</a:t>
            </a:r>
            <a:endParaRPr b="1" dirty="0">
              <a:solidFill>
                <a:schemeClr val="dk1"/>
              </a:solidFill>
              <a:latin typeface="Calibri"/>
              <a:ea typeface="Calibri"/>
              <a:cs typeface="Calibri"/>
              <a:sym typeface="Calibri"/>
            </a:endParaRPr>
          </a:p>
        </p:txBody>
      </p:sp>
      <p:sp>
        <p:nvSpPr>
          <p:cNvPr id="93" name="Google Shape;93;p14"/>
          <p:cNvSpPr txBox="1">
            <a:spLocks noGrp="1"/>
          </p:cNvSpPr>
          <p:nvPr>
            <p:ph type="body" idx="1"/>
          </p:nvPr>
        </p:nvSpPr>
        <p:spPr>
          <a:xfrm>
            <a:off x="838200" y="1690689"/>
            <a:ext cx="10515600" cy="4351338"/>
          </a:xfrm>
          <a:prstGeom prst="rect">
            <a:avLst/>
          </a:prstGeom>
          <a:noFill/>
          <a:ln>
            <a:noFill/>
          </a:ln>
        </p:spPr>
        <p:txBody>
          <a:bodyPr spcFirstLastPara="1" vert="horz" wrap="square" lIns="91425" tIns="45700" rIns="91425" bIns="45700" rtlCol="0" anchor="t" anchorCtr="0">
            <a:noAutofit/>
          </a:bodyPr>
          <a:lstStyle/>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Introdução, Motivações e </a:t>
            </a:r>
            <a:r>
              <a:rPr lang="pt-BR" sz="2400" dirty="0">
                <a:solidFill>
                  <a:schemeClr val="dk1"/>
                </a:solidFill>
                <a:ea typeface="Calibri"/>
                <a:cs typeface="Calibri"/>
                <a:sym typeface="Calibri"/>
              </a:rPr>
              <a:t>Contexto Histórico</a:t>
            </a:r>
            <a:r>
              <a:rPr lang="pt-BR" sz="2400" dirty="0">
                <a:solidFill>
                  <a:schemeClr val="dk1"/>
                </a:solidFill>
                <a:latin typeface="Calibri"/>
                <a:ea typeface="Calibri"/>
                <a:cs typeface="Calibri"/>
                <a:sym typeface="Calibri"/>
              </a:rPr>
              <a:t>;</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Conceitos Básicos;</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Representação Matemática;</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Grafos bipartidos, Grafos ponderados e não ponderados, Grafos dirigidos e não dirigidos;</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Grau de um Vértice em Grafos Não Direcionados e Direcionados e Laços;</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Paralelismo;</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Grafos Simples, Grafos Completos, Grafos Regulares e </a:t>
            </a:r>
            <a:r>
              <a:rPr lang="pt-BR" sz="2400" dirty="0" err="1">
                <a:solidFill>
                  <a:schemeClr val="dk1"/>
                </a:solidFill>
                <a:latin typeface="Calibri"/>
                <a:ea typeface="Calibri"/>
                <a:cs typeface="Calibri"/>
                <a:sym typeface="Calibri"/>
              </a:rPr>
              <a:t>Subgrafos</a:t>
            </a:r>
            <a:r>
              <a:rPr lang="pt-BR" sz="2400" dirty="0">
                <a:solidFill>
                  <a:schemeClr val="dk1"/>
                </a:solidFill>
                <a:latin typeface="Calibri"/>
                <a:ea typeface="Calibri"/>
                <a:cs typeface="Calibri"/>
                <a:sym typeface="Calibri"/>
              </a:rPr>
              <a:t>;</a:t>
            </a:r>
          </a:p>
          <a:p>
            <a:pPr>
              <a:lnSpc>
                <a:spcPct val="100000"/>
              </a:lnSpc>
              <a:spcBef>
                <a:spcPts val="0"/>
              </a:spcBef>
              <a:buClr>
                <a:schemeClr val="dk1"/>
              </a:buClr>
              <a:buSzPts val="2590"/>
              <a:buFont typeface="Arial"/>
              <a:buChar char="•"/>
            </a:pPr>
            <a:r>
              <a:rPr lang="pt-BR" sz="2400" dirty="0" err="1">
                <a:solidFill>
                  <a:schemeClr val="dk1"/>
                </a:solidFill>
                <a:ea typeface="Calibri"/>
                <a:cs typeface="Calibri"/>
                <a:sym typeface="Calibri"/>
              </a:rPr>
              <a:t>Planaridade</a:t>
            </a:r>
            <a:r>
              <a:rPr lang="pt-BR" sz="2400" dirty="0">
                <a:solidFill>
                  <a:schemeClr val="dk1"/>
                </a:solidFill>
                <a:ea typeface="Calibri"/>
                <a:cs typeface="Calibri"/>
                <a:sym typeface="Calibri"/>
              </a:rPr>
              <a:t>;</a:t>
            </a:r>
            <a:endParaRPr lang="pt-BR" sz="2400" dirty="0">
              <a:solidFill>
                <a:schemeClr val="dk1"/>
              </a:solidFill>
              <a:latin typeface="Calibri"/>
              <a:ea typeface="Calibri"/>
              <a:cs typeface="Calibri"/>
              <a:sym typeface="Calibri"/>
            </a:endParaRP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Caminhos e Ciclos;</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Conectividade e Adjacência;</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Exercícios;</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Bibliografia.</a:t>
            </a:r>
          </a:p>
        </p:txBody>
      </p:sp>
      <p:sp>
        <p:nvSpPr>
          <p:cNvPr id="3" name="Espaço Reservado para Número de Slide 2"/>
          <p:cNvSpPr>
            <a:spLocks noGrp="1"/>
          </p:cNvSpPr>
          <p:nvPr>
            <p:ph type="sldNum" sz="quarter" idx="12"/>
          </p:nvPr>
        </p:nvSpPr>
        <p:spPr/>
        <p:txBody>
          <a:bodyPr/>
          <a:lstStyle/>
          <a:p>
            <a:pPr defTabSz="914446"/>
            <a:fld id="{43A91214-D368-4B4F-B4B3-73A619B7B876}" type="slidenum">
              <a:rPr lang="pt-BR">
                <a:solidFill>
                  <a:prstClr val="black">
                    <a:tint val="75000"/>
                  </a:prstClr>
                </a:solidFill>
                <a:latin typeface="Calibri" panose="020F0502020204030204"/>
              </a:rPr>
              <a:pPr defTabSz="914446"/>
              <a:t>2</a:t>
            </a:fld>
            <a:endParaRPr lang="pt-BR">
              <a:solidFill>
                <a:prstClr val="black">
                  <a:tint val="75000"/>
                </a:prstClr>
              </a:solidFill>
              <a:latin typeface="Calibri" panose="020F0502020204030204"/>
            </a:endParaRPr>
          </a:p>
        </p:txBody>
      </p:sp>
    </p:spTree>
    <p:extLst>
      <p:ext uri="{BB962C8B-B14F-4D97-AF65-F5344CB8AC3E}">
        <p14:creationId xmlns:p14="http://schemas.microsoft.com/office/powerpoint/2010/main" val="3340271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ítulo 1">
            <a:extLst>
              <a:ext uri="{FF2B5EF4-FFF2-40B4-BE49-F238E27FC236}">
                <a16:creationId xmlns:a16="http://schemas.microsoft.com/office/drawing/2014/main" id="{839F21F1-2A32-488D-8339-4295AADA040B}"/>
              </a:ext>
            </a:extLst>
          </p:cNvPr>
          <p:cNvSpPr>
            <a:spLocks noGrp="1" noChangeArrowheads="1"/>
          </p:cNvSpPr>
          <p:nvPr>
            <p:ph type="title"/>
          </p:nvPr>
        </p:nvSpPr>
        <p:spPr/>
        <p:txBody>
          <a:bodyPr/>
          <a:lstStyle/>
          <a:p>
            <a:r>
              <a:rPr lang="pt-BR" altLang="pt-BR" b="1" dirty="0"/>
              <a:t>Introdução</a:t>
            </a:r>
          </a:p>
        </p:txBody>
      </p:sp>
      <p:sp>
        <p:nvSpPr>
          <p:cNvPr id="8195" name="Espaço Reservado para Conteúdo 2">
            <a:extLst>
              <a:ext uri="{FF2B5EF4-FFF2-40B4-BE49-F238E27FC236}">
                <a16:creationId xmlns:a16="http://schemas.microsoft.com/office/drawing/2014/main" id="{74AA05C0-43B7-4044-BA95-F2AB2A0DA86B}"/>
              </a:ext>
            </a:extLst>
          </p:cNvPr>
          <p:cNvSpPr>
            <a:spLocks noGrp="1" noChangeArrowheads="1"/>
          </p:cNvSpPr>
          <p:nvPr>
            <p:ph idx="1"/>
          </p:nvPr>
        </p:nvSpPr>
        <p:spPr>
          <a:xfrm>
            <a:off x="448570" y="1735946"/>
            <a:ext cx="7452415" cy="4351164"/>
          </a:xfrm>
        </p:spPr>
        <p:txBody>
          <a:bodyPr>
            <a:normAutofit fontScale="92500" lnSpcReduction="20000"/>
          </a:bodyPr>
          <a:lstStyle/>
          <a:p>
            <a:r>
              <a:rPr lang="pt-BR" dirty="0"/>
              <a:t>Teoria dos Grafos (TG) é uma área de conhecimento voltada ao estudo/análise das estruturas </a:t>
            </a:r>
            <a:r>
              <a:rPr lang="pt-BR" dirty="0">
                <a:solidFill>
                  <a:srgbClr val="FF0000"/>
                </a:solidFill>
              </a:rPr>
              <a:t>matemáticas</a:t>
            </a:r>
            <a:r>
              <a:rPr lang="pt-BR" dirty="0"/>
              <a:t> chamadas </a:t>
            </a:r>
            <a:r>
              <a:rPr lang="pt-BR" dirty="0">
                <a:solidFill>
                  <a:srgbClr val="FF0000"/>
                </a:solidFill>
              </a:rPr>
              <a:t>grafos</a:t>
            </a:r>
            <a:r>
              <a:rPr lang="pt-BR" dirty="0"/>
              <a:t>. </a:t>
            </a:r>
          </a:p>
          <a:p>
            <a:endParaRPr lang="pt-BR" dirty="0"/>
          </a:p>
          <a:p>
            <a:r>
              <a:rPr lang="pt-BR" dirty="0"/>
              <a:t>Um grafo pode ser informalmente definido como um </a:t>
            </a:r>
            <a:r>
              <a:rPr lang="pt-BR" dirty="0">
                <a:solidFill>
                  <a:srgbClr val="FF0000"/>
                </a:solidFill>
              </a:rPr>
              <a:t>conjunto de objetos </a:t>
            </a:r>
            <a:r>
              <a:rPr lang="pt-BR" dirty="0"/>
              <a:t>chamados </a:t>
            </a:r>
            <a:r>
              <a:rPr lang="pt-BR" dirty="0">
                <a:solidFill>
                  <a:srgbClr val="FF0000"/>
                </a:solidFill>
              </a:rPr>
              <a:t>vértices</a:t>
            </a:r>
            <a:r>
              <a:rPr lang="pt-BR" dirty="0"/>
              <a:t> e um </a:t>
            </a:r>
            <a:r>
              <a:rPr lang="pt-BR" dirty="0">
                <a:solidFill>
                  <a:srgbClr val="FF0000"/>
                </a:solidFill>
              </a:rPr>
              <a:t>conjunto de arestas </a:t>
            </a:r>
            <a:r>
              <a:rPr lang="pt-BR" dirty="0"/>
              <a:t>que </a:t>
            </a:r>
            <a:r>
              <a:rPr lang="pt-BR" dirty="0">
                <a:solidFill>
                  <a:srgbClr val="FF0000"/>
                </a:solidFill>
              </a:rPr>
              <a:t>unem pares desses objetos</a:t>
            </a:r>
            <a:r>
              <a:rPr lang="pt-BR" dirty="0"/>
              <a:t>. </a:t>
            </a:r>
          </a:p>
          <a:p>
            <a:endParaRPr lang="pt-BR" dirty="0"/>
          </a:p>
          <a:p>
            <a:r>
              <a:rPr lang="pt-BR" dirty="0"/>
              <a:t>A maneira mais comum de representar um grafo é por </a:t>
            </a:r>
            <a:r>
              <a:rPr lang="pt-BR" dirty="0">
                <a:solidFill>
                  <a:srgbClr val="FF0000"/>
                </a:solidFill>
              </a:rPr>
              <a:t>meio de um diagrama</a:t>
            </a:r>
            <a:r>
              <a:rPr lang="pt-BR" dirty="0"/>
              <a:t>, no qual vértices são representados por pontos e arestas, por segmentos de retas (ou de curvas). </a:t>
            </a:r>
          </a:p>
        </p:txBody>
      </p:sp>
      <p:sp>
        <p:nvSpPr>
          <p:cNvPr id="8196" name="Espaço Reservado para Número de Slide 3">
            <a:extLst>
              <a:ext uri="{FF2B5EF4-FFF2-40B4-BE49-F238E27FC236}">
                <a16:creationId xmlns:a16="http://schemas.microsoft.com/office/drawing/2014/main" id="{3C0CCBF4-CD03-40E7-8624-20DF14176D87}"/>
              </a:ext>
            </a:extLst>
          </p:cNvPr>
          <p:cNvSpPr>
            <a:spLocks noGrp="1" noChangeArrowheads="1"/>
          </p:cNvSpPr>
          <p:nvPr>
            <p:ph type="sldNum" sz="quarter" idx="4294967295"/>
          </p:nvPr>
        </p:nvSpPr>
        <p:spPr bwMode="auto">
          <a:xfrm>
            <a:off x="4305697" y="3178175"/>
            <a:ext cx="1371600" cy="18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75000"/>
              </a:lnSpc>
              <a:spcBef>
                <a:spcPts val="713"/>
              </a:spcBef>
              <a:buClr>
                <a:srgbClr val="000000"/>
              </a:buClr>
              <a:buSzPct val="100000"/>
              <a:buFont typeface="Times New Roman" panose="02020603050405020304" pitchFamily="18" charset="0"/>
              <a:defRPr sz="2800">
                <a:solidFill>
                  <a:srgbClr val="000000"/>
                </a:solidFill>
                <a:latin typeface="Calibri" panose="020F0502020204030204" pitchFamily="34" charset="0"/>
                <a:ea typeface="Microsoft YaHei" panose="020B0503020204020204" pitchFamily="34" charset="-122"/>
              </a:defRPr>
            </a:lvl1pPr>
            <a:lvl2pPr marL="228600">
              <a:lnSpc>
                <a:spcPct val="75000"/>
              </a:lnSpc>
              <a:spcBef>
                <a:spcPts val="569"/>
              </a:spcBef>
              <a:buClr>
                <a:srgbClr val="000000"/>
              </a:buClr>
              <a:buSzPct val="100000"/>
              <a:buFont typeface="Times New Roman" panose="02020603050405020304" pitchFamily="18" charset="0"/>
              <a:defRPr sz="2000">
                <a:solidFill>
                  <a:srgbClr val="000000"/>
                </a:solidFill>
                <a:latin typeface="Calibri" panose="020F0502020204030204" pitchFamily="34" charset="0"/>
                <a:ea typeface="Microsoft YaHei" panose="020B0503020204020204" pitchFamily="34" charset="-122"/>
              </a:defRPr>
            </a:lvl2pPr>
            <a:lvl3pPr marL="457200">
              <a:lnSpc>
                <a:spcPct val="75000"/>
              </a:lnSpc>
              <a:spcBef>
                <a:spcPts val="425"/>
              </a:spcBef>
              <a:buClr>
                <a:srgbClr val="000000"/>
              </a:buClr>
              <a:buSzPct val="100000"/>
              <a:buFont typeface="Times New Roman" panose="02020603050405020304" pitchFamily="18" charset="0"/>
              <a:defRPr sz="1800">
                <a:solidFill>
                  <a:srgbClr val="000000"/>
                </a:solidFill>
                <a:latin typeface="Calibri" panose="020F0502020204030204" pitchFamily="34" charset="0"/>
                <a:ea typeface="Microsoft YaHei" panose="020B0503020204020204" pitchFamily="34" charset="-122"/>
              </a:defRPr>
            </a:lvl3pPr>
            <a:lvl4pPr marL="685800">
              <a:lnSpc>
                <a:spcPct val="75000"/>
              </a:lnSpc>
              <a:spcBef>
                <a:spcPts val="288"/>
              </a:spcBef>
              <a:buClr>
                <a:srgbClr val="000000"/>
              </a:buClr>
              <a:buSzPct val="100000"/>
              <a:buFont typeface="Times New Roman" panose="02020603050405020304" pitchFamily="18" charset="0"/>
              <a:defRPr sz="1800">
                <a:solidFill>
                  <a:srgbClr val="000000"/>
                </a:solidFill>
                <a:latin typeface="Calibri" panose="020F0502020204030204" pitchFamily="34" charset="0"/>
                <a:ea typeface="Microsoft YaHei" panose="020B0503020204020204" pitchFamily="34" charset="-122"/>
              </a:defRPr>
            </a:lvl4pPr>
            <a:lvl5pPr marL="914400">
              <a:lnSpc>
                <a:spcPct val="75000"/>
              </a:lnSpc>
              <a:spcBef>
                <a:spcPts val="144"/>
              </a:spcBef>
              <a:buClr>
                <a:srgbClr val="000000"/>
              </a:buClr>
              <a:buSzPct val="100000"/>
              <a:buFont typeface="Times New Roman" panose="02020603050405020304" pitchFamily="18" charset="0"/>
              <a:defRPr sz="1000">
                <a:solidFill>
                  <a:srgbClr val="000000"/>
                </a:solidFill>
                <a:latin typeface="Calibri" panose="020F0502020204030204" pitchFamily="34" charset="0"/>
                <a:ea typeface="Microsoft YaHei" panose="020B0503020204020204" pitchFamily="34" charset="-122"/>
              </a:defRPr>
            </a:lvl5pPr>
            <a:lvl6pPr indent="-114300" eaLnBrk="0" fontAlgn="base" hangingPunct="0">
              <a:lnSpc>
                <a:spcPct val="75000"/>
              </a:lnSpc>
              <a:spcBef>
                <a:spcPts val="144"/>
              </a:spcBef>
              <a:spcAft>
                <a:spcPct val="0"/>
              </a:spcAft>
              <a:buClr>
                <a:srgbClr val="000000"/>
              </a:buClr>
              <a:buSzPct val="100000"/>
              <a:buFont typeface="Times New Roman" panose="02020603050405020304" pitchFamily="18" charset="0"/>
              <a:defRPr sz="1000">
                <a:solidFill>
                  <a:srgbClr val="000000"/>
                </a:solidFill>
                <a:latin typeface="Calibri" panose="020F0502020204030204" pitchFamily="34" charset="0"/>
                <a:ea typeface="Microsoft YaHei" panose="020B0503020204020204" pitchFamily="34" charset="-122"/>
              </a:defRPr>
            </a:lvl6pPr>
            <a:lvl7pPr indent="-114300" eaLnBrk="0" fontAlgn="base" hangingPunct="0">
              <a:lnSpc>
                <a:spcPct val="75000"/>
              </a:lnSpc>
              <a:spcBef>
                <a:spcPts val="144"/>
              </a:spcBef>
              <a:spcAft>
                <a:spcPct val="0"/>
              </a:spcAft>
              <a:buClr>
                <a:srgbClr val="000000"/>
              </a:buClr>
              <a:buSzPct val="100000"/>
              <a:buFont typeface="Times New Roman" panose="02020603050405020304" pitchFamily="18" charset="0"/>
              <a:defRPr sz="1000">
                <a:solidFill>
                  <a:srgbClr val="000000"/>
                </a:solidFill>
                <a:latin typeface="Calibri" panose="020F0502020204030204" pitchFamily="34" charset="0"/>
                <a:ea typeface="Microsoft YaHei" panose="020B0503020204020204" pitchFamily="34" charset="-122"/>
              </a:defRPr>
            </a:lvl7pPr>
            <a:lvl8pPr indent="-114300" eaLnBrk="0" fontAlgn="base" hangingPunct="0">
              <a:lnSpc>
                <a:spcPct val="75000"/>
              </a:lnSpc>
              <a:spcBef>
                <a:spcPts val="144"/>
              </a:spcBef>
              <a:spcAft>
                <a:spcPct val="0"/>
              </a:spcAft>
              <a:buClr>
                <a:srgbClr val="000000"/>
              </a:buClr>
              <a:buSzPct val="100000"/>
              <a:buFont typeface="Times New Roman" panose="02020603050405020304" pitchFamily="18" charset="0"/>
              <a:defRPr sz="1000">
                <a:solidFill>
                  <a:srgbClr val="000000"/>
                </a:solidFill>
                <a:latin typeface="Calibri" panose="020F0502020204030204" pitchFamily="34" charset="0"/>
                <a:ea typeface="Microsoft YaHei" panose="020B0503020204020204" pitchFamily="34" charset="-122"/>
              </a:defRPr>
            </a:lvl8pPr>
            <a:lvl9pPr indent="-114300" eaLnBrk="0" fontAlgn="base" hangingPunct="0">
              <a:lnSpc>
                <a:spcPct val="75000"/>
              </a:lnSpc>
              <a:spcBef>
                <a:spcPts val="144"/>
              </a:spcBef>
              <a:spcAft>
                <a:spcPct val="0"/>
              </a:spcAft>
              <a:buClr>
                <a:srgbClr val="000000"/>
              </a:buClr>
              <a:buSzPct val="100000"/>
              <a:buFont typeface="Times New Roman" panose="02020603050405020304" pitchFamily="18" charset="0"/>
              <a:defRPr sz="1000">
                <a:solidFill>
                  <a:srgbClr val="000000"/>
                </a:solidFill>
                <a:latin typeface="Calibri" panose="020F0502020204030204" pitchFamily="34" charset="0"/>
                <a:ea typeface="Microsoft YaHei" panose="020B0503020204020204" pitchFamily="34" charset="-122"/>
              </a:defRPr>
            </a:lvl9pPr>
          </a:lstStyle>
          <a:p>
            <a:pPr defTabSz="457200">
              <a:lnSpc>
                <a:spcPct val="100000"/>
              </a:lnSpc>
              <a:spcBef>
                <a:spcPct val="0"/>
              </a:spcBef>
              <a:buClrTx/>
              <a:buSzTx/>
            </a:pPr>
            <a:fld id="{D0A54CB7-4F3E-4D0E-B360-8021A78219E7}" type="slidenum">
              <a:rPr lang="pt-BR" altLang="pt-BR" sz="600">
                <a:solidFill>
                  <a:srgbClr val="898989"/>
                </a:solidFill>
              </a:rPr>
              <a:pPr defTabSz="457200">
                <a:lnSpc>
                  <a:spcPct val="100000"/>
                </a:lnSpc>
                <a:spcBef>
                  <a:spcPct val="0"/>
                </a:spcBef>
                <a:buClrTx/>
                <a:buSzTx/>
              </a:pPr>
              <a:t>3</a:t>
            </a:fld>
            <a:endParaRPr lang="pt-BR" altLang="pt-BR" sz="600">
              <a:solidFill>
                <a:srgbClr val="898989"/>
              </a:solidFill>
            </a:endParaRPr>
          </a:p>
        </p:txBody>
      </p:sp>
      <p:pic>
        <p:nvPicPr>
          <p:cNvPr id="5" name="Picture 2" descr="grafos:historiagrafos [WikiMat]">
            <a:extLst>
              <a:ext uri="{FF2B5EF4-FFF2-40B4-BE49-F238E27FC236}">
                <a16:creationId xmlns:a16="http://schemas.microsoft.com/office/drawing/2014/main" id="{FF3F4445-8269-434E-9653-C98D36672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0985" y="1612347"/>
            <a:ext cx="4027630" cy="40276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282E4A-25C9-4A3F-B0D2-656EB1D6D46C}"/>
              </a:ext>
            </a:extLst>
          </p:cNvPr>
          <p:cNvSpPr>
            <a:spLocks noGrp="1"/>
          </p:cNvSpPr>
          <p:nvPr>
            <p:ph type="title"/>
          </p:nvPr>
        </p:nvSpPr>
        <p:spPr/>
        <p:txBody>
          <a:bodyPr>
            <a:normAutofit/>
          </a:bodyPr>
          <a:lstStyle/>
          <a:p>
            <a:r>
              <a:rPr lang="pt-BR" b="1" dirty="0"/>
              <a:t>Motivação: Fronteira </a:t>
            </a:r>
            <a:br>
              <a:rPr lang="pt-BR" b="1" dirty="0"/>
            </a:br>
            <a:r>
              <a:rPr lang="pt-BR" b="1" dirty="0"/>
              <a:t> </a:t>
            </a:r>
          </a:p>
        </p:txBody>
      </p:sp>
      <p:sp>
        <p:nvSpPr>
          <p:cNvPr id="3" name="Espaço Reservado para Conteúdo 2">
            <a:extLst>
              <a:ext uri="{FF2B5EF4-FFF2-40B4-BE49-F238E27FC236}">
                <a16:creationId xmlns:a16="http://schemas.microsoft.com/office/drawing/2014/main" id="{6E835933-21DA-46FF-8CAB-CEE3156BC02F}"/>
              </a:ext>
            </a:extLst>
          </p:cNvPr>
          <p:cNvSpPr>
            <a:spLocks noGrp="1"/>
          </p:cNvSpPr>
          <p:nvPr>
            <p:ph idx="1"/>
          </p:nvPr>
        </p:nvSpPr>
        <p:spPr>
          <a:xfrm>
            <a:off x="565150" y="2160016"/>
            <a:ext cx="3185215" cy="3601212"/>
          </a:xfrm>
        </p:spPr>
        <p:txBody>
          <a:bodyPr/>
          <a:lstStyle/>
          <a:p>
            <a:pPr marL="342900" indent="-342900">
              <a:buFont typeface="Wingdings" panose="05000000000000000000" pitchFamily="2" charset="2"/>
              <a:buChar char="Ø"/>
            </a:pPr>
            <a:r>
              <a:rPr lang="pt-BR" dirty="0"/>
              <a:t>Nomes das cidades: Vértices (Objetos)</a:t>
            </a:r>
          </a:p>
          <a:p>
            <a:pPr marL="342900" indent="-342900">
              <a:buFont typeface="Wingdings" panose="05000000000000000000" pitchFamily="2" charset="2"/>
              <a:buChar char="Ø"/>
            </a:pPr>
            <a:endParaRPr lang="pt-BR" dirty="0"/>
          </a:p>
          <a:p>
            <a:pPr marL="342900" indent="-342900">
              <a:buFont typeface="Wingdings" panose="05000000000000000000" pitchFamily="2" charset="2"/>
              <a:buChar char="Ø"/>
            </a:pPr>
            <a:r>
              <a:rPr lang="pt-BR" dirty="0"/>
              <a:t>Ligação entre as cidades: Arestas (</a:t>
            </a:r>
            <a:r>
              <a:rPr lang="pt-BR" dirty="0">
                <a:solidFill>
                  <a:srgbClr val="FF0000"/>
                </a:solidFill>
              </a:rPr>
              <a:t>Relação de fronteira</a:t>
            </a:r>
            <a:r>
              <a:rPr lang="pt-BR" dirty="0"/>
              <a:t>)</a:t>
            </a:r>
          </a:p>
          <a:p>
            <a:endParaRPr lang="pt-BR" dirty="0"/>
          </a:p>
        </p:txBody>
      </p:sp>
      <p:pic>
        <p:nvPicPr>
          <p:cNvPr id="4" name="Imagem 3">
            <a:extLst>
              <a:ext uri="{FF2B5EF4-FFF2-40B4-BE49-F238E27FC236}">
                <a16:creationId xmlns:a16="http://schemas.microsoft.com/office/drawing/2014/main" id="{72A440C8-F1E2-494E-9211-F6AE94B06273}"/>
              </a:ext>
            </a:extLst>
          </p:cNvPr>
          <p:cNvPicPr>
            <a:picLocks noChangeAspect="1"/>
          </p:cNvPicPr>
          <p:nvPr/>
        </p:nvPicPr>
        <p:blipFill>
          <a:blip r:embed="rId2"/>
          <a:stretch>
            <a:fillRect/>
          </a:stretch>
        </p:blipFill>
        <p:spPr>
          <a:xfrm>
            <a:off x="4030515" y="2160016"/>
            <a:ext cx="8161485" cy="4157946"/>
          </a:xfrm>
          <a:prstGeom prst="rect">
            <a:avLst/>
          </a:prstGeom>
        </p:spPr>
      </p:pic>
    </p:spTree>
    <p:extLst>
      <p:ext uri="{BB962C8B-B14F-4D97-AF65-F5344CB8AC3E}">
        <p14:creationId xmlns:p14="http://schemas.microsoft.com/office/powerpoint/2010/main" val="761822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4534A7-35F8-4163-A7D7-0E6A0229FE69}"/>
              </a:ext>
            </a:extLst>
          </p:cNvPr>
          <p:cNvSpPr>
            <a:spLocks noGrp="1"/>
          </p:cNvSpPr>
          <p:nvPr>
            <p:ph type="title"/>
          </p:nvPr>
        </p:nvSpPr>
        <p:spPr/>
        <p:txBody>
          <a:bodyPr>
            <a:normAutofit/>
          </a:bodyPr>
          <a:lstStyle/>
          <a:p>
            <a:r>
              <a:rPr lang="pt-BR" b="1" dirty="0"/>
              <a:t>Motivação: Amizade em redes sociais </a:t>
            </a:r>
            <a:br>
              <a:rPr lang="pt-BR" b="1" dirty="0"/>
            </a:br>
            <a:r>
              <a:rPr lang="pt-BR" b="1" dirty="0"/>
              <a:t> </a:t>
            </a:r>
          </a:p>
        </p:txBody>
      </p:sp>
      <p:sp>
        <p:nvSpPr>
          <p:cNvPr id="3" name="Espaço Reservado para Conteúdo 2">
            <a:extLst>
              <a:ext uri="{FF2B5EF4-FFF2-40B4-BE49-F238E27FC236}">
                <a16:creationId xmlns:a16="http://schemas.microsoft.com/office/drawing/2014/main" id="{03F2B2E3-3F03-41CA-A3EF-7C66BD72992C}"/>
              </a:ext>
            </a:extLst>
          </p:cNvPr>
          <p:cNvSpPr>
            <a:spLocks noGrp="1"/>
          </p:cNvSpPr>
          <p:nvPr>
            <p:ph idx="1"/>
          </p:nvPr>
        </p:nvSpPr>
        <p:spPr>
          <a:xfrm>
            <a:off x="565150" y="2160016"/>
            <a:ext cx="3861075" cy="3601212"/>
          </a:xfrm>
        </p:spPr>
        <p:txBody>
          <a:bodyPr>
            <a:normAutofit/>
          </a:bodyPr>
          <a:lstStyle/>
          <a:p>
            <a:pPr marL="342900" indent="-342900">
              <a:buFont typeface="Wingdings" panose="05000000000000000000" pitchFamily="2" charset="2"/>
              <a:buChar char="Ø"/>
            </a:pPr>
            <a:r>
              <a:rPr lang="pt-BR" dirty="0"/>
              <a:t>Nomes dos amigos: Vértices                      (Objetos)</a:t>
            </a:r>
          </a:p>
          <a:p>
            <a:pPr marL="342900" indent="-342900">
              <a:buFont typeface="Wingdings" panose="05000000000000000000" pitchFamily="2" charset="2"/>
              <a:buChar char="Ø"/>
            </a:pPr>
            <a:endParaRPr lang="pt-BR" dirty="0"/>
          </a:p>
          <a:p>
            <a:pPr marL="342900" indent="-342900">
              <a:buFont typeface="Wingdings" panose="05000000000000000000" pitchFamily="2" charset="2"/>
              <a:buChar char="Ø"/>
            </a:pPr>
            <a:r>
              <a:rPr lang="pt-BR" dirty="0"/>
              <a:t>Ligação entre os amigos: Arestas           (</a:t>
            </a:r>
            <a:r>
              <a:rPr lang="pt-BR" dirty="0">
                <a:solidFill>
                  <a:srgbClr val="FF0000"/>
                </a:solidFill>
              </a:rPr>
              <a:t>Relação de amizade</a:t>
            </a:r>
            <a:r>
              <a:rPr lang="pt-BR" dirty="0"/>
              <a:t>)</a:t>
            </a:r>
          </a:p>
          <a:p>
            <a:endParaRPr lang="pt-BR" dirty="0"/>
          </a:p>
        </p:txBody>
      </p:sp>
      <p:pic>
        <p:nvPicPr>
          <p:cNvPr id="4" name="Imagem 3">
            <a:extLst>
              <a:ext uri="{FF2B5EF4-FFF2-40B4-BE49-F238E27FC236}">
                <a16:creationId xmlns:a16="http://schemas.microsoft.com/office/drawing/2014/main" id="{2F16CD89-D0D6-44E8-9A49-F87A379DBD55}"/>
              </a:ext>
            </a:extLst>
          </p:cNvPr>
          <p:cNvPicPr>
            <a:picLocks noChangeAspect="1"/>
          </p:cNvPicPr>
          <p:nvPr/>
        </p:nvPicPr>
        <p:blipFill>
          <a:blip r:embed="rId2"/>
          <a:stretch>
            <a:fillRect/>
          </a:stretch>
        </p:blipFill>
        <p:spPr>
          <a:xfrm>
            <a:off x="4179904" y="1810309"/>
            <a:ext cx="7830180" cy="4074422"/>
          </a:xfrm>
          <a:prstGeom prst="rect">
            <a:avLst/>
          </a:prstGeom>
        </p:spPr>
      </p:pic>
    </p:spTree>
    <p:extLst>
      <p:ext uri="{BB962C8B-B14F-4D97-AF65-F5344CB8AC3E}">
        <p14:creationId xmlns:p14="http://schemas.microsoft.com/office/powerpoint/2010/main" val="687958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B956AC-648B-47C9-96D2-ED007611625B}"/>
              </a:ext>
            </a:extLst>
          </p:cNvPr>
          <p:cNvSpPr>
            <a:spLocks noGrp="1"/>
          </p:cNvSpPr>
          <p:nvPr>
            <p:ph type="title"/>
          </p:nvPr>
        </p:nvSpPr>
        <p:spPr>
          <a:xfrm>
            <a:off x="838200" y="365125"/>
            <a:ext cx="10515600" cy="1325563"/>
          </a:xfrm>
        </p:spPr>
        <p:txBody>
          <a:bodyPr>
            <a:normAutofit/>
          </a:bodyPr>
          <a:lstStyle/>
          <a:p>
            <a:r>
              <a:rPr lang="pt-BR" b="1" dirty="0"/>
              <a:t>Motivação: Alocação de professores</a:t>
            </a:r>
          </a:p>
        </p:txBody>
      </p:sp>
      <p:sp>
        <p:nvSpPr>
          <p:cNvPr id="4" name="Espaço Reservado para Texto 7">
            <a:extLst>
              <a:ext uri="{FF2B5EF4-FFF2-40B4-BE49-F238E27FC236}">
                <a16:creationId xmlns:a16="http://schemas.microsoft.com/office/drawing/2014/main" id="{6AB56604-4EFD-409D-B828-6888CF445CB6}"/>
              </a:ext>
            </a:extLst>
          </p:cNvPr>
          <p:cNvSpPr txBox="1">
            <a:spLocks/>
          </p:cNvSpPr>
          <p:nvPr/>
        </p:nvSpPr>
        <p:spPr>
          <a:xfrm>
            <a:off x="598202" y="2273487"/>
            <a:ext cx="3854527" cy="4435657"/>
          </a:xfrm>
          <a:prstGeom prst="rect">
            <a:avLst/>
          </a:prstGeom>
        </p:spPr>
        <p:txBody>
          <a:bodyPr>
            <a:no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Ø"/>
            </a:pPr>
            <a:r>
              <a:rPr lang="pt-BR" dirty="0"/>
              <a:t>Nomes dos professores e nome das disciplinas: Vértices (Objetos)</a:t>
            </a:r>
          </a:p>
          <a:p>
            <a:pPr marL="342900" indent="-342900">
              <a:buFont typeface="Wingdings" panose="05000000000000000000" pitchFamily="2" charset="2"/>
              <a:buChar char="Ø"/>
            </a:pPr>
            <a:endParaRPr lang="pt-BR" dirty="0"/>
          </a:p>
          <a:p>
            <a:pPr marL="342900" indent="-342900">
              <a:buFont typeface="Wingdings" panose="05000000000000000000" pitchFamily="2" charset="2"/>
              <a:buChar char="Ø"/>
            </a:pPr>
            <a:r>
              <a:rPr lang="pt-BR" dirty="0"/>
              <a:t>Ligação entre os professores e disciplinas: Arestas  (</a:t>
            </a:r>
            <a:r>
              <a:rPr lang="pt-BR" dirty="0">
                <a:solidFill>
                  <a:srgbClr val="FF0000"/>
                </a:solidFill>
              </a:rPr>
              <a:t>Relação de alocação de professores</a:t>
            </a:r>
            <a:r>
              <a:rPr lang="pt-BR" dirty="0"/>
              <a:t>)</a:t>
            </a:r>
          </a:p>
        </p:txBody>
      </p:sp>
      <p:pic>
        <p:nvPicPr>
          <p:cNvPr id="5" name="Imagem 4">
            <a:extLst>
              <a:ext uri="{FF2B5EF4-FFF2-40B4-BE49-F238E27FC236}">
                <a16:creationId xmlns:a16="http://schemas.microsoft.com/office/drawing/2014/main" id="{6302B58C-24C6-4A0B-A03E-366D5DB6AE93}"/>
              </a:ext>
            </a:extLst>
          </p:cNvPr>
          <p:cNvPicPr>
            <a:picLocks noChangeAspect="1"/>
          </p:cNvPicPr>
          <p:nvPr/>
        </p:nvPicPr>
        <p:blipFill>
          <a:blip r:embed="rId2"/>
          <a:stretch>
            <a:fillRect/>
          </a:stretch>
        </p:blipFill>
        <p:spPr>
          <a:xfrm>
            <a:off x="4846274" y="1507622"/>
            <a:ext cx="4701763" cy="4985253"/>
          </a:xfrm>
          <a:prstGeom prst="rect">
            <a:avLst/>
          </a:prstGeom>
        </p:spPr>
      </p:pic>
    </p:spTree>
    <p:extLst>
      <p:ext uri="{BB962C8B-B14F-4D97-AF65-F5344CB8AC3E}">
        <p14:creationId xmlns:p14="http://schemas.microsoft.com/office/powerpoint/2010/main" val="3838251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B956AC-648B-47C9-96D2-ED007611625B}"/>
              </a:ext>
            </a:extLst>
          </p:cNvPr>
          <p:cNvSpPr>
            <a:spLocks noGrp="1"/>
          </p:cNvSpPr>
          <p:nvPr>
            <p:ph type="title"/>
          </p:nvPr>
        </p:nvSpPr>
        <p:spPr/>
        <p:txBody>
          <a:bodyPr>
            <a:normAutofit fontScale="90000"/>
          </a:bodyPr>
          <a:lstStyle/>
          <a:p>
            <a:r>
              <a:rPr lang="pt-BR" b="1" dirty="0"/>
              <a:t>Motivação: Fronteira</a:t>
            </a:r>
            <a:br>
              <a:rPr lang="pt-BR" b="1" dirty="0"/>
            </a:br>
            <a:r>
              <a:rPr lang="pt-BR" b="1" dirty="0"/>
              <a:t>(Coloração de grafos) </a:t>
            </a:r>
            <a:br>
              <a:rPr lang="pt-BR" b="1" dirty="0"/>
            </a:br>
            <a:r>
              <a:rPr lang="pt-BR" b="1" dirty="0"/>
              <a:t> </a:t>
            </a:r>
          </a:p>
        </p:txBody>
      </p:sp>
      <p:sp>
        <p:nvSpPr>
          <p:cNvPr id="6" name="Espaço Reservado para Texto 7">
            <a:extLst>
              <a:ext uri="{FF2B5EF4-FFF2-40B4-BE49-F238E27FC236}">
                <a16:creationId xmlns:a16="http://schemas.microsoft.com/office/drawing/2014/main" id="{D0D10B46-D254-4CFC-8057-C4558823EEA6}"/>
              </a:ext>
            </a:extLst>
          </p:cNvPr>
          <p:cNvSpPr txBox="1">
            <a:spLocks/>
          </p:cNvSpPr>
          <p:nvPr/>
        </p:nvSpPr>
        <p:spPr>
          <a:xfrm>
            <a:off x="565150" y="2615295"/>
            <a:ext cx="3854527" cy="2584449"/>
          </a:xfrm>
          <a:prstGeom prst="rect">
            <a:avLst/>
          </a:prstGeom>
        </p:spPr>
        <p:txBody>
          <a:bodyPr>
            <a:no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Ø"/>
            </a:pPr>
            <a:r>
              <a:rPr lang="pt-BR" dirty="0"/>
              <a:t>Nomes dos estados: Vértices (Objetos)</a:t>
            </a:r>
          </a:p>
          <a:p>
            <a:pPr marL="342900" indent="-342900">
              <a:buFont typeface="Wingdings" panose="05000000000000000000" pitchFamily="2" charset="2"/>
              <a:buChar char="Ø"/>
            </a:pPr>
            <a:endParaRPr lang="pt-BR" dirty="0"/>
          </a:p>
          <a:p>
            <a:pPr marL="342900" indent="-342900">
              <a:buFont typeface="Wingdings" panose="05000000000000000000" pitchFamily="2" charset="2"/>
              <a:buChar char="Ø"/>
            </a:pPr>
            <a:r>
              <a:rPr lang="pt-BR" dirty="0"/>
              <a:t>Ligação entre os estados: Arestas (</a:t>
            </a:r>
            <a:r>
              <a:rPr lang="pt-BR" dirty="0">
                <a:solidFill>
                  <a:srgbClr val="FF0000"/>
                </a:solidFill>
              </a:rPr>
              <a:t>Relação de fronteira</a:t>
            </a:r>
            <a:r>
              <a:rPr lang="pt-BR" dirty="0"/>
              <a:t>)</a:t>
            </a:r>
          </a:p>
        </p:txBody>
      </p:sp>
      <p:pic>
        <p:nvPicPr>
          <p:cNvPr id="7" name="Picture 2" descr="Mapa mudo do Brasil com a divisão e as siglas dos estados.&lt;/br&gt;&lt;/br&gt;Palavras-chave: Mapa. Brasil. Divisão Política. Dimensão Socioambiental. Lugar. Território. Região. Dimensão Econômica da Produção do e no Espaço.">
            <a:extLst>
              <a:ext uri="{FF2B5EF4-FFF2-40B4-BE49-F238E27FC236}">
                <a16:creationId xmlns:a16="http://schemas.microsoft.com/office/drawing/2014/main" id="{CF7DEAD1-4877-427F-B1CE-96FA64987C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9165" y="195469"/>
            <a:ext cx="6492169" cy="6467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292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2479E4-18E3-4686-AB0E-29F22F175ED0}"/>
              </a:ext>
            </a:extLst>
          </p:cNvPr>
          <p:cNvSpPr>
            <a:spLocks noGrp="1"/>
          </p:cNvSpPr>
          <p:nvPr>
            <p:ph type="title"/>
          </p:nvPr>
        </p:nvSpPr>
        <p:spPr>
          <a:xfrm>
            <a:off x="339863" y="296649"/>
            <a:ext cx="7335835" cy="1268984"/>
          </a:xfrm>
        </p:spPr>
        <p:txBody>
          <a:bodyPr>
            <a:normAutofit fontScale="90000"/>
          </a:bodyPr>
          <a:lstStyle/>
          <a:p>
            <a:r>
              <a:rPr lang="pt-BR" b="1" dirty="0"/>
              <a:t>Motivação: árvore genealógica da família imperial  </a:t>
            </a:r>
            <a:br>
              <a:rPr lang="pt-BR" b="1" dirty="0"/>
            </a:br>
            <a:r>
              <a:rPr lang="pt-BR" b="1" dirty="0"/>
              <a:t> </a:t>
            </a:r>
          </a:p>
        </p:txBody>
      </p:sp>
      <p:sp>
        <p:nvSpPr>
          <p:cNvPr id="4" name="Espaço Reservado para Texto 7">
            <a:extLst>
              <a:ext uri="{FF2B5EF4-FFF2-40B4-BE49-F238E27FC236}">
                <a16:creationId xmlns:a16="http://schemas.microsoft.com/office/drawing/2014/main" id="{4886B432-7561-4368-A72D-86374505A8E0}"/>
              </a:ext>
            </a:extLst>
          </p:cNvPr>
          <p:cNvSpPr txBox="1">
            <a:spLocks/>
          </p:cNvSpPr>
          <p:nvPr/>
        </p:nvSpPr>
        <p:spPr>
          <a:xfrm>
            <a:off x="187385" y="2260234"/>
            <a:ext cx="4159327" cy="3159905"/>
          </a:xfrm>
          <a:prstGeom prst="rect">
            <a:avLst/>
          </a:prstGeom>
        </p:spPr>
        <p:txBody>
          <a:bodyPr>
            <a:no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Ø"/>
            </a:pPr>
            <a:r>
              <a:rPr lang="pt-BR" dirty="0"/>
              <a:t>Pessoas: Vértices (Objetos)</a:t>
            </a:r>
          </a:p>
          <a:p>
            <a:pPr marL="342900" indent="-342900">
              <a:buFont typeface="Wingdings" panose="05000000000000000000" pitchFamily="2" charset="2"/>
              <a:buChar char="Ø"/>
            </a:pPr>
            <a:endParaRPr lang="pt-BR" dirty="0"/>
          </a:p>
          <a:p>
            <a:pPr marL="342900" indent="-342900">
              <a:buFont typeface="Wingdings" panose="05000000000000000000" pitchFamily="2" charset="2"/>
              <a:buChar char="Ø"/>
            </a:pPr>
            <a:r>
              <a:rPr lang="pt-BR" dirty="0"/>
              <a:t>Ligação: Arestas (</a:t>
            </a:r>
            <a:r>
              <a:rPr lang="pt-BR" dirty="0">
                <a:solidFill>
                  <a:srgbClr val="FF0000"/>
                </a:solidFill>
              </a:rPr>
              <a:t>Relação de casamento e gerar filhos</a:t>
            </a:r>
            <a:r>
              <a:rPr lang="pt-BR" dirty="0"/>
              <a:t>)</a:t>
            </a:r>
          </a:p>
        </p:txBody>
      </p:sp>
      <p:pic>
        <p:nvPicPr>
          <p:cNvPr id="5" name="Imagem 4">
            <a:extLst>
              <a:ext uri="{FF2B5EF4-FFF2-40B4-BE49-F238E27FC236}">
                <a16:creationId xmlns:a16="http://schemas.microsoft.com/office/drawing/2014/main" id="{442803B2-E40D-4E76-B4AF-01E01C85FBEF}"/>
              </a:ext>
            </a:extLst>
          </p:cNvPr>
          <p:cNvPicPr>
            <a:picLocks noChangeAspect="1"/>
          </p:cNvPicPr>
          <p:nvPr/>
        </p:nvPicPr>
        <p:blipFill>
          <a:blip r:embed="rId2"/>
          <a:stretch>
            <a:fillRect/>
          </a:stretch>
        </p:blipFill>
        <p:spPr>
          <a:xfrm>
            <a:off x="4336149" y="1437861"/>
            <a:ext cx="8042214" cy="5311371"/>
          </a:xfrm>
          <a:prstGeom prst="rect">
            <a:avLst/>
          </a:prstGeom>
        </p:spPr>
      </p:pic>
    </p:spTree>
    <p:extLst>
      <p:ext uri="{BB962C8B-B14F-4D97-AF65-F5344CB8AC3E}">
        <p14:creationId xmlns:p14="http://schemas.microsoft.com/office/powerpoint/2010/main" val="1057971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2479E4-18E3-4686-AB0E-29F22F175ED0}"/>
              </a:ext>
            </a:extLst>
          </p:cNvPr>
          <p:cNvSpPr>
            <a:spLocks noGrp="1"/>
          </p:cNvSpPr>
          <p:nvPr>
            <p:ph type="title"/>
          </p:nvPr>
        </p:nvSpPr>
        <p:spPr>
          <a:xfrm>
            <a:off x="339863" y="296649"/>
            <a:ext cx="7335835" cy="1268984"/>
          </a:xfrm>
        </p:spPr>
        <p:txBody>
          <a:bodyPr>
            <a:normAutofit fontScale="90000"/>
          </a:bodyPr>
          <a:lstStyle/>
          <a:p>
            <a:r>
              <a:rPr lang="pt-BR" b="1" dirty="0"/>
              <a:t>Motivação: </a:t>
            </a:r>
            <a:br>
              <a:rPr lang="pt-BR" b="1" dirty="0"/>
            </a:br>
            <a:r>
              <a:rPr lang="pt-BR" b="1" dirty="0"/>
              <a:t>Transporte aéreo</a:t>
            </a:r>
            <a:br>
              <a:rPr lang="pt-BR" b="1" dirty="0"/>
            </a:br>
            <a:r>
              <a:rPr lang="pt-BR" b="1" dirty="0"/>
              <a:t> </a:t>
            </a:r>
          </a:p>
        </p:txBody>
      </p:sp>
      <p:sp>
        <p:nvSpPr>
          <p:cNvPr id="6" name="Espaço Reservado para Texto 7">
            <a:extLst>
              <a:ext uri="{FF2B5EF4-FFF2-40B4-BE49-F238E27FC236}">
                <a16:creationId xmlns:a16="http://schemas.microsoft.com/office/drawing/2014/main" id="{B5CCBED3-9E71-452D-85F9-D6C379E1CE28}"/>
              </a:ext>
            </a:extLst>
          </p:cNvPr>
          <p:cNvSpPr txBox="1">
            <a:spLocks/>
          </p:cNvSpPr>
          <p:nvPr/>
        </p:nvSpPr>
        <p:spPr>
          <a:xfrm>
            <a:off x="187386" y="2260234"/>
            <a:ext cx="3536476" cy="2584449"/>
          </a:xfrm>
          <a:prstGeom prst="rect">
            <a:avLst/>
          </a:prstGeom>
        </p:spPr>
        <p:txBody>
          <a:bodyPr>
            <a:no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Ø"/>
            </a:pPr>
            <a:r>
              <a:rPr lang="pt-BR" dirty="0"/>
              <a:t>Cidades: Vértices             (Objetos)</a:t>
            </a:r>
          </a:p>
          <a:p>
            <a:pPr marL="342900" indent="-342900">
              <a:buFont typeface="Wingdings" panose="05000000000000000000" pitchFamily="2" charset="2"/>
              <a:buChar char="Ø"/>
            </a:pPr>
            <a:endParaRPr lang="pt-BR" dirty="0"/>
          </a:p>
          <a:p>
            <a:pPr marL="342900" indent="-342900">
              <a:buFont typeface="Wingdings" panose="05000000000000000000" pitchFamily="2" charset="2"/>
              <a:buChar char="Ø"/>
            </a:pPr>
            <a:r>
              <a:rPr lang="pt-BR" dirty="0"/>
              <a:t>Ligação: Arestas (</a:t>
            </a:r>
            <a:r>
              <a:rPr lang="pt-BR" dirty="0">
                <a:solidFill>
                  <a:srgbClr val="FF0000"/>
                </a:solidFill>
              </a:rPr>
              <a:t>Relação de transporte aéreo</a:t>
            </a:r>
            <a:r>
              <a:rPr lang="pt-BR" dirty="0"/>
              <a:t>)</a:t>
            </a:r>
          </a:p>
        </p:txBody>
      </p:sp>
      <p:pic>
        <p:nvPicPr>
          <p:cNvPr id="7" name="Imagem 6">
            <a:extLst>
              <a:ext uri="{FF2B5EF4-FFF2-40B4-BE49-F238E27FC236}">
                <a16:creationId xmlns:a16="http://schemas.microsoft.com/office/drawing/2014/main" id="{44ABBBD9-9AF3-4A9F-8763-E2965F896F53}"/>
              </a:ext>
            </a:extLst>
          </p:cNvPr>
          <p:cNvPicPr>
            <a:picLocks noChangeAspect="1"/>
          </p:cNvPicPr>
          <p:nvPr/>
        </p:nvPicPr>
        <p:blipFill>
          <a:blip r:embed="rId2"/>
          <a:stretch>
            <a:fillRect/>
          </a:stretch>
        </p:blipFill>
        <p:spPr>
          <a:xfrm>
            <a:off x="4007780" y="153435"/>
            <a:ext cx="8134978" cy="6551130"/>
          </a:xfrm>
          <a:prstGeom prst="rect">
            <a:avLst/>
          </a:prstGeom>
        </p:spPr>
      </p:pic>
    </p:spTree>
    <p:extLst>
      <p:ext uri="{BB962C8B-B14F-4D97-AF65-F5344CB8AC3E}">
        <p14:creationId xmlns:p14="http://schemas.microsoft.com/office/powerpoint/2010/main" val="2482062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2479E4-18E3-4686-AB0E-29F22F175ED0}"/>
              </a:ext>
            </a:extLst>
          </p:cNvPr>
          <p:cNvSpPr>
            <a:spLocks noGrp="1"/>
          </p:cNvSpPr>
          <p:nvPr>
            <p:ph type="title"/>
          </p:nvPr>
        </p:nvSpPr>
        <p:spPr>
          <a:xfrm>
            <a:off x="339863" y="296649"/>
            <a:ext cx="7335835" cy="1268984"/>
          </a:xfrm>
        </p:spPr>
        <p:txBody>
          <a:bodyPr>
            <a:normAutofit fontScale="90000"/>
          </a:bodyPr>
          <a:lstStyle/>
          <a:p>
            <a:r>
              <a:rPr lang="pt-BR" b="1" dirty="0"/>
              <a:t>Motivação: Compra virtual   </a:t>
            </a:r>
            <a:br>
              <a:rPr lang="pt-BR" b="1" dirty="0"/>
            </a:br>
            <a:r>
              <a:rPr lang="pt-BR" b="1" dirty="0"/>
              <a:t> </a:t>
            </a:r>
          </a:p>
        </p:txBody>
      </p:sp>
      <p:sp>
        <p:nvSpPr>
          <p:cNvPr id="5" name="Espaço Reservado para Texto 7">
            <a:extLst>
              <a:ext uri="{FF2B5EF4-FFF2-40B4-BE49-F238E27FC236}">
                <a16:creationId xmlns:a16="http://schemas.microsoft.com/office/drawing/2014/main" id="{6AD5DD2B-BA38-473A-AAD7-E62FA15C46CE}"/>
              </a:ext>
            </a:extLst>
          </p:cNvPr>
          <p:cNvSpPr txBox="1">
            <a:spLocks/>
          </p:cNvSpPr>
          <p:nvPr/>
        </p:nvSpPr>
        <p:spPr>
          <a:xfrm>
            <a:off x="187386" y="2260234"/>
            <a:ext cx="3165414" cy="2584449"/>
          </a:xfrm>
          <a:prstGeom prst="rect">
            <a:avLst/>
          </a:prstGeom>
        </p:spPr>
        <p:txBody>
          <a:bodyPr>
            <a:no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Ø"/>
            </a:pPr>
            <a:r>
              <a:rPr lang="pt-BR" dirty="0"/>
              <a:t>Pessoas e Serviços: Vértices (Objetos)</a:t>
            </a:r>
          </a:p>
          <a:p>
            <a:pPr marL="342900" indent="-342900">
              <a:buFont typeface="Wingdings" panose="05000000000000000000" pitchFamily="2" charset="2"/>
              <a:buChar char="Ø"/>
            </a:pPr>
            <a:endParaRPr lang="pt-BR" dirty="0"/>
          </a:p>
          <a:p>
            <a:pPr marL="342900" indent="-342900">
              <a:buFont typeface="Wingdings" panose="05000000000000000000" pitchFamily="2" charset="2"/>
              <a:buChar char="Ø"/>
            </a:pPr>
            <a:r>
              <a:rPr lang="pt-BR" dirty="0"/>
              <a:t>Ligação: Arestas           (</a:t>
            </a:r>
            <a:r>
              <a:rPr lang="pt-BR" dirty="0">
                <a:solidFill>
                  <a:srgbClr val="FF0000"/>
                </a:solidFill>
              </a:rPr>
              <a:t>Relação de compra virtual</a:t>
            </a:r>
            <a:r>
              <a:rPr lang="pt-BR" dirty="0"/>
              <a:t>)</a:t>
            </a:r>
          </a:p>
        </p:txBody>
      </p:sp>
      <p:pic>
        <p:nvPicPr>
          <p:cNvPr id="8" name="Imagem 7">
            <a:extLst>
              <a:ext uri="{FF2B5EF4-FFF2-40B4-BE49-F238E27FC236}">
                <a16:creationId xmlns:a16="http://schemas.microsoft.com/office/drawing/2014/main" id="{7516233B-1AC7-400F-B9D0-9ADE2AA98C07}"/>
              </a:ext>
            </a:extLst>
          </p:cNvPr>
          <p:cNvPicPr>
            <a:picLocks noChangeAspect="1"/>
          </p:cNvPicPr>
          <p:nvPr/>
        </p:nvPicPr>
        <p:blipFill>
          <a:blip r:embed="rId2"/>
          <a:stretch>
            <a:fillRect/>
          </a:stretch>
        </p:blipFill>
        <p:spPr>
          <a:xfrm>
            <a:off x="3485322" y="931141"/>
            <a:ext cx="8810840" cy="5678613"/>
          </a:xfrm>
          <a:prstGeom prst="rect">
            <a:avLst/>
          </a:prstGeom>
        </p:spPr>
      </p:pic>
    </p:spTree>
    <p:extLst>
      <p:ext uri="{BB962C8B-B14F-4D97-AF65-F5344CB8AC3E}">
        <p14:creationId xmlns:p14="http://schemas.microsoft.com/office/powerpoint/2010/main" val="3287303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2EE2B3-84CE-4976-97D0-14D544261559}"/>
              </a:ext>
            </a:extLst>
          </p:cNvPr>
          <p:cNvSpPr>
            <a:spLocks noGrp="1"/>
          </p:cNvSpPr>
          <p:nvPr>
            <p:ph type="title"/>
          </p:nvPr>
        </p:nvSpPr>
        <p:spPr/>
        <p:txBody>
          <a:bodyPr>
            <a:normAutofit/>
          </a:bodyPr>
          <a:lstStyle/>
          <a:p>
            <a:r>
              <a:rPr lang="pt-BR" b="1" dirty="0"/>
              <a:t>Motivação: Coleta de lixo </a:t>
            </a:r>
            <a:br>
              <a:rPr lang="pt-BR" b="1" dirty="0"/>
            </a:br>
            <a:r>
              <a:rPr lang="pt-BR" b="1" dirty="0"/>
              <a:t> </a:t>
            </a:r>
          </a:p>
        </p:txBody>
      </p:sp>
      <p:sp>
        <p:nvSpPr>
          <p:cNvPr id="4" name="Espaço Reservado para Texto 7">
            <a:extLst>
              <a:ext uri="{FF2B5EF4-FFF2-40B4-BE49-F238E27FC236}">
                <a16:creationId xmlns:a16="http://schemas.microsoft.com/office/drawing/2014/main" id="{292C9370-992E-4C64-9936-A484034965E7}"/>
              </a:ext>
            </a:extLst>
          </p:cNvPr>
          <p:cNvSpPr txBox="1">
            <a:spLocks/>
          </p:cNvSpPr>
          <p:nvPr/>
        </p:nvSpPr>
        <p:spPr>
          <a:xfrm>
            <a:off x="425925" y="2246475"/>
            <a:ext cx="3536476" cy="2584449"/>
          </a:xfrm>
          <a:prstGeom prst="rect">
            <a:avLst/>
          </a:prstGeom>
        </p:spPr>
        <p:txBody>
          <a:bodyPr>
            <a:no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Ø"/>
            </a:pPr>
            <a:r>
              <a:rPr lang="pt-BR" dirty="0"/>
              <a:t>Pontos de coletas: Vértices (Objetos)</a:t>
            </a:r>
          </a:p>
          <a:p>
            <a:pPr marL="342900" indent="-342900">
              <a:buFont typeface="Wingdings" panose="05000000000000000000" pitchFamily="2" charset="2"/>
              <a:buChar char="Ø"/>
            </a:pPr>
            <a:endParaRPr lang="pt-BR" dirty="0"/>
          </a:p>
          <a:p>
            <a:pPr marL="342900" indent="-342900">
              <a:buFont typeface="Wingdings" panose="05000000000000000000" pitchFamily="2" charset="2"/>
              <a:buChar char="Ø"/>
            </a:pPr>
            <a:r>
              <a:rPr lang="pt-BR" dirty="0"/>
              <a:t>Ligação: Arestas  (</a:t>
            </a:r>
            <a:r>
              <a:rPr lang="pt-BR" dirty="0">
                <a:solidFill>
                  <a:srgbClr val="FF0000"/>
                </a:solidFill>
              </a:rPr>
              <a:t>Relação coleta de lixo</a:t>
            </a:r>
            <a:r>
              <a:rPr lang="pt-BR" dirty="0"/>
              <a:t>)</a:t>
            </a:r>
          </a:p>
        </p:txBody>
      </p:sp>
      <p:pic>
        <p:nvPicPr>
          <p:cNvPr id="5" name="Imagem 4">
            <a:extLst>
              <a:ext uri="{FF2B5EF4-FFF2-40B4-BE49-F238E27FC236}">
                <a16:creationId xmlns:a16="http://schemas.microsoft.com/office/drawing/2014/main" id="{DF5944AE-D888-427F-ACA7-075C24E517FB}"/>
              </a:ext>
            </a:extLst>
          </p:cNvPr>
          <p:cNvPicPr>
            <a:picLocks noChangeAspect="1"/>
          </p:cNvPicPr>
          <p:nvPr/>
        </p:nvPicPr>
        <p:blipFill>
          <a:blip r:embed="rId2"/>
          <a:stretch>
            <a:fillRect/>
          </a:stretch>
        </p:blipFill>
        <p:spPr>
          <a:xfrm>
            <a:off x="4531862" y="1501844"/>
            <a:ext cx="7059783" cy="4594156"/>
          </a:xfrm>
          <a:prstGeom prst="rect">
            <a:avLst/>
          </a:prstGeom>
        </p:spPr>
      </p:pic>
    </p:spTree>
    <p:extLst>
      <p:ext uri="{BB962C8B-B14F-4D97-AF65-F5344CB8AC3E}">
        <p14:creationId xmlns:p14="http://schemas.microsoft.com/office/powerpoint/2010/main" val="2256597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2EE2B3-84CE-4976-97D0-14D544261559}"/>
              </a:ext>
            </a:extLst>
          </p:cNvPr>
          <p:cNvSpPr>
            <a:spLocks noGrp="1"/>
          </p:cNvSpPr>
          <p:nvPr>
            <p:ph type="title"/>
          </p:nvPr>
        </p:nvSpPr>
        <p:spPr>
          <a:xfrm>
            <a:off x="318052" y="345018"/>
            <a:ext cx="4271893" cy="1268984"/>
          </a:xfrm>
        </p:spPr>
        <p:txBody>
          <a:bodyPr>
            <a:normAutofit fontScale="90000"/>
          </a:bodyPr>
          <a:lstStyle/>
          <a:p>
            <a:r>
              <a:rPr lang="pt-BR" b="1" dirty="0"/>
              <a:t>Motivação: Saneamento básico </a:t>
            </a:r>
            <a:br>
              <a:rPr lang="pt-BR" b="1" dirty="0"/>
            </a:br>
            <a:r>
              <a:rPr lang="pt-BR" b="1" dirty="0"/>
              <a:t> </a:t>
            </a:r>
          </a:p>
        </p:txBody>
      </p:sp>
      <p:sp>
        <p:nvSpPr>
          <p:cNvPr id="6" name="Espaço Reservado para Texto 7">
            <a:extLst>
              <a:ext uri="{FF2B5EF4-FFF2-40B4-BE49-F238E27FC236}">
                <a16:creationId xmlns:a16="http://schemas.microsoft.com/office/drawing/2014/main" id="{03C80EFB-81E8-4CF4-B25C-386D3F6CAAF8}"/>
              </a:ext>
            </a:extLst>
          </p:cNvPr>
          <p:cNvSpPr txBox="1">
            <a:spLocks/>
          </p:cNvSpPr>
          <p:nvPr/>
        </p:nvSpPr>
        <p:spPr>
          <a:xfrm>
            <a:off x="558447" y="2166582"/>
            <a:ext cx="3536476" cy="2584449"/>
          </a:xfrm>
          <a:prstGeom prst="rect">
            <a:avLst/>
          </a:prstGeom>
        </p:spPr>
        <p:txBody>
          <a:bodyPr>
            <a:no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Ø"/>
            </a:pPr>
            <a:r>
              <a:rPr lang="pt-BR" dirty="0"/>
              <a:t>Serviços: Vértices             (Objetos)</a:t>
            </a:r>
          </a:p>
          <a:p>
            <a:pPr marL="342900" indent="-342900">
              <a:buFont typeface="Wingdings" panose="05000000000000000000" pitchFamily="2" charset="2"/>
              <a:buChar char="Ø"/>
            </a:pPr>
            <a:endParaRPr lang="pt-BR" dirty="0"/>
          </a:p>
          <a:p>
            <a:pPr marL="342900" indent="-342900">
              <a:buFont typeface="Wingdings" panose="05000000000000000000" pitchFamily="2" charset="2"/>
              <a:buChar char="Ø"/>
            </a:pPr>
            <a:r>
              <a:rPr lang="pt-BR" dirty="0"/>
              <a:t>Ligação: Arestas </a:t>
            </a:r>
            <a:r>
              <a:rPr lang="pt-BR" dirty="0">
                <a:solidFill>
                  <a:srgbClr val="FF0000"/>
                </a:solidFill>
              </a:rPr>
              <a:t> </a:t>
            </a:r>
            <a:r>
              <a:rPr lang="pt-BR" dirty="0"/>
              <a:t>(</a:t>
            </a:r>
            <a:r>
              <a:rPr lang="pt-BR" dirty="0">
                <a:solidFill>
                  <a:srgbClr val="FF0000"/>
                </a:solidFill>
              </a:rPr>
              <a:t>Relação de saneamento básico</a:t>
            </a:r>
            <a:r>
              <a:rPr lang="pt-BR" dirty="0"/>
              <a:t>)</a:t>
            </a:r>
          </a:p>
        </p:txBody>
      </p:sp>
      <p:pic>
        <p:nvPicPr>
          <p:cNvPr id="7" name="Imagem 6">
            <a:extLst>
              <a:ext uri="{FF2B5EF4-FFF2-40B4-BE49-F238E27FC236}">
                <a16:creationId xmlns:a16="http://schemas.microsoft.com/office/drawing/2014/main" id="{A3AB5C8B-3E81-45ED-AA5D-93A0373C439F}"/>
              </a:ext>
            </a:extLst>
          </p:cNvPr>
          <p:cNvPicPr>
            <a:picLocks noChangeAspect="1"/>
          </p:cNvPicPr>
          <p:nvPr/>
        </p:nvPicPr>
        <p:blipFill>
          <a:blip r:embed="rId2"/>
          <a:stretch>
            <a:fillRect/>
          </a:stretch>
        </p:blipFill>
        <p:spPr>
          <a:xfrm>
            <a:off x="4837043" y="185530"/>
            <a:ext cx="7036905" cy="6546554"/>
          </a:xfrm>
          <a:prstGeom prst="rect">
            <a:avLst/>
          </a:prstGeom>
        </p:spPr>
      </p:pic>
    </p:spTree>
    <p:extLst>
      <p:ext uri="{BB962C8B-B14F-4D97-AF65-F5344CB8AC3E}">
        <p14:creationId xmlns:p14="http://schemas.microsoft.com/office/powerpoint/2010/main" val="3291343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33D634-3093-407A-8138-3E29D45E94EE}"/>
              </a:ext>
            </a:extLst>
          </p:cNvPr>
          <p:cNvSpPr>
            <a:spLocks noGrp="1"/>
          </p:cNvSpPr>
          <p:nvPr>
            <p:ph type="title"/>
          </p:nvPr>
        </p:nvSpPr>
        <p:spPr>
          <a:xfrm>
            <a:off x="565150" y="770890"/>
            <a:ext cx="4391163" cy="1268984"/>
          </a:xfrm>
        </p:spPr>
        <p:txBody>
          <a:bodyPr>
            <a:normAutofit fontScale="90000"/>
          </a:bodyPr>
          <a:lstStyle/>
          <a:p>
            <a:r>
              <a:rPr lang="pt-BR" b="1" dirty="0"/>
              <a:t>Motivação: Páginas da Web</a:t>
            </a:r>
            <a:br>
              <a:rPr lang="pt-BR" b="1" dirty="0"/>
            </a:br>
            <a:r>
              <a:rPr lang="pt-BR" b="1" dirty="0"/>
              <a:t> </a:t>
            </a:r>
          </a:p>
        </p:txBody>
      </p:sp>
      <p:sp>
        <p:nvSpPr>
          <p:cNvPr id="4" name="Espaço Reservado para Texto 7">
            <a:extLst>
              <a:ext uri="{FF2B5EF4-FFF2-40B4-BE49-F238E27FC236}">
                <a16:creationId xmlns:a16="http://schemas.microsoft.com/office/drawing/2014/main" id="{DFB66281-5483-4357-B2CE-D6E39BB61BAE}"/>
              </a:ext>
            </a:extLst>
          </p:cNvPr>
          <p:cNvSpPr txBox="1">
            <a:spLocks/>
          </p:cNvSpPr>
          <p:nvPr/>
        </p:nvSpPr>
        <p:spPr>
          <a:xfrm>
            <a:off x="558447" y="2166582"/>
            <a:ext cx="3536476" cy="2584449"/>
          </a:xfrm>
          <a:prstGeom prst="rect">
            <a:avLst/>
          </a:prstGeom>
        </p:spPr>
        <p:txBody>
          <a:bodyPr>
            <a:no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Ø"/>
            </a:pPr>
            <a:r>
              <a:rPr lang="pt-BR" dirty="0"/>
              <a:t>Páginas da Web: Vértices  (Objetos)</a:t>
            </a:r>
          </a:p>
          <a:p>
            <a:pPr marL="342900" indent="-342900">
              <a:buFont typeface="Wingdings" panose="05000000000000000000" pitchFamily="2" charset="2"/>
              <a:buChar char="Ø"/>
            </a:pPr>
            <a:endParaRPr lang="pt-BR" dirty="0"/>
          </a:p>
          <a:p>
            <a:pPr marL="342900" indent="-342900">
              <a:buFont typeface="Wingdings" panose="05000000000000000000" pitchFamily="2" charset="2"/>
              <a:buChar char="Ø"/>
            </a:pPr>
            <a:r>
              <a:rPr lang="pt-BR" dirty="0"/>
              <a:t>Ligação: Arestas           </a:t>
            </a:r>
            <a:r>
              <a:rPr lang="pt-BR" dirty="0">
                <a:solidFill>
                  <a:srgbClr val="FF0000"/>
                </a:solidFill>
              </a:rPr>
              <a:t> </a:t>
            </a:r>
            <a:r>
              <a:rPr lang="pt-BR" dirty="0"/>
              <a:t>(</a:t>
            </a:r>
            <a:r>
              <a:rPr lang="pt-BR" dirty="0">
                <a:solidFill>
                  <a:srgbClr val="FF0000"/>
                </a:solidFill>
              </a:rPr>
              <a:t>Relação de link de uma página para outra</a:t>
            </a:r>
            <a:r>
              <a:rPr lang="pt-BR" dirty="0"/>
              <a:t>)</a:t>
            </a:r>
          </a:p>
        </p:txBody>
      </p:sp>
      <p:pic>
        <p:nvPicPr>
          <p:cNvPr id="5" name="Imagem 4">
            <a:extLst>
              <a:ext uri="{FF2B5EF4-FFF2-40B4-BE49-F238E27FC236}">
                <a16:creationId xmlns:a16="http://schemas.microsoft.com/office/drawing/2014/main" id="{CFEF1D3C-747F-49AD-AF60-FD5AEA6ED692}"/>
              </a:ext>
            </a:extLst>
          </p:cNvPr>
          <p:cNvPicPr>
            <a:picLocks noChangeAspect="1"/>
          </p:cNvPicPr>
          <p:nvPr/>
        </p:nvPicPr>
        <p:blipFill>
          <a:blip r:embed="rId2"/>
          <a:stretch>
            <a:fillRect/>
          </a:stretch>
        </p:blipFill>
        <p:spPr>
          <a:xfrm>
            <a:off x="5159596" y="299999"/>
            <a:ext cx="6632983" cy="6326087"/>
          </a:xfrm>
          <a:prstGeom prst="rect">
            <a:avLst/>
          </a:prstGeom>
        </p:spPr>
      </p:pic>
    </p:spTree>
    <p:extLst>
      <p:ext uri="{BB962C8B-B14F-4D97-AF65-F5344CB8AC3E}">
        <p14:creationId xmlns:p14="http://schemas.microsoft.com/office/powerpoint/2010/main" val="3712947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33D634-3093-407A-8138-3E29D45E94EE}"/>
              </a:ext>
            </a:extLst>
          </p:cNvPr>
          <p:cNvSpPr>
            <a:spLocks noGrp="1"/>
          </p:cNvSpPr>
          <p:nvPr>
            <p:ph type="title"/>
          </p:nvPr>
        </p:nvSpPr>
        <p:spPr>
          <a:xfrm>
            <a:off x="432628" y="303875"/>
            <a:ext cx="10632937" cy="1268984"/>
          </a:xfrm>
        </p:spPr>
        <p:txBody>
          <a:bodyPr>
            <a:normAutofit fontScale="90000"/>
          </a:bodyPr>
          <a:lstStyle/>
          <a:p>
            <a:r>
              <a:rPr lang="pt-BR" b="1" dirty="0"/>
              <a:t>Motivação: Características de uma linguagem de programação </a:t>
            </a:r>
            <a:br>
              <a:rPr lang="pt-BR" b="1" dirty="0"/>
            </a:br>
            <a:r>
              <a:rPr lang="pt-BR" b="1" dirty="0"/>
              <a:t> </a:t>
            </a:r>
          </a:p>
        </p:txBody>
      </p:sp>
      <p:sp>
        <p:nvSpPr>
          <p:cNvPr id="6" name="Espaço Reservado para Texto 7">
            <a:extLst>
              <a:ext uri="{FF2B5EF4-FFF2-40B4-BE49-F238E27FC236}">
                <a16:creationId xmlns:a16="http://schemas.microsoft.com/office/drawing/2014/main" id="{E2898E6F-3533-4E5B-BB74-105B75CE089C}"/>
              </a:ext>
            </a:extLst>
          </p:cNvPr>
          <p:cNvSpPr txBox="1">
            <a:spLocks/>
          </p:cNvSpPr>
          <p:nvPr/>
        </p:nvSpPr>
        <p:spPr>
          <a:xfrm>
            <a:off x="664464" y="1434636"/>
            <a:ext cx="9446115" cy="2584449"/>
          </a:xfrm>
          <a:prstGeom prst="rect">
            <a:avLst/>
          </a:prstGeom>
        </p:spPr>
        <p:txBody>
          <a:bodyPr>
            <a:no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Ø"/>
            </a:pPr>
            <a:endParaRPr lang="pt-BR" dirty="0"/>
          </a:p>
          <a:p>
            <a:pPr marL="342900" indent="-342900">
              <a:buFont typeface="Wingdings" panose="05000000000000000000" pitchFamily="2" charset="2"/>
              <a:buChar char="Ø"/>
            </a:pPr>
            <a:r>
              <a:rPr lang="pt-BR" dirty="0"/>
              <a:t>Instruções: Vértices (Objetos)</a:t>
            </a:r>
          </a:p>
          <a:p>
            <a:pPr marL="342900" indent="-342900">
              <a:buFont typeface="Wingdings" panose="05000000000000000000" pitchFamily="2" charset="2"/>
              <a:buChar char="Ø"/>
            </a:pPr>
            <a:r>
              <a:rPr lang="pt-BR" dirty="0"/>
              <a:t>Ligação: Arestas (</a:t>
            </a:r>
            <a:r>
              <a:rPr lang="pt-BR" dirty="0">
                <a:solidFill>
                  <a:srgbClr val="FF0000"/>
                </a:solidFill>
              </a:rPr>
              <a:t>Relação de funcionamento de cada característica</a:t>
            </a:r>
            <a:r>
              <a:rPr lang="pt-BR" dirty="0"/>
              <a:t>)</a:t>
            </a:r>
          </a:p>
        </p:txBody>
      </p:sp>
      <p:pic>
        <p:nvPicPr>
          <p:cNvPr id="7" name="Imagem 6">
            <a:extLst>
              <a:ext uri="{FF2B5EF4-FFF2-40B4-BE49-F238E27FC236}">
                <a16:creationId xmlns:a16="http://schemas.microsoft.com/office/drawing/2014/main" id="{63341E90-431A-4FA4-BFF3-3D60286E8190}"/>
              </a:ext>
            </a:extLst>
          </p:cNvPr>
          <p:cNvPicPr>
            <a:picLocks noChangeAspect="1"/>
          </p:cNvPicPr>
          <p:nvPr/>
        </p:nvPicPr>
        <p:blipFill>
          <a:blip r:embed="rId2"/>
          <a:stretch>
            <a:fillRect/>
          </a:stretch>
        </p:blipFill>
        <p:spPr>
          <a:xfrm>
            <a:off x="253647" y="3313043"/>
            <a:ext cx="11512428" cy="3379305"/>
          </a:xfrm>
          <a:prstGeom prst="rect">
            <a:avLst/>
          </a:prstGeom>
        </p:spPr>
      </p:pic>
    </p:spTree>
    <p:extLst>
      <p:ext uri="{BB962C8B-B14F-4D97-AF65-F5344CB8AC3E}">
        <p14:creationId xmlns:p14="http://schemas.microsoft.com/office/powerpoint/2010/main" val="1939526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9ED818-4371-40D9-922A-4C0277615F96}"/>
              </a:ext>
            </a:extLst>
          </p:cNvPr>
          <p:cNvSpPr>
            <a:spLocks noGrp="1"/>
          </p:cNvSpPr>
          <p:nvPr>
            <p:ph type="title"/>
          </p:nvPr>
        </p:nvSpPr>
        <p:spPr/>
        <p:txBody>
          <a:bodyPr/>
          <a:lstStyle/>
          <a:p>
            <a:r>
              <a:rPr lang="pt-BR" b="1" dirty="0"/>
              <a:t>Contexto Histórico</a:t>
            </a:r>
          </a:p>
        </p:txBody>
      </p:sp>
      <p:sp>
        <p:nvSpPr>
          <p:cNvPr id="4" name="Espaço Reservado para Texto 7">
            <a:extLst>
              <a:ext uri="{FF2B5EF4-FFF2-40B4-BE49-F238E27FC236}">
                <a16:creationId xmlns:a16="http://schemas.microsoft.com/office/drawing/2014/main" id="{B1E89E3A-643A-44AC-B52E-AD2267B60C40}"/>
              </a:ext>
            </a:extLst>
          </p:cNvPr>
          <p:cNvSpPr txBox="1">
            <a:spLocks/>
          </p:cNvSpPr>
          <p:nvPr/>
        </p:nvSpPr>
        <p:spPr>
          <a:xfrm>
            <a:off x="425925" y="1574179"/>
            <a:ext cx="4477379" cy="2584449"/>
          </a:xfrm>
          <a:prstGeom prst="rect">
            <a:avLst/>
          </a:prstGeom>
        </p:spPr>
        <p:txBody>
          <a:bodyPr>
            <a:no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Ø"/>
            </a:pPr>
            <a:r>
              <a:rPr lang="pt-BR" altLang="pt-BR"/>
              <a:t>A Literatura relata que a </a:t>
            </a:r>
            <a:r>
              <a:rPr lang="pt-BR" altLang="pt-BR">
                <a:solidFill>
                  <a:srgbClr val="FF0000"/>
                </a:solidFill>
              </a:rPr>
              <a:t>teoria dos grafos </a:t>
            </a:r>
            <a:r>
              <a:rPr lang="pt-BR" altLang="pt-BR"/>
              <a:t>começou na cidade de Königsberg em 1736 pelo grande matemático suíço Leonhard Euler (1707-1783).</a:t>
            </a:r>
          </a:p>
          <a:p>
            <a:pPr marL="342900" indent="-342900">
              <a:buFont typeface="Wingdings" panose="05000000000000000000" pitchFamily="2" charset="2"/>
              <a:buChar char="Ø"/>
            </a:pPr>
            <a:endParaRPr lang="pt-BR" altLang="pt-BR"/>
          </a:p>
          <a:p>
            <a:pPr marL="342900" indent="-342900">
              <a:buFont typeface="Wingdings" panose="05000000000000000000" pitchFamily="2" charset="2"/>
              <a:buChar char="Ø"/>
            </a:pPr>
            <a:r>
              <a:rPr lang="pt-BR" altLang="pt-BR"/>
              <a:t>A cidade era cortada pelo rio Pregel, que possuía duas ilhas.</a:t>
            </a:r>
            <a:endParaRPr lang="pt-BR" altLang="pt-BR" dirty="0"/>
          </a:p>
        </p:txBody>
      </p:sp>
      <p:pic>
        <p:nvPicPr>
          <p:cNvPr id="5" name="Picture 2" descr="http://t0.gstatic.com/images?q=tbn:ANd9GcSge3u0ZyE5tEByZ9SUiF3gucm4f4rDK1vt3_V6Iad7rl1DcAs">
            <a:extLst>
              <a:ext uri="{FF2B5EF4-FFF2-40B4-BE49-F238E27FC236}">
                <a16:creationId xmlns:a16="http://schemas.microsoft.com/office/drawing/2014/main" id="{E899F664-AD35-476F-AD9E-648FA07C93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5767" y="1447312"/>
            <a:ext cx="6597698" cy="5072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9852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9ED818-4371-40D9-922A-4C0277615F96}"/>
              </a:ext>
            </a:extLst>
          </p:cNvPr>
          <p:cNvSpPr>
            <a:spLocks noGrp="1"/>
          </p:cNvSpPr>
          <p:nvPr>
            <p:ph type="title"/>
          </p:nvPr>
        </p:nvSpPr>
        <p:spPr>
          <a:xfrm>
            <a:off x="406124" y="333568"/>
            <a:ext cx="7335835" cy="1268984"/>
          </a:xfrm>
        </p:spPr>
        <p:txBody>
          <a:bodyPr/>
          <a:lstStyle/>
          <a:p>
            <a:r>
              <a:rPr lang="pt-BR" b="1" dirty="0"/>
              <a:t>Contexto Histórico</a:t>
            </a:r>
          </a:p>
        </p:txBody>
      </p:sp>
      <p:sp>
        <p:nvSpPr>
          <p:cNvPr id="6" name="Espaço Reservado para Conteúdo 2">
            <a:extLst>
              <a:ext uri="{FF2B5EF4-FFF2-40B4-BE49-F238E27FC236}">
                <a16:creationId xmlns:a16="http://schemas.microsoft.com/office/drawing/2014/main" id="{9A443A0D-7EF7-4168-BAD4-E7C8CBAA741B}"/>
              </a:ext>
            </a:extLst>
          </p:cNvPr>
          <p:cNvSpPr>
            <a:spLocks noGrp="1"/>
          </p:cNvSpPr>
          <p:nvPr>
            <p:ph idx="1"/>
          </p:nvPr>
        </p:nvSpPr>
        <p:spPr>
          <a:xfrm>
            <a:off x="291547" y="1272209"/>
            <a:ext cx="9727095" cy="4929808"/>
          </a:xfrm>
        </p:spPr>
        <p:txBody>
          <a:bodyPr>
            <a:normAutofit/>
          </a:bodyPr>
          <a:lstStyle/>
          <a:p>
            <a:pPr eaLnBrk="1" hangingPunct="1"/>
            <a:endParaRPr lang="pt-BR" altLang="pt-BR" sz="2600" dirty="0"/>
          </a:p>
          <a:p>
            <a:pPr eaLnBrk="1" hangingPunct="1"/>
            <a:r>
              <a:rPr lang="pt-BR" altLang="pt-BR" sz="2600" dirty="0"/>
              <a:t>Para resolver o problema, Euler montou um diagrama que representasse o mapa da cidade. Ele o fez da seguinte maneira: </a:t>
            </a:r>
          </a:p>
          <a:p>
            <a:pPr lvl="1" eaLnBrk="1" hangingPunct="1"/>
            <a:r>
              <a:rPr lang="pt-BR" altLang="pt-BR" sz="2200" dirty="0"/>
              <a:t>A cada ilha e margem ele associou a um ponto que chamaremos de </a:t>
            </a:r>
            <a:r>
              <a:rPr lang="pt-BR" altLang="pt-BR" sz="2200" dirty="0">
                <a:solidFill>
                  <a:srgbClr val="FF0000"/>
                </a:solidFill>
              </a:rPr>
              <a:t>vértice</a:t>
            </a:r>
            <a:r>
              <a:rPr lang="pt-BR" altLang="pt-BR" sz="2200" dirty="0"/>
              <a:t> e a cada ponte uma ligação que chamaremos de </a:t>
            </a:r>
            <a:r>
              <a:rPr lang="pt-BR" altLang="pt-BR" sz="2200" dirty="0">
                <a:solidFill>
                  <a:srgbClr val="FF0000"/>
                </a:solidFill>
              </a:rPr>
              <a:t>aresta</a:t>
            </a:r>
            <a:r>
              <a:rPr lang="pt-BR" altLang="pt-BR" sz="2200" dirty="0"/>
              <a:t>.</a:t>
            </a:r>
          </a:p>
          <a:p>
            <a:pPr lvl="1" eaLnBrk="1" hangingPunct="1"/>
            <a:r>
              <a:rPr lang="pt-BR" altLang="pt-BR" sz="2200" dirty="0"/>
              <a:t>Com isso, ele obteve a figura:</a:t>
            </a:r>
          </a:p>
          <a:p>
            <a:pPr lvl="1" eaLnBrk="1" hangingPunct="1"/>
            <a:endParaRPr lang="pt-BR" altLang="pt-BR" sz="2200" dirty="0"/>
          </a:p>
          <a:p>
            <a:pPr lvl="1" eaLnBrk="1" hangingPunct="1"/>
            <a:r>
              <a:rPr lang="pt-BR" altLang="pt-BR" sz="2400" dirty="0"/>
              <a:t>Essa figura com vários </a:t>
            </a:r>
            <a:r>
              <a:rPr lang="pt-BR" altLang="pt-BR" sz="2400" dirty="0">
                <a:solidFill>
                  <a:srgbClr val="FF0000"/>
                </a:solidFill>
              </a:rPr>
              <a:t>pontos</a:t>
            </a:r>
          </a:p>
          <a:p>
            <a:pPr lvl="1" eaLnBrk="1" hangingPunct="1">
              <a:buFontTx/>
              <a:buNone/>
            </a:pPr>
            <a:r>
              <a:rPr lang="pt-BR" altLang="pt-BR" sz="2400" dirty="0"/>
              <a:t> (</a:t>
            </a:r>
            <a:r>
              <a:rPr lang="pt-BR" altLang="pt-BR" sz="2400" dirty="0">
                <a:solidFill>
                  <a:srgbClr val="FF0000"/>
                </a:solidFill>
              </a:rPr>
              <a:t>vértices</a:t>
            </a:r>
            <a:r>
              <a:rPr lang="pt-BR" altLang="pt-BR" sz="2400" dirty="0"/>
              <a:t>) e algumas </a:t>
            </a:r>
            <a:r>
              <a:rPr lang="pt-BR" altLang="pt-BR" sz="2400" dirty="0">
                <a:solidFill>
                  <a:srgbClr val="FF0000"/>
                </a:solidFill>
              </a:rPr>
              <a:t>ligações</a:t>
            </a:r>
          </a:p>
          <a:p>
            <a:pPr lvl="1" eaLnBrk="1" hangingPunct="1">
              <a:buFontTx/>
              <a:buNone/>
            </a:pPr>
            <a:r>
              <a:rPr lang="pt-BR" altLang="pt-BR" sz="2400" dirty="0"/>
              <a:t> (</a:t>
            </a:r>
            <a:r>
              <a:rPr lang="pt-BR" altLang="pt-BR" sz="2400" dirty="0">
                <a:solidFill>
                  <a:srgbClr val="FF0000"/>
                </a:solidFill>
              </a:rPr>
              <a:t>arestas</a:t>
            </a:r>
            <a:r>
              <a:rPr lang="pt-BR" altLang="pt-BR" sz="2400" dirty="0"/>
              <a:t>) que denominamos</a:t>
            </a:r>
          </a:p>
          <a:p>
            <a:pPr lvl="1" eaLnBrk="1" hangingPunct="1">
              <a:buFontTx/>
              <a:buNone/>
            </a:pPr>
            <a:r>
              <a:rPr lang="pt-BR" altLang="pt-BR" sz="2400" dirty="0"/>
              <a:t>  um </a:t>
            </a:r>
            <a:r>
              <a:rPr lang="pt-BR" altLang="pt-BR" sz="2400" dirty="0">
                <a:solidFill>
                  <a:srgbClr val="FF0000"/>
                </a:solidFill>
              </a:rPr>
              <a:t>GRAFO</a:t>
            </a:r>
            <a:r>
              <a:rPr lang="pt-BR" altLang="pt-BR" sz="2400" dirty="0"/>
              <a:t>. </a:t>
            </a:r>
          </a:p>
          <a:p>
            <a:pPr lvl="1" eaLnBrk="1" hangingPunct="1"/>
            <a:endParaRPr lang="pt-BR" altLang="pt-BR" sz="2200" dirty="0"/>
          </a:p>
          <a:p>
            <a:pPr lvl="1" eaLnBrk="1" hangingPunct="1"/>
            <a:endParaRPr lang="pt-BR" altLang="pt-BR" sz="2200" dirty="0"/>
          </a:p>
        </p:txBody>
      </p:sp>
      <p:pic>
        <p:nvPicPr>
          <p:cNvPr id="7" name="Picture 2">
            <a:extLst>
              <a:ext uri="{FF2B5EF4-FFF2-40B4-BE49-F238E27FC236}">
                <a16:creationId xmlns:a16="http://schemas.microsoft.com/office/drawing/2014/main" id="{0C342A0E-2875-4DF7-B5CB-E69F8E8F18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1959" y="3429000"/>
            <a:ext cx="2952750"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5061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9ED818-4371-40D9-922A-4C0277615F96}"/>
              </a:ext>
            </a:extLst>
          </p:cNvPr>
          <p:cNvSpPr>
            <a:spLocks noGrp="1"/>
          </p:cNvSpPr>
          <p:nvPr>
            <p:ph type="title"/>
          </p:nvPr>
        </p:nvSpPr>
        <p:spPr>
          <a:xfrm>
            <a:off x="406124" y="333568"/>
            <a:ext cx="7335835" cy="1268984"/>
          </a:xfrm>
        </p:spPr>
        <p:txBody>
          <a:bodyPr/>
          <a:lstStyle/>
          <a:p>
            <a:r>
              <a:rPr lang="pt-BR" b="1" dirty="0"/>
              <a:t>Contexto Histórico</a:t>
            </a:r>
          </a:p>
        </p:txBody>
      </p:sp>
      <p:sp>
        <p:nvSpPr>
          <p:cNvPr id="8" name="Espaço Reservado para Conteúdo 2">
            <a:extLst>
              <a:ext uri="{FF2B5EF4-FFF2-40B4-BE49-F238E27FC236}">
                <a16:creationId xmlns:a16="http://schemas.microsoft.com/office/drawing/2014/main" id="{D294028A-C765-4FEC-B0E0-F0232C52CE00}"/>
              </a:ext>
            </a:extLst>
          </p:cNvPr>
          <p:cNvSpPr>
            <a:spLocks noGrp="1"/>
          </p:cNvSpPr>
          <p:nvPr>
            <p:ph idx="1"/>
          </p:nvPr>
        </p:nvSpPr>
        <p:spPr>
          <a:xfrm>
            <a:off x="762000" y="1332121"/>
            <a:ext cx="8229600" cy="5218113"/>
          </a:xfrm>
        </p:spPr>
        <p:txBody>
          <a:bodyPr/>
          <a:lstStyle/>
          <a:p>
            <a:pPr eaLnBrk="1" hangingPunct="1"/>
            <a:endParaRPr lang="pt-BR" altLang="pt-BR" sz="2600" dirty="0"/>
          </a:p>
          <a:p>
            <a:pPr eaLnBrk="1" hangingPunct="1"/>
            <a:r>
              <a:rPr lang="pt-BR" altLang="pt-BR" sz="2600" dirty="0"/>
              <a:t>Para finalizar seu raciocínio, Euler percebeu que existiam vértices com exatamente três arestas. </a:t>
            </a:r>
          </a:p>
          <a:p>
            <a:pPr eaLnBrk="1" hangingPunct="1"/>
            <a:endParaRPr lang="pt-BR" altLang="pt-BR" sz="2600" dirty="0"/>
          </a:p>
          <a:p>
            <a:pPr eaLnBrk="1" hangingPunct="1"/>
            <a:r>
              <a:rPr lang="pt-BR" altLang="pt-BR" sz="2600" dirty="0"/>
              <a:t>Por outro lado, como os moradores queriam atravessar cada ponte apenas uma vez, cada vértice deveria ter </a:t>
            </a:r>
            <a:r>
              <a:rPr lang="pt-BR" altLang="pt-BR" sz="2800" dirty="0"/>
              <a:t>um numero </a:t>
            </a:r>
            <a:r>
              <a:rPr lang="pt-BR" altLang="pt-BR" sz="2800" dirty="0">
                <a:solidFill>
                  <a:srgbClr val="FF0000"/>
                </a:solidFill>
              </a:rPr>
              <a:t>par arestas</a:t>
            </a:r>
            <a:r>
              <a:rPr lang="pt-BR" altLang="pt-BR" sz="2800" dirty="0"/>
              <a:t>. </a:t>
            </a:r>
          </a:p>
          <a:p>
            <a:pPr eaLnBrk="1" hangingPunct="1"/>
            <a:endParaRPr lang="pt-BR" altLang="pt-BR" sz="2800" dirty="0"/>
          </a:p>
          <a:p>
            <a:pPr eaLnBrk="1" hangingPunct="1"/>
            <a:r>
              <a:rPr lang="pt-BR" altLang="pt-BR" sz="2800" dirty="0"/>
              <a:t>Logo, se tornaria impossível fazer um percurso seguindo as regras impostas pelos moradores.</a:t>
            </a:r>
            <a:endParaRPr lang="pt-BR" altLang="pt-BR" sz="2600" dirty="0"/>
          </a:p>
        </p:txBody>
      </p:sp>
    </p:spTree>
    <p:extLst>
      <p:ext uri="{BB962C8B-B14F-4D97-AF65-F5344CB8AC3E}">
        <p14:creationId xmlns:p14="http://schemas.microsoft.com/office/powerpoint/2010/main" val="2193273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9ED818-4371-40D9-922A-4C0277615F96}"/>
              </a:ext>
            </a:extLst>
          </p:cNvPr>
          <p:cNvSpPr>
            <a:spLocks noGrp="1"/>
          </p:cNvSpPr>
          <p:nvPr>
            <p:ph type="title"/>
          </p:nvPr>
        </p:nvSpPr>
        <p:spPr>
          <a:xfrm>
            <a:off x="406124" y="333568"/>
            <a:ext cx="7335835" cy="713354"/>
          </a:xfrm>
        </p:spPr>
        <p:txBody>
          <a:bodyPr/>
          <a:lstStyle/>
          <a:p>
            <a:r>
              <a:rPr lang="pt-BR" altLang="pt-BR" b="1" dirty="0">
                <a:cs typeface="Arial" panose="020B0604020202020204" pitchFamily="34" charset="0"/>
              </a:rPr>
              <a:t>O problema das 3 casas</a:t>
            </a:r>
          </a:p>
        </p:txBody>
      </p:sp>
      <p:pic>
        <p:nvPicPr>
          <p:cNvPr id="6" name="Picture 2">
            <a:extLst>
              <a:ext uri="{FF2B5EF4-FFF2-40B4-BE49-F238E27FC236}">
                <a16:creationId xmlns:a16="http://schemas.microsoft.com/office/drawing/2014/main" id="{33263EDD-258C-4842-B908-41CC6DDA17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270" y="1199322"/>
            <a:ext cx="914400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4">
            <a:extLst>
              <a:ext uri="{FF2B5EF4-FFF2-40B4-BE49-F238E27FC236}">
                <a16:creationId xmlns:a16="http://schemas.microsoft.com/office/drawing/2014/main" id="{3FA38976-8042-4763-BB7A-5FA41F96D448}"/>
              </a:ext>
            </a:extLst>
          </p:cNvPr>
          <p:cNvSpPr>
            <a:spLocks noChangeArrowheads="1"/>
          </p:cNvSpPr>
          <p:nvPr/>
        </p:nvSpPr>
        <p:spPr bwMode="auto">
          <a:xfrm>
            <a:off x="2660373" y="6192719"/>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16" name="Rectangle 15">
            <a:extLst>
              <a:ext uri="{FF2B5EF4-FFF2-40B4-BE49-F238E27FC236}">
                <a16:creationId xmlns:a16="http://schemas.microsoft.com/office/drawing/2014/main" id="{8E51D89F-1796-4870-8F81-E7F735CA7502}"/>
              </a:ext>
            </a:extLst>
          </p:cNvPr>
          <p:cNvSpPr>
            <a:spLocks noChangeArrowheads="1"/>
          </p:cNvSpPr>
          <p:nvPr/>
        </p:nvSpPr>
        <p:spPr bwMode="auto">
          <a:xfrm>
            <a:off x="2812773" y="6192719"/>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0" name="Line 20">
            <a:extLst>
              <a:ext uri="{FF2B5EF4-FFF2-40B4-BE49-F238E27FC236}">
                <a16:creationId xmlns:a16="http://schemas.microsoft.com/office/drawing/2014/main" id="{21AC41B5-6CBE-408C-97B7-518E28D8EF65}"/>
              </a:ext>
            </a:extLst>
          </p:cNvPr>
          <p:cNvSpPr>
            <a:spLocks noChangeShapeType="1"/>
          </p:cNvSpPr>
          <p:nvPr/>
        </p:nvSpPr>
        <p:spPr bwMode="auto">
          <a:xfrm flipV="1">
            <a:off x="3346173" y="4738569"/>
            <a:ext cx="0" cy="1447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pt-BR"/>
          </a:p>
        </p:txBody>
      </p:sp>
      <p:sp>
        <p:nvSpPr>
          <p:cNvPr id="21" name="Line 21">
            <a:extLst>
              <a:ext uri="{FF2B5EF4-FFF2-40B4-BE49-F238E27FC236}">
                <a16:creationId xmlns:a16="http://schemas.microsoft.com/office/drawing/2014/main" id="{64305208-AF6F-4049-BC99-AE9028597E28}"/>
              </a:ext>
            </a:extLst>
          </p:cNvPr>
          <p:cNvSpPr>
            <a:spLocks noChangeShapeType="1"/>
          </p:cNvSpPr>
          <p:nvPr/>
        </p:nvSpPr>
        <p:spPr bwMode="auto">
          <a:xfrm flipV="1">
            <a:off x="3422373" y="4814769"/>
            <a:ext cx="0" cy="1371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pt-BR"/>
          </a:p>
        </p:txBody>
      </p:sp>
      <p:cxnSp>
        <p:nvCxnSpPr>
          <p:cNvPr id="22" name="AutoShape 22">
            <a:extLst>
              <a:ext uri="{FF2B5EF4-FFF2-40B4-BE49-F238E27FC236}">
                <a16:creationId xmlns:a16="http://schemas.microsoft.com/office/drawing/2014/main" id="{91870231-B07D-4121-A575-CF23A5578D03}"/>
              </a:ext>
            </a:extLst>
          </p:cNvPr>
          <p:cNvCxnSpPr>
            <a:cxnSpLocks noChangeShapeType="1"/>
            <a:stCxn id="21" idx="0"/>
          </p:cNvCxnSpPr>
          <p:nvPr/>
        </p:nvCxnSpPr>
        <p:spPr bwMode="auto">
          <a:xfrm>
            <a:off x="3422373" y="6186369"/>
            <a:ext cx="1588" cy="1588"/>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cxnSp>
      <p:cxnSp>
        <p:nvCxnSpPr>
          <p:cNvPr id="23" name="AutoShape 23">
            <a:extLst>
              <a:ext uri="{FF2B5EF4-FFF2-40B4-BE49-F238E27FC236}">
                <a16:creationId xmlns:a16="http://schemas.microsoft.com/office/drawing/2014/main" id="{3E61289B-7780-4D3A-A6A9-ADC510960F7A}"/>
              </a:ext>
            </a:extLst>
          </p:cNvPr>
          <p:cNvCxnSpPr>
            <a:cxnSpLocks noChangeShapeType="1"/>
            <a:stCxn id="20" idx="0"/>
            <a:endCxn id="21" idx="1"/>
          </p:cNvCxnSpPr>
          <p:nvPr/>
        </p:nvCxnSpPr>
        <p:spPr bwMode="auto">
          <a:xfrm flipV="1">
            <a:off x="3346173" y="4814769"/>
            <a:ext cx="76200" cy="1371600"/>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cxnSp>
      <p:sp>
        <p:nvSpPr>
          <p:cNvPr id="24" name="Line 24">
            <a:extLst>
              <a:ext uri="{FF2B5EF4-FFF2-40B4-BE49-F238E27FC236}">
                <a16:creationId xmlns:a16="http://schemas.microsoft.com/office/drawing/2014/main" id="{F10DBAFF-E822-4AA4-AB33-C47D755188DD}"/>
              </a:ext>
            </a:extLst>
          </p:cNvPr>
          <p:cNvSpPr>
            <a:spLocks noChangeShapeType="1"/>
          </p:cNvSpPr>
          <p:nvPr/>
        </p:nvSpPr>
        <p:spPr bwMode="auto">
          <a:xfrm flipV="1">
            <a:off x="3346173" y="4738569"/>
            <a:ext cx="76200" cy="1371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p>
            <a:endParaRPr lang="pt-BR"/>
          </a:p>
        </p:txBody>
      </p:sp>
      <p:sp>
        <p:nvSpPr>
          <p:cNvPr id="25" name="Line 25">
            <a:extLst>
              <a:ext uri="{FF2B5EF4-FFF2-40B4-BE49-F238E27FC236}">
                <a16:creationId xmlns:a16="http://schemas.microsoft.com/office/drawing/2014/main" id="{C2BB23E4-707D-4AFF-94DA-5E573860DAB3}"/>
              </a:ext>
            </a:extLst>
          </p:cNvPr>
          <p:cNvSpPr>
            <a:spLocks noChangeShapeType="1"/>
          </p:cNvSpPr>
          <p:nvPr/>
        </p:nvSpPr>
        <p:spPr bwMode="auto">
          <a:xfrm flipV="1">
            <a:off x="3346173" y="4814769"/>
            <a:ext cx="0" cy="1371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pt-BR"/>
          </a:p>
        </p:txBody>
      </p:sp>
      <p:sp>
        <p:nvSpPr>
          <p:cNvPr id="36" name="Text Box 41">
            <a:extLst>
              <a:ext uri="{FF2B5EF4-FFF2-40B4-BE49-F238E27FC236}">
                <a16:creationId xmlns:a16="http://schemas.microsoft.com/office/drawing/2014/main" id="{1C51449D-A545-4905-B920-5ACD22CF1905}"/>
              </a:ext>
            </a:extLst>
          </p:cNvPr>
          <p:cNvSpPr txBox="1">
            <a:spLocks noChangeArrowheads="1"/>
          </p:cNvSpPr>
          <p:nvPr/>
        </p:nvSpPr>
        <p:spPr bwMode="auto">
          <a:xfrm>
            <a:off x="8097562" y="3595570"/>
            <a:ext cx="2941494" cy="1815882"/>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pt-BR" altLang="pt-BR" sz="2800" dirty="0">
                <a:latin typeface="Arial" panose="020B0604020202020204" pitchFamily="34" charset="0"/>
              </a:rPr>
              <a:t>A teoria dos grafos mostra que não é possível</a:t>
            </a:r>
          </a:p>
        </p:txBody>
      </p:sp>
      <p:pic>
        <p:nvPicPr>
          <p:cNvPr id="5" name="Imagem 4" descr="Diagrama, Desenho técnico&#10;&#10;O conteúdo gerado por IA pode estar incorreto.">
            <a:extLst>
              <a:ext uri="{FF2B5EF4-FFF2-40B4-BE49-F238E27FC236}">
                <a16:creationId xmlns:a16="http://schemas.microsoft.com/office/drawing/2014/main" id="{C22EE8C3-2E3B-E723-009C-841674FFE5D9}"/>
              </a:ext>
            </a:extLst>
          </p:cNvPr>
          <p:cNvPicPr>
            <a:picLocks noChangeAspect="1"/>
          </p:cNvPicPr>
          <p:nvPr/>
        </p:nvPicPr>
        <p:blipFill>
          <a:blip r:embed="rId3"/>
          <a:stretch>
            <a:fillRect/>
          </a:stretch>
        </p:blipFill>
        <p:spPr>
          <a:xfrm>
            <a:off x="3134094" y="3294822"/>
            <a:ext cx="4461817" cy="3427393"/>
          </a:xfrm>
          <a:prstGeom prst="rect">
            <a:avLst/>
          </a:prstGeom>
        </p:spPr>
      </p:pic>
    </p:spTree>
    <p:extLst>
      <p:ext uri="{BB962C8B-B14F-4D97-AF65-F5344CB8AC3E}">
        <p14:creationId xmlns:p14="http://schemas.microsoft.com/office/powerpoint/2010/main" val="3230213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4EFBAF-C412-45CD-96AB-31FE94FE309F}"/>
              </a:ext>
            </a:extLst>
          </p:cNvPr>
          <p:cNvSpPr>
            <a:spLocks noGrp="1"/>
          </p:cNvSpPr>
          <p:nvPr>
            <p:ph type="title"/>
          </p:nvPr>
        </p:nvSpPr>
        <p:spPr/>
        <p:txBody>
          <a:bodyPr/>
          <a:lstStyle/>
          <a:p>
            <a:r>
              <a:rPr lang="pt-BR" b="1" dirty="0"/>
              <a:t>Conceitos Básicos </a:t>
            </a:r>
          </a:p>
        </p:txBody>
      </p:sp>
      <p:sp>
        <p:nvSpPr>
          <p:cNvPr id="4" name="Espaço Reservado para Conteúdo 2">
            <a:extLst>
              <a:ext uri="{FF2B5EF4-FFF2-40B4-BE49-F238E27FC236}">
                <a16:creationId xmlns:a16="http://schemas.microsoft.com/office/drawing/2014/main" id="{10A31755-3934-4713-9A12-A6015EA620D5}"/>
              </a:ext>
            </a:extLst>
          </p:cNvPr>
          <p:cNvSpPr txBox="1">
            <a:spLocks/>
          </p:cNvSpPr>
          <p:nvPr/>
        </p:nvSpPr>
        <p:spPr>
          <a:xfrm>
            <a:off x="396941" y="1716946"/>
            <a:ext cx="10363826" cy="3424107"/>
          </a:xfrm>
          <a:prstGeom prst="rect">
            <a:avLst/>
          </a:prstGeom>
        </p:spPr>
        <p:txBody>
          <a:bodyPr>
            <a:norm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2800" dirty="0">
                <a:solidFill>
                  <a:srgbClr val="FF0000"/>
                </a:solidFill>
              </a:rPr>
              <a:t>Grafo</a:t>
            </a:r>
            <a:r>
              <a:rPr lang="pt-BR" sz="2800" dirty="0"/>
              <a:t>: conjunto de vértices e arestas.</a:t>
            </a:r>
          </a:p>
          <a:p>
            <a:r>
              <a:rPr lang="pt-BR" sz="2800" dirty="0">
                <a:solidFill>
                  <a:srgbClr val="FF0000"/>
                </a:solidFill>
              </a:rPr>
              <a:t>Vértice</a:t>
            </a:r>
            <a:r>
              <a:rPr lang="pt-BR" sz="2800" dirty="0"/>
              <a:t>: objeto simples que pode ter nome e outros  atributos.</a:t>
            </a:r>
          </a:p>
          <a:p>
            <a:r>
              <a:rPr lang="pt-BR" sz="2800" dirty="0">
                <a:solidFill>
                  <a:srgbClr val="FF0000"/>
                </a:solidFill>
              </a:rPr>
              <a:t>Aresta</a:t>
            </a:r>
            <a:r>
              <a:rPr lang="pt-BR" sz="2800" dirty="0"/>
              <a:t>: conexão entre dois vértices.</a:t>
            </a:r>
          </a:p>
          <a:p>
            <a:r>
              <a:rPr lang="pt-BR" sz="2800" dirty="0"/>
              <a:t>Exemplo: representação usual</a:t>
            </a:r>
          </a:p>
        </p:txBody>
      </p:sp>
      <p:pic>
        <p:nvPicPr>
          <p:cNvPr id="5" name="Imagem 4">
            <a:extLst>
              <a:ext uri="{FF2B5EF4-FFF2-40B4-BE49-F238E27FC236}">
                <a16:creationId xmlns:a16="http://schemas.microsoft.com/office/drawing/2014/main" id="{4AFCC988-7BC5-4760-816A-CD2D34094E5E}"/>
              </a:ext>
            </a:extLst>
          </p:cNvPr>
          <p:cNvPicPr>
            <a:picLocks noChangeAspect="1"/>
          </p:cNvPicPr>
          <p:nvPr/>
        </p:nvPicPr>
        <p:blipFill>
          <a:blip r:embed="rId2"/>
          <a:stretch>
            <a:fillRect/>
          </a:stretch>
        </p:blipFill>
        <p:spPr>
          <a:xfrm>
            <a:off x="6802920" y="3702740"/>
            <a:ext cx="4629150" cy="2686050"/>
          </a:xfrm>
          <a:prstGeom prst="rect">
            <a:avLst/>
          </a:prstGeom>
        </p:spPr>
      </p:pic>
    </p:spTree>
    <p:extLst>
      <p:ext uri="{BB962C8B-B14F-4D97-AF65-F5344CB8AC3E}">
        <p14:creationId xmlns:p14="http://schemas.microsoft.com/office/powerpoint/2010/main" val="3206857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B2BDF4-3941-4A92-8E04-FDB8A9E65976}"/>
              </a:ext>
            </a:extLst>
          </p:cNvPr>
          <p:cNvSpPr>
            <a:spLocks noGrp="1"/>
          </p:cNvSpPr>
          <p:nvPr>
            <p:ph type="title"/>
          </p:nvPr>
        </p:nvSpPr>
        <p:spPr/>
        <p:txBody>
          <a:bodyPr/>
          <a:lstStyle/>
          <a:p>
            <a:r>
              <a:rPr lang="pt-BR" b="1" dirty="0"/>
              <a:t>Conceitos Básicos </a:t>
            </a:r>
          </a:p>
        </p:txBody>
      </p:sp>
      <p:sp>
        <p:nvSpPr>
          <p:cNvPr id="4" name="Espaço Reservado para Conteúdo 2">
            <a:extLst>
              <a:ext uri="{FF2B5EF4-FFF2-40B4-BE49-F238E27FC236}">
                <a16:creationId xmlns:a16="http://schemas.microsoft.com/office/drawing/2014/main" id="{04539D61-FD56-4797-8D5D-176977870D4A}"/>
              </a:ext>
            </a:extLst>
          </p:cNvPr>
          <p:cNvSpPr txBox="1">
            <a:spLocks/>
          </p:cNvSpPr>
          <p:nvPr/>
        </p:nvSpPr>
        <p:spPr>
          <a:xfrm>
            <a:off x="370436" y="2484783"/>
            <a:ext cx="10363826" cy="3424107"/>
          </a:xfrm>
          <a:prstGeom prst="rect">
            <a:avLst/>
          </a:prstGeom>
        </p:spPr>
        <p:txBody>
          <a:bodyPr>
            <a:normAutofit/>
          </a:bodyPr>
          <a:lst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2800"/>
              <a:t>Notação: G=(V,A)</a:t>
            </a:r>
          </a:p>
          <a:p>
            <a:r>
              <a:rPr lang="pt-BR" sz="2800"/>
              <a:t>Em que: </a:t>
            </a:r>
          </a:p>
          <a:p>
            <a:pPr lvl="1"/>
            <a:r>
              <a:rPr lang="pt-BR" sz="2600"/>
              <a:t> G: grafo</a:t>
            </a:r>
          </a:p>
          <a:p>
            <a:pPr lvl="1"/>
            <a:r>
              <a:rPr lang="pt-BR" sz="2600"/>
              <a:t> V: conjunto de vértices</a:t>
            </a:r>
          </a:p>
          <a:p>
            <a:pPr lvl="1"/>
            <a:r>
              <a:rPr lang="pt-BR" sz="2600"/>
              <a:t> A: conjunto de arestas</a:t>
            </a:r>
            <a:endParaRPr lang="pt-BR" sz="2600" dirty="0"/>
          </a:p>
        </p:txBody>
      </p:sp>
      <p:pic>
        <p:nvPicPr>
          <p:cNvPr id="5" name="Imagem 4">
            <a:extLst>
              <a:ext uri="{FF2B5EF4-FFF2-40B4-BE49-F238E27FC236}">
                <a16:creationId xmlns:a16="http://schemas.microsoft.com/office/drawing/2014/main" id="{BDB6F5AA-BFAE-4241-8ED6-36CFD9601BA0}"/>
              </a:ext>
            </a:extLst>
          </p:cNvPr>
          <p:cNvPicPr>
            <a:picLocks noChangeAspect="1"/>
          </p:cNvPicPr>
          <p:nvPr/>
        </p:nvPicPr>
        <p:blipFill>
          <a:blip r:embed="rId2"/>
          <a:stretch>
            <a:fillRect/>
          </a:stretch>
        </p:blipFill>
        <p:spPr>
          <a:xfrm>
            <a:off x="5835512" y="2484783"/>
            <a:ext cx="4629150" cy="2686050"/>
          </a:xfrm>
          <a:prstGeom prst="rect">
            <a:avLst/>
          </a:prstGeom>
        </p:spPr>
      </p:pic>
    </p:spTree>
    <p:extLst>
      <p:ext uri="{BB962C8B-B14F-4D97-AF65-F5344CB8AC3E}">
        <p14:creationId xmlns:p14="http://schemas.microsoft.com/office/powerpoint/2010/main" val="2944949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9363FC-2D6D-4BAD-ADEE-91BB0EAD32C7}"/>
              </a:ext>
            </a:extLst>
          </p:cNvPr>
          <p:cNvSpPr>
            <a:spLocks noGrp="1"/>
          </p:cNvSpPr>
          <p:nvPr>
            <p:ph type="title"/>
          </p:nvPr>
        </p:nvSpPr>
        <p:spPr/>
        <p:txBody>
          <a:bodyPr/>
          <a:lstStyle/>
          <a:p>
            <a:r>
              <a:rPr lang="pt-BR" altLang="pt-BR" b="1" dirty="0"/>
              <a:t>Representação Matemática</a:t>
            </a:r>
            <a:endParaRPr lang="pt-BR" b="1" dirty="0"/>
          </a:p>
        </p:txBody>
      </p:sp>
      <p:sp>
        <p:nvSpPr>
          <p:cNvPr id="4" name="Espaço Reservado para Conteúdo 2">
            <a:extLst>
              <a:ext uri="{FF2B5EF4-FFF2-40B4-BE49-F238E27FC236}">
                <a16:creationId xmlns:a16="http://schemas.microsoft.com/office/drawing/2014/main" id="{29DCE86B-3C89-4688-83CB-A461DA8E89F9}"/>
              </a:ext>
            </a:extLst>
          </p:cNvPr>
          <p:cNvSpPr>
            <a:spLocks noGrp="1"/>
          </p:cNvSpPr>
          <p:nvPr>
            <p:ph idx="1"/>
          </p:nvPr>
        </p:nvSpPr>
        <p:spPr>
          <a:xfrm>
            <a:off x="437322" y="1855788"/>
            <a:ext cx="7313543" cy="5002212"/>
          </a:xfrm>
        </p:spPr>
        <p:txBody>
          <a:bodyPr rtlCol="0">
            <a:normAutofit/>
          </a:bodyPr>
          <a:lstStyle/>
          <a:p>
            <a:pPr>
              <a:defRPr/>
            </a:pPr>
            <a:r>
              <a:rPr lang="pt-BR" sz="2200" dirty="0"/>
              <a:t>Um Grafo é representado matematicamente por:    		   	</a:t>
            </a:r>
            <a:r>
              <a:rPr lang="pt-BR" sz="2200" i="1" dirty="0">
                <a:solidFill>
                  <a:srgbClr val="FF0000"/>
                </a:solidFill>
                <a:effectLst>
                  <a:outerShdw blurRad="38100" dist="38100" dir="2700000" algn="tl">
                    <a:srgbClr val="000000">
                      <a:alpha val="43137"/>
                    </a:srgbClr>
                  </a:outerShdw>
                </a:effectLst>
              </a:rPr>
              <a:t>	G=(V,A) </a:t>
            </a:r>
          </a:p>
          <a:p>
            <a:pPr lvl="1">
              <a:defRPr/>
            </a:pPr>
            <a:r>
              <a:rPr lang="pt-BR" sz="2200" dirty="0"/>
              <a:t>Onde </a:t>
            </a:r>
            <a:r>
              <a:rPr lang="pt-BR" sz="2200" dirty="0">
                <a:solidFill>
                  <a:srgbClr val="FF0000"/>
                </a:solidFill>
              </a:rPr>
              <a:t>V</a:t>
            </a:r>
            <a:r>
              <a:rPr lang="pt-BR" sz="2200" dirty="0"/>
              <a:t> é o conjunto finito de </a:t>
            </a:r>
            <a:r>
              <a:rPr lang="pt-BR" sz="2200" dirty="0">
                <a:solidFill>
                  <a:srgbClr val="FF0000"/>
                </a:solidFill>
              </a:rPr>
              <a:t>vértices</a:t>
            </a:r>
            <a:r>
              <a:rPr lang="pt-BR" sz="2200" dirty="0"/>
              <a:t> e </a:t>
            </a:r>
            <a:r>
              <a:rPr lang="pt-BR" sz="2200" dirty="0">
                <a:solidFill>
                  <a:srgbClr val="FF0000"/>
                </a:solidFill>
              </a:rPr>
              <a:t>A</a:t>
            </a:r>
            <a:r>
              <a:rPr lang="pt-BR" sz="2200" dirty="0"/>
              <a:t> é o conjunto de subconjuntos de </a:t>
            </a:r>
            <a:r>
              <a:rPr lang="pt-BR" sz="2200" dirty="0">
                <a:solidFill>
                  <a:srgbClr val="FF0000"/>
                </a:solidFill>
              </a:rPr>
              <a:t>V </a:t>
            </a:r>
            <a:r>
              <a:rPr lang="pt-BR" sz="2200" dirty="0"/>
              <a:t>e chamamos </a:t>
            </a:r>
            <a:r>
              <a:rPr lang="pt-BR" sz="2200" dirty="0">
                <a:solidFill>
                  <a:srgbClr val="FF0000"/>
                </a:solidFill>
              </a:rPr>
              <a:t>de</a:t>
            </a:r>
            <a:r>
              <a:rPr lang="pt-BR" sz="2200" dirty="0"/>
              <a:t> </a:t>
            </a:r>
            <a:r>
              <a:rPr lang="pt-BR" sz="2200" dirty="0">
                <a:solidFill>
                  <a:srgbClr val="FF0000"/>
                </a:solidFill>
              </a:rPr>
              <a:t>arestas</a:t>
            </a:r>
            <a:r>
              <a:rPr lang="pt-BR" sz="2200" dirty="0"/>
              <a:t> ou </a:t>
            </a:r>
            <a:r>
              <a:rPr lang="pt-BR" sz="2200" dirty="0">
                <a:solidFill>
                  <a:srgbClr val="FF0000"/>
                </a:solidFill>
              </a:rPr>
              <a:t>ligações</a:t>
            </a:r>
            <a:r>
              <a:rPr lang="pt-BR" sz="2200" dirty="0"/>
              <a:t> entre os </a:t>
            </a:r>
            <a:r>
              <a:rPr lang="pt-BR" sz="2200" dirty="0">
                <a:solidFill>
                  <a:srgbClr val="FF0000"/>
                </a:solidFill>
              </a:rPr>
              <a:t>vértices</a:t>
            </a:r>
            <a:r>
              <a:rPr lang="pt-BR" sz="2200" dirty="0"/>
              <a:t>.                 (V= n , A= m )</a:t>
            </a:r>
          </a:p>
          <a:p>
            <a:pPr lvl="1">
              <a:defRPr/>
            </a:pPr>
            <a:r>
              <a:rPr lang="pt-BR" sz="2200" dirty="0"/>
              <a:t>A figura mostra o grafo G=(V,A). </a:t>
            </a:r>
          </a:p>
          <a:p>
            <a:pPr lvl="1">
              <a:defRPr/>
            </a:pPr>
            <a:r>
              <a:rPr lang="pt-BR" sz="2200" dirty="0"/>
              <a:t>Observe que laços (</a:t>
            </a:r>
            <a:r>
              <a:rPr lang="pt-BR" sz="2200" dirty="0" err="1"/>
              <a:t>self-loops</a:t>
            </a:r>
            <a:r>
              <a:rPr lang="pt-BR" sz="2200" dirty="0"/>
              <a:t>) são permitidos pela definição. </a:t>
            </a:r>
          </a:p>
          <a:p>
            <a:pPr lvl="1">
              <a:defRPr/>
            </a:pPr>
            <a:r>
              <a:rPr lang="pt-BR" sz="2200" dirty="0"/>
              <a:t>Neste exemplo, V={1,2,3,4,5,6} e A={{1,3},{2,3},{3,4},{3,5},{6,6}}. </a:t>
            </a:r>
          </a:p>
          <a:p>
            <a:pPr lvl="1">
              <a:defRPr/>
            </a:pPr>
            <a:r>
              <a:rPr lang="pt-BR" sz="2200" dirty="0"/>
              <a:t>É comum a utilização da variável v</a:t>
            </a:r>
            <a:r>
              <a:rPr lang="pt-BR" sz="2200" baseline="-25000" dirty="0"/>
              <a:t>i </a:t>
            </a:r>
            <a:r>
              <a:rPr lang="pt-BR" sz="2200" dirty="0"/>
              <a:t>ou x</a:t>
            </a:r>
            <a:r>
              <a:rPr lang="pt-BR" sz="2200" baseline="-25000" dirty="0"/>
              <a:t>i </a:t>
            </a:r>
            <a:r>
              <a:rPr lang="pt-BR" sz="2200" dirty="0"/>
              <a:t>, i=1,2,...,n para a distinção dos nós (vértices).    </a:t>
            </a:r>
            <a:r>
              <a:rPr lang="pt-BR" sz="2200" dirty="0">
                <a:solidFill>
                  <a:srgbClr val="FF0000"/>
                </a:solidFill>
              </a:rPr>
              <a:t>V= 6 , A= 5.</a:t>
            </a:r>
          </a:p>
        </p:txBody>
      </p:sp>
      <p:pic>
        <p:nvPicPr>
          <p:cNvPr id="5" name="Picture 2">
            <a:extLst>
              <a:ext uri="{FF2B5EF4-FFF2-40B4-BE49-F238E27FC236}">
                <a16:creationId xmlns:a16="http://schemas.microsoft.com/office/drawing/2014/main" id="{0F49987B-309D-4B96-A8B4-A66D58E4D6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2412" y="2637424"/>
            <a:ext cx="3935675" cy="3438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4456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A427D-FF8D-2E9D-2C2C-6FE3C4A1354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BCE4305-7304-5E66-D585-EDB81796D2A5}"/>
              </a:ext>
            </a:extLst>
          </p:cNvPr>
          <p:cNvSpPr>
            <a:spLocks noGrp="1"/>
          </p:cNvSpPr>
          <p:nvPr>
            <p:ph type="title"/>
          </p:nvPr>
        </p:nvSpPr>
        <p:spPr/>
        <p:txBody>
          <a:bodyPr/>
          <a:lstStyle/>
          <a:p>
            <a:r>
              <a:rPr lang="pt-BR" altLang="pt-BR" b="1" dirty="0"/>
              <a:t>Grafo Bipartido</a:t>
            </a:r>
            <a:endParaRPr lang="pt-BR" b="1" dirty="0"/>
          </a:p>
        </p:txBody>
      </p:sp>
      <p:sp>
        <p:nvSpPr>
          <p:cNvPr id="4" name="Espaço Reservado para Conteúdo 2">
            <a:extLst>
              <a:ext uri="{FF2B5EF4-FFF2-40B4-BE49-F238E27FC236}">
                <a16:creationId xmlns:a16="http://schemas.microsoft.com/office/drawing/2014/main" id="{05EB152F-C3FD-0BD5-85C9-1E0778AA80DA}"/>
              </a:ext>
            </a:extLst>
          </p:cNvPr>
          <p:cNvSpPr>
            <a:spLocks noGrp="1"/>
          </p:cNvSpPr>
          <p:nvPr>
            <p:ph idx="1"/>
          </p:nvPr>
        </p:nvSpPr>
        <p:spPr>
          <a:xfrm>
            <a:off x="437322" y="1690688"/>
            <a:ext cx="10916478" cy="5002212"/>
          </a:xfrm>
        </p:spPr>
        <p:txBody>
          <a:bodyPr rtlCol="0">
            <a:normAutofit/>
          </a:bodyPr>
          <a:lstStyle/>
          <a:p>
            <a:pPr>
              <a:defRPr/>
            </a:pPr>
            <a:r>
              <a:rPr lang="pt-BR" sz="2200" dirty="0"/>
              <a:t>No campo da matemática da teoria dos grafos, um </a:t>
            </a:r>
            <a:r>
              <a:rPr lang="pt-BR" sz="2200" b="1" dirty="0"/>
              <a:t>grafo bipartido </a:t>
            </a:r>
            <a:r>
              <a:rPr lang="pt-BR" sz="2200" dirty="0"/>
              <a:t>ou </a:t>
            </a:r>
            <a:r>
              <a:rPr lang="pt-BR" sz="2200" b="1" dirty="0" err="1"/>
              <a:t>bigrafo</a:t>
            </a:r>
            <a:r>
              <a:rPr lang="pt-BR" sz="2200" dirty="0"/>
              <a:t> é um grafo cujos vértices podem ser divididos em dois conjuntos disjuntos U e V tais que toda aresta conecta um vértice em U a um vértice em V; ou seja, U e V são conjuntos independentes.</a:t>
            </a:r>
            <a:endParaRPr lang="pt-BR" sz="2200" dirty="0">
              <a:solidFill>
                <a:srgbClr val="FF0000"/>
              </a:solidFill>
            </a:endParaRPr>
          </a:p>
        </p:txBody>
      </p:sp>
      <p:pic>
        <p:nvPicPr>
          <p:cNvPr id="3" name="Imagem 2">
            <a:extLst>
              <a:ext uri="{FF2B5EF4-FFF2-40B4-BE49-F238E27FC236}">
                <a16:creationId xmlns:a16="http://schemas.microsoft.com/office/drawing/2014/main" id="{A3A9B17B-D82A-380E-ADB2-B4C3CA1BCE14}"/>
              </a:ext>
            </a:extLst>
          </p:cNvPr>
          <p:cNvPicPr>
            <a:picLocks noChangeAspect="1"/>
          </p:cNvPicPr>
          <p:nvPr/>
        </p:nvPicPr>
        <p:blipFill>
          <a:blip r:embed="rId2"/>
          <a:stretch>
            <a:fillRect/>
          </a:stretch>
        </p:blipFill>
        <p:spPr>
          <a:xfrm>
            <a:off x="8314265" y="3146991"/>
            <a:ext cx="3143250" cy="3143250"/>
          </a:xfrm>
          <a:prstGeom prst="rect">
            <a:avLst/>
          </a:prstGeom>
        </p:spPr>
      </p:pic>
      <p:pic>
        <p:nvPicPr>
          <p:cNvPr id="6" name="Imagem 5">
            <a:extLst>
              <a:ext uri="{FF2B5EF4-FFF2-40B4-BE49-F238E27FC236}">
                <a16:creationId xmlns:a16="http://schemas.microsoft.com/office/drawing/2014/main" id="{F113B195-3095-FD43-CF5C-AEFB2318E368}"/>
              </a:ext>
            </a:extLst>
          </p:cNvPr>
          <p:cNvPicPr>
            <a:picLocks noChangeAspect="1"/>
          </p:cNvPicPr>
          <p:nvPr/>
        </p:nvPicPr>
        <p:blipFill>
          <a:blip r:embed="rId3"/>
          <a:stretch>
            <a:fillRect/>
          </a:stretch>
        </p:blipFill>
        <p:spPr>
          <a:xfrm>
            <a:off x="4459005" y="2867395"/>
            <a:ext cx="3273990" cy="3273990"/>
          </a:xfrm>
          <a:prstGeom prst="rect">
            <a:avLst/>
          </a:prstGeom>
        </p:spPr>
      </p:pic>
      <p:pic>
        <p:nvPicPr>
          <p:cNvPr id="7" name="Imagem 6">
            <a:extLst>
              <a:ext uri="{FF2B5EF4-FFF2-40B4-BE49-F238E27FC236}">
                <a16:creationId xmlns:a16="http://schemas.microsoft.com/office/drawing/2014/main" id="{8E0EA503-9D6A-E80E-A7C7-C901BE42051F}"/>
              </a:ext>
            </a:extLst>
          </p:cNvPr>
          <p:cNvPicPr>
            <a:picLocks noChangeAspect="1"/>
          </p:cNvPicPr>
          <p:nvPr/>
        </p:nvPicPr>
        <p:blipFill>
          <a:blip r:embed="rId4"/>
          <a:stretch>
            <a:fillRect/>
          </a:stretch>
        </p:blipFill>
        <p:spPr>
          <a:xfrm>
            <a:off x="136846" y="2935242"/>
            <a:ext cx="4058955" cy="3206143"/>
          </a:xfrm>
          <a:prstGeom prst="rect">
            <a:avLst/>
          </a:prstGeom>
        </p:spPr>
      </p:pic>
    </p:spTree>
    <p:extLst>
      <p:ext uri="{BB962C8B-B14F-4D97-AF65-F5344CB8AC3E}">
        <p14:creationId xmlns:p14="http://schemas.microsoft.com/office/powerpoint/2010/main" val="3956885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08B796-F427-4104-B54F-402356C8C8B1}"/>
              </a:ext>
            </a:extLst>
          </p:cNvPr>
          <p:cNvSpPr>
            <a:spLocks noGrp="1"/>
          </p:cNvSpPr>
          <p:nvPr>
            <p:ph type="title"/>
          </p:nvPr>
        </p:nvSpPr>
        <p:spPr/>
        <p:txBody>
          <a:bodyPr/>
          <a:lstStyle/>
          <a:p>
            <a:r>
              <a:rPr lang="pt-BR" altLang="pt-BR" b="1" dirty="0"/>
              <a:t>Grafos ponderados e não ponderados</a:t>
            </a:r>
            <a:endParaRPr lang="pt-BR" b="1" dirty="0"/>
          </a:p>
        </p:txBody>
      </p:sp>
      <p:sp>
        <p:nvSpPr>
          <p:cNvPr id="3" name="Espaço Reservado para Conteúdo 2">
            <a:extLst>
              <a:ext uri="{FF2B5EF4-FFF2-40B4-BE49-F238E27FC236}">
                <a16:creationId xmlns:a16="http://schemas.microsoft.com/office/drawing/2014/main" id="{6B4294E8-DA4F-41C2-91EE-8312E4DF68C5}"/>
              </a:ext>
            </a:extLst>
          </p:cNvPr>
          <p:cNvSpPr>
            <a:spLocks noGrp="1"/>
          </p:cNvSpPr>
          <p:nvPr>
            <p:ph idx="1"/>
          </p:nvPr>
        </p:nvSpPr>
        <p:spPr>
          <a:xfrm>
            <a:off x="838200" y="1825625"/>
            <a:ext cx="10515600" cy="1325563"/>
          </a:xfrm>
        </p:spPr>
        <p:txBody>
          <a:bodyPr>
            <a:normAutofit fontScale="70000" lnSpcReduction="20000"/>
          </a:bodyPr>
          <a:lstStyle/>
          <a:p>
            <a:r>
              <a:rPr lang="pt-BR" dirty="0"/>
              <a:t>Um </a:t>
            </a:r>
            <a:r>
              <a:rPr lang="pt-BR" b="1" dirty="0"/>
              <a:t>grafo</a:t>
            </a:r>
            <a:r>
              <a:rPr lang="pt-BR" dirty="0"/>
              <a:t> </a:t>
            </a:r>
            <a:r>
              <a:rPr lang="pt-BR" b="1" dirty="0"/>
              <a:t>não ponderado </a:t>
            </a:r>
            <a:r>
              <a:rPr lang="pt-BR" dirty="0"/>
              <a:t>é uma estrutura matemática composta por vértices (nós) e arestas (conexões) onde as arestas não possuem pesos, custos ou valores numéricos associados</a:t>
            </a:r>
          </a:p>
          <a:p>
            <a:r>
              <a:rPr lang="pt-BR" dirty="0"/>
              <a:t>Um </a:t>
            </a:r>
            <a:r>
              <a:rPr lang="pt-BR" b="1" dirty="0"/>
              <a:t>grafo ponderado</a:t>
            </a:r>
            <a:r>
              <a:rPr lang="pt-BR" dirty="0"/>
              <a:t>, por outro lado, é composto por arestas que possuem pesos, custos ou valores numéricos associados.</a:t>
            </a:r>
          </a:p>
        </p:txBody>
      </p:sp>
      <p:pic>
        <p:nvPicPr>
          <p:cNvPr id="4" name="Imagem 3">
            <a:extLst>
              <a:ext uri="{FF2B5EF4-FFF2-40B4-BE49-F238E27FC236}">
                <a16:creationId xmlns:a16="http://schemas.microsoft.com/office/drawing/2014/main" id="{5D4B689F-A785-4A21-B725-50BA87BC39F7}"/>
              </a:ext>
            </a:extLst>
          </p:cNvPr>
          <p:cNvPicPr>
            <a:picLocks noChangeAspect="1"/>
          </p:cNvPicPr>
          <p:nvPr/>
        </p:nvPicPr>
        <p:blipFill>
          <a:blip r:embed="rId2"/>
          <a:stretch>
            <a:fillRect/>
          </a:stretch>
        </p:blipFill>
        <p:spPr>
          <a:xfrm>
            <a:off x="6521889" y="2720411"/>
            <a:ext cx="5286648" cy="4016313"/>
          </a:xfrm>
          <a:prstGeom prst="rect">
            <a:avLst/>
          </a:prstGeom>
        </p:spPr>
      </p:pic>
      <p:pic>
        <p:nvPicPr>
          <p:cNvPr id="7" name="Imagem 6">
            <a:extLst>
              <a:ext uri="{FF2B5EF4-FFF2-40B4-BE49-F238E27FC236}">
                <a16:creationId xmlns:a16="http://schemas.microsoft.com/office/drawing/2014/main" id="{6054BEF6-7656-33C3-F6A0-F05CAAB89053}"/>
              </a:ext>
            </a:extLst>
          </p:cNvPr>
          <p:cNvPicPr>
            <a:picLocks noChangeAspect="1"/>
          </p:cNvPicPr>
          <p:nvPr/>
        </p:nvPicPr>
        <p:blipFill>
          <a:blip r:embed="rId3"/>
          <a:stretch>
            <a:fillRect/>
          </a:stretch>
        </p:blipFill>
        <p:spPr>
          <a:xfrm>
            <a:off x="1084521" y="2663568"/>
            <a:ext cx="4073156" cy="4073156"/>
          </a:xfrm>
          <a:prstGeom prst="rect">
            <a:avLst/>
          </a:prstGeom>
        </p:spPr>
      </p:pic>
    </p:spTree>
    <p:extLst>
      <p:ext uri="{BB962C8B-B14F-4D97-AF65-F5344CB8AC3E}">
        <p14:creationId xmlns:p14="http://schemas.microsoft.com/office/powerpoint/2010/main" val="2122727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8889E7-70B4-434E-8B4C-5EE1058345E0}"/>
              </a:ext>
            </a:extLst>
          </p:cNvPr>
          <p:cNvSpPr>
            <a:spLocks noGrp="1"/>
          </p:cNvSpPr>
          <p:nvPr>
            <p:ph type="title"/>
          </p:nvPr>
        </p:nvSpPr>
        <p:spPr>
          <a:xfrm>
            <a:off x="459132" y="479342"/>
            <a:ext cx="10142607" cy="1268984"/>
          </a:xfrm>
        </p:spPr>
        <p:txBody>
          <a:bodyPr>
            <a:normAutofit/>
          </a:bodyPr>
          <a:lstStyle/>
          <a:p>
            <a:r>
              <a:rPr lang="pt-BR" altLang="pt-BR" b="1" dirty="0"/>
              <a:t>Grafos orientados e não orientados</a:t>
            </a:r>
            <a:endParaRPr lang="pt-BR" b="1" dirty="0"/>
          </a:p>
        </p:txBody>
      </p:sp>
      <p:pic>
        <p:nvPicPr>
          <p:cNvPr id="4" name="Picture 6">
            <a:extLst>
              <a:ext uri="{FF2B5EF4-FFF2-40B4-BE49-F238E27FC236}">
                <a16:creationId xmlns:a16="http://schemas.microsoft.com/office/drawing/2014/main" id="{41AF73F0-6C21-498F-87E5-3415A417B6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7180" y="2438025"/>
            <a:ext cx="6756143" cy="358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aixaDeTexto 4">
            <a:extLst>
              <a:ext uri="{FF2B5EF4-FFF2-40B4-BE49-F238E27FC236}">
                <a16:creationId xmlns:a16="http://schemas.microsoft.com/office/drawing/2014/main" id="{FE538AC4-9CFA-1779-76C7-121C0D90AE55}"/>
              </a:ext>
            </a:extLst>
          </p:cNvPr>
          <p:cNvSpPr txBox="1"/>
          <p:nvPr/>
        </p:nvSpPr>
        <p:spPr>
          <a:xfrm>
            <a:off x="431311" y="2878780"/>
            <a:ext cx="4395869" cy="1938992"/>
          </a:xfrm>
          <a:prstGeom prst="rect">
            <a:avLst/>
          </a:prstGeom>
          <a:noFill/>
        </p:spPr>
        <p:txBody>
          <a:bodyPr wrap="square">
            <a:spAutoFit/>
          </a:bodyPr>
          <a:lstStyle/>
          <a:p>
            <a:r>
              <a:rPr lang="pt-BR" sz="2400" dirty="0"/>
              <a:t>Se as arestas têm um sentido associado (indicado por uma seta na representação gráfica) temos um </a:t>
            </a:r>
            <a:r>
              <a:rPr lang="pt-BR" sz="2400" b="1" dirty="0"/>
              <a:t>dígrafo</a:t>
            </a:r>
            <a:r>
              <a:rPr lang="pt-BR" sz="2400" dirty="0"/>
              <a:t> (</a:t>
            </a:r>
            <a:r>
              <a:rPr lang="pt-BR" sz="2400" b="1" dirty="0"/>
              <a:t>grafo orientado, direcionado </a:t>
            </a:r>
            <a:r>
              <a:rPr lang="pt-BR" sz="2400" dirty="0"/>
              <a:t>ou </a:t>
            </a:r>
            <a:r>
              <a:rPr lang="pt-BR" sz="2400" b="1" dirty="0"/>
              <a:t>dirigido</a:t>
            </a:r>
            <a:r>
              <a:rPr lang="pt-BR" sz="2400" dirty="0"/>
              <a:t>).</a:t>
            </a:r>
          </a:p>
        </p:txBody>
      </p:sp>
    </p:spTree>
    <p:extLst>
      <p:ext uri="{BB962C8B-B14F-4D97-AF65-F5344CB8AC3E}">
        <p14:creationId xmlns:p14="http://schemas.microsoft.com/office/powerpoint/2010/main" val="2068685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74915E-3D80-41B0-9BA4-24B04238EBD1}"/>
              </a:ext>
            </a:extLst>
          </p:cNvPr>
          <p:cNvSpPr>
            <a:spLocks noGrp="1"/>
          </p:cNvSpPr>
          <p:nvPr>
            <p:ph type="title"/>
          </p:nvPr>
        </p:nvSpPr>
        <p:spPr>
          <a:xfrm>
            <a:off x="565150" y="770890"/>
            <a:ext cx="9426989" cy="1268984"/>
          </a:xfrm>
        </p:spPr>
        <p:txBody>
          <a:bodyPr>
            <a:normAutofit fontScale="90000"/>
          </a:bodyPr>
          <a:lstStyle/>
          <a:p>
            <a:r>
              <a:rPr lang="pt-BR" b="1" dirty="0"/>
              <a:t>Grau de um vértice em grafos não</a:t>
            </a:r>
            <a:br>
              <a:rPr lang="pt-BR" b="1" dirty="0"/>
            </a:br>
            <a:r>
              <a:rPr lang="pt-BR" b="1" dirty="0"/>
              <a:t>direcionados</a:t>
            </a:r>
          </a:p>
        </p:txBody>
      </p:sp>
      <p:sp>
        <p:nvSpPr>
          <p:cNvPr id="4" name="Espaço Reservado para Conteúdo 2">
            <a:extLst>
              <a:ext uri="{FF2B5EF4-FFF2-40B4-BE49-F238E27FC236}">
                <a16:creationId xmlns:a16="http://schemas.microsoft.com/office/drawing/2014/main" id="{6F52F93E-D594-4096-AEA9-EB12DE31367E}"/>
              </a:ext>
            </a:extLst>
          </p:cNvPr>
          <p:cNvSpPr>
            <a:spLocks noGrp="1"/>
          </p:cNvSpPr>
          <p:nvPr>
            <p:ph idx="1"/>
          </p:nvPr>
        </p:nvSpPr>
        <p:spPr>
          <a:xfrm>
            <a:off x="677334" y="2160589"/>
            <a:ext cx="10454492" cy="3880773"/>
          </a:xfrm>
        </p:spPr>
        <p:txBody>
          <a:bodyPr>
            <a:normAutofit/>
          </a:bodyPr>
          <a:lstStyle/>
          <a:p>
            <a:r>
              <a:rPr lang="pt-BR" sz="2800" dirty="0"/>
              <a:t>O grau de um vértice é o </a:t>
            </a:r>
            <a:r>
              <a:rPr lang="pt-BR" sz="2800" dirty="0">
                <a:solidFill>
                  <a:srgbClr val="FF0000"/>
                </a:solidFill>
              </a:rPr>
              <a:t>número de arestas que incidem </a:t>
            </a:r>
            <a:r>
              <a:rPr lang="pt-BR" sz="2800" dirty="0"/>
              <a:t>nele.</a:t>
            </a:r>
          </a:p>
          <a:p>
            <a:r>
              <a:rPr lang="pt-BR" sz="2800" dirty="0"/>
              <a:t> Um vértice de </a:t>
            </a:r>
            <a:r>
              <a:rPr lang="pt-BR" sz="2800" dirty="0">
                <a:solidFill>
                  <a:srgbClr val="FF0000"/>
                </a:solidFill>
              </a:rPr>
              <a:t>grau zero </a:t>
            </a:r>
            <a:r>
              <a:rPr lang="pt-BR" sz="2800" dirty="0"/>
              <a:t>é dito </a:t>
            </a:r>
            <a:r>
              <a:rPr lang="pt-BR" sz="2800" dirty="0">
                <a:solidFill>
                  <a:srgbClr val="FF0000"/>
                </a:solidFill>
              </a:rPr>
              <a:t>isolado ou não conectado</a:t>
            </a:r>
            <a:r>
              <a:rPr lang="pt-BR" sz="2800" dirty="0"/>
              <a:t>.</a:t>
            </a:r>
          </a:p>
        </p:txBody>
      </p:sp>
      <p:pic>
        <p:nvPicPr>
          <p:cNvPr id="5" name="Imagem 4">
            <a:extLst>
              <a:ext uri="{FF2B5EF4-FFF2-40B4-BE49-F238E27FC236}">
                <a16:creationId xmlns:a16="http://schemas.microsoft.com/office/drawing/2014/main" id="{3691B011-8617-4075-949B-CC980A0BAB67}"/>
              </a:ext>
            </a:extLst>
          </p:cNvPr>
          <p:cNvPicPr>
            <a:picLocks noChangeAspect="1"/>
          </p:cNvPicPr>
          <p:nvPr/>
        </p:nvPicPr>
        <p:blipFill>
          <a:blip r:embed="rId2"/>
          <a:stretch>
            <a:fillRect/>
          </a:stretch>
        </p:blipFill>
        <p:spPr>
          <a:xfrm>
            <a:off x="5122702" y="3925335"/>
            <a:ext cx="4029075" cy="2638425"/>
          </a:xfrm>
          <a:prstGeom prst="rect">
            <a:avLst/>
          </a:prstGeom>
        </p:spPr>
      </p:pic>
    </p:spTree>
    <p:extLst>
      <p:ext uri="{BB962C8B-B14F-4D97-AF65-F5344CB8AC3E}">
        <p14:creationId xmlns:p14="http://schemas.microsoft.com/office/powerpoint/2010/main" val="3723424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B39CE0-B548-4086-8164-D0E035DD8C61}"/>
              </a:ext>
            </a:extLst>
          </p:cNvPr>
          <p:cNvSpPr>
            <a:spLocks noGrp="1"/>
          </p:cNvSpPr>
          <p:nvPr>
            <p:ph type="title"/>
          </p:nvPr>
        </p:nvSpPr>
        <p:spPr>
          <a:xfrm>
            <a:off x="565150" y="770890"/>
            <a:ext cx="10155859" cy="1268984"/>
          </a:xfrm>
        </p:spPr>
        <p:txBody>
          <a:bodyPr>
            <a:normAutofit fontScale="90000"/>
          </a:bodyPr>
          <a:lstStyle/>
          <a:p>
            <a:r>
              <a:rPr lang="pt-BR" b="1" dirty="0"/>
              <a:t>Grau de um vértice em grafos não</a:t>
            </a:r>
            <a:br>
              <a:rPr lang="pt-BR" b="1" dirty="0"/>
            </a:br>
            <a:r>
              <a:rPr lang="pt-BR" b="1" dirty="0"/>
              <a:t>direcionados</a:t>
            </a:r>
          </a:p>
        </p:txBody>
      </p:sp>
      <p:sp>
        <p:nvSpPr>
          <p:cNvPr id="4" name="Espaço Reservado para Conteúdo 2">
            <a:extLst>
              <a:ext uri="{FF2B5EF4-FFF2-40B4-BE49-F238E27FC236}">
                <a16:creationId xmlns:a16="http://schemas.microsoft.com/office/drawing/2014/main" id="{AB45A98C-0BCF-4004-9541-6FB6551FE0C5}"/>
              </a:ext>
            </a:extLst>
          </p:cNvPr>
          <p:cNvSpPr>
            <a:spLocks noGrp="1"/>
          </p:cNvSpPr>
          <p:nvPr>
            <p:ph idx="1"/>
          </p:nvPr>
        </p:nvSpPr>
        <p:spPr>
          <a:xfrm>
            <a:off x="677334" y="2160589"/>
            <a:ext cx="3669379" cy="3880773"/>
          </a:xfrm>
        </p:spPr>
        <p:txBody>
          <a:bodyPr>
            <a:normAutofit/>
          </a:bodyPr>
          <a:lstStyle/>
          <a:p>
            <a:r>
              <a:rPr lang="pt-BR" sz="2800" dirty="0"/>
              <a:t>O grau de um vértice é o </a:t>
            </a:r>
            <a:r>
              <a:rPr lang="pt-BR" sz="2800" dirty="0">
                <a:solidFill>
                  <a:srgbClr val="FF0000"/>
                </a:solidFill>
              </a:rPr>
              <a:t>número de arestas que incidem </a:t>
            </a:r>
            <a:r>
              <a:rPr lang="pt-BR" sz="2800" dirty="0"/>
              <a:t>nele.</a:t>
            </a:r>
          </a:p>
          <a:p>
            <a:r>
              <a:rPr lang="pt-BR" sz="2800" dirty="0"/>
              <a:t> Um vértice de </a:t>
            </a:r>
            <a:r>
              <a:rPr lang="pt-BR" sz="2800" dirty="0">
                <a:solidFill>
                  <a:srgbClr val="FF0000"/>
                </a:solidFill>
              </a:rPr>
              <a:t>grau zero </a:t>
            </a:r>
            <a:r>
              <a:rPr lang="pt-BR" sz="2800" dirty="0"/>
              <a:t>é dito </a:t>
            </a:r>
            <a:r>
              <a:rPr lang="pt-BR" sz="2800" dirty="0">
                <a:solidFill>
                  <a:srgbClr val="FF0000"/>
                </a:solidFill>
              </a:rPr>
              <a:t>isolado ou não conectado</a:t>
            </a:r>
            <a:r>
              <a:rPr lang="pt-BR" sz="2800" dirty="0"/>
              <a:t>.</a:t>
            </a:r>
          </a:p>
        </p:txBody>
      </p:sp>
      <p:pic>
        <p:nvPicPr>
          <p:cNvPr id="5" name="Imagem 4">
            <a:extLst>
              <a:ext uri="{FF2B5EF4-FFF2-40B4-BE49-F238E27FC236}">
                <a16:creationId xmlns:a16="http://schemas.microsoft.com/office/drawing/2014/main" id="{592EE583-DFE8-4395-9354-48240AEB983A}"/>
              </a:ext>
            </a:extLst>
          </p:cNvPr>
          <p:cNvPicPr>
            <a:picLocks noChangeAspect="1"/>
          </p:cNvPicPr>
          <p:nvPr/>
        </p:nvPicPr>
        <p:blipFill>
          <a:blip r:embed="rId2"/>
          <a:stretch>
            <a:fillRect/>
          </a:stretch>
        </p:blipFill>
        <p:spPr>
          <a:xfrm>
            <a:off x="4436823" y="2033408"/>
            <a:ext cx="6752982" cy="3880772"/>
          </a:xfrm>
          <a:prstGeom prst="rect">
            <a:avLst/>
          </a:prstGeom>
        </p:spPr>
      </p:pic>
    </p:spTree>
    <p:extLst>
      <p:ext uri="{BB962C8B-B14F-4D97-AF65-F5344CB8AC3E}">
        <p14:creationId xmlns:p14="http://schemas.microsoft.com/office/powerpoint/2010/main" val="251302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B39CE0-B548-4086-8164-D0E035DD8C61}"/>
              </a:ext>
            </a:extLst>
          </p:cNvPr>
          <p:cNvSpPr>
            <a:spLocks noGrp="1"/>
          </p:cNvSpPr>
          <p:nvPr>
            <p:ph type="title"/>
          </p:nvPr>
        </p:nvSpPr>
        <p:spPr>
          <a:xfrm>
            <a:off x="565150" y="770890"/>
            <a:ext cx="10155859" cy="1268984"/>
          </a:xfrm>
        </p:spPr>
        <p:txBody>
          <a:bodyPr>
            <a:normAutofit fontScale="90000"/>
          </a:bodyPr>
          <a:lstStyle/>
          <a:p>
            <a:r>
              <a:rPr lang="pt-BR" b="1" dirty="0"/>
              <a:t>Grau de um vértice em grafos não</a:t>
            </a:r>
            <a:br>
              <a:rPr lang="pt-BR" b="1" dirty="0"/>
            </a:br>
            <a:r>
              <a:rPr lang="pt-BR" b="1" dirty="0"/>
              <a:t>direcionados</a:t>
            </a:r>
          </a:p>
        </p:txBody>
      </p:sp>
      <p:sp>
        <p:nvSpPr>
          <p:cNvPr id="4" name="Espaço Reservado para Conteúdo 2">
            <a:extLst>
              <a:ext uri="{FF2B5EF4-FFF2-40B4-BE49-F238E27FC236}">
                <a16:creationId xmlns:a16="http://schemas.microsoft.com/office/drawing/2014/main" id="{AB45A98C-0BCF-4004-9541-6FB6551FE0C5}"/>
              </a:ext>
            </a:extLst>
          </p:cNvPr>
          <p:cNvSpPr>
            <a:spLocks noGrp="1"/>
          </p:cNvSpPr>
          <p:nvPr>
            <p:ph idx="1"/>
          </p:nvPr>
        </p:nvSpPr>
        <p:spPr>
          <a:xfrm>
            <a:off x="677334" y="2160589"/>
            <a:ext cx="3669379" cy="3880773"/>
          </a:xfrm>
        </p:spPr>
        <p:txBody>
          <a:bodyPr>
            <a:normAutofit/>
          </a:bodyPr>
          <a:lstStyle/>
          <a:p>
            <a:r>
              <a:rPr lang="pt-BR" sz="2800" dirty="0"/>
              <a:t>O grau de um vértice é o </a:t>
            </a:r>
            <a:r>
              <a:rPr lang="pt-BR" sz="2800" dirty="0">
                <a:solidFill>
                  <a:srgbClr val="FF0000"/>
                </a:solidFill>
              </a:rPr>
              <a:t>número de arestas que incidem </a:t>
            </a:r>
            <a:r>
              <a:rPr lang="pt-BR" sz="2800" dirty="0"/>
              <a:t>nele.</a:t>
            </a:r>
          </a:p>
          <a:p>
            <a:r>
              <a:rPr lang="pt-BR" sz="2800" dirty="0"/>
              <a:t> Um vértice de </a:t>
            </a:r>
            <a:r>
              <a:rPr lang="pt-BR" sz="2800" dirty="0">
                <a:solidFill>
                  <a:srgbClr val="FF0000"/>
                </a:solidFill>
              </a:rPr>
              <a:t>grau zero </a:t>
            </a:r>
            <a:r>
              <a:rPr lang="pt-BR" sz="2800" dirty="0"/>
              <a:t>é dito </a:t>
            </a:r>
            <a:r>
              <a:rPr lang="pt-BR" sz="2800" dirty="0">
                <a:solidFill>
                  <a:srgbClr val="FF0000"/>
                </a:solidFill>
              </a:rPr>
              <a:t>isolado ou não conectado</a:t>
            </a:r>
            <a:r>
              <a:rPr lang="pt-BR" sz="2800" dirty="0"/>
              <a:t>.</a:t>
            </a:r>
          </a:p>
        </p:txBody>
      </p:sp>
      <p:pic>
        <p:nvPicPr>
          <p:cNvPr id="6" name="Imagem 5">
            <a:extLst>
              <a:ext uri="{FF2B5EF4-FFF2-40B4-BE49-F238E27FC236}">
                <a16:creationId xmlns:a16="http://schemas.microsoft.com/office/drawing/2014/main" id="{0F8E7CB4-3D69-4F82-8737-6327F16E312A}"/>
              </a:ext>
            </a:extLst>
          </p:cNvPr>
          <p:cNvPicPr>
            <a:picLocks noChangeAspect="1"/>
          </p:cNvPicPr>
          <p:nvPr/>
        </p:nvPicPr>
        <p:blipFill>
          <a:blip r:embed="rId2"/>
          <a:stretch>
            <a:fillRect/>
          </a:stretch>
        </p:blipFill>
        <p:spPr>
          <a:xfrm>
            <a:off x="4346713" y="2295110"/>
            <a:ext cx="7332180" cy="3469586"/>
          </a:xfrm>
          <a:prstGeom prst="rect">
            <a:avLst/>
          </a:prstGeom>
        </p:spPr>
      </p:pic>
    </p:spTree>
    <p:extLst>
      <p:ext uri="{BB962C8B-B14F-4D97-AF65-F5344CB8AC3E}">
        <p14:creationId xmlns:p14="http://schemas.microsoft.com/office/powerpoint/2010/main" val="2157294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5F72F-E104-4322-AF63-39010738DCB3}"/>
              </a:ext>
            </a:extLst>
          </p:cNvPr>
          <p:cNvSpPr>
            <a:spLocks noGrp="1"/>
          </p:cNvSpPr>
          <p:nvPr>
            <p:ph type="title"/>
          </p:nvPr>
        </p:nvSpPr>
        <p:spPr>
          <a:xfrm>
            <a:off x="551436" y="117498"/>
            <a:ext cx="9957076" cy="1268984"/>
          </a:xfrm>
        </p:spPr>
        <p:txBody>
          <a:bodyPr>
            <a:normAutofit/>
          </a:bodyPr>
          <a:lstStyle/>
          <a:p>
            <a:r>
              <a:rPr lang="pt-BR" b="1" dirty="0"/>
              <a:t>Grau de um vértice em grafos direcionados</a:t>
            </a:r>
          </a:p>
        </p:txBody>
      </p:sp>
      <p:sp>
        <p:nvSpPr>
          <p:cNvPr id="4" name="Espaço Reservado para Conteúdo 2">
            <a:extLst>
              <a:ext uri="{FF2B5EF4-FFF2-40B4-BE49-F238E27FC236}">
                <a16:creationId xmlns:a16="http://schemas.microsoft.com/office/drawing/2014/main" id="{9F3C1C1F-C99B-4A77-94F2-ADBC5913F2EB}"/>
              </a:ext>
            </a:extLst>
          </p:cNvPr>
          <p:cNvSpPr>
            <a:spLocks noGrp="1"/>
          </p:cNvSpPr>
          <p:nvPr>
            <p:ph idx="1"/>
          </p:nvPr>
        </p:nvSpPr>
        <p:spPr>
          <a:xfrm>
            <a:off x="551436" y="1590745"/>
            <a:ext cx="10043675" cy="3880773"/>
          </a:xfrm>
        </p:spPr>
        <p:txBody>
          <a:bodyPr>
            <a:normAutofit/>
          </a:bodyPr>
          <a:lstStyle/>
          <a:p>
            <a:r>
              <a:rPr lang="pt-BR" sz="2800" dirty="0">
                <a:solidFill>
                  <a:srgbClr val="FF0000"/>
                </a:solidFill>
              </a:rPr>
              <a:t>Grau de saída</a:t>
            </a:r>
            <a:r>
              <a:rPr lang="pt-BR" sz="2800" dirty="0"/>
              <a:t>: número de arestas que saem do vértice. </a:t>
            </a:r>
          </a:p>
          <a:p>
            <a:r>
              <a:rPr lang="pt-BR" sz="2800" dirty="0">
                <a:solidFill>
                  <a:srgbClr val="FF0000"/>
                </a:solidFill>
              </a:rPr>
              <a:t>Grau de entrada</a:t>
            </a:r>
            <a:r>
              <a:rPr lang="pt-BR" sz="2800" dirty="0"/>
              <a:t>: número de arestas que chegam no vértice. </a:t>
            </a:r>
          </a:p>
          <a:p>
            <a:r>
              <a:rPr lang="pt-BR" sz="2800" dirty="0">
                <a:solidFill>
                  <a:srgbClr val="FF0000"/>
                </a:solidFill>
              </a:rPr>
              <a:t>Grau de um vértice</a:t>
            </a:r>
            <a:r>
              <a:rPr lang="pt-BR" sz="2800" dirty="0"/>
              <a:t>: grau de saída + grau de entrada.</a:t>
            </a:r>
          </a:p>
        </p:txBody>
      </p:sp>
      <p:pic>
        <p:nvPicPr>
          <p:cNvPr id="5" name="Imagem 4">
            <a:extLst>
              <a:ext uri="{FF2B5EF4-FFF2-40B4-BE49-F238E27FC236}">
                <a16:creationId xmlns:a16="http://schemas.microsoft.com/office/drawing/2014/main" id="{E5EF35B6-B12C-49FE-A7EC-14D4532FF190}"/>
              </a:ext>
            </a:extLst>
          </p:cNvPr>
          <p:cNvPicPr>
            <a:picLocks noChangeAspect="1"/>
          </p:cNvPicPr>
          <p:nvPr/>
        </p:nvPicPr>
        <p:blipFill>
          <a:blip r:embed="rId2"/>
          <a:stretch>
            <a:fillRect/>
          </a:stretch>
        </p:blipFill>
        <p:spPr>
          <a:xfrm>
            <a:off x="6188351" y="3687831"/>
            <a:ext cx="4333875" cy="2905125"/>
          </a:xfrm>
          <a:prstGeom prst="rect">
            <a:avLst/>
          </a:prstGeom>
        </p:spPr>
      </p:pic>
    </p:spTree>
    <p:extLst>
      <p:ext uri="{BB962C8B-B14F-4D97-AF65-F5344CB8AC3E}">
        <p14:creationId xmlns:p14="http://schemas.microsoft.com/office/powerpoint/2010/main" val="439488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5F72F-E104-4322-AF63-39010738DCB3}"/>
              </a:ext>
            </a:extLst>
          </p:cNvPr>
          <p:cNvSpPr>
            <a:spLocks noGrp="1"/>
          </p:cNvSpPr>
          <p:nvPr>
            <p:ph type="title"/>
          </p:nvPr>
        </p:nvSpPr>
        <p:spPr>
          <a:xfrm>
            <a:off x="551436" y="123895"/>
            <a:ext cx="9957076" cy="1268984"/>
          </a:xfrm>
        </p:spPr>
        <p:txBody>
          <a:bodyPr>
            <a:normAutofit/>
          </a:bodyPr>
          <a:lstStyle/>
          <a:p>
            <a:r>
              <a:rPr lang="pt-BR" b="1" dirty="0"/>
              <a:t>Grau de um vértice em grafos direcionados</a:t>
            </a:r>
          </a:p>
        </p:txBody>
      </p:sp>
      <p:sp>
        <p:nvSpPr>
          <p:cNvPr id="4" name="Espaço Reservado para Conteúdo 2">
            <a:extLst>
              <a:ext uri="{FF2B5EF4-FFF2-40B4-BE49-F238E27FC236}">
                <a16:creationId xmlns:a16="http://schemas.microsoft.com/office/drawing/2014/main" id="{9F3C1C1F-C99B-4A77-94F2-ADBC5913F2EB}"/>
              </a:ext>
            </a:extLst>
          </p:cNvPr>
          <p:cNvSpPr>
            <a:spLocks noGrp="1"/>
          </p:cNvSpPr>
          <p:nvPr>
            <p:ph idx="1"/>
          </p:nvPr>
        </p:nvSpPr>
        <p:spPr>
          <a:xfrm>
            <a:off x="551436" y="1590745"/>
            <a:ext cx="10043675" cy="3880773"/>
          </a:xfrm>
        </p:spPr>
        <p:txBody>
          <a:bodyPr>
            <a:normAutofit/>
          </a:bodyPr>
          <a:lstStyle/>
          <a:p>
            <a:r>
              <a:rPr lang="pt-BR" sz="2800" dirty="0">
                <a:solidFill>
                  <a:srgbClr val="FF0000"/>
                </a:solidFill>
              </a:rPr>
              <a:t>Grau de saída</a:t>
            </a:r>
            <a:r>
              <a:rPr lang="pt-BR" sz="2800" dirty="0"/>
              <a:t>: número de arestas que saem do vértice. </a:t>
            </a:r>
          </a:p>
          <a:p>
            <a:r>
              <a:rPr lang="pt-BR" sz="2800" dirty="0">
                <a:solidFill>
                  <a:srgbClr val="FF0000"/>
                </a:solidFill>
              </a:rPr>
              <a:t>Grau de entrada</a:t>
            </a:r>
            <a:r>
              <a:rPr lang="pt-BR" sz="2800" dirty="0"/>
              <a:t>: número de arestas que chegam no vértice. </a:t>
            </a:r>
          </a:p>
          <a:p>
            <a:r>
              <a:rPr lang="pt-BR" sz="2800" dirty="0">
                <a:solidFill>
                  <a:srgbClr val="FF0000"/>
                </a:solidFill>
              </a:rPr>
              <a:t>Grau de um vértice</a:t>
            </a:r>
            <a:r>
              <a:rPr lang="pt-BR" sz="2800" dirty="0"/>
              <a:t>: grau de saída + grau de entrada.</a:t>
            </a:r>
          </a:p>
        </p:txBody>
      </p:sp>
      <p:pic>
        <p:nvPicPr>
          <p:cNvPr id="6" name="Imagem 5">
            <a:extLst>
              <a:ext uri="{FF2B5EF4-FFF2-40B4-BE49-F238E27FC236}">
                <a16:creationId xmlns:a16="http://schemas.microsoft.com/office/drawing/2014/main" id="{4C0EA947-0EFF-47E5-9FD4-5B7FE4FCBC25}"/>
              </a:ext>
            </a:extLst>
          </p:cNvPr>
          <p:cNvPicPr>
            <a:picLocks noChangeAspect="1"/>
          </p:cNvPicPr>
          <p:nvPr/>
        </p:nvPicPr>
        <p:blipFill>
          <a:blip r:embed="rId2"/>
          <a:stretch>
            <a:fillRect/>
          </a:stretch>
        </p:blipFill>
        <p:spPr>
          <a:xfrm>
            <a:off x="1603513" y="3551583"/>
            <a:ext cx="7110620" cy="3182522"/>
          </a:xfrm>
          <a:prstGeom prst="rect">
            <a:avLst/>
          </a:prstGeom>
        </p:spPr>
      </p:pic>
    </p:spTree>
    <p:extLst>
      <p:ext uri="{BB962C8B-B14F-4D97-AF65-F5344CB8AC3E}">
        <p14:creationId xmlns:p14="http://schemas.microsoft.com/office/powerpoint/2010/main" val="1414132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5F72F-E104-4322-AF63-39010738DCB3}"/>
              </a:ext>
            </a:extLst>
          </p:cNvPr>
          <p:cNvSpPr>
            <a:spLocks noGrp="1"/>
          </p:cNvSpPr>
          <p:nvPr>
            <p:ph type="title"/>
          </p:nvPr>
        </p:nvSpPr>
        <p:spPr>
          <a:xfrm>
            <a:off x="379157" y="267307"/>
            <a:ext cx="9957076" cy="562033"/>
          </a:xfrm>
        </p:spPr>
        <p:txBody>
          <a:bodyPr>
            <a:normAutofit fontScale="90000"/>
          </a:bodyPr>
          <a:lstStyle/>
          <a:p>
            <a:r>
              <a:rPr lang="pt-BR" b="1" dirty="0"/>
              <a:t>Laços</a:t>
            </a:r>
          </a:p>
        </p:txBody>
      </p:sp>
      <p:sp>
        <p:nvSpPr>
          <p:cNvPr id="4" name="Espaço Reservado para Conteúdo 2">
            <a:extLst>
              <a:ext uri="{FF2B5EF4-FFF2-40B4-BE49-F238E27FC236}">
                <a16:creationId xmlns:a16="http://schemas.microsoft.com/office/drawing/2014/main" id="{9F3C1C1F-C99B-4A77-94F2-ADBC5913F2EB}"/>
              </a:ext>
            </a:extLst>
          </p:cNvPr>
          <p:cNvSpPr>
            <a:spLocks noGrp="1"/>
          </p:cNvSpPr>
          <p:nvPr>
            <p:ph idx="1"/>
          </p:nvPr>
        </p:nvSpPr>
        <p:spPr>
          <a:xfrm>
            <a:off x="244014" y="1020900"/>
            <a:ext cx="7333607" cy="5267255"/>
          </a:xfrm>
        </p:spPr>
        <p:txBody>
          <a:bodyPr>
            <a:normAutofit fontScale="85000" lnSpcReduction="10000"/>
          </a:bodyPr>
          <a:lstStyle/>
          <a:p>
            <a:r>
              <a:rPr lang="pt-BR" sz="2800" dirty="0"/>
              <a:t>Laço é uma aresta que conecta um vértice a ele mesmo. </a:t>
            </a:r>
          </a:p>
          <a:p>
            <a:r>
              <a:rPr lang="pt-BR" sz="2800" dirty="0"/>
              <a:t>É como se uma linha voltasse ao ponto de origem sem se conectar a outro vértice.</a:t>
            </a:r>
          </a:p>
          <a:p>
            <a:r>
              <a:rPr lang="pt-BR" sz="2800" dirty="0"/>
              <a:t>Um laço seria uma linha que sai de um vértice e volta para ele mesmo, formando um pequeno círculo.</a:t>
            </a:r>
          </a:p>
          <a:p>
            <a:r>
              <a:rPr lang="pt-BR" sz="2800" dirty="0">
                <a:solidFill>
                  <a:srgbClr val="FF0000"/>
                </a:solidFill>
              </a:rPr>
              <a:t>Por que os laços são importantes?</a:t>
            </a:r>
          </a:p>
          <a:p>
            <a:endParaRPr lang="pt-BR" sz="2800" dirty="0"/>
          </a:p>
          <a:p>
            <a:pPr lvl="1"/>
            <a:r>
              <a:rPr lang="pt-BR" sz="2400" dirty="0">
                <a:solidFill>
                  <a:srgbClr val="FF0000"/>
                </a:solidFill>
              </a:rPr>
              <a:t>Modificam o grau de um vértice</a:t>
            </a:r>
            <a:r>
              <a:rPr lang="pt-BR" sz="2400" dirty="0"/>
              <a:t>: Um laço contribui com duas unidades para o grau de um vértice, pois é como se fossem duas arestas incidentes nele.</a:t>
            </a:r>
          </a:p>
          <a:p>
            <a:pPr lvl="1"/>
            <a:r>
              <a:rPr lang="pt-BR" sz="2400" dirty="0">
                <a:solidFill>
                  <a:srgbClr val="FF0000"/>
                </a:solidFill>
              </a:rPr>
              <a:t>Classificação de grafos</a:t>
            </a:r>
            <a:r>
              <a:rPr lang="pt-BR" sz="2400" dirty="0"/>
              <a:t>: Grafos simples não possuem laços nem arestas múltiplas (duas ou mais arestas ligando os mesmos vértices).</a:t>
            </a:r>
          </a:p>
          <a:p>
            <a:pPr lvl="1"/>
            <a:r>
              <a:rPr lang="pt-BR" sz="2400" dirty="0">
                <a:solidFill>
                  <a:srgbClr val="FF0000"/>
                </a:solidFill>
              </a:rPr>
              <a:t>Representações de relações</a:t>
            </a:r>
            <a:r>
              <a:rPr lang="pt-BR" sz="2400" dirty="0"/>
              <a:t>: Em algumas aplicações, um laço pode representar uma relação de um elemento consigo mesmo.</a:t>
            </a:r>
          </a:p>
        </p:txBody>
      </p:sp>
      <p:pic>
        <p:nvPicPr>
          <p:cNvPr id="3" name="Imagem 2">
            <a:extLst>
              <a:ext uri="{FF2B5EF4-FFF2-40B4-BE49-F238E27FC236}">
                <a16:creationId xmlns:a16="http://schemas.microsoft.com/office/drawing/2014/main" id="{65A3564D-7313-4177-93C5-A70E460F346F}"/>
              </a:ext>
            </a:extLst>
          </p:cNvPr>
          <p:cNvPicPr>
            <a:picLocks noChangeAspect="1"/>
          </p:cNvPicPr>
          <p:nvPr/>
        </p:nvPicPr>
        <p:blipFill>
          <a:blip r:embed="rId2"/>
          <a:stretch>
            <a:fillRect/>
          </a:stretch>
        </p:blipFill>
        <p:spPr>
          <a:xfrm>
            <a:off x="7779439" y="2082377"/>
            <a:ext cx="3943260" cy="3144299"/>
          </a:xfrm>
          <a:prstGeom prst="rect">
            <a:avLst/>
          </a:prstGeom>
        </p:spPr>
      </p:pic>
    </p:spTree>
    <p:extLst>
      <p:ext uri="{BB962C8B-B14F-4D97-AF65-F5344CB8AC3E}">
        <p14:creationId xmlns:p14="http://schemas.microsoft.com/office/powerpoint/2010/main" val="36371483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5F72F-E104-4322-AF63-39010738DCB3}"/>
              </a:ext>
            </a:extLst>
          </p:cNvPr>
          <p:cNvSpPr>
            <a:spLocks noGrp="1"/>
          </p:cNvSpPr>
          <p:nvPr>
            <p:ph type="title"/>
          </p:nvPr>
        </p:nvSpPr>
        <p:spPr>
          <a:xfrm>
            <a:off x="538645" y="228512"/>
            <a:ext cx="9957076" cy="547665"/>
          </a:xfrm>
        </p:spPr>
        <p:txBody>
          <a:bodyPr>
            <a:normAutofit fontScale="90000"/>
          </a:bodyPr>
          <a:lstStyle/>
          <a:p>
            <a:r>
              <a:rPr lang="pt-BR" b="1" dirty="0"/>
              <a:t>Paralelismo</a:t>
            </a:r>
          </a:p>
        </p:txBody>
      </p:sp>
      <p:sp>
        <p:nvSpPr>
          <p:cNvPr id="4" name="Espaço Reservado para Conteúdo 2">
            <a:extLst>
              <a:ext uri="{FF2B5EF4-FFF2-40B4-BE49-F238E27FC236}">
                <a16:creationId xmlns:a16="http://schemas.microsoft.com/office/drawing/2014/main" id="{9F3C1C1F-C99B-4A77-94F2-ADBC5913F2EB}"/>
              </a:ext>
            </a:extLst>
          </p:cNvPr>
          <p:cNvSpPr>
            <a:spLocks noGrp="1"/>
          </p:cNvSpPr>
          <p:nvPr>
            <p:ph idx="1"/>
          </p:nvPr>
        </p:nvSpPr>
        <p:spPr>
          <a:xfrm>
            <a:off x="254690" y="993914"/>
            <a:ext cx="7333607" cy="5506277"/>
          </a:xfrm>
        </p:spPr>
        <p:txBody>
          <a:bodyPr>
            <a:normAutofit fontScale="92500" lnSpcReduction="10000"/>
          </a:bodyPr>
          <a:lstStyle/>
          <a:p>
            <a:r>
              <a:rPr lang="pt-BR" sz="2500" dirty="0"/>
              <a:t>Refere a uma relação específica entre duas ou mais arestas em um grafo. Duas arestas são consideradas paralelas quando conectam os mesmos dois vértices.</a:t>
            </a:r>
          </a:p>
          <a:p>
            <a:r>
              <a:rPr lang="pt-BR" dirty="0">
                <a:solidFill>
                  <a:srgbClr val="FF0000"/>
                </a:solidFill>
              </a:rPr>
              <a:t>Por que o paralelismo é importante?</a:t>
            </a:r>
          </a:p>
          <a:p>
            <a:endParaRPr lang="pt-BR" dirty="0"/>
          </a:p>
          <a:p>
            <a:pPr lvl="1"/>
            <a:r>
              <a:rPr lang="pt-BR" dirty="0">
                <a:solidFill>
                  <a:srgbClr val="FF0000"/>
                </a:solidFill>
              </a:rPr>
              <a:t>Classificação de grafos</a:t>
            </a:r>
            <a:r>
              <a:rPr lang="pt-BR" dirty="0"/>
              <a:t>: Grafos simples não possuem laços nem arestas paralelas.</a:t>
            </a:r>
          </a:p>
          <a:p>
            <a:pPr lvl="1"/>
            <a:r>
              <a:rPr lang="pt-BR" dirty="0">
                <a:solidFill>
                  <a:srgbClr val="FF0000"/>
                </a:solidFill>
              </a:rPr>
              <a:t>Representação de relações</a:t>
            </a:r>
            <a:r>
              <a:rPr lang="pt-BR" dirty="0"/>
              <a:t>: Em algumas aplicações, arestas paralelas podem representar diferentes tipos de relações entre os mesmos elementos. Por exemplo, em um grafo representando rotas de ônibus, duas arestas paralelas entre dois pontos poderiam representar duas linhas de ônibus diferentes fazendo a mesma rota.</a:t>
            </a:r>
          </a:p>
          <a:p>
            <a:pPr lvl="1"/>
            <a:r>
              <a:rPr lang="pt-BR" dirty="0">
                <a:solidFill>
                  <a:srgbClr val="FF0000"/>
                </a:solidFill>
              </a:rPr>
              <a:t>Algoritmos e aplicações</a:t>
            </a:r>
            <a:r>
              <a:rPr lang="pt-BR" dirty="0"/>
              <a:t>: A presença de arestas paralelas pode influenciar a complexidade de algoritmos e a forma como os grafos são representados em computadores.</a:t>
            </a:r>
          </a:p>
        </p:txBody>
      </p:sp>
      <p:pic>
        <p:nvPicPr>
          <p:cNvPr id="6" name="Imagem 5">
            <a:extLst>
              <a:ext uri="{FF2B5EF4-FFF2-40B4-BE49-F238E27FC236}">
                <a16:creationId xmlns:a16="http://schemas.microsoft.com/office/drawing/2014/main" id="{26CD79CA-E2C6-4151-A494-0527E9B69FA4}"/>
              </a:ext>
            </a:extLst>
          </p:cNvPr>
          <p:cNvPicPr>
            <a:picLocks noChangeAspect="1"/>
          </p:cNvPicPr>
          <p:nvPr/>
        </p:nvPicPr>
        <p:blipFill>
          <a:blip r:embed="rId2"/>
          <a:stretch>
            <a:fillRect/>
          </a:stretch>
        </p:blipFill>
        <p:spPr>
          <a:xfrm>
            <a:off x="7739398" y="1953453"/>
            <a:ext cx="3972625" cy="2951093"/>
          </a:xfrm>
          <a:prstGeom prst="rect">
            <a:avLst/>
          </a:prstGeom>
        </p:spPr>
      </p:pic>
    </p:spTree>
    <p:extLst>
      <p:ext uri="{BB962C8B-B14F-4D97-AF65-F5344CB8AC3E}">
        <p14:creationId xmlns:p14="http://schemas.microsoft.com/office/powerpoint/2010/main" val="1312165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5F72F-E104-4322-AF63-39010738DCB3}"/>
              </a:ext>
            </a:extLst>
          </p:cNvPr>
          <p:cNvSpPr>
            <a:spLocks noGrp="1"/>
          </p:cNvSpPr>
          <p:nvPr>
            <p:ph type="title"/>
          </p:nvPr>
        </p:nvSpPr>
        <p:spPr>
          <a:xfrm>
            <a:off x="565150" y="770890"/>
            <a:ext cx="9957076" cy="441222"/>
          </a:xfrm>
        </p:spPr>
        <p:txBody>
          <a:bodyPr>
            <a:normAutofit fontScale="90000"/>
          </a:bodyPr>
          <a:lstStyle/>
          <a:p>
            <a:r>
              <a:rPr lang="pt-BR" b="1" dirty="0"/>
              <a:t>Grafo Simples</a:t>
            </a:r>
          </a:p>
        </p:txBody>
      </p:sp>
      <p:sp>
        <p:nvSpPr>
          <p:cNvPr id="4" name="Espaço Reservado para Conteúdo 2">
            <a:extLst>
              <a:ext uri="{FF2B5EF4-FFF2-40B4-BE49-F238E27FC236}">
                <a16:creationId xmlns:a16="http://schemas.microsoft.com/office/drawing/2014/main" id="{9F3C1C1F-C99B-4A77-94F2-ADBC5913F2EB}"/>
              </a:ext>
            </a:extLst>
          </p:cNvPr>
          <p:cNvSpPr>
            <a:spLocks noGrp="1"/>
          </p:cNvSpPr>
          <p:nvPr>
            <p:ph idx="1"/>
          </p:nvPr>
        </p:nvSpPr>
        <p:spPr>
          <a:xfrm>
            <a:off x="379157" y="1497496"/>
            <a:ext cx="7333607" cy="5506277"/>
          </a:xfrm>
        </p:spPr>
        <p:txBody>
          <a:bodyPr>
            <a:normAutofit/>
          </a:bodyPr>
          <a:lstStyle/>
          <a:p>
            <a:r>
              <a:rPr lang="pt-BR" sz="2500" dirty="0"/>
              <a:t>Um grafo simples é um tipo fundamental de grafo na teoria dos grafos, caracterizado por duas propriedades principais:</a:t>
            </a:r>
          </a:p>
          <a:p>
            <a:pPr lvl="1"/>
            <a:r>
              <a:rPr lang="pt-BR" sz="2100" dirty="0"/>
              <a:t>Ausência de laços</a:t>
            </a:r>
          </a:p>
          <a:p>
            <a:pPr lvl="1"/>
            <a:r>
              <a:rPr lang="pt-BR" sz="2100" dirty="0"/>
              <a:t>Ausência de arestas paralelas</a:t>
            </a:r>
          </a:p>
          <a:p>
            <a:r>
              <a:rPr lang="pt-BR" dirty="0">
                <a:solidFill>
                  <a:srgbClr val="FF0000"/>
                </a:solidFill>
              </a:rPr>
              <a:t>Aplicações variadas</a:t>
            </a:r>
            <a:r>
              <a:rPr lang="pt-BR" dirty="0"/>
              <a:t>: Grafos simples são utilizados em diversas áreas, como:</a:t>
            </a:r>
          </a:p>
          <a:p>
            <a:pPr lvl="1"/>
            <a:r>
              <a:rPr lang="pt-BR" dirty="0">
                <a:solidFill>
                  <a:srgbClr val="FF0000"/>
                </a:solidFill>
              </a:rPr>
              <a:t>Redes sociais</a:t>
            </a:r>
            <a:r>
              <a:rPr lang="pt-BR" dirty="0"/>
              <a:t>: Onde vértices representam pessoas e arestas representam amizades.</a:t>
            </a:r>
          </a:p>
          <a:p>
            <a:pPr lvl="1"/>
            <a:r>
              <a:rPr lang="pt-BR" dirty="0">
                <a:solidFill>
                  <a:srgbClr val="FF0000"/>
                </a:solidFill>
              </a:rPr>
              <a:t>Mapas</a:t>
            </a:r>
            <a:r>
              <a:rPr lang="pt-BR" dirty="0"/>
              <a:t>: Onde vértices representam cidades e arestas representam rodovias.</a:t>
            </a:r>
          </a:p>
        </p:txBody>
      </p:sp>
      <p:pic>
        <p:nvPicPr>
          <p:cNvPr id="3" name="Imagem 2">
            <a:extLst>
              <a:ext uri="{FF2B5EF4-FFF2-40B4-BE49-F238E27FC236}">
                <a16:creationId xmlns:a16="http://schemas.microsoft.com/office/drawing/2014/main" id="{A9C03F10-5E99-4CCF-8923-29EC35D76C72}"/>
              </a:ext>
            </a:extLst>
          </p:cNvPr>
          <p:cNvPicPr>
            <a:picLocks noChangeAspect="1"/>
          </p:cNvPicPr>
          <p:nvPr/>
        </p:nvPicPr>
        <p:blipFill>
          <a:blip r:embed="rId2"/>
          <a:stretch>
            <a:fillRect/>
          </a:stretch>
        </p:blipFill>
        <p:spPr>
          <a:xfrm>
            <a:off x="8111987" y="2538013"/>
            <a:ext cx="3581888" cy="2537171"/>
          </a:xfrm>
          <a:prstGeom prst="rect">
            <a:avLst/>
          </a:prstGeom>
        </p:spPr>
      </p:pic>
    </p:spTree>
    <p:extLst>
      <p:ext uri="{BB962C8B-B14F-4D97-AF65-F5344CB8AC3E}">
        <p14:creationId xmlns:p14="http://schemas.microsoft.com/office/powerpoint/2010/main" val="39101356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5F72F-E104-4322-AF63-39010738DCB3}"/>
              </a:ext>
            </a:extLst>
          </p:cNvPr>
          <p:cNvSpPr>
            <a:spLocks noGrp="1"/>
          </p:cNvSpPr>
          <p:nvPr>
            <p:ph type="title"/>
          </p:nvPr>
        </p:nvSpPr>
        <p:spPr>
          <a:xfrm>
            <a:off x="562850" y="172344"/>
            <a:ext cx="7335835" cy="816484"/>
          </a:xfrm>
        </p:spPr>
        <p:txBody>
          <a:bodyPr>
            <a:normAutofit/>
          </a:bodyPr>
          <a:lstStyle/>
          <a:p>
            <a:r>
              <a:rPr lang="pt-BR" b="1" dirty="0"/>
              <a:t>Grafo Completo</a:t>
            </a:r>
          </a:p>
        </p:txBody>
      </p:sp>
      <p:sp>
        <p:nvSpPr>
          <p:cNvPr id="4" name="Espaço Reservado para Conteúdo 2">
            <a:extLst>
              <a:ext uri="{FF2B5EF4-FFF2-40B4-BE49-F238E27FC236}">
                <a16:creationId xmlns:a16="http://schemas.microsoft.com/office/drawing/2014/main" id="{9F3C1C1F-C99B-4A77-94F2-ADBC5913F2EB}"/>
              </a:ext>
            </a:extLst>
          </p:cNvPr>
          <p:cNvSpPr>
            <a:spLocks noGrp="1"/>
          </p:cNvSpPr>
          <p:nvPr>
            <p:ph sz="half" idx="1"/>
          </p:nvPr>
        </p:nvSpPr>
        <p:spPr>
          <a:xfrm>
            <a:off x="562850" y="1166192"/>
            <a:ext cx="5533149" cy="5691808"/>
          </a:xfrm>
        </p:spPr>
        <p:txBody>
          <a:bodyPr>
            <a:normAutofit fontScale="55000" lnSpcReduction="20000"/>
          </a:bodyPr>
          <a:lstStyle/>
          <a:p>
            <a:r>
              <a:rPr lang="pt-BR" sz="4200" dirty="0"/>
              <a:t>É um tipo especial de grafo simples onde cada vértice está conectado a todos os outros vértices. Ou seja, é como se todos os vértices fossem "amigos" de todos os outros.</a:t>
            </a:r>
          </a:p>
          <a:p>
            <a:endParaRPr lang="pt-BR" sz="4200" dirty="0"/>
          </a:p>
          <a:p>
            <a:r>
              <a:rPr lang="pt-BR" sz="4200" dirty="0">
                <a:solidFill>
                  <a:srgbClr val="FF0000"/>
                </a:solidFill>
              </a:rPr>
              <a:t>Características de um Grafo Completo:</a:t>
            </a:r>
          </a:p>
          <a:p>
            <a:endParaRPr lang="pt-BR" sz="4200" dirty="0"/>
          </a:p>
          <a:p>
            <a:r>
              <a:rPr lang="pt-BR" sz="4200" dirty="0"/>
              <a:t>Conexão máxima: Todos os vértices são adjacentes (conectados por uma aresta).</a:t>
            </a:r>
          </a:p>
          <a:p>
            <a:r>
              <a:rPr lang="pt-BR" sz="4200" dirty="0"/>
              <a:t>Não há laços: Nenhum vértice está conectado a si mesmo.</a:t>
            </a:r>
          </a:p>
          <a:p>
            <a:r>
              <a:rPr lang="pt-BR" sz="4200" dirty="0"/>
              <a:t>Não há arestas paralelas: Cada par de vértices é conectado por apenas uma aresta.</a:t>
            </a:r>
          </a:p>
          <a:p>
            <a:r>
              <a:rPr lang="pt-BR" sz="4200" dirty="0"/>
              <a:t>Notação: Um grafo completo com n vértices é denotado por Kₙ.</a:t>
            </a:r>
          </a:p>
          <a:p>
            <a:endParaRPr lang="pt-BR" sz="2900" dirty="0"/>
          </a:p>
          <a:p>
            <a:endParaRPr lang="pt-BR" sz="2500" dirty="0"/>
          </a:p>
        </p:txBody>
      </p:sp>
      <p:sp>
        <p:nvSpPr>
          <p:cNvPr id="5" name="Espaço Reservado para Conteúdo 4">
            <a:extLst>
              <a:ext uri="{FF2B5EF4-FFF2-40B4-BE49-F238E27FC236}">
                <a16:creationId xmlns:a16="http://schemas.microsoft.com/office/drawing/2014/main" id="{7C6749D9-DED4-43D0-99DE-222E2BA6D0A9}"/>
              </a:ext>
            </a:extLst>
          </p:cNvPr>
          <p:cNvSpPr>
            <a:spLocks noGrp="1"/>
          </p:cNvSpPr>
          <p:nvPr>
            <p:ph sz="half" idx="2"/>
          </p:nvPr>
        </p:nvSpPr>
        <p:spPr>
          <a:xfrm>
            <a:off x="6095999" y="109178"/>
            <a:ext cx="5643336" cy="5307494"/>
          </a:xfrm>
        </p:spPr>
        <p:txBody>
          <a:bodyPr>
            <a:normAutofit fontScale="55000" lnSpcReduction="20000"/>
          </a:bodyPr>
          <a:lstStyle/>
          <a:p>
            <a:r>
              <a:rPr lang="pt-BR" sz="4500" dirty="0"/>
              <a:t>Propriedades dos Grafos Completos:</a:t>
            </a:r>
          </a:p>
          <a:p>
            <a:endParaRPr lang="pt-BR" sz="4500" dirty="0"/>
          </a:p>
          <a:p>
            <a:r>
              <a:rPr lang="pt-BR" sz="4500" dirty="0"/>
              <a:t>Número de arestas: Um grafo completo Kₙ possui n(n-1)/2 arestas.</a:t>
            </a:r>
          </a:p>
          <a:p>
            <a:r>
              <a:rPr lang="pt-BR" sz="4500" dirty="0"/>
              <a:t>Grau de cada vértice: Todos os vértices em Kₙ têm grau n-1.</a:t>
            </a:r>
          </a:p>
          <a:p>
            <a:r>
              <a:rPr lang="pt-BR" sz="4500" dirty="0"/>
              <a:t>Exemplos:</a:t>
            </a:r>
          </a:p>
          <a:p>
            <a:endParaRPr lang="pt-BR" sz="4500" dirty="0"/>
          </a:p>
          <a:p>
            <a:r>
              <a:rPr lang="pt-BR" sz="4500" dirty="0"/>
              <a:t>K₁: Um único vértice (um ponto isolado).</a:t>
            </a:r>
          </a:p>
          <a:p>
            <a:r>
              <a:rPr lang="pt-BR" sz="4500" dirty="0"/>
              <a:t>K₂: Uma aresta conectando dois vértices.</a:t>
            </a:r>
          </a:p>
          <a:p>
            <a:r>
              <a:rPr lang="pt-BR" sz="4500" dirty="0"/>
              <a:t>K₃: Um triângulo.</a:t>
            </a:r>
          </a:p>
          <a:p>
            <a:r>
              <a:rPr lang="pt-BR" sz="4500" dirty="0"/>
              <a:t>K₄: Um tetraedro (um triângulo com todas as diagonais).</a:t>
            </a:r>
          </a:p>
          <a:p>
            <a:endParaRPr lang="pt-BR" dirty="0"/>
          </a:p>
        </p:txBody>
      </p:sp>
      <p:pic>
        <p:nvPicPr>
          <p:cNvPr id="7" name="Imagem 6">
            <a:extLst>
              <a:ext uri="{FF2B5EF4-FFF2-40B4-BE49-F238E27FC236}">
                <a16:creationId xmlns:a16="http://schemas.microsoft.com/office/drawing/2014/main" id="{9319C2AC-1A42-4693-852E-897581E2382F}"/>
              </a:ext>
            </a:extLst>
          </p:cNvPr>
          <p:cNvPicPr>
            <a:picLocks noChangeAspect="1"/>
          </p:cNvPicPr>
          <p:nvPr/>
        </p:nvPicPr>
        <p:blipFill>
          <a:blip r:embed="rId2"/>
          <a:stretch>
            <a:fillRect/>
          </a:stretch>
        </p:blipFill>
        <p:spPr>
          <a:xfrm>
            <a:off x="6264954" y="5071730"/>
            <a:ext cx="5305425" cy="1613926"/>
          </a:xfrm>
          <a:prstGeom prst="rect">
            <a:avLst/>
          </a:prstGeom>
        </p:spPr>
      </p:pic>
    </p:spTree>
    <p:extLst>
      <p:ext uri="{BB962C8B-B14F-4D97-AF65-F5344CB8AC3E}">
        <p14:creationId xmlns:p14="http://schemas.microsoft.com/office/powerpoint/2010/main" val="40279344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5F72F-E104-4322-AF63-39010738DCB3}"/>
              </a:ext>
            </a:extLst>
          </p:cNvPr>
          <p:cNvSpPr>
            <a:spLocks noGrp="1"/>
          </p:cNvSpPr>
          <p:nvPr>
            <p:ph type="title"/>
          </p:nvPr>
        </p:nvSpPr>
        <p:spPr/>
        <p:txBody>
          <a:bodyPr>
            <a:normAutofit/>
          </a:bodyPr>
          <a:lstStyle/>
          <a:p>
            <a:r>
              <a:rPr lang="pt-BR" b="1" dirty="0"/>
              <a:t>Grafo Completo</a:t>
            </a:r>
          </a:p>
        </p:txBody>
      </p:sp>
      <p:sp>
        <p:nvSpPr>
          <p:cNvPr id="4" name="Espaço Reservado para Conteúdo 2">
            <a:extLst>
              <a:ext uri="{FF2B5EF4-FFF2-40B4-BE49-F238E27FC236}">
                <a16:creationId xmlns:a16="http://schemas.microsoft.com/office/drawing/2014/main" id="{9F3C1C1F-C99B-4A77-94F2-ADBC5913F2EB}"/>
              </a:ext>
            </a:extLst>
          </p:cNvPr>
          <p:cNvSpPr>
            <a:spLocks noGrp="1"/>
          </p:cNvSpPr>
          <p:nvPr>
            <p:ph sz="half" idx="1"/>
          </p:nvPr>
        </p:nvSpPr>
        <p:spPr>
          <a:xfrm>
            <a:off x="562850" y="1550504"/>
            <a:ext cx="5353051" cy="4536606"/>
          </a:xfrm>
        </p:spPr>
        <p:txBody>
          <a:bodyPr>
            <a:normAutofit fontScale="70000" lnSpcReduction="20000"/>
          </a:bodyPr>
          <a:lstStyle/>
          <a:p>
            <a:r>
              <a:rPr lang="pt-BR" sz="3800" dirty="0">
                <a:solidFill>
                  <a:srgbClr val="FF0000"/>
                </a:solidFill>
              </a:rPr>
              <a:t>Por que os grafos completos são importantes?</a:t>
            </a:r>
          </a:p>
          <a:p>
            <a:endParaRPr lang="pt-BR" sz="3800" dirty="0"/>
          </a:p>
          <a:p>
            <a:r>
              <a:rPr lang="pt-BR" sz="3800" dirty="0"/>
              <a:t>Aplicações: Acham aplicação em diversas áreas, como:</a:t>
            </a:r>
          </a:p>
          <a:p>
            <a:pPr lvl="1"/>
            <a:r>
              <a:rPr lang="pt-BR" sz="3400" dirty="0">
                <a:solidFill>
                  <a:srgbClr val="FF0000"/>
                </a:solidFill>
              </a:rPr>
              <a:t>Teoria dos jogos</a:t>
            </a:r>
            <a:r>
              <a:rPr lang="pt-BR" sz="3400" dirty="0"/>
              <a:t>: Representam jogos onde todos os jogadores estão conectados.</a:t>
            </a:r>
          </a:p>
          <a:p>
            <a:pPr lvl="1"/>
            <a:r>
              <a:rPr lang="pt-BR" sz="3400" dirty="0">
                <a:solidFill>
                  <a:srgbClr val="FF0000"/>
                </a:solidFill>
              </a:rPr>
              <a:t>Redes de comunicação</a:t>
            </a:r>
            <a:r>
              <a:rPr lang="pt-BR" sz="3400" dirty="0"/>
              <a:t>: Modelam redes onde todos os nós podem se comunicar diretamente.</a:t>
            </a:r>
          </a:p>
          <a:p>
            <a:pPr lvl="1"/>
            <a:r>
              <a:rPr lang="pt-BR" sz="3400" dirty="0">
                <a:solidFill>
                  <a:srgbClr val="FF0000"/>
                </a:solidFill>
              </a:rPr>
              <a:t>Problemas de otimização</a:t>
            </a:r>
            <a:r>
              <a:rPr lang="pt-BR" sz="3400" dirty="0"/>
              <a:t>: São utilizados como casos de teste para algoritmos de otimização.</a:t>
            </a:r>
            <a:endParaRPr lang="pt-BR" sz="2500" dirty="0"/>
          </a:p>
          <a:p>
            <a:endParaRPr lang="pt-BR" sz="2500" dirty="0"/>
          </a:p>
        </p:txBody>
      </p:sp>
      <p:pic>
        <p:nvPicPr>
          <p:cNvPr id="8" name="Imagem 7">
            <a:extLst>
              <a:ext uri="{FF2B5EF4-FFF2-40B4-BE49-F238E27FC236}">
                <a16:creationId xmlns:a16="http://schemas.microsoft.com/office/drawing/2014/main" id="{E578AAB4-59E9-4F3E-B8C9-4A665F2E7002}"/>
              </a:ext>
            </a:extLst>
          </p:cNvPr>
          <p:cNvPicPr>
            <a:picLocks noChangeAspect="1"/>
          </p:cNvPicPr>
          <p:nvPr/>
        </p:nvPicPr>
        <p:blipFill>
          <a:blip r:embed="rId2"/>
          <a:stretch>
            <a:fillRect/>
          </a:stretch>
        </p:blipFill>
        <p:spPr>
          <a:xfrm>
            <a:off x="6401214" y="2541104"/>
            <a:ext cx="5353050" cy="3086100"/>
          </a:xfrm>
          <a:prstGeom prst="rect">
            <a:avLst/>
          </a:prstGeom>
        </p:spPr>
      </p:pic>
    </p:spTree>
    <p:extLst>
      <p:ext uri="{BB962C8B-B14F-4D97-AF65-F5344CB8AC3E}">
        <p14:creationId xmlns:p14="http://schemas.microsoft.com/office/powerpoint/2010/main" val="723874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598282F1-1B70-4EDA-BA57-A8340A9D69BA}"/>
              </a:ext>
            </a:extLst>
          </p:cNvPr>
          <p:cNvSpPr>
            <a:spLocks noGrp="1" noChangeArrowheads="1"/>
          </p:cNvSpPr>
          <p:nvPr>
            <p:ph type="title"/>
          </p:nvPr>
        </p:nvSpPr>
        <p:spPr>
          <a:xfrm>
            <a:off x="1038225" y="484982"/>
            <a:ext cx="8785225" cy="693738"/>
          </a:xfrm>
          <a:ln>
            <a:miter lim="800000"/>
            <a:headEnd/>
            <a:tailEnd/>
          </a:ln>
        </p:spPr>
        <p:txBody>
          <a:bodyPr vert="horz" lIns="90488" tIns="44450" rIns="90488" bIns="44450" rtlCol="0" anchor="b">
            <a:normAutofit/>
          </a:bodyPr>
          <a:lstStyle/>
          <a:p>
            <a:pPr>
              <a:defRPr/>
            </a:pPr>
            <a:r>
              <a:rPr lang="pt-BR" b="1" dirty="0"/>
              <a:t> Grafos Regulares e Completos</a:t>
            </a:r>
          </a:p>
        </p:txBody>
      </p:sp>
      <p:sp>
        <p:nvSpPr>
          <p:cNvPr id="44035" name="Rectangle 3">
            <a:extLst>
              <a:ext uri="{FF2B5EF4-FFF2-40B4-BE49-F238E27FC236}">
                <a16:creationId xmlns:a16="http://schemas.microsoft.com/office/drawing/2014/main" id="{B54217CC-A593-4D31-827D-6739DA8DCDBD}"/>
              </a:ext>
            </a:extLst>
          </p:cNvPr>
          <p:cNvSpPr>
            <a:spLocks noGrp="1"/>
          </p:cNvSpPr>
          <p:nvPr>
            <p:ph idx="1"/>
          </p:nvPr>
        </p:nvSpPr>
        <p:spPr>
          <a:xfrm>
            <a:off x="1847850" y="1676400"/>
            <a:ext cx="8591550" cy="3200400"/>
          </a:xfrm>
        </p:spPr>
        <p:txBody>
          <a:bodyPr vert="horz" lIns="90488" tIns="44450" rIns="90488" bIns="44450" rtlCol="0">
            <a:normAutofit/>
          </a:bodyPr>
          <a:lstStyle/>
          <a:p>
            <a:pPr eaLnBrk="1" hangingPunct="1"/>
            <a:r>
              <a:rPr lang="pt-BR" altLang="pt-BR"/>
              <a:t>Um grafo é dito </a:t>
            </a:r>
            <a:r>
              <a:rPr lang="pt-BR" altLang="pt-BR" b="1" i="1">
                <a:solidFill>
                  <a:srgbClr val="FF0000"/>
                </a:solidFill>
              </a:rPr>
              <a:t>regular</a:t>
            </a:r>
            <a:r>
              <a:rPr lang="pt-BR" altLang="pt-BR"/>
              <a:t> se todos os seus vértices possuem o </a:t>
            </a:r>
            <a:r>
              <a:rPr lang="pt-BR" altLang="pt-BR">
                <a:solidFill>
                  <a:srgbClr val="FF0000"/>
                </a:solidFill>
              </a:rPr>
              <a:t>mesmo grau</a:t>
            </a:r>
            <a:r>
              <a:rPr lang="pt-BR" altLang="pt-BR"/>
              <a:t>.</a:t>
            </a:r>
          </a:p>
          <a:p>
            <a:pPr eaLnBrk="1" hangingPunct="1"/>
            <a:r>
              <a:rPr lang="pt-BR" altLang="pt-BR"/>
              <a:t>Um grafo é dito </a:t>
            </a:r>
            <a:r>
              <a:rPr lang="pt-BR" altLang="pt-BR" b="1" i="1">
                <a:solidFill>
                  <a:srgbClr val="FF0000"/>
                </a:solidFill>
              </a:rPr>
              <a:t>completo</a:t>
            </a:r>
            <a:r>
              <a:rPr lang="pt-BR" altLang="pt-BR"/>
              <a:t> se existe uma aresta ligando todos os pares de vértices.</a:t>
            </a:r>
          </a:p>
          <a:p>
            <a:pPr eaLnBrk="1" hangingPunct="1"/>
            <a:r>
              <a:rPr lang="pt-BR" altLang="pt-BR"/>
              <a:t>Exemplos de grafos regulares:</a:t>
            </a:r>
          </a:p>
        </p:txBody>
      </p:sp>
      <p:sp>
        <p:nvSpPr>
          <p:cNvPr id="44036" name="Oval 4">
            <a:extLst>
              <a:ext uri="{FF2B5EF4-FFF2-40B4-BE49-F238E27FC236}">
                <a16:creationId xmlns:a16="http://schemas.microsoft.com/office/drawing/2014/main" id="{D270A5EC-1739-4E59-8453-0CBE00F30364}"/>
              </a:ext>
            </a:extLst>
          </p:cNvPr>
          <p:cNvSpPr>
            <a:spLocks noChangeArrowheads="1"/>
          </p:cNvSpPr>
          <p:nvPr/>
        </p:nvSpPr>
        <p:spPr bwMode="auto">
          <a:xfrm>
            <a:off x="3206750" y="5035550"/>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4037" name="Oval 5">
            <a:extLst>
              <a:ext uri="{FF2B5EF4-FFF2-40B4-BE49-F238E27FC236}">
                <a16:creationId xmlns:a16="http://schemas.microsoft.com/office/drawing/2014/main" id="{96488D46-09AB-4BB7-A91C-F34C1DEBD80F}"/>
              </a:ext>
            </a:extLst>
          </p:cNvPr>
          <p:cNvSpPr>
            <a:spLocks noChangeArrowheads="1"/>
          </p:cNvSpPr>
          <p:nvPr/>
        </p:nvSpPr>
        <p:spPr bwMode="auto">
          <a:xfrm>
            <a:off x="3206750" y="5797550"/>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4038" name="Oval 6">
            <a:extLst>
              <a:ext uri="{FF2B5EF4-FFF2-40B4-BE49-F238E27FC236}">
                <a16:creationId xmlns:a16="http://schemas.microsoft.com/office/drawing/2014/main" id="{1404748E-9921-4206-A666-3C28486B7400}"/>
              </a:ext>
            </a:extLst>
          </p:cNvPr>
          <p:cNvSpPr>
            <a:spLocks noChangeArrowheads="1"/>
          </p:cNvSpPr>
          <p:nvPr/>
        </p:nvSpPr>
        <p:spPr bwMode="auto">
          <a:xfrm>
            <a:off x="4578350" y="5035550"/>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4039" name="Oval 7">
            <a:extLst>
              <a:ext uri="{FF2B5EF4-FFF2-40B4-BE49-F238E27FC236}">
                <a16:creationId xmlns:a16="http://schemas.microsoft.com/office/drawing/2014/main" id="{D4A20BE3-5A70-4A6E-BF76-5C007249195A}"/>
              </a:ext>
            </a:extLst>
          </p:cNvPr>
          <p:cNvSpPr>
            <a:spLocks noChangeArrowheads="1"/>
          </p:cNvSpPr>
          <p:nvPr/>
        </p:nvSpPr>
        <p:spPr bwMode="auto">
          <a:xfrm>
            <a:off x="4578350" y="5797550"/>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4040" name="Line 8">
            <a:extLst>
              <a:ext uri="{FF2B5EF4-FFF2-40B4-BE49-F238E27FC236}">
                <a16:creationId xmlns:a16="http://schemas.microsoft.com/office/drawing/2014/main" id="{B48AEA82-24AE-4587-B5A6-807CC56809CB}"/>
              </a:ext>
            </a:extLst>
          </p:cNvPr>
          <p:cNvSpPr>
            <a:spLocks noChangeShapeType="1"/>
          </p:cNvSpPr>
          <p:nvPr/>
        </p:nvSpPr>
        <p:spPr bwMode="auto">
          <a:xfrm>
            <a:off x="3276600" y="5111750"/>
            <a:ext cx="0" cy="8255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4041" name="Line 9">
            <a:extLst>
              <a:ext uri="{FF2B5EF4-FFF2-40B4-BE49-F238E27FC236}">
                <a16:creationId xmlns:a16="http://schemas.microsoft.com/office/drawing/2014/main" id="{BF2D0C1C-67B5-442D-84B9-280CEA094FC5}"/>
              </a:ext>
            </a:extLst>
          </p:cNvPr>
          <p:cNvSpPr>
            <a:spLocks noChangeShapeType="1"/>
          </p:cNvSpPr>
          <p:nvPr/>
        </p:nvSpPr>
        <p:spPr bwMode="auto">
          <a:xfrm>
            <a:off x="3282950" y="5105400"/>
            <a:ext cx="13589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4042" name="Line 10">
            <a:extLst>
              <a:ext uri="{FF2B5EF4-FFF2-40B4-BE49-F238E27FC236}">
                <a16:creationId xmlns:a16="http://schemas.microsoft.com/office/drawing/2014/main" id="{29075664-4660-40E2-AB9E-5ADA26983459}"/>
              </a:ext>
            </a:extLst>
          </p:cNvPr>
          <p:cNvSpPr>
            <a:spLocks noChangeShapeType="1"/>
          </p:cNvSpPr>
          <p:nvPr/>
        </p:nvSpPr>
        <p:spPr bwMode="auto">
          <a:xfrm>
            <a:off x="3282950" y="5867400"/>
            <a:ext cx="13589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4043" name="Line 11">
            <a:extLst>
              <a:ext uri="{FF2B5EF4-FFF2-40B4-BE49-F238E27FC236}">
                <a16:creationId xmlns:a16="http://schemas.microsoft.com/office/drawing/2014/main" id="{D2752AD5-A92D-48F4-B841-CE003C85DA9E}"/>
              </a:ext>
            </a:extLst>
          </p:cNvPr>
          <p:cNvSpPr>
            <a:spLocks noChangeShapeType="1"/>
          </p:cNvSpPr>
          <p:nvPr/>
        </p:nvSpPr>
        <p:spPr bwMode="auto">
          <a:xfrm>
            <a:off x="4648200" y="5111750"/>
            <a:ext cx="0" cy="749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4044" name="Oval 12">
            <a:extLst>
              <a:ext uri="{FF2B5EF4-FFF2-40B4-BE49-F238E27FC236}">
                <a16:creationId xmlns:a16="http://schemas.microsoft.com/office/drawing/2014/main" id="{8D6635DB-E3EE-42B0-9882-D91CD70EDDA6}"/>
              </a:ext>
            </a:extLst>
          </p:cNvPr>
          <p:cNvSpPr>
            <a:spLocks noChangeArrowheads="1"/>
          </p:cNvSpPr>
          <p:nvPr/>
        </p:nvSpPr>
        <p:spPr bwMode="auto">
          <a:xfrm>
            <a:off x="5873750" y="5035550"/>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4045" name="Oval 13">
            <a:extLst>
              <a:ext uri="{FF2B5EF4-FFF2-40B4-BE49-F238E27FC236}">
                <a16:creationId xmlns:a16="http://schemas.microsoft.com/office/drawing/2014/main" id="{FA7DEE27-82DF-443A-B4A6-B7B25A6207D4}"/>
              </a:ext>
            </a:extLst>
          </p:cNvPr>
          <p:cNvSpPr>
            <a:spLocks noChangeArrowheads="1"/>
          </p:cNvSpPr>
          <p:nvPr/>
        </p:nvSpPr>
        <p:spPr bwMode="auto">
          <a:xfrm>
            <a:off x="5873750" y="5873750"/>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4046" name="Oval 14">
            <a:extLst>
              <a:ext uri="{FF2B5EF4-FFF2-40B4-BE49-F238E27FC236}">
                <a16:creationId xmlns:a16="http://schemas.microsoft.com/office/drawing/2014/main" id="{EA9CD299-2156-4AA9-9DD0-2C968F6FD8DE}"/>
              </a:ext>
            </a:extLst>
          </p:cNvPr>
          <p:cNvSpPr>
            <a:spLocks noChangeArrowheads="1"/>
          </p:cNvSpPr>
          <p:nvPr/>
        </p:nvSpPr>
        <p:spPr bwMode="auto">
          <a:xfrm>
            <a:off x="7245350" y="5035550"/>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4047" name="Line 15">
            <a:extLst>
              <a:ext uri="{FF2B5EF4-FFF2-40B4-BE49-F238E27FC236}">
                <a16:creationId xmlns:a16="http://schemas.microsoft.com/office/drawing/2014/main" id="{0334DEFB-97EC-49AF-8C83-9F9F99365C2E}"/>
              </a:ext>
            </a:extLst>
          </p:cNvPr>
          <p:cNvSpPr>
            <a:spLocks noChangeShapeType="1"/>
          </p:cNvSpPr>
          <p:nvPr/>
        </p:nvSpPr>
        <p:spPr bwMode="auto">
          <a:xfrm>
            <a:off x="5943600" y="5111750"/>
            <a:ext cx="0" cy="8255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4048" name="Line 16">
            <a:extLst>
              <a:ext uri="{FF2B5EF4-FFF2-40B4-BE49-F238E27FC236}">
                <a16:creationId xmlns:a16="http://schemas.microsoft.com/office/drawing/2014/main" id="{F47B99E5-B675-49DD-957D-BDF10C2AD42F}"/>
              </a:ext>
            </a:extLst>
          </p:cNvPr>
          <p:cNvSpPr>
            <a:spLocks noChangeShapeType="1"/>
          </p:cNvSpPr>
          <p:nvPr/>
        </p:nvSpPr>
        <p:spPr bwMode="auto">
          <a:xfrm>
            <a:off x="5949950" y="5105400"/>
            <a:ext cx="13589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4049" name="Line 17">
            <a:extLst>
              <a:ext uri="{FF2B5EF4-FFF2-40B4-BE49-F238E27FC236}">
                <a16:creationId xmlns:a16="http://schemas.microsoft.com/office/drawing/2014/main" id="{49B10CCC-75A6-4CC7-ACE3-8751049419D5}"/>
              </a:ext>
            </a:extLst>
          </p:cNvPr>
          <p:cNvSpPr>
            <a:spLocks noChangeShapeType="1"/>
          </p:cNvSpPr>
          <p:nvPr/>
        </p:nvSpPr>
        <p:spPr bwMode="auto">
          <a:xfrm flipV="1">
            <a:off x="5949950" y="5099050"/>
            <a:ext cx="1358900" cy="850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4050" name="Oval 18">
            <a:extLst>
              <a:ext uri="{FF2B5EF4-FFF2-40B4-BE49-F238E27FC236}">
                <a16:creationId xmlns:a16="http://schemas.microsoft.com/office/drawing/2014/main" id="{30218B5B-EC97-4E0D-915C-EB0BB9FD8919}"/>
              </a:ext>
            </a:extLst>
          </p:cNvPr>
          <p:cNvSpPr>
            <a:spLocks noChangeArrowheads="1"/>
          </p:cNvSpPr>
          <p:nvPr/>
        </p:nvSpPr>
        <p:spPr bwMode="auto">
          <a:xfrm>
            <a:off x="8312150" y="5264150"/>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4051" name="Oval 19">
            <a:extLst>
              <a:ext uri="{FF2B5EF4-FFF2-40B4-BE49-F238E27FC236}">
                <a16:creationId xmlns:a16="http://schemas.microsoft.com/office/drawing/2014/main" id="{CC776241-4136-4BD3-9D4B-B2FE66A14A95}"/>
              </a:ext>
            </a:extLst>
          </p:cNvPr>
          <p:cNvSpPr>
            <a:spLocks noChangeArrowheads="1"/>
          </p:cNvSpPr>
          <p:nvPr/>
        </p:nvSpPr>
        <p:spPr bwMode="auto">
          <a:xfrm>
            <a:off x="9683750" y="5264150"/>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4052" name="Line 20">
            <a:extLst>
              <a:ext uri="{FF2B5EF4-FFF2-40B4-BE49-F238E27FC236}">
                <a16:creationId xmlns:a16="http://schemas.microsoft.com/office/drawing/2014/main" id="{570ADABD-0735-44CB-B6E7-286CAB4F8AA1}"/>
              </a:ext>
            </a:extLst>
          </p:cNvPr>
          <p:cNvSpPr>
            <a:spLocks noChangeShapeType="1"/>
          </p:cNvSpPr>
          <p:nvPr/>
        </p:nvSpPr>
        <p:spPr bwMode="auto">
          <a:xfrm>
            <a:off x="8388350" y="5334000"/>
            <a:ext cx="13589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7">
            <a:extLst>
              <a:ext uri="{FF2B5EF4-FFF2-40B4-BE49-F238E27FC236}">
                <a16:creationId xmlns:a16="http://schemas.microsoft.com/office/drawing/2014/main" id="{37805812-5601-4659-BA8C-3BDDC93027BF}"/>
              </a:ext>
            </a:extLst>
          </p:cNvPr>
          <p:cNvSpPr>
            <a:spLocks noGrp="1"/>
          </p:cNvSpPr>
          <p:nvPr>
            <p:ph type="title"/>
          </p:nvPr>
        </p:nvSpPr>
        <p:spPr>
          <a:xfrm>
            <a:off x="1774826" y="0"/>
            <a:ext cx="8435975" cy="863600"/>
          </a:xfrm>
        </p:spPr>
        <p:txBody>
          <a:bodyPr vert="horz" lIns="90488" tIns="44450" rIns="90488" bIns="44450" rtlCol="0" anchor="b">
            <a:normAutofit/>
          </a:bodyPr>
          <a:lstStyle/>
          <a:p>
            <a:pPr eaLnBrk="1" hangingPunct="1"/>
            <a:r>
              <a:rPr lang="pt-BR" altLang="pt-BR" b="1"/>
              <a:t>Grafos Regulares</a:t>
            </a:r>
          </a:p>
        </p:txBody>
      </p:sp>
      <p:sp>
        <p:nvSpPr>
          <p:cNvPr id="36866" name="Rectangle 2">
            <a:extLst>
              <a:ext uri="{FF2B5EF4-FFF2-40B4-BE49-F238E27FC236}">
                <a16:creationId xmlns:a16="http://schemas.microsoft.com/office/drawing/2014/main" id="{DFE99FE5-85A1-4F6D-8574-02DC517E07A5}"/>
              </a:ext>
            </a:extLst>
          </p:cNvPr>
          <p:cNvSpPr>
            <a:spLocks noGrp="1" noChangeArrowheads="1"/>
          </p:cNvSpPr>
          <p:nvPr>
            <p:ph idx="1"/>
          </p:nvPr>
        </p:nvSpPr>
        <p:spPr>
          <a:xfrm>
            <a:off x="967409" y="1268413"/>
            <a:ext cx="9254504" cy="1160462"/>
          </a:xfrm>
        </p:spPr>
        <p:txBody>
          <a:bodyPr rtlCol="0">
            <a:normAutofit/>
          </a:bodyPr>
          <a:lstStyle/>
          <a:p>
            <a:pPr>
              <a:defRPr/>
            </a:pPr>
            <a:r>
              <a:rPr lang="pt-BR" i="1" dirty="0"/>
              <a:t>Um grafo cujos vértices têm o </a:t>
            </a:r>
            <a:r>
              <a:rPr lang="pt-BR" i="1" dirty="0">
                <a:solidFill>
                  <a:schemeClr val="accent1">
                    <a:lumMod val="50000"/>
                  </a:schemeClr>
                </a:solidFill>
              </a:rPr>
              <a:t>mesmo</a:t>
            </a:r>
            <a:r>
              <a:rPr lang="pt-BR" i="1" dirty="0"/>
              <a:t> </a:t>
            </a:r>
            <a:r>
              <a:rPr lang="pt-BR" i="1" dirty="0">
                <a:solidFill>
                  <a:schemeClr val="accent1">
                    <a:lumMod val="50000"/>
                  </a:schemeClr>
                </a:solidFill>
              </a:rPr>
              <a:t>grau</a:t>
            </a:r>
            <a:r>
              <a:rPr lang="pt-BR" i="1" dirty="0"/>
              <a:t> é chamado de </a:t>
            </a:r>
            <a:r>
              <a:rPr lang="pt-BR" b="1" i="1" dirty="0">
                <a:solidFill>
                  <a:srgbClr val="FF0000"/>
                </a:solidFill>
              </a:rPr>
              <a:t>grafo regular</a:t>
            </a:r>
            <a:r>
              <a:rPr lang="pt-BR" i="1" dirty="0"/>
              <a:t>.</a:t>
            </a:r>
          </a:p>
          <a:p>
            <a:pPr>
              <a:defRPr/>
            </a:pPr>
            <a:endParaRPr lang="pt-BR" dirty="0"/>
          </a:p>
        </p:txBody>
      </p:sp>
      <p:sp>
        <p:nvSpPr>
          <p:cNvPr id="45060" name="Oval 3">
            <a:extLst>
              <a:ext uri="{FF2B5EF4-FFF2-40B4-BE49-F238E27FC236}">
                <a16:creationId xmlns:a16="http://schemas.microsoft.com/office/drawing/2014/main" id="{ECB5ED27-79D0-4397-893F-B447FC64B2A7}"/>
              </a:ext>
            </a:extLst>
          </p:cNvPr>
          <p:cNvSpPr>
            <a:spLocks noChangeArrowheads="1"/>
          </p:cNvSpPr>
          <p:nvPr/>
        </p:nvSpPr>
        <p:spPr bwMode="auto">
          <a:xfrm>
            <a:off x="3478213" y="2968417"/>
            <a:ext cx="139700" cy="139700"/>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61" name="Oval 4">
            <a:extLst>
              <a:ext uri="{FF2B5EF4-FFF2-40B4-BE49-F238E27FC236}">
                <a16:creationId xmlns:a16="http://schemas.microsoft.com/office/drawing/2014/main" id="{60AEBCB1-4E82-4889-80DD-8A602183A1A9}"/>
              </a:ext>
            </a:extLst>
          </p:cNvPr>
          <p:cNvSpPr>
            <a:spLocks noChangeArrowheads="1"/>
          </p:cNvSpPr>
          <p:nvPr/>
        </p:nvSpPr>
        <p:spPr bwMode="auto">
          <a:xfrm>
            <a:off x="4773613" y="2968417"/>
            <a:ext cx="139700" cy="139700"/>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62" name="Oval 5">
            <a:extLst>
              <a:ext uri="{FF2B5EF4-FFF2-40B4-BE49-F238E27FC236}">
                <a16:creationId xmlns:a16="http://schemas.microsoft.com/office/drawing/2014/main" id="{77E9F0D0-B056-4B97-8B66-67B32A905B3D}"/>
              </a:ext>
            </a:extLst>
          </p:cNvPr>
          <p:cNvSpPr>
            <a:spLocks noChangeArrowheads="1"/>
          </p:cNvSpPr>
          <p:nvPr/>
        </p:nvSpPr>
        <p:spPr bwMode="auto">
          <a:xfrm>
            <a:off x="3478213" y="4263817"/>
            <a:ext cx="139700" cy="139700"/>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63" name="Oval 6">
            <a:extLst>
              <a:ext uri="{FF2B5EF4-FFF2-40B4-BE49-F238E27FC236}">
                <a16:creationId xmlns:a16="http://schemas.microsoft.com/office/drawing/2014/main" id="{6862A11C-770B-4A26-9EA9-27BD1846A512}"/>
              </a:ext>
            </a:extLst>
          </p:cNvPr>
          <p:cNvSpPr>
            <a:spLocks noChangeArrowheads="1"/>
          </p:cNvSpPr>
          <p:nvPr/>
        </p:nvSpPr>
        <p:spPr bwMode="auto">
          <a:xfrm>
            <a:off x="4773613" y="4263817"/>
            <a:ext cx="139700" cy="139700"/>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64" name="Line 7">
            <a:extLst>
              <a:ext uri="{FF2B5EF4-FFF2-40B4-BE49-F238E27FC236}">
                <a16:creationId xmlns:a16="http://schemas.microsoft.com/office/drawing/2014/main" id="{9027F6A7-4BA3-4A3A-97CF-89EEA1D1FFE0}"/>
              </a:ext>
            </a:extLst>
          </p:cNvPr>
          <p:cNvSpPr>
            <a:spLocks noChangeShapeType="1"/>
          </p:cNvSpPr>
          <p:nvPr/>
        </p:nvSpPr>
        <p:spPr bwMode="auto">
          <a:xfrm>
            <a:off x="3548063" y="3120817"/>
            <a:ext cx="0" cy="12065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65" name="Line 8">
            <a:extLst>
              <a:ext uri="{FF2B5EF4-FFF2-40B4-BE49-F238E27FC236}">
                <a16:creationId xmlns:a16="http://schemas.microsoft.com/office/drawing/2014/main" id="{329997C2-3C5C-4185-B8F8-B4D4974E03DD}"/>
              </a:ext>
            </a:extLst>
          </p:cNvPr>
          <p:cNvSpPr>
            <a:spLocks noChangeShapeType="1"/>
          </p:cNvSpPr>
          <p:nvPr/>
        </p:nvSpPr>
        <p:spPr bwMode="auto">
          <a:xfrm>
            <a:off x="4843463" y="3120817"/>
            <a:ext cx="0" cy="12065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66" name="Line 9">
            <a:extLst>
              <a:ext uri="{FF2B5EF4-FFF2-40B4-BE49-F238E27FC236}">
                <a16:creationId xmlns:a16="http://schemas.microsoft.com/office/drawing/2014/main" id="{BB0587C6-4ED5-4F8A-901C-FE98B50130DE}"/>
              </a:ext>
            </a:extLst>
          </p:cNvPr>
          <p:cNvSpPr>
            <a:spLocks noChangeShapeType="1"/>
          </p:cNvSpPr>
          <p:nvPr/>
        </p:nvSpPr>
        <p:spPr bwMode="auto">
          <a:xfrm>
            <a:off x="3630613" y="4333667"/>
            <a:ext cx="1206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67" name="Line 10">
            <a:extLst>
              <a:ext uri="{FF2B5EF4-FFF2-40B4-BE49-F238E27FC236}">
                <a16:creationId xmlns:a16="http://schemas.microsoft.com/office/drawing/2014/main" id="{40EB1163-B8A5-4379-A534-074B18608987}"/>
              </a:ext>
            </a:extLst>
          </p:cNvPr>
          <p:cNvSpPr>
            <a:spLocks noChangeShapeType="1"/>
          </p:cNvSpPr>
          <p:nvPr/>
        </p:nvSpPr>
        <p:spPr bwMode="auto">
          <a:xfrm>
            <a:off x="3548063" y="3025567"/>
            <a:ext cx="1295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nvGrpSpPr>
          <p:cNvPr id="45068" name="Group 11">
            <a:extLst>
              <a:ext uri="{FF2B5EF4-FFF2-40B4-BE49-F238E27FC236}">
                <a16:creationId xmlns:a16="http://schemas.microsoft.com/office/drawing/2014/main" id="{A5B41FB4-ACF8-43F3-9426-C249BB3842CD}"/>
              </a:ext>
            </a:extLst>
          </p:cNvPr>
          <p:cNvGrpSpPr>
            <a:grpSpLocks/>
          </p:cNvGrpSpPr>
          <p:nvPr/>
        </p:nvGrpSpPr>
        <p:grpSpPr bwMode="auto">
          <a:xfrm>
            <a:off x="1954213" y="4187617"/>
            <a:ext cx="673100" cy="139700"/>
            <a:chOff x="288" y="2928"/>
            <a:chExt cx="424" cy="88"/>
          </a:xfrm>
        </p:grpSpPr>
        <p:sp>
          <p:nvSpPr>
            <p:cNvPr id="45105" name="Oval 12">
              <a:extLst>
                <a:ext uri="{FF2B5EF4-FFF2-40B4-BE49-F238E27FC236}">
                  <a16:creationId xmlns:a16="http://schemas.microsoft.com/office/drawing/2014/main" id="{174E06B2-8B57-4495-AC08-E95DC70808A0}"/>
                </a:ext>
              </a:extLst>
            </p:cNvPr>
            <p:cNvSpPr>
              <a:spLocks noChangeArrowheads="1"/>
            </p:cNvSpPr>
            <p:nvPr/>
          </p:nvSpPr>
          <p:spPr bwMode="auto">
            <a:xfrm>
              <a:off x="288" y="2928"/>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106" name="Oval 13">
              <a:extLst>
                <a:ext uri="{FF2B5EF4-FFF2-40B4-BE49-F238E27FC236}">
                  <a16:creationId xmlns:a16="http://schemas.microsoft.com/office/drawing/2014/main" id="{356615CA-ADC0-40FD-B918-B13C43421024}"/>
                </a:ext>
              </a:extLst>
            </p:cNvPr>
            <p:cNvSpPr>
              <a:spLocks noChangeArrowheads="1"/>
            </p:cNvSpPr>
            <p:nvPr/>
          </p:nvSpPr>
          <p:spPr bwMode="auto">
            <a:xfrm>
              <a:off x="624" y="2928"/>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107" name="Line 14">
              <a:extLst>
                <a:ext uri="{FF2B5EF4-FFF2-40B4-BE49-F238E27FC236}">
                  <a16:creationId xmlns:a16="http://schemas.microsoft.com/office/drawing/2014/main" id="{6A78C939-A1FF-4CB8-A357-9D0D403C5A95}"/>
                </a:ext>
              </a:extLst>
            </p:cNvPr>
            <p:cNvSpPr>
              <a:spLocks noChangeShapeType="1"/>
            </p:cNvSpPr>
            <p:nvPr/>
          </p:nvSpPr>
          <p:spPr bwMode="auto">
            <a:xfrm>
              <a:off x="288" y="2976"/>
              <a:ext cx="3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grpSp>
        <p:nvGrpSpPr>
          <p:cNvPr id="45069" name="Group 15">
            <a:extLst>
              <a:ext uri="{FF2B5EF4-FFF2-40B4-BE49-F238E27FC236}">
                <a16:creationId xmlns:a16="http://schemas.microsoft.com/office/drawing/2014/main" id="{DE6B3A4F-853F-4EC8-8EC3-977BDBDB31BF}"/>
              </a:ext>
            </a:extLst>
          </p:cNvPr>
          <p:cNvGrpSpPr>
            <a:grpSpLocks/>
          </p:cNvGrpSpPr>
          <p:nvPr/>
        </p:nvGrpSpPr>
        <p:grpSpPr bwMode="auto">
          <a:xfrm>
            <a:off x="7821613" y="2587417"/>
            <a:ext cx="1435100" cy="2044700"/>
            <a:chOff x="4320" y="1776"/>
            <a:chExt cx="904" cy="1288"/>
          </a:xfrm>
        </p:grpSpPr>
        <p:sp>
          <p:nvSpPr>
            <p:cNvPr id="45090" name="Oval 16">
              <a:extLst>
                <a:ext uri="{FF2B5EF4-FFF2-40B4-BE49-F238E27FC236}">
                  <a16:creationId xmlns:a16="http://schemas.microsoft.com/office/drawing/2014/main" id="{DC3014A6-A5A4-4925-8C12-05737725DBC8}"/>
                </a:ext>
              </a:extLst>
            </p:cNvPr>
            <p:cNvSpPr>
              <a:spLocks noChangeArrowheads="1"/>
            </p:cNvSpPr>
            <p:nvPr/>
          </p:nvSpPr>
          <p:spPr bwMode="auto">
            <a:xfrm>
              <a:off x="4320" y="2160"/>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91" name="Oval 17">
              <a:extLst>
                <a:ext uri="{FF2B5EF4-FFF2-40B4-BE49-F238E27FC236}">
                  <a16:creationId xmlns:a16="http://schemas.microsoft.com/office/drawing/2014/main" id="{87C92FD8-CC84-4478-85B0-4C7EAB339C78}"/>
                </a:ext>
              </a:extLst>
            </p:cNvPr>
            <p:cNvSpPr>
              <a:spLocks noChangeArrowheads="1"/>
            </p:cNvSpPr>
            <p:nvPr/>
          </p:nvSpPr>
          <p:spPr bwMode="auto">
            <a:xfrm>
              <a:off x="5136" y="2160"/>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92" name="Oval 18">
              <a:extLst>
                <a:ext uri="{FF2B5EF4-FFF2-40B4-BE49-F238E27FC236}">
                  <a16:creationId xmlns:a16="http://schemas.microsoft.com/office/drawing/2014/main" id="{E313925B-C437-4D7C-9E7A-53DDAFD4FF8C}"/>
                </a:ext>
              </a:extLst>
            </p:cNvPr>
            <p:cNvSpPr>
              <a:spLocks noChangeArrowheads="1"/>
            </p:cNvSpPr>
            <p:nvPr/>
          </p:nvSpPr>
          <p:spPr bwMode="auto">
            <a:xfrm>
              <a:off x="4320" y="2976"/>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93" name="Oval 19">
              <a:extLst>
                <a:ext uri="{FF2B5EF4-FFF2-40B4-BE49-F238E27FC236}">
                  <a16:creationId xmlns:a16="http://schemas.microsoft.com/office/drawing/2014/main" id="{E9A1E7EE-D82F-41D4-BD9A-0CFC3AB0329F}"/>
                </a:ext>
              </a:extLst>
            </p:cNvPr>
            <p:cNvSpPr>
              <a:spLocks noChangeArrowheads="1"/>
            </p:cNvSpPr>
            <p:nvPr/>
          </p:nvSpPr>
          <p:spPr bwMode="auto">
            <a:xfrm>
              <a:off x="5136" y="2976"/>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94" name="Line 20">
              <a:extLst>
                <a:ext uri="{FF2B5EF4-FFF2-40B4-BE49-F238E27FC236}">
                  <a16:creationId xmlns:a16="http://schemas.microsoft.com/office/drawing/2014/main" id="{85A7A0F2-59C6-45DB-BB00-6160E411AF5C}"/>
                </a:ext>
              </a:extLst>
            </p:cNvPr>
            <p:cNvSpPr>
              <a:spLocks noChangeShapeType="1"/>
            </p:cNvSpPr>
            <p:nvPr/>
          </p:nvSpPr>
          <p:spPr bwMode="auto">
            <a:xfrm>
              <a:off x="4364" y="2256"/>
              <a:ext cx="0" cy="7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95" name="Line 21">
              <a:extLst>
                <a:ext uri="{FF2B5EF4-FFF2-40B4-BE49-F238E27FC236}">
                  <a16:creationId xmlns:a16="http://schemas.microsoft.com/office/drawing/2014/main" id="{69754001-12D0-4591-AFF8-86A3D718C9D4}"/>
                </a:ext>
              </a:extLst>
            </p:cNvPr>
            <p:cNvSpPr>
              <a:spLocks noChangeShapeType="1"/>
            </p:cNvSpPr>
            <p:nvPr/>
          </p:nvSpPr>
          <p:spPr bwMode="auto">
            <a:xfrm>
              <a:off x="5180" y="2256"/>
              <a:ext cx="0" cy="7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96" name="Line 22">
              <a:extLst>
                <a:ext uri="{FF2B5EF4-FFF2-40B4-BE49-F238E27FC236}">
                  <a16:creationId xmlns:a16="http://schemas.microsoft.com/office/drawing/2014/main" id="{BD1903C5-5524-4C10-BBA4-1B5A67D434C8}"/>
                </a:ext>
              </a:extLst>
            </p:cNvPr>
            <p:cNvSpPr>
              <a:spLocks noChangeShapeType="1"/>
            </p:cNvSpPr>
            <p:nvPr/>
          </p:nvSpPr>
          <p:spPr bwMode="auto">
            <a:xfrm>
              <a:off x="4416" y="3020"/>
              <a:ext cx="76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97" name="Line 23">
              <a:extLst>
                <a:ext uri="{FF2B5EF4-FFF2-40B4-BE49-F238E27FC236}">
                  <a16:creationId xmlns:a16="http://schemas.microsoft.com/office/drawing/2014/main" id="{424AEA85-7733-484F-A121-B4880046DACD}"/>
                </a:ext>
              </a:extLst>
            </p:cNvPr>
            <p:cNvSpPr>
              <a:spLocks noChangeShapeType="1"/>
            </p:cNvSpPr>
            <p:nvPr/>
          </p:nvSpPr>
          <p:spPr bwMode="auto">
            <a:xfrm>
              <a:off x="4364" y="2196"/>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98" name="Line 24">
              <a:extLst>
                <a:ext uri="{FF2B5EF4-FFF2-40B4-BE49-F238E27FC236}">
                  <a16:creationId xmlns:a16="http://schemas.microsoft.com/office/drawing/2014/main" id="{3C8A8E2C-566C-499A-8882-7FEB975DC4CC}"/>
                </a:ext>
              </a:extLst>
            </p:cNvPr>
            <p:cNvSpPr>
              <a:spLocks noChangeShapeType="1"/>
            </p:cNvSpPr>
            <p:nvPr/>
          </p:nvSpPr>
          <p:spPr bwMode="auto">
            <a:xfrm flipH="1">
              <a:off x="4364" y="2160"/>
              <a:ext cx="816" cy="8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99" name="Line 25">
              <a:extLst>
                <a:ext uri="{FF2B5EF4-FFF2-40B4-BE49-F238E27FC236}">
                  <a16:creationId xmlns:a16="http://schemas.microsoft.com/office/drawing/2014/main" id="{DB61EBA6-5F77-474A-8161-BADF45A0DECB}"/>
                </a:ext>
              </a:extLst>
            </p:cNvPr>
            <p:cNvSpPr>
              <a:spLocks noChangeShapeType="1"/>
            </p:cNvSpPr>
            <p:nvPr/>
          </p:nvSpPr>
          <p:spPr bwMode="auto">
            <a:xfrm>
              <a:off x="4364" y="2160"/>
              <a:ext cx="768"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100" name="Oval 26">
              <a:extLst>
                <a:ext uri="{FF2B5EF4-FFF2-40B4-BE49-F238E27FC236}">
                  <a16:creationId xmlns:a16="http://schemas.microsoft.com/office/drawing/2014/main" id="{40E5E5B0-D132-4ED9-B265-E982F7ABFE97}"/>
                </a:ext>
              </a:extLst>
            </p:cNvPr>
            <p:cNvSpPr>
              <a:spLocks noChangeArrowheads="1"/>
            </p:cNvSpPr>
            <p:nvPr/>
          </p:nvSpPr>
          <p:spPr bwMode="auto">
            <a:xfrm>
              <a:off x="4704" y="1776"/>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101" name="Line 27">
              <a:extLst>
                <a:ext uri="{FF2B5EF4-FFF2-40B4-BE49-F238E27FC236}">
                  <a16:creationId xmlns:a16="http://schemas.microsoft.com/office/drawing/2014/main" id="{E4633909-861A-4047-AC62-5FD124E57EA8}"/>
                </a:ext>
              </a:extLst>
            </p:cNvPr>
            <p:cNvSpPr>
              <a:spLocks noChangeShapeType="1"/>
            </p:cNvSpPr>
            <p:nvPr/>
          </p:nvSpPr>
          <p:spPr bwMode="auto">
            <a:xfrm flipV="1">
              <a:off x="4368" y="1824"/>
              <a:ext cx="384"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102" name="Line 28">
              <a:extLst>
                <a:ext uri="{FF2B5EF4-FFF2-40B4-BE49-F238E27FC236}">
                  <a16:creationId xmlns:a16="http://schemas.microsoft.com/office/drawing/2014/main" id="{A7273121-937E-45B0-8B18-B72FA8740391}"/>
                </a:ext>
              </a:extLst>
            </p:cNvPr>
            <p:cNvSpPr>
              <a:spLocks noChangeShapeType="1"/>
            </p:cNvSpPr>
            <p:nvPr/>
          </p:nvSpPr>
          <p:spPr bwMode="auto">
            <a:xfrm>
              <a:off x="4752" y="1824"/>
              <a:ext cx="384"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103" name="Line 29">
              <a:extLst>
                <a:ext uri="{FF2B5EF4-FFF2-40B4-BE49-F238E27FC236}">
                  <a16:creationId xmlns:a16="http://schemas.microsoft.com/office/drawing/2014/main" id="{B4ADB14C-A905-479D-B529-7A8CED9C99BF}"/>
                </a:ext>
              </a:extLst>
            </p:cNvPr>
            <p:cNvSpPr>
              <a:spLocks noChangeShapeType="1"/>
            </p:cNvSpPr>
            <p:nvPr/>
          </p:nvSpPr>
          <p:spPr bwMode="auto">
            <a:xfrm flipH="1">
              <a:off x="4416" y="1824"/>
              <a:ext cx="336" cy="11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104" name="Line 30">
              <a:extLst>
                <a:ext uri="{FF2B5EF4-FFF2-40B4-BE49-F238E27FC236}">
                  <a16:creationId xmlns:a16="http://schemas.microsoft.com/office/drawing/2014/main" id="{51EC1B9E-9F4A-4AFF-A788-B7CB3FA31615}"/>
                </a:ext>
              </a:extLst>
            </p:cNvPr>
            <p:cNvSpPr>
              <a:spLocks noChangeShapeType="1"/>
            </p:cNvSpPr>
            <p:nvPr/>
          </p:nvSpPr>
          <p:spPr bwMode="auto">
            <a:xfrm>
              <a:off x="4752" y="1824"/>
              <a:ext cx="432" cy="1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grpSp>
        <p:nvGrpSpPr>
          <p:cNvPr id="45070" name="Group 31">
            <a:extLst>
              <a:ext uri="{FF2B5EF4-FFF2-40B4-BE49-F238E27FC236}">
                <a16:creationId xmlns:a16="http://schemas.microsoft.com/office/drawing/2014/main" id="{23C94137-59C1-4C3B-B3EA-17A088CB60CB}"/>
              </a:ext>
            </a:extLst>
          </p:cNvPr>
          <p:cNvGrpSpPr>
            <a:grpSpLocks/>
          </p:cNvGrpSpPr>
          <p:nvPr/>
        </p:nvGrpSpPr>
        <p:grpSpPr bwMode="auto">
          <a:xfrm>
            <a:off x="5611813" y="2435017"/>
            <a:ext cx="1435100" cy="2578100"/>
            <a:chOff x="3120" y="1824"/>
            <a:chExt cx="904" cy="1624"/>
          </a:xfrm>
        </p:grpSpPr>
        <p:sp>
          <p:nvSpPr>
            <p:cNvPr id="45075" name="Oval 32">
              <a:extLst>
                <a:ext uri="{FF2B5EF4-FFF2-40B4-BE49-F238E27FC236}">
                  <a16:creationId xmlns:a16="http://schemas.microsoft.com/office/drawing/2014/main" id="{BE5B8CCD-2FCE-46A3-9DE2-07CFD8BD6EC5}"/>
                </a:ext>
              </a:extLst>
            </p:cNvPr>
            <p:cNvSpPr>
              <a:spLocks noChangeArrowheads="1"/>
            </p:cNvSpPr>
            <p:nvPr/>
          </p:nvSpPr>
          <p:spPr bwMode="auto">
            <a:xfrm>
              <a:off x="3120" y="2208"/>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76" name="Oval 33">
              <a:extLst>
                <a:ext uri="{FF2B5EF4-FFF2-40B4-BE49-F238E27FC236}">
                  <a16:creationId xmlns:a16="http://schemas.microsoft.com/office/drawing/2014/main" id="{9EC35DD5-37EA-4CEB-BA76-B97A285D4C54}"/>
                </a:ext>
              </a:extLst>
            </p:cNvPr>
            <p:cNvSpPr>
              <a:spLocks noChangeArrowheads="1"/>
            </p:cNvSpPr>
            <p:nvPr/>
          </p:nvSpPr>
          <p:spPr bwMode="auto">
            <a:xfrm>
              <a:off x="3936" y="2208"/>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77" name="Oval 34">
              <a:extLst>
                <a:ext uri="{FF2B5EF4-FFF2-40B4-BE49-F238E27FC236}">
                  <a16:creationId xmlns:a16="http://schemas.microsoft.com/office/drawing/2014/main" id="{2707C23E-19CB-4371-BCF5-E037525F611D}"/>
                </a:ext>
              </a:extLst>
            </p:cNvPr>
            <p:cNvSpPr>
              <a:spLocks noChangeArrowheads="1"/>
            </p:cNvSpPr>
            <p:nvPr/>
          </p:nvSpPr>
          <p:spPr bwMode="auto">
            <a:xfrm>
              <a:off x="3120" y="3024"/>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78" name="Oval 35">
              <a:extLst>
                <a:ext uri="{FF2B5EF4-FFF2-40B4-BE49-F238E27FC236}">
                  <a16:creationId xmlns:a16="http://schemas.microsoft.com/office/drawing/2014/main" id="{D70C0185-AA5E-46BC-A33F-A4EBB238A400}"/>
                </a:ext>
              </a:extLst>
            </p:cNvPr>
            <p:cNvSpPr>
              <a:spLocks noChangeArrowheads="1"/>
            </p:cNvSpPr>
            <p:nvPr/>
          </p:nvSpPr>
          <p:spPr bwMode="auto">
            <a:xfrm>
              <a:off x="3936" y="3024"/>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79" name="Line 36">
              <a:extLst>
                <a:ext uri="{FF2B5EF4-FFF2-40B4-BE49-F238E27FC236}">
                  <a16:creationId xmlns:a16="http://schemas.microsoft.com/office/drawing/2014/main" id="{D4E759C1-E71F-4B25-852A-953A8141D857}"/>
                </a:ext>
              </a:extLst>
            </p:cNvPr>
            <p:cNvSpPr>
              <a:spLocks noChangeShapeType="1"/>
            </p:cNvSpPr>
            <p:nvPr/>
          </p:nvSpPr>
          <p:spPr bwMode="auto">
            <a:xfrm>
              <a:off x="3164" y="2304"/>
              <a:ext cx="0" cy="7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80" name="Line 37">
              <a:extLst>
                <a:ext uri="{FF2B5EF4-FFF2-40B4-BE49-F238E27FC236}">
                  <a16:creationId xmlns:a16="http://schemas.microsoft.com/office/drawing/2014/main" id="{56E3A91D-E796-4725-B285-F43C15AC6D85}"/>
                </a:ext>
              </a:extLst>
            </p:cNvPr>
            <p:cNvSpPr>
              <a:spLocks noChangeShapeType="1"/>
            </p:cNvSpPr>
            <p:nvPr/>
          </p:nvSpPr>
          <p:spPr bwMode="auto">
            <a:xfrm>
              <a:off x="3980" y="2304"/>
              <a:ext cx="0" cy="7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81" name="Line 38">
              <a:extLst>
                <a:ext uri="{FF2B5EF4-FFF2-40B4-BE49-F238E27FC236}">
                  <a16:creationId xmlns:a16="http://schemas.microsoft.com/office/drawing/2014/main" id="{21246E0A-20E0-44A9-8E12-CFD48F115572}"/>
                </a:ext>
              </a:extLst>
            </p:cNvPr>
            <p:cNvSpPr>
              <a:spLocks noChangeShapeType="1"/>
            </p:cNvSpPr>
            <p:nvPr/>
          </p:nvSpPr>
          <p:spPr bwMode="auto">
            <a:xfrm flipH="1">
              <a:off x="3168" y="2208"/>
              <a:ext cx="812" cy="8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82" name="Line 39">
              <a:extLst>
                <a:ext uri="{FF2B5EF4-FFF2-40B4-BE49-F238E27FC236}">
                  <a16:creationId xmlns:a16="http://schemas.microsoft.com/office/drawing/2014/main" id="{3CCD9F6E-FBD5-445F-A43F-F2871FB9A226}"/>
                </a:ext>
              </a:extLst>
            </p:cNvPr>
            <p:cNvSpPr>
              <a:spLocks noChangeShapeType="1"/>
            </p:cNvSpPr>
            <p:nvPr/>
          </p:nvSpPr>
          <p:spPr bwMode="auto">
            <a:xfrm>
              <a:off x="3164" y="2208"/>
              <a:ext cx="768"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83" name="Oval 40">
              <a:extLst>
                <a:ext uri="{FF2B5EF4-FFF2-40B4-BE49-F238E27FC236}">
                  <a16:creationId xmlns:a16="http://schemas.microsoft.com/office/drawing/2014/main" id="{7DE243F0-046D-4F28-88EB-96EDBAD81324}"/>
                </a:ext>
              </a:extLst>
            </p:cNvPr>
            <p:cNvSpPr>
              <a:spLocks noChangeArrowheads="1"/>
            </p:cNvSpPr>
            <p:nvPr/>
          </p:nvSpPr>
          <p:spPr bwMode="auto">
            <a:xfrm>
              <a:off x="3504" y="1824"/>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84" name="Line 41">
              <a:extLst>
                <a:ext uri="{FF2B5EF4-FFF2-40B4-BE49-F238E27FC236}">
                  <a16:creationId xmlns:a16="http://schemas.microsoft.com/office/drawing/2014/main" id="{D16F6F50-AA3D-4406-AF3D-92E22D52567C}"/>
                </a:ext>
              </a:extLst>
            </p:cNvPr>
            <p:cNvSpPr>
              <a:spLocks noChangeShapeType="1"/>
            </p:cNvSpPr>
            <p:nvPr/>
          </p:nvSpPr>
          <p:spPr bwMode="auto">
            <a:xfrm flipV="1">
              <a:off x="3168" y="1872"/>
              <a:ext cx="384"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85" name="Line 42">
              <a:extLst>
                <a:ext uri="{FF2B5EF4-FFF2-40B4-BE49-F238E27FC236}">
                  <a16:creationId xmlns:a16="http://schemas.microsoft.com/office/drawing/2014/main" id="{B07CE4D7-AF77-4A8C-87F8-678E5A1C8B8D}"/>
                </a:ext>
              </a:extLst>
            </p:cNvPr>
            <p:cNvSpPr>
              <a:spLocks noChangeShapeType="1"/>
            </p:cNvSpPr>
            <p:nvPr/>
          </p:nvSpPr>
          <p:spPr bwMode="auto">
            <a:xfrm>
              <a:off x="3552" y="1872"/>
              <a:ext cx="384"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86" name="Oval 43">
              <a:extLst>
                <a:ext uri="{FF2B5EF4-FFF2-40B4-BE49-F238E27FC236}">
                  <a16:creationId xmlns:a16="http://schemas.microsoft.com/office/drawing/2014/main" id="{8BDA91E0-875D-4A99-BEA7-9D281BE62E03}"/>
                </a:ext>
              </a:extLst>
            </p:cNvPr>
            <p:cNvSpPr>
              <a:spLocks noChangeArrowheads="1"/>
            </p:cNvSpPr>
            <p:nvPr/>
          </p:nvSpPr>
          <p:spPr bwMode="auto">
            <a:xfrm>
              <a:off x="3552" y="3360"/>
              <a:ext cx="88" cy="88"/>
            </a:xfrm>
            <a:prstGeom prst="ellipse">
              <a:avLst/>
            </a:prstGeom>
            <a:solidFill>
              <a:schemeClr val="tx2"/>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5087" name="Line 44">
              <a:extLst>
                <a:ext uri="{FF2B5EF4-FFF2-40B4-BE49-F238E27FC236}">
                  <a16:creationId xmlns:a16="http://schemas.microsoft.com/office/drawing/2014/main" id="{5F03DB49-17FF-43DE-AF0A-1B9FD3E2C6F1}"/>
                </a:ext>
              </a:extLst>
            </p:cNvPr>
            <p:cNvSpPr>
              <a:spLocks noChangeShapeType="1"/>
            </p:cNvSpPr>
            <p:nvPr/>
          </p:nvSpPr>
          <p:spPr bwMode="auto">
            <a:xfrm flipV="1">
              <a:off x="3600" y="3072"/>
              <a:ext cx="384"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88" name="Line 45">
              <a:extLst>
                <a:ext uri="{FF2B5EF4-FFF2-40B4-BE49-F238E27FC236}">
                  <a16:creationId xmlns:a16="http://schemas.microsoft.com/office/drawing/2014/main" id="{47EBF838-D9DE-4CCF-B302-167B3EFCA5D7}"/>
                </a:ext>
              </a:extLst>
            </p:cNvPr>
            <p:cNvSpPr>
              <a:spLocks noChangeShapeType="1"/>
            </p:cNvSpPr>
            <p:nvPr/>
          </p:nvSpPr>
          <p:spPr bwMode="auto">
            <a:xfrm flipH="1" flipV="1">
              <a:off x="3168" y="3072"/>
              <a:ext cx="432"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5089" name="Line 46">
              <a:extLst>
                <a:ext uri="{FF2B5EF4-FFF2-40B4-BE49-F238E27FC236}">
                  <a16:creationId xmlns:a16="http://schemas.microsoft.com/office/drawing/2014/main" id="{C6FDD4D8-1337-4F56-BD84-D9F3E5F60BBE}"/>
                </a:ext>
              </a:extLst>
            </p:cNvPr>
            <p:cNvSpPr>
              <a:spLocks noChangeShapeType="1"/>
            </p:cNvSpPr>
            <p:nvPr/>
          </p:nvSpPr>
          <p:spPr bwMode="auto">
            <a:xfrm>
              <a:off x="3552" y="1872"/>
              <a:ext cx="48" cy="15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sp>
        <p:nvSpPr>
          <p:cNvPr id="45071" name="Text Box 48">
            <a:extLst>
              <a:ext uri="{FF2B5EF4-FFF2-40B4-BE49-F238E27FC236}">
                <a16:creationId xmlns:a16="http://schemas.microsoft.com/office/drawing/2014/main" id="{E1D7C39E-C138-448C-B19C-8B89D45A465E}"/>
              </a:ext>
            </a:extLst>
          </p:cNvPr>
          <p:cNvSpPr txBox="1">
            <a:spLocks noChangeArrowheads="1"/>
          </p:cNvSpPr>
          <p:nvPr/>
        </p:nvSpPr>
        <p:spPr bwMode="auto">
          <a:xfrm>
            <a:off x="1774826" y="5235368"/>
            <a:ext cx="1008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pt-BR" altLang="pt-BR" sz="2000" b="1">
                <a:solidFill>
                  <a:srgbClr val="FF0000"/>
                </a:solidFill>
                <a:latin typeface="Arial" panose="020B0604020202020204" pitchFamily="34" charset="0"/>
              </a:rPr>
              <a:t>Grau 1</a:t>
            </a:r>
          </a:p>
        </p:txBody>
      </p:sp>
      <p:sp>
        <p:nvSpPr>
          <p:cNvPr id="45072" name="Text Box 49">
            <a:extLst>
              <a:ext uri="{FF2B5EF4-FFF2-40B4-BE49-F238E27FC236}">
                <a16:creationId xmlns:a16="http://schemas.microsoft.com/office/drawing/2014/main" id="{8B8416EC-DDF7-4988-84D2-86873A7FEE05}"/>
              </a:ext>
            </a:extLst>
          </p:cNvPr>
          <p:cNvSpPr txBox="1">
            <a:spLocks noChangeArrowheads="1"/>
          </p:cNvSpPr>
          <p:nvPr/>
        </p:nvSpPr>
        <p:spPr bwMode="auto">
          <a:xfrm>
            <a:off x="3717926" y="5235368"/>
            <a:ext cx="1008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pt-BR" altLang="pt-BR" sz="2000" b="1">
                <a:solidFill>
                  <a:srgbClr val="FF0000"/>
                </a:solidFill>
                <a:latin typeface="Arial" panose="020B0604020202020204" pitchFamily="34" charset="0"/>
              </a:rPr>
              <a:t>Grau 2</a:t>
            </a:r>
          </a:p>
        </p:txBody>
      </p:sp>
      <p:sp>
        <p:nvSpPr>
          <p:cNvPr id="45073" name="Text Box 50">
            <a:extLst>
              <a:ext uri="{FF2B5EF4-FFF2-40B4-BE49-F238E27FC236}">
                <a16:creationId xmlns:a16="http://schemas.microsoft.com/office/drawing/2014/main" id="{96E12532-2685-4CE8-80CD-B34F9DF6B069}"/>
              </a:ext>
            </a:extLst>
          </p:cNvPr>
          <p:cNvSpPr txBox="1">
            <a:spLocks noChangeArrowheads="1"/>
          </p:cNvSpPr>
          <p:nvPr/>
        </p:nvSpPr>
        <p:spPr bwMode="auto">
          <a:xfrm>
            <a:off x="5807076" y="5235368"/>
            <a:ext cx="1008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pt-BR" altLang="pt-BR" sz="2000" b="1">
                <a:solidFill>
                  <a:srgbClr val="FF0000"/>
                </a:solidFill>
                <a:latin typeface="Arial" panose="020B0604020202020204" pitchFamily="34" charset="0"/>
              </a:rPr>
              <a:t>Grau 3</a:t>
            </a:r>
          </a:p>
        </p:txBody>
      </p:sp>
      <p:sp>
        <p:nvSpPr>
          <p:cNvPr id="45074" name="Text Box 51">
            <a:extLst>
              <a:ext uri="{FF2B5EF4-FFF2-40B4-BE49-F238E27FC236}">
                <a16:creationId xmlns:a16="http://schemas.microsoft.com/office/drawing/2014/main" id="{631132CC-4546-45ED-86C0-4E2475B27FF9}"/>
              </a:ext>
            </a:extLst>
          </p:cNvPr>
          <p:cNvSpPr txBox="1">
            <a:spLocks noChangeArrowheads="1"/>
          </p:cNvSpPr>
          <p:nvPr/>
        </p:nvSpPr>
        <p:spPr bwMode="auto">
          <a:xfrm>
            <a:off x="8039101" y="5163931"/>
            <a:ext cx="1008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pt-BR" altLang="pt-BR" sz="2000" b="1">
                <a:solidFill>
                  <a:srgbClr val="FF0000"/>
                </a:solidFill>
                <a:latin typeface="Arial" panose="020B0604020202020204" pitchFamily="34" charset="0"/>
              </a:rPr>
              <a:t>Grau 4</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a:extLst>
              <a:ext uri="{FF2B5EF4-FFF2-40B4-BE49-F238E27FC236}">
                <a16:creationId xmlns:a16="http://schemas.microsoft.com/office/drawing/2014/main" id="{80F1AC95-3CAD-4846-A37B-5838A61E0DB5}"/>
              </a:ext>
            </a:extLst>
          </p:cNvPr>
          <p:cNvSpPr>
            <a:spLocks noGrp="1"/>
          </p:cNvSpPr>
          <p:nvPr>
            <p:ph type="title"/>
          </p:nvPr>
        </p:nvSpPr>
        <p:spPr>
          <a:xfrm>
            <a:off x="1524001" y="0"/>
            <a:ext cx="8435975" cy="863600"/>
          </a:xfrm>
        </p:spPr>
        <p:txBody>
          <a:bodyPr vert="horz" lIns="90488" tIns="44450" rIns="90488" bIns="44450" rtlCol="0" anchor="b">
            <a:normAutofit/>
          </a:bodyPr>
          <a:lstStyle/>
          <a:p>
            <a:pPr eaLnBrk="1" hangingPunct="1"/>
            <a:r>
              <a:rPr lang="pt-BR" altLang="pt-BR" b="1" dirty="0" err="1"/>
              <a:t>Subgrafo</a:t>
            </a:r>
            <a:endParaRPr lang="pt-BR" altLang="pt-BR" b="1" dirty="0"/>
          </a:p>
        </p:txBody>
      </p:sp>
      <p:sp>
        <p:nvSpPr>
          <p:cNvPr id="33795" name="Rectangle 3">
            <a:extLst>
              <a:ext uri="{FF2B5EF4-FFF2-40B4-BE49-F238E27FC236}">
                <a16:creationId xmlns:a16="http://schemas.microsoft.com/office/drawing/2014/main" id="{1BC717AB-85D7-4DCF-AAF1-C65EC6F84BCD}"/>
              </a:ext>
            </a:extLst>
          </p:cNvPr>
          <p:cNvSpPr>
            <a:spLocks noGrp="1"/>
          </p:cNvSpPr>
          <p:nvPr>
            <p:ph idx="1"/>
          </p:nvPr>
        </p:nvSpPr>
        <p:spPr>
          <a:xfrm>
            <a:off x="717552" y="1383507"/>
            <a:ext cx="4687887" cy="5256213"/>
          </a:xfrm>
        </p:spPr>
        <p:txBody>
          <a:bodyPr vert="horz" lIns="90488" tIns="44450" rIns="90488" bIns="44450" rtlCol="0">
            <a:normAutofit/>
          </a:bodyPr>
          <a:lstStyle/>
          <a:p>
            <a:pPr eaLnBrk="1" hangingPunct="1"/>
            <a:r>
              <a:rPr lang="pt-BR" altLang="pt-BR" sz="2600" i="1" dirty="0"/>
              <a:t>Um </a:t>
            </a:r>
            <a:r>
              <a:rPr lang="pt-BR" altLang="pt-BR" sz="2600" b="1" dirty="0" err="1">
                <a:solidFill>
                  <a:srgbClr val="FF0000"/>
                </a:solidFill>
              </a:rPr>
              <a:t>subgrafo</a:t>
            </a:r>
            <a:r>
              <a:rPr lang="pt-BR" altLang="pt-BR" sz="2600" dirty="0"/>
              <a:t> </a:t>
            </a:r>
            <a:r>
              <a:rPr lang="pt-BR" altLang="pt-BR" sz="2600" i="1" dirty="0"/>
              <a:t>de um grafo consiste em um conjunto de vértices e um conjunto de arestas que são subconjuntos de vértices e arestas originais, nos quais os extremos de qualquer aresta são os mesmos que no grafo original.</a:t>
            </a:r>
          </a:p>
        </p:txBody>
      </p:sp>
      <p:sp>
        <p:nvSpPr>
          <p:cNvPr id="33796" name="Oval 7">
            <a:extLst>
              <a:ext uri="{FF2B5EF4-FFF2-40B4-BE49-F238E27FC236}">
                <a16:creationId xmlns:a16="http://schemas.microsoft.com/office/drawing/2014/main" id="{52614017-C450-4F03-83FC-11240A66A675}"/>
              </a:ext>
            </a:extLst>
          </p:cNvPr>
          <p:cNvSpPr>
            <a:spLocks noChangeArrowheads="1"/>
          </p:cNvSpPr>
          <p:nvPr/>
        </p:nvSpPr>
        <p:spPr bwMode="auto">
          <a:xfrm>
            <a:off x="9847263" y="1917700"/>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797" name="Oval 8">
            <a:extLst>
              <a:ext uri="{FF2B5EF4-FFF2-40B4-BE49-F238E27FC236}">
                <a16:creationId xmlns:a16="http://schemas.microsoft.com/office/drawing/2014/main" id="{6E7510CA-6219-441F-B557-5C04837D7D91}"/>
              </a:ext>
            </a:extLst>
          </p:cNvPr>
          <p:cNvSpPr>
            <a:spLocks noChangeArrowheads="1"/>
          </p:cNvSpPr>
          <p:nvPr/>
        </p:nvSpPr>
        <p:spPr bwMode="auto">
          <a:xfrm>
            <a:off x="6462713" y="1128713"/>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798" name="Oval 9">
            <a:extLst>
              <a:ext uri="{FF2B5EF4-FFF2-40B4-BE49-F238E27FC236}">
                <a16:creationId xmlns:a16="http://schemas.microsoft.com/office/drawing/2014/main" id="{CEE522C4-810F-49F6-AD3D-895B6F0D8FAA}"/>
              </a:ext>
            </a:extLst>
          </p:cNvPr>
          <p:cNvSpPr>
            <a:spLocks noChangeArrowheads="1"/>
          </p:cNvSpPr>
          <p:nvPr/>
        </p:nvSpPr>
        <p:spPr bwMode="auto">
          <a:xfrm>
            <a:off x="7300913" y="2271713"/>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799" name="Oval 10">
            <a:extLst>
              <a:ext uri="{FF2B5EF4-FFF2-40B4-BE49-F238E27FC236}">
                <a16:creationId xmlns:a16="http://schemas.microsoft.com/office/drawing/2014/main" id="{27B93F5B-70F9-45C3-80F7-68B9FDC1D587}"/>
              </a:ext>
            </a:extLst>
          </p:cNvPr>
          <p:cNvSpPr>
            <a:spLocks noChangeArrowheads="1"/>
          </p:cNvSpPr>
          <p:nvPr/>
        </p:nvSpPr>
        <p:spPr bwMode="auto">
          <a:xfrm>
            <a:off x="8748713" y="2271713"/>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800" name="Oval 11">
            <a:extLst>
              <a:ext uri="{FF2B5EF4-FFF2-40B4-BE49-F238E27FC236}">
                <a16:creationId xmlns:a16="http://schemas.microsoft.com/office/drawing/2014/main" id="{DDE491F0-2E2D-41FE-BE19-5D99CA7FD27F}"/>
              </a:ext>
            </a:extLst>
          </p:cNvPr>
          <p:cNvSpPr>
            <a:spLocks noChangeArrowheads="1"/>
          </p:cNvSpPr>
          <p:nvPr/>
        </p:nvSpPr>
        <p:spPr bwMode="auto">
          <a:xfrm>
            <a:off x="9510713" y="1128713"/>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801" name="Line 12">
            <a:extLst>
              <a:ext uri="{FF2B5EF4-FFF2-40B4-BE49-F238E27FC236}">
                <a16:creationId xmlns:a16="http://schemas.microsoft.com/office/drawing/2014/main" id="{636F2957-9E82-4B76-96BD-A0ADC7388062}"/>
              </a:ext>
            </a:extLst>
          </p:cNvPr>
          <p:cNvSpPr>
            <a:spLocks noChangeShapeType="1"/>
          </p:cNvSpPr>
          <p:nvPr/>
        </p:nvSpPr>
        <p:spPr bwMode="auto">
          <a:xfrm>
            <a:off x="6538913" y="1204913"/>
            <a:ext cx="825500" cy="1130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3802" name="Line 13">
            <a:extLst>
              <a:ext uri="{FF2B5EF4-FFF2-40B4-BE49-F238E27FC236}">
                <a16:creationId xmlns:a16="http://schemas.microsoft.com/office/drawing/2014/main" id="{CF5A4383-C46E-4C7E-8119-2C88E280D3EB}"/>
              </a:ext>
            </a:extLst>
          </p:cNvPr>
          <p:cNvSpPr>
            <a:spLocks noChangeShapeType="1"/>
          </p:cNvSpPr>
          <p:nvPr/>
        </p:nvSpPr>
        <p:spPr bwMode="auto">
          <a:xfrm flipH="1">
            <a:off x="7391401" y="1196976"/>
            <a:ext cx="2232025" cy="11271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3803" name="Line 14">
            <a:extLst>
              <a:ext uri="{FF2B5EF4-FFF2-40B4-BE49-F238E27FC236}">
                <a16:creationId xmlns:a16="http://schemas.microsoft.com/office/drawing/2014/main" id="{C442E435-0F19-4D05-B820-5A6A5A18CF77}"/>
              </a:ext>
            </a:extLst>
          </p:cNvPr>
          <p:cNvSpPr>
            <a:spLocks noChangeShapeType="1"/>
          </p:cNvSpPr>
          <p:nvPr/>
        </p:nvSpPr>
        <p:spPr bwMode="auto">
          <a:xfrm>
            <a:off x="7377113" y="2341563"/>
            <a:ext cx="13589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8927" name="Rectangle 15">
            <a:extLst>
              <a:ext uri="{FF2B5EF4-FFF2-40B4-BE49-F238E27FC236}">
                <a16:creationId xmlns:a16="http://schemas.microsoft.com/office/drawing/2014/main" id="{6160C249-AD40-41C5-B80D-C21E3B1234F4}"/>
              </a:ext>
            </a:extLst>
          </p:cNvPr>
          <p:cNvSpPr>
            <a:spLocks noChangeArrowheads="1"/>
          </p:cNvSpPr>
          <p:nvPr/>
        </p:nvSpPr>
        <p:spPr bwMode="auto">
          <a:xfrm>
            <a:off x="6381751" y="1276351"/>
            <a:ext cx="301625" cy="333375"/>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1</a:t>
            </a:r>
          </a:p>
        </p:txBody>
      </p:sp>
      <p:sp>
        <p:nvSpPr>
          <p:cNvPr id="38928" name="Rectangle 16">
            <a:extLst>
              <a:ext uri="{FF2B5EF4-FFF2-40B4-BE49-F238E27FC236}">
                <a16:creationId xmlns:a16="http://schemas.microsoft.com/office/drawing/2014/main" id="{0C59B712-538D-4C81-B2D8-BDE996607C9B}"/>
              </a:ext>
            </a:extLst>
          </p:cNvPr>
          <p:cNvSpPr>
            <a:spLocks noChangeArrowheads="1"/>
          </p:cNvSpPr>
          <p:nvPr/>
        </p:nvSpPr>
        <p:spPr bwMode="auto">
          <a:xfrm>
            <a:off x="9766301" y="1531939"/>
            <a:ext cx="301625" cy="333375"/>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5</a:t>
            </a:r>
          </a:p>
        </p:txBody>
      </p:sp>
      <p:sp>
        <p:nvSpPr>
          <p:cNvPr id="38929" name="Rectangle 17">
            <a:extLst>
              <a:ext uri="{FF2B5EF4-FFF2-40B4-BE49-F238E27FC236}">
                <a16:creationId xmlns:a16="http://schemas.microsoft.com/office/drawing/2014/main" id="{961B6A4B-A8EA-4AB1-93BC-DF367AF99FA6}"/>
              </a:ext>
            </a:extLst>
          </p:cNvPr>
          <p:cNvSpPr>
            <a:spLocks noChangeArrowheads="1"/>
          </p:cNvSpPr>
          <p:nvPr/>
        </p:nvSpPr>
        <p:spPr bwMode="auto">
          <a:xfrm>
            <a:off x="9429751" y="1276351"/>
            <a:ext cx="301625" cy="333375"/>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2</a:t>
            </a:r>
          </a:p>
        </p:txBody>
      </p:sp>
      <p:sp>
        <p:nvSpPr>
          <p:cNvPr id="38930" name="Rectangle 18">
            <a:extLst>
              <a:ext uri="{FF2B5EF4-FFF2-40B4-BE49-F238E27FC236}">
                <a16:creationId xmlns:a16="http://schemas.microsoft.com/office/drawing/2014/main" id="{0CACFCC2-2459-4646-A40F-EC4081C193B3}"/>
              </a:ext>
            </a:extLst>
          </p:cNvPr>
          <p:cNvSpPr>
            <a:spLocks noChangeArrowheads="1"/>
          </p:cNvSpPr>
          <p:nvPr/>
        </p:nvSpPr>
        <p:spPr bwMode="auto">
          <a:xfrm>
            <a:off x="8831264" y="2493964"/>
            <a:ext cx="301625" cy="333375"/>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4</a:t>
            </a:r>
          </a:p>
        </p:txBody>
      </p:sp>
      <p:sp>
        <p:nvSpPr>
          <p:cNvPr id="38931" name="Rectangle 19">
            <a:extLst>
              <a:ext uri="{FF2B5EF4-FFF2-40B4-BE49-F238E27FC236}">
                <a16:creationId xmlns:a16="http://schemas.microsoft.com/office/drawing/2014/main" id="{338E7024-982D-4FB7-B5B3-9CDB6D991D6F}"/>
              </a:ext>
            </a:extLst>
          </p:cNvPr>
          <p:cNvSpPr>
            <a:spLocks noChangeArrowheads="1"/>
          </p:cNvSpPr>
          <p:nvPr/>
        </p:nvSpPr>
        <p:spPr bwMode="auto">
          <a:xfrm>
            <a:off x="7219951" y="2495551"/>
            <a:ext cx="301625" cy="333375"/>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3</a:t>
            </a:r>
          </a:p>
        </p:txBody>
      </p:sp>
      <p:sp>
        <p:nvSpPr>
          <p:cNvPr id="33809" name="Line 20">
            <a:extLst>
              <a:ext uri="{FF2B5EF4-FFF2-40B4-BE49-F238E27FC236}">
                <a16:creationId xmlns:a16="http://schemas.microsoft.com/office/drawing/2014/main" id="{7863310B-79E6-48F2-A659-A6335F5CC410}"/>
              </a:ext>
            </a:extLst>
          </p:cNvPr>
          <p:cNvSpPr>
            <a:spLocks noChangeShapeType="1"/>
          </p:cNvSpPr>
          <p:nvPr/>
        </p:nvSpPr>
        <p:spPr bwMode="auto">
          <a:xfrm flipH="1">
            <a:off x="6526214" y="1196975"/>
            <a:ext cx="302418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3810" name="Oval 21">
            <a:extLst>
              <a:ext uri="{FF2B5EF4-FFF2-40B4-BE49-F238E27FC236}">
                <a16:creationId xmlns:a16="http://schemas.microsoft.com/office/drawing/2014/main" id="{33711E31-CE6E-4031-9C48-CE9DC9884E08}"/>
              </a:ext>
            </a:extLst>
          </p:cNvPr>
          <p:cNvSpPr>
            <a:spLocks noChangeArrowheads="1"/>
          </p:cNvSpPr>
          <p:nvPr/>
        </p:nvSpPr>
        <p:spPr bwMode="auto">
          <a:xfrm>
            <a:off x="9478964" y="693738"/>
            <a:ext cx="649287" cy="57626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811" name="Freeform 22">
            <a:extLst>
              <a:ext uri="{FF2B5EF4-FFF2-40B4-BE49-F238E27FC236}">
                <a16:creationId xmlns:a16="http://schemas.microsoft.com/office/drawing/2014/main" id="{519EDF6E-F134-477A-A498-9D43F0303853}"/>
              </a:ext>
            </a:extLst>
          </p:cNvPr>
          <p:cNvSpPr>
            <a:spLocks/>
          </p:cNvSpPr>
          <p:nvPr/>
        </p:nvSpPr>
        <p:spPr bwMode="auto">
          <a:xfrm>
            <a:off x="6526213" y="693739"/>
            <a:ext cx="3097212" cy="503237"/>
          </a:xfrm>
          <a:custGeom>
            <a:avLst/>
            <a:gdLst>
              <a:gd name="T0" fmla="*/ 2147483646 w 1951"/>
              <a:gd name="T1" fmla="*/ 2147483646 h 317"/>
              <a:gd name="T2" fmla="*/ 2147483646 w 1951"/>
              <a:gd name="T3" fmla="*/ 0 h 317"/>
              <a:gd name="T4" fmla="*/ 0 w 1951"/>
              <a:gd name="T5" fmla="*/ 2147483646 h 317"/>
              <a:gd name="T6" fmla="*/ 0 60000 65536"/>
              <a:gd name="T7" fmla="*/ 0 60000 65536"/>
              <a:gd name="T8" fmla="*/ 0 60000 65536"/>
              <a:gd name="T9" fmla="*/ 0 w 1951"/>
              <a:gd name="T10" fmla="*/ 0 h 317"/>
              <a:gd name="T11" fmla="*/ 1951 w 1951"/>
              <a:gd name="T12" fmla="*/ 317 h 317"/>
            </a:gdLst>
            <a:ahLst/>
            <a:cxnLst>
              <a:cxn ang="T6">
                <a:pos x="T0" y="T1"/>
              </a:cxn>
              <a:cxn ang="T7">
                <a:pos x="T2" y="T3"/>
              </a:cxn>
              <a:cxn ang="T8">
                <a:pos x="T4" y="T5"/>
              </a:cxn>
            </a:cxnLst>
            <a:rect l="T9" t="T10" r="T11" b="T12"/>
            <a:pathLst>
              <a:path w="1951" h="317">
                <a:moveTo>
                  <a:pt x="1951" y="317"/>
                </a:moveTo>
                <a:cubicBezTo>
                  <a:pt x="1569" y="158"/>
                  <a:pt x="1187" y="0"/>
                  <a:pt x="862" y="0"/>
                </a:cubicBezTo>
                <a:cubicBezTo>
                  <a:pt x="537" y="0"/>
                  <a:pt x="144" y="264"/>
                  <a:pt x="0" y="317"/>
                </a:cubicBezTo>
              </a:path>
            </a:pathLst>
          </a:custGeom>
          <a:noFill/>
          <a:ln w="127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pt-BR"/>
          </a:p>
        </p:txBody>
      </p:sp>
      <p:sp>
        <p:nvSpPr>
          <p:cNvPr id="33812" name="Text Box 23">
            <a:extLst>
              <a:ext uri="{FF2B5EF4-FFF2-40B4-BE49-F238E27FC236}">
                <a16:creationId xmlns:a16="http://schemas.microsoft.com/office/drawing/2014/main" id="{10DB0E9D-A5E7-445F-AAAE-FDA63FEE70F6}"/>
              </a:ext>
            </a:extLst>
          </p:cNvPr>
          <p:cNvSpPr txBox="1">
            <a:spLocks noChangeArrowheads="1"/>
          </p:cNvSpPr>
          <p:nvPr/>
        </p:nvSpPr>
        <p:spPr bwMode="auto">
          <a:xfrm>
            <a:off x="6526214" y="1773238"/>
            <a:ext cx="504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e</a:t>
            </a:r>
          </a:p>
        </p:txBody>
      </p:sp>
      <p:sp>
        <p:nvSpPr>
          <p:cNvPr id="33813" name="Text Box 24">
            <a:extLst>
              <a:ext uri="{FF2B5EF4-FFF2-40B4-BE49-F238E27FC236}">
                <a16:creationId xmlns:a16="http://schemas.microsoft.com/office/drawing/2014/main" id="{70F11367-0F8B-4497-AD49-F114F6A992DC}"/>
              </a:ext>
            </a:extLst>
          </p:cNvPr>
          <p:cNvSpPr txBox="1">
            <a:spLocks noChangeArrowheads="1"/>
          </p:cNvSpPr>
          <p:nvPr/>
        </p:nvSpPr>
        <p:spPr bwMode="auto">
          <a:xfrm>
            <a:off x="7678739" y="333376"/>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b</a:t>
            </a:r>
          </a:p>
        </p:txBody>
      </p:sp>
      <p:sp>
        <p:nvSpPr>
          <p:cNvPr id="33814" name="Text Box 25">
            <a:extLst>
              <a:ext uri="{FF2B5EF4-FFF2-40B4-BE49-F238E27FC236}">
                <a16:creationId xmlns:a16="http://schemas.microsoft.com/office/drawing/2014/main" id="{F2D7248D-4E76-4CF4-A468-B003E0949151}"/>
              </a:ext>
            </a:extLst>
          </p:cNvPr>
          <p:cNvSpPr txBox="1">
            <a:spLocks noChangeArrowheads="1"/>
          </p:cNvSpPr>
          <p:nvPr/>
        </p:nvSpPr>
        <p:spPr bwMode="auto">
          <a:xfrm>
            <a:off x="7534276" y="1125538"/>
            <a:ext cx="504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a</a:t>
            </a:r>
          </a:p>
        </p:txBody>
      </p:sp>
      <p:sp>
        <p:nvSpPr>
          <p:cNvPr id="33815" name="Text Box 26">
            <a:extLst>
              <a:ext uri="{FF2B5EF4-FFF2-40B4-BE49-F238E27FC236}">
                <a16:creationId xmlns:a16="http://schemas.microsoft.com/office/drawing/2014/main" id="{36B268C5-BAD9-4F9A-9F7C-7122F16E1C82}"/>
              </a:ext>
            </a:extLst>
          </p:cNvPr>
          <p:cNvSpPr txBox="1">
            <a:spLocks noChangeArrowheads="1"/>
          </p:cNvSpPr>
          <p:nvPr/>
        </p:nvSpPr>
        <p:spPr bwMode="auto">
          <a:xfrm>
            <a:off x="8686801" y="1485901"/>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d</a:t>
            </a:r>
          </a:p>
        </p:txBody>
      </p:sp>
      <p:sp>
        <p:nvSpPr>
          <p:cNvPr id="33816" name="Text Box 27">
            <a:extLst>
              <a:ext uri="{FF2B5EF4-FFF2-40B4-BE49-F238E27FC236}">
                <a16:creationId xmlns:a16="http://schemas.microsoft.com/office/drawing/2014/main" id="{2CC55806-29B2-47C3-A1A2-8CC7A70575BF}"/>
              </a:ext>
            </a:extLst>
          </p:cNvPr>
          <p:cNvSpPr txBox="1">
            <a:spLocks noChangeArrowheads="1"/>
          </p:cNvSpPr>
          <p:nvPr/>
        </p:nvSpPr>
        <p:spPr bwMode="auto">
          <a:xfrm>
            <a:off x="9982201" y="477838"/>
            <a:ext cx="504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c</a:t>
            </a:r>
          </a:p>
        </p:txBody>
      </p:sp>
      <p:sp>
        <p:nvSpPr>
          <p:cNvPr id="33817" name="Text Box 28">
            <a:extLst>
              <a:ext uri="{FF2B5EF4-FFF2-40B4-BE49-F238E27FC236}">
                <a16:creationId xmlns:a16="http://schemas.microsoft.com/office/drawing/2014/main" id="{F8B6A490-3A0A-400A-A3BC-E9F0D99B0E08}"/>
              </a:ext>
            </a:extLst>
          </p:cNvPr>
          <p:cNvSpPr txBox="1">
            <a:spLocks noChangeArrowheads="1"/>
          </p:cNvSpPr>
          <p:nvPr/>
        </p:nvSpPr>
        <p:spPr bwMode="auto">
          <a:xfrm>
            <a:off x="7894639" y="2349501"/>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f</a:t>
            </a:r>
          </a:p>
        </p:txBody>
      </p:sp>
      <p:grpSp>
        <p:nvGrpSpPr>
          <p:cNvPr id="33818" name="Group 74">
            <a:extLst>
              <a:ext uri="{FF2B5EF4-FFF2-40B4-BE49-F238E27FC236}">
                <a16:creationId xmlns:a16="http://schemas.microsoft.com/office/drawing/2014/main" id="{72480A16-AE0D-45F7-BA47-3E46922A6691}"/>
              </a:ext>
            </a:extLst>
          </p:cNvPr>
          <p:cNvGrpSpPr>
            <a:grpSpLocks/>
          </p:cNvGrpSpPr>
          <p:nvPr/>
        </p:nvGrpSpPr>
        <p:grpSpPr bwMode="auto">
          <a:xfrm>
            <a:off x="6096000" y="2997201"/>
            <a:ext cx="2413000" cy="1628775"/>
            <a:chOff x="4150" y="2886"/>
            <a:chExt cx="1520" cy="1026"/>
          </a:xfrm>
        </p:grpSpPr>
        <p:sp>
          <p:nvSpPr>
            <p:cNvPr id="33834" name="Oval 53">
              <a:extLst>
                <a:ext uri="{FF2B5EF4-FFF2-40B4-BE49-F238E27FC236}">
                  <a16:creationId xmlns:a16="http://schemas.microsoft.com/office/drawing/2014/main" id="{2001DB43-589F-4B36-8D4B-FDF18FD58D2D}"/>
                </a:ext>
              </a:extLst>
            </p:cNvPr>
            <p:cNvSpPr>
              <a:spLocks noChangeArrowheads="1"/>
            </p:cNvSpPr>
            <p:nvPr/>
          </p:nvSpPr>
          <p:spPr bwMode="auto">
            <a:xfrm>
              <a:off x="4377" y="3067"/>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835" name="Oval 54">
              <a:extLst>
                <a:ext uri="{FF2B5EF4-FFF2-40B4-BE49-F238E27FC236}">
                  <a16:creationId xmlns:a16="http://schemas.microsoft.com/office/drawing/2014/main" id="{6E55388D-4FDC-472A-9EDE-D2D69D524CAD}"/>
                </a:ext>
              </a:extLst>
            </p:cNvPr>
            <p:cNvSpPr>
              <a:spLocks noChangeArrowheads="1"/>
            </p:cNvSpPr>
            <p:nvPr/>
          </p:nvSpPr>
          <p:spPr bwMode="auto">
            <a:xfrm>
              <a:off x="4649" y="3566"/>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836" name="Oval 56">
              <a:extLst>
                <a:ext uri="{FF2B5EF4-FFF2-40B4-BE49-F238E27FC236}">
                  <a16:creationId xmlns:a16="http://schemas.microsoft.com/office/drawing/2014/main" id="{E8436D09-7C85-4440-A10F-397A16D43E78}"/>
                </a:ext>
              </a:extLst>
            </p:cNvPr>
            <p:cNvSpPr>
              <a:spLocks noChangeArrowheads="1"/>
            </p:cNvSpPr>
            <p:nvPr/>
          </p:nvSpPr>
          <p:spPr bwMode="auto">
            <a:xfrm>
              <a:off x="5531" y="3070"/>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837" name="Line 57">
              <a:extLst>
                <a:ext uri="{FF2B5EF4-FFF2-40B4-BE49-F238E27FC236}">
                  <a16:creationId xmlns:a16="http://schemas.microsoft.com/office/drawing/2014/main" id="{2C3060DD-92E1-4CC0-8A5E-5289BBB5824D}"/>
                </a:ext>
              </a:extLst>
            </p:cNvPr>
            <p:cNvSpPr>
              <a:spLocks noChangeShapeType="1"/>
            </p:cNvSpPr>
            <p:nvPr/>
          </p:nvSpPr>
          <p:spPr bwMode="auto">
            <a:xfrm>
              <a:off x="4422" y="3113"/>
              <a:ext cx="272" cy="53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3838" name="Line 58">
              <a:extLst>
                <a:ext uri="{FF2B5EF4-FFF2-40B4-BE49-F238E27FC236}">
                  <a16:creationId xmlns:a16="http://schemas.microsoft.com/office/drawing/2014/main" id="{67A2CD4B-8AC5-4AE1-A6CE-32338102BD0D}"/>
                </a:ext>
              </a:extLst>
            </p:cNvPr>
            <p:cNvSpPr>
              <a:spLocks noChangeShapeType="1"/>
            </p:cNvSpPr>
            <p:nvPr/>
          </p:nvSpPr>
          <p:spPr bwMode="auto">
            <a:xfrm flipH="1">
              <a:off x="4694" y="3113"/>
              <a:ext cx="908"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8972" name="Rectangle 60">
              <a:extLst>
                <a:ext uri="{FF2B5EF4-FFF2-40B4-BE49-F238E27FC236}">
                  <a16:creationId xmlns:a16="http://schemas.microsoft.com/office/drawing/2014/main" id="{E4FBC1C1-9778-46AF-95C8-2D2E9959B5E9}"/>
                </a:ext>
              </a:extLst>
            </p:cNvPr>
            <p:cNvSpPr>
              <a:spLocks noChangeArrowheads="1"/>
            </p:cNvSpPr>
            <p:nvPr/>
          </p:nvSpPr>
          <p:spPr bwMode="auto">
            <a:xfrm>
              <a:off x="4150" y="3022"/>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1</a:t>
              </a:r>
            </a:p>
          </p:txBody>
        </p:sp>
        <p:sp>
          <p:nvSpPr>
            <p:cNvPr id="38974" name="Rectangle 62">
              <a:extLst>
                <a:ext uri="{FF2B5EF4-FFF2-40B4-BE49-F238E27FC236}">
                  <a16:creationId xmlns:a16="http://schemas.microsoft.com/office/drawing/2014/main" id="{0E5F7404-3F85-4333-A534-6BA67C7EBC6F}"/>
                </a:ext>
              </a:extLst>
            </p:cNvPr>
            <p:cNvSpPr>
              <a:spLocks noChangeArrowheads="1"/>
            </p:cNvSpPr>
            <p:nvPr/>
          </p:nvSpPr>
          <p:spPr bwMode="auto">
            <a:xfrm>
              <a:off x="5480" y="3163"/>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2</a:t>
              </a:r>
            </a:p>
          </p:txBody>
        </p:sp>
        <p:sp>
          <p:nvSpPr>
            <p:cNvPr id="38976" name="Rectangle 64">
              <a:extLst>
                <a:ext uri="{FF2B5EF4-FFF2-40B4-BE49-F238E27FC236}">
                  <a16:creationId xmlns:a16="http://schemas.microsoft.com/office/drawing/2014/main" id="{60C3A6BF-4E3D-4C22-97EE-438C9FCBE944}"/>
                </a:ext>
              </a:extLst>
            </p:cNvPr>
            <p:cNvSpPr>
              <a:spLocks noChangeArrowheads="1"/>
            </p:cNvSpPr>
            <p:nvPr/>
          </p:nvSpPr>
          <p:spPr bwMode="auto">
            <a:xfrm>
              <a:off x="4558" y="3702"/>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3</a:t>
              </a:r>
            </a:p>
          </p:txBody>
        </p:sp>
        <p:sp>
          <p:nvSpPr>
            <p:cNvPr id="33842" name="Line 65">
              <a:extLst>
                <a:ext uri="{FF2B5EF4-FFF2-40B4-BE49-F238E27FC236}">
                  <a16:creationId xmlns:a16="http://schemas.microsoft.com/office/drawing/2014/main" id="{1A5F01E1-50AA-430D-84A1-AB0E9C24E636}"/>
                </a:ext>
              </a:extLst>
            </p:cNvPr>
            <p:cNvSpPr>
              <a:spLocks noChangeShapeType="1"/>
            </p:cNvSpPr>
            <p:nvPr/>
          </p:nvSpPr>
          <p:spPr bwMode="auto">
            <a:xfrm flipH="1">
              <a:off x="4422" y="3113"/>
              <a:ext cx="11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3843" name="Text Box 68">
              <a:extLst>
                <a:ext uri="{FF2B5EF4-FFF2-40B4-BE49-F238E27FC236}">
                  <a16:creationId xmlns:a16="http://schemas.microsoft.com/office/drawing/2014/main" id="{9C2852CC-76A9-46F0-BC8A-598A6879AE53}"/>
                </a:ext>
              </a:extLst>
            </p:cNvPr>
            <p:cNvSpPr txBox="1">
              <a:spLocks noChangeArrowheads="1"/>
            </p:cNvSpPr>
            <p:nvPr/>
          </p:nvSpPr>
          <p:spPr bwMode="auto">
            <a:xfrm>
              <a:off x="4241" y="3294"/>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e</a:t>
              </a:r>
            </a:p>
          </p:txBody>
        </p:sp>
        <p:sp>
          <p:nvSpPr>
            <p:cNvPr id="33844" name="Text Box 70">
              <a:extLst>
                <a:ext uri="{FF2B5EF4-FFF2-40B4-BE49-F238E27FC236}">
                  <a16:creationId xmlns:a16="http://schemas.microsoft.com/office/drawing/2014/main" id="{3E6CEA4E-5AB3-48D9-B202-0224BECFF40F}"/>
                </a:ext>
              </a:extLst>
            </p:cNvPr>
            <p:cNvSpPr txBox="1">
              <a:spLocks noChangeArrowheads="1"/>
            </p:cNvSpPr>
            <p:nvPr/>
          </p:nvSpPr>
          <p:spPr bwMode="auto">
            <a:xfrm>
              <a:off x="4740" y="2886"/>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a</a:t>
              </a:r>
            </a:p>
          </p:txBody>
        </p:sp>
        <p:sp>
          <p:nvSpPr>
            <p:cNvPr id="33845" name="Text Box 71">
              <a:extLst>
                <a:ext uri="{FF2B5EF4-FFF2-40B4-BE49-F238E27FC236}">
                  <a16:creationId xmlns:a16="http://schemas.microsoft.com/office/drawing/2014/main" id="{500C5AB0-FBC2-483D-AAFB-D810E3314838}"/>
                </a:ext>
              </a:extLst>
            </p:cNvPr>
            <p:cNvSpPr txBox="1">
              <a:spLocks noChangeArrowheads="1"/>
            </p:cNvSpPr>
            <p:nvPr/>
          </p:nvSpPr>
          <p:spPr bwMode="auto">
            <a:xfrm>
              <a:off x="5012" y="3295"/>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d</a:t>
              </a:r>
            </a:p>
          </p:txBody>
        </p:sp>
      </p:grpSp>
      <p:sp>
        <p:nvSpPr>
          <p:cNvPr id="38998" name="Rectangle 86">
            <a:extLst>
              <a:ext uri="{FF2B5EF4-FFF2-40B4-BE49-F238E27FC236}">
                <a16:creationId xmlns:a16="http://schemas.microsoft.com/office/drawing/2014/main" id="{8E1B4ECB-AD7B-4A13-9694-BC43FAA47E72}"/>
              </a:ext>
            </a:extLst>
          </p:cNvPr>
          <p:cNvSpPr>
            <a:spLocks noChangeArrowheads="1"/>
          </p:cNvSpPr>
          <p:nvPr/>
        </p:nvSpPr>
        <p:spPr bwMode="auto">
          <a:xfrm>
            <a:off x="8385176" y="5553076"/>
            <a:ext cx="301625" cy="333375"/>
          </a:xfrm>
          <a:prstGeom prst="rect">
            <a:avLst/>
          </a:prstGeom>
          <a:noFill/>
          <a:ln>
            <a:noFill/>
          </a:ln>
          <a:effectLst/>
        </p:spPr>
        <p:txBody>
          <a:bodyPr lIns="90488" tIns="44450" rIns="90488" bIns="44450">
            <a:spAutoFit/>
          </a:bodyPr>
          <a:lstStyle/>
          <a:p>
            <a:pPr>
              <a:spcBef>
                <a:spcPct val="50000"/>
              </a:spcBef>
              <a:defRPr/>
            </a:pPr>
            <a:r>
              <a:rPr lang="pt-BR" sz="1600" b="1" i="1" dirty="0">
                <a:effectLst>
                  <a:outerShdw blurRad="38100" dist="38100" dir="2700000" algn="tl">
                    <a:srgbClr val="C0C0C0"/>
                  </a:outerShdw>
                </a:effectLst>
                <a:latin typeface="Arial" charset="0"/>
              </a:rPr>
              <a:t>4</a:t>
            </a:r>
          </a:p>
        </p:txBody>
      </p:sp>
      <p:grpSp>
        <p:nvGrpSpPr>
          <p:cNvPr id="33820" name="Group 97">
            <a:extLst>
              <a:ext uri="{FF2B5EF4-FFF2-40B4-BE49-F238E27FC236}">
                <a16:creationId xmlns:a16="http://schemas.microsoft.com/office/drawing/2014/main" id="{FD9D27E0-4312-48AC-9AD0-A311CA11E806}"/>
              </a:ext>
            </a:extLst>
          </p:cNvPr>
          <p:cNvGrpSpPr>
            <a:grpSpLocks/>
          </p:cNvGrpSpPr>
          <p:nvPr/>
        </p:nvGrpSpPr>
        <p:grpSpPr bwMode="auto">
          <a:xfrm>
            <a:off x="6816725" y="4076701"/>
            <a:ext cx="3455988" cy="1579563"/>
            <a:chOff x="3061" y="2025"/>
            <a:chExt cx="2177" cy="995"/>
          </a:xfrm>
        </p:grpSpPr>
        <p:sp>
          <p:nvSpPr>
            <p:cNvPr id="33821" name="Oval 75">
              <a:extLst>
                <a:ext uri="{FF2B5EF4-FFF2-40B4-BE49-F238E27FC236}">
                  <a16:creationId xmlns:a16="http://schemas.microsoft.com/office/drawing/2014/main" id="{9FB96CC8-E673-44E2-ADC8-454B8BD3855A}"/>
                </a:ext>
              </a:extLst>
            </p:cNvPr>
            <p:cNvSpPr>
              <a:spLocks noChangeArrowheads="1"/>
            </p:cNvSpPr>
            <p:nvPr/>
          </p:nvSpPr>
          <p:spPr bwMode="auto">
            <a:xfrm>
              <a:off x="4835" y="2932"/>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822" name="Oval 77">
              <a:extLst>
                <a:ext uri="{FF2B5EF4-FFF2-40B4-BE49-F238E27FC236}">
                  <a16:creationId xmlns:a16="http://schemas.microsoft.com/office/drawing/2014/main" id="{E050D447-461B-4F7F-9EF6-9FC9FBEED037}"/>
                </a:ext>
              </a:extLst>
            </p:cNvPr>
            <p:cNvSpPr>
              <a:spLocks noChangeArrowheads="1"/>
            </p:cNvSpPr>
            <p:nvPr/>
          </p:nvSpPr>
          <p:spPr bwMode="auto">
            <a:xfrm>
              <a:off x="3288" y="247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823" name="Oval 78">
              <a:extLst>
                <a:ext uri="{FF2B5EF4-FFF2-40B4-BE49-F238E27FC236}">
                  <a16:creationId xmlns:a16="http://schemas.microsoft.com/office/drawing/2014/main" id="{C4F6F601-D328-49CD-AEB3-D6439405A29A}"/>
                </a:ext>
              </a:extLst>
            </p:cNvPr>
            <p:cNvSpPr>
              <a:spLocks noChangeArrowheads="1"/>
            </p:cNvSpPr>
            <p:nvPr/>
          </p:nvSpPr>
          <p:spPr bwMode="auto">
            <a:xfrm>
              <a:off x="3969" y="2840"/>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824" name="Oval 79">
              <a:extLst>
                <a:ext uri="{FF2B5EF4-FFF2-40B4-BE49-F238E27FC236}">
                  <a16:creationId xmlns:a16="http://schemas.microsoft.com/office/drawing/2014/main" id="{477D26CE-2802-4352-8975-054127B6E0C9}"/>
                </a:ext>
              </a:extLst>
            </p:cNvPr>
            <p:cNvSpPr>
              <a:spLocks noChangeArrowheads="1"/>
            </p:cNvSpPr>
            <p:nvPr/>
          </p:nvSpPr>
          <p:spPr bwMode="auto">
            <a:xfrm>
              <a:off x="4623" y="2435"/>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825" name="Line 81">
              <a:extLst>
                <a:ext uri="{FF2B5EF4-FFF2-40B4-BE49-F238E27FC236}">
                  <a16:creationId xmlns:a16="http://schemas.microsoft.com/office/drawing/2014/main" id="{4901533D-3E90-4C49-85DD-8832EEB6ACB3}"/>
                </a:ext>
              </a:extLst>
            </p:cNvPr>
            <p:cNvSpPr>
              <a:spLocks noChangeShapeType="1"/>
            </p:cNvSpPr>
            <p:nvPr/>
          </p:nvSpPr>
          <p:spPr bwMode="auto">
            <a:xfrm flipH="1">
              <a:off x="3334" y="2478"/>
              <a:ext cx="1360" cy="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3826" name="Line 82">
              <a:extLst>
                <a:ext uri="{FF2B5EF4-FFF2-40B4-BE49-F238E27FC236}">
                  <a16:creationId xmlns:a16="http://schemas.microsoft.com/office/drawing/2014/main" id="{D37C6C5D-88F6-40BD-884E-67FE9AC4CF21}"/>
                </a:ext>
              </a:extLst>
            </p:cNvPr>
            <p:cNvSpPr>
              <a:spLocks noChangeShapeType="1"/>
            </p:cNvSpPr>
            <p:nvPr/>
          </p:nvSpPr>
          <p:spPr bwMode="auto">
            <a:xfrm>
              <a:off x="3334" y="2523"/>
              <a:ext cx="674" cy="3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8996" name="Rectangle 84">
              <a:extLst>
                <a:ext uri="{FF2B5EF4-FFF2-40B4-BE49-F238E27FC236}">
                  <a16:creationId xmlns:a16="http://schemas.microsoft.com/office/drawing/2014/main" id="{BE602487-A785-40A7-B7F7-9245FE3B68E6}"/>
                </a:ext>
              </a:extLst>
            </p:cNvPr>
            <p:cNvSpPr>
              <a:spLocks noChangeArrowheads="1"/>
            </p:cNvSpPr>
            <p:nvPr/>
          </p:nvSpPr>
          <p:spPr bwMode="auto">
            <a:xfrm>
              <a:off x="4784" y="2689"/>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5</a:t>
              </a:r>
            </a:p>
          </p:txBody>
        </p:sp>
        <p:sp>
          <p:nvSpPr>
            <p:cNvPr id="38997" name="Rectangle 85">
              <a:extLst>
                <a:ext uri="{FF2B5EF4-FFF2-40B4-BE49-F238E27FC236}">
                  <a16:creationId xmlns:a16="http://schemas.microsoft.com/office/drawing/2014/main" id="{4CE47C04-BF84-4C7C-AFEA-F6EC60ACB7F9}"/>
                </a:ext>
              </a:extLst>
            </p:cNvPr>
            <p:cNvSpPr>
              <a:spLocks noChangeArrowheads="1"/>
            </p:cNvSpPr>
            <p:nvPr/>
          </p:nvSpPr>
          <p:spPr bwMode="auto">
            <a:xfrm>
              <a:off x="4572" y="2528"/>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2</a:t>
              </a:r>
            </a:p>
          </p:txBody>
        </p:sp>
        <p:sp>
          <p:nvSpPr>
            <p:cNvPr id="38999" name="Rectangle 87">
              <a:extLst>
                <a:ext uri="{FF2B5EF4-FFF2-40B4-BE49-F238E27FC236}">
                  <a16:creationId xmlns:a16="http://schemas.microsoft.com/office/drawing/2014/main" id="{C0F48E03-4DE5-4F96-89E9-94BC964DE4F8}"/>
                </a:ext>
              </a:extLst>
            </p:cNvPr>
            <p:cNvSpPr>
              <a:spLocks noChangeArrowheads="1"/>
            </p:cNvSpPr>
            <p:nvPr/>
          </p:nvSpPr>
          <p:spPr bwMode="auto">
            <a:xfrm>
              <a:off x="3061" y="2387"/>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3</a:t>
              </a:r>
            </a:p>
          </p:txBody>
        </p:sp>
        <p:sp>
          <p:nvSpPr>
            <p:cNvPr id="33830" name="Oval 89">
              <a:extLst>
                <a:ext uri="{FF2B5EF4-FFF2-40B4-BE49-F238E27FC236}">
                  <a16:creationId xmlns:a16="http://schemas.microsoft.com/office/drawing/2014/main" id="{BB68B362-8592-4F02-8EBE-855B64A98777}"/>
                </a:ext>
              </a:extLst>
            </p:cNvPr>
            <p:cNvSpPr>
              <a:spLocks noChangeArrowheads="1"/>
            </p:cNvSpPr>
            <p:nvPr/>
          </p:nvSpPr>
          <p:spPr bwMode="auto">
            <a:xfrm>
              <a:off x="4603" y="2161"/>
              <a:ext cx="409" cy="36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3831" name="Text Box 94">
              <a:extLst>
                <a:ext uri="{FF2B5EF4-FFF2-40B4-BE49-F238E27FC236}">
                  <a16:creationId xmlns:a16="http://schemas.microsoft.com/office/drawing/2014/main" id="{C7EBF3A1-F0DD-4AA9-829A-ACF9EB4BB49B}"/>
                </a:ext>
              </a:extLst>
            </p:cNvPr>
            <p:cNvSpPr txBox="1">
              <a:spLocks noChangeArrowheads="1"/>
            </p:cNvSpPr>
            <p:nvPr/>
          </p:nvSpPr>
          <p:spPr bwMode="auto">
            <a:xfrm>
              <a:off x="3969" y="2205"/>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d</a:t>
              </a:r>
            </a:p>
          </p:txBody>
        </p:sp>
        <p:sp>
          <p:nvSpPr>
            <p:cNvPr id="33832" name="Text Box 95">
              <a:extLst>
                <a:ext uri="{FF2B5EF4-FFF2-40B4-BE49-F238E27FC236}">
                  <a16:creationId xmlns:a16="http://schemas.microsoft.com/office/drawing/2014/main" id="{CCF988BF-46FD-42A3-A2C7-D2465EC6A69B}"/>
                </a:ext>
              </a:extLst>
            </p:cNvPr>
            <p:cNvSpPr txBox="1">
              <a:spLocks noChangeArrowheads="1"/>
            </p:cNvSpPr>
            <p:nvPr/>
          </p:nvSpPr>
          <p:spPr bwMode="auto">
            <a:xfrm>
              <a:off x="4920" y="2025"/>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c</a:t>
              </a:r>
            </a:p>
          </p:txBody>
        </p:sp>
        <p:sp>
          <p:nvSpPr>
            <p:cNvPr id="33833" name="Text Box 96">
              <a:extLst>
                <a:ext uri="{FF2B5EF4-FFF2-40B4-BE49-F238E27FC236}">
                  <a16:creationId xmlns:a16="http://schemas.microsoft.com/office/drawing/2014/main" id="{BE90EA90-71BC-404E-94AE-9BF783D8F4F2}"/>
                </a:ext>
              </a:extLst>
            </p:cNvPr>
            <p:cNvSpPr txBox="1">
              <a:spLocks noChangeArrowheads="1"/>
            </p:cNvSpPr>
            <p:nvPr/>
          </p:nvSpPr>
          <p:spPr bwMode="auto">
            <a:xfrm>
              <a:off x="3515" y="2659"/>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f</a:t>
              </a: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052C7-C29D-579C-F519-9D6ADAF94E73}"/>
            </a:ext>
          </a:extLst>
        </p:cNvPr>
        <p:cNvGrpSpPr/>
        <p:nvPr/>
      </p:nvGrpSpPr>
      <p:grpSpPr>
        <a:xfrm>
          <a:off x="0" y="0"/>
          <a:ext cx="0" cy="0"/>
          <a:chOff x="0" y="0"/>
          <a:chExt cx="0" cy="0"/>
        </a:xfrm>
      </p:grpSpPr>
      <p:sp>
        <p:nvSpPr>
          <p:cNvPr id="33794" name="Rectangle 5">
            <a:extLst>
              <a:ext uri="{FF2B5EF4-FFF2-40B4-BE49-F238E27FC236}">
                <a16:creationId xmlns:a16="http://schemas.microsoft.com/office/drawing/2014/main" id="{81F04931-3445-4DD1-56E0-432BAD51A594}"/>
              </a:ext>
            </a:extLst>
          </p:cNvPr>
          <p:cNvSpPr>
            <a:spLocks noGrp="1"/>
          </p:cNvSpPr>
          <p:nvPr>
            <p:ph type="title"/>
          </p:nvPr>
        </p:nvSpPr>
        <p:spPr>
          <a:xfrm>
            <a:off x="1524001" y="0"/>
            <a:ext cx="8435975" cy="863600"/>
          </a:xfrm>
        </p:spPr>
        <p:txBody>
          <a:bodyPr vert="horz" lIns="90488" tIns="44450" rIns="90488" bIns="44450" rtlCol="0" anchor="b">
            <a:normAutofit/>
          </a:bodyPr>
          <a:lstStyle/>
          <a:p>
            <a:pPr eaLnBrk="1" hangingPunct="1"/>
            <a:r>
              <a:rPr lang="pt-BR" altLang="pt-BR" b="1" dirty="0" err="1"/>
              <a:t>Planaridade</a:t>
            </a:r>
            <a:endParaRPr lang="pt-BR" altLang="pt-BR" b="1" dirty="0"/>
          </a:p>
        </p:txBody>
      </p:sp>
      <p:sp>
        <p:nvSpPr>
          <p:cNvPr id="33795" name="Rectangle 3">
            <a:extLst>
              <a:ext uri="{FF2B5EF4-FFF2-40B4-BE49-F238E27FC236}">
                <a16:creationId xmlns:a16="http://schemas.microsoft.com/office/drawing/2014/main" id="{0FED69F3-82BA-2278-D781-5FD15472836F}"/>
              </a:ext>
            </a:extLst>
          </p:cNvPr>
          <p:cNvSpPr>
            <a:spLocks noGrp="1"/>
          </p:cNvSpPr>
          <p:nvPr>
            <p:ph idx="1"/>
          </p:nvPr>
        </p:nvSpPr>
        <p:spPr>
          <a:xfrm>
            <a:off x="717552" y="1383507"/>
            <a:ext cx="4687887" cy="5256213"/>
          </a:xfrm>
        </p:spPr>
        <p:txBody>
          <a:bodyPr vert="horz" lIns="90488" tIns="44450" rIns="90488" bIns="44450" rtlCol="0">
            <a:normAutofit/>
          </a:bodyPr>
          <a:lstStyle/>
          <a:p>
            <a:pPr eaLnBrk="1" hangingPunct="1"/>
            <a:r>
              <a:rPr lang="pt-BR" altLang="pt-BR" sz="2600" i="1" dirty="0"/>
              <a:t>Um grafo é dito </a:t>
            </a:r>
            <a:r>
              <a:rPr lang="pt-BR" altLang="pt-BR" sz="2600" b="1" i="1" dirty="0">
                <a:solidFill>
                  <a:srgbClr val="FF0000"/>
                </a:solidFill>
              </a:rPr>
              <a:t>planar</a:t>
            </a:r>
            <a:r>
              <a:rPr lang="pt-BR" altLang="pt-BR" sz="2600" i="1" dirty="0"/>
              <a:t> se puder ser desenhado no plano de modo que suas arestas se cruzem apenas nos vértices, sem interseções. </a:t>
            </a:r>
          </a:p>
          <a:p>
            <a:pPr eaLnBrk="1" hangingPunct="1"/>
            <a:r>
              <a:rPr lang="pt-BR" altLang="pt-BR" sz="2600" i="1" dirty="0"/>
              <a:t>Essa propriedade topológica indica que o grafo pode ter uma representação plana, mesmo que inicialmente desenhado com cruzamentos. </a:t>
            </a:r>
          </a:p>
          <a:p>
            <a:pPr eaLnBrk="1" hangingPunct="1"/>
            <a:r>
              <a:rPr lang="pt-BR" altLang="pt-BR" sz="2600" i="1" dirty="0"/>
              <a:t>Grafos planares são essenciais para evitar cruzamentos em circuitos e mapas. </a:t>
            </a:r>
          </a:p>
        </p:txBody>
      </p:sp>
      <p:pic>
        <p:nvPicPr>
          <p:cNvPr id="3" name="Imagem 2" descr="Gráfico&#10;&#10;O conteúdo gerado por IA pode estar incorreto.">
            <a:extLst>
              <a:ext uri="{FF2B5EF4-FFF2-40B4-BE49-F238E27FC236}">
                <a16:creationId xmlns:a16="http://schemas.microsoft.com/office/drawing/2014/main" id="{554E86EC-A711-4B44-6235-E72E46837A9B}"/>
              </a:ext>
            </a:extLst>
          </p:cNvPr>
          <p:cNvPicPr>
            <a:picLocks noChangeAspect="1"/>
          </p:cNvPicPr>
          <p:nvPr/>
        </p:nvPicPr>
        <p:blipFill>
          <a:blip r:embed="rId2"/>
          <a:stretch>
            <a:fillRect/>
          </a:stretch>
        </p:blipFill>
        <p:spPr>
          <a:xfrm>
            <a:off x="5922334" y="1540244"/>
            <a:ext cx="5694686" cy="2169049"/>
          </a:xfrm>
          <a:prstGeom prst="rect">
            <a:avLst/>
          </a:prstGeom>
        </p:spPr>
      </p:pic>
      <p:pic>
        <p:nvPicPr>
          <p:cNvPr id="4" name="Imagem 3">
            <a:extLst>
              <a:ext uri="{FF2B5EF4-FFF2-40B4-BE49-F238E27FC236}">
                <a16:creationId xmlns:a16="http://schemas.microsoft.com/office/drawing/2014/main" id="{DBDD52C2-7174-A091-5595-7846A6492B74}"/>
              </a:ext>
            </a:extLst>
          </p:cNvPr>
          <p:cNvPicPr>
            <a:picLocks noChangeAspect="1"/>
          </p:cNvPicPr>
          <p:nvPr/>
        </p:nvPicPr>
        <p:blipFill>
          <a:blip r:embed="rId3"/>
          <a:stretch>
            <a:fillRect/>
          </a:stretch>
        </p:blipFill>
        <p:spPr>
          <a:xfrm>
            <a:off x="6959340" y="4155114"/>
            <a:ext cx="4259009" cy="1660895"/>
          </a:xfrm>
          <a:prstGeom prst="rect">
            <a:avLst/>
          </a:prstGeom>
        </p:spPr>
      </p:pic>
    </p:spTree>
    <p:extLst>
      <p:ext uri="{BB962C8B-B14F-4D97-AF65-F5344CB8AC3E}">
        <p14:creationId xmlns:p14="http://schemas.microsoft.com/office/powerpoint/2010/main" val="281031357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A7F1A-D87F-AA29-03B9-E01D95976231}"/>
            </a:ext>
          </a:extLst>
        </p:cNvPr>
        <p:cNvGrpSpPr/>
        <p:nvPr/>
      </p:nvGrpSpPr>
      <p:grpSpPr>
        <a:xfrm>
          <a:off x="0" y="0"/>
          <a:ext cx="0" cy="0"/>
          <a:chOff x="0" y="0"/>
          <a:chExt cx="0" cy="0"/>
        </a:xfrm>
      </p:grpSpPr>
      <p:sp>
        <p:nvSpPr>
          <p:cNvPr id="33794" name="Rectangle 5">
            <a:extLst>
              <a:ext uri="{FF2B5EF4-FFF2-40B4-BE49-F238E27FC236}">
                <a16:creationId xmlns:a16="http://schemas.microsoft.com/office/drawing/2014/main" id="{1BBC6C5A-AB56-991C-85C0-5D296D4A1CAD}"/>
              </a:ext>
            </a:extLst>
          </p:cNvPr>
          <p:cNvSpPr>
            <a:spLocks noGrp="1"/>
          </p:cNvSpPr>
          <p:nvPr>
            <p:ph type="title"/>
          </p:nvPr>
        </p:nvSpPr>
        <p:spPr>
          <a:xfrm>
            <a:off x="1524001" y="0"/>
            <a:ext cx="8435975" cy="863600"/>
          </a:xfrm>
        </p:spPr>
        <p:txBody>
          <a:bodyPr vert="horz" lIns="90488" tIns="44450" rIns="90488" bIns="44450" rtlCol="0" anchor="b">
            <a:normAutofit/>
          </a:bodyPr>
          <a:lstStyle/>
          <a:p>
            <a:pPr eaLnBrk="1" hangingPunct="1"/>
            <a:r>
              <a:rPr lang="pt-BR" altLang="pt-BR" b="1" dirty="0" err="1"/>
              <a:t>Planaridade</a:t>
            </a:r>
            <a:endParaRPr lang="pt-BR" altLang="pt-BR" b="1" dirty="0"/>
          </a:p>
        </p:txBody>
      </p:sp>
      <p:sp>
        <p:nvSpPr>
          <p:cNvPr id="33795" name="Rectangle 3">
            <a:extLst>
              <a:ext uri="{FF2B5EF4-FFF2-40B4-BE49-F238E27FC236}">
                <a16:creationId xmlns:a16="http://schemas.microsoft.com/office/drawing/2014/main" id="{EA76C2DF-7B31-2D30-A461-1828DFEBC59F}"/>
              </a:ext>
            </a:extLst>
          </p:cNvPr>
          <p:cNvSpPr>
            <a:spLocks noGrp="1"/>
          </p:cNvSpPr>
          <p:nvPr>
            <p:ph idx="1"/>
          </p:nvPr>
        </p:nvSpPr>
        <p:spPr>
          <a:xfrm>
            <a:off x="717552" y="1383507"/>
            <a:ext cx="5002764" cy="5256213"/>
          </a:xfrm>
        </p:spPr>
        <p:txBody>
          <a:bodyPr vert="horz" lIns="90488" tIns="44450" rIns="90488" bIns="44450" rtlCol="0">
            <a:normAutofit/>
          </a:bodyPr>
          <a:lstStyle/>
          <a:p>
            <a:pPr eaLnBrk="1" hangingPunct="1"/>
            <a:r>
              <a:rPr lang="pt-BR" altLang="pt-BR" sz="2600" b="1" dirty="0"/>
              <a:t>Grafo Plano</a:t>
            </a:r>
            <a:r>
              <a:rPr lang="pt-BR" altLang="pt-BR" sz="2600" dirty="0"/>
              <a:t>: É a representação específica de um grafo planar onde as arestas não se cruzam.</a:t>
            </a:r>
          </a:p>
          <a:p>
            <a:pPr eaLnBrk="1" hangingPunct="1"/>
            <a:r>
              <a:rPr lang="pt-BR" altLang="pt-BR" sz="2600" b="1" dirty="0"/>
              <a:t>Faces: </a:t>
            </a:r>
            <a:r>
              <a:rPr lang="pt-BR" altLang="pt-BR" sz="2600" dirty="0"/>
              <a:t>Regiões formadas por um grafo plano, incluindo a região infinita externa.</a:t>
            </a:r>
          </a:p>
          <a:p>
            <a:pPr eaLnBrk="1" hangingPunct="1"/>
            <a:r>
              <a:rPr lang="pt-BR" altLang="pt-BR" sz="2600" b="1" dirty="0"/>
              <a:t>Fórmula de Euler: </a:t>
            </a:r>
            <a:r>
              <a:rPr lang="pt-BR" altLang="pt-BR" sz="2600" dirty="0"/>
              <a:t>Para grafos planares conectados, vale: </a:t>
            </a:r>
          </a:p>
          <a:p>
            <a:pPr lvl="1"/>
            <a:r>
              <a:rPr lang="pt-BR" altLang="pt-BR" sz="2200" b="1" dirty="0">
                <a:solidFill>
                  <a:srgbClr val="FF0000"/>
                </a:solidFill>
              </a:rPr>
              <a:t>V - A + F = 2</a:t>
            </a:r>
            <a:r>
              <a:rPr lang="pt-BR" altLang="pt-BR" sz="2200" dirty="0"/>
              <a:t> </a:t>
            </a:r>
          </a:p>
          <a:p>
            <a:pPr marL="457200" lvl="1" indent="0">
              <a:buNone/>
            </a:pPr>
            <a:r>
              <a:rPr lang="pt-BR" altLang="pt-BR" sz="2200" dirty="0"/>
              <a:t>  </a:t>
            </a:r>
            <a:r>
              <a:rPr lang="pt-BR" altLang="pt-BR" sz="2200" b="1" dirty="0">
                <a:solidFill>
                  <a:srgbClr val="FF0000"/>
                </a:solidFill>
              </a:rPr>
              <a:t>(V = vértices, A = arestas, F = faces).</a:t>
            </a:r>
          </a:p>
          <a:p>
            <a:pPr eaLnBrk="1" hangingPunct="1"/>
            <a:r>
              <a:rPr lang="pt-BR" altLang="pt-BR" sz="2600" b="1" dirty="0"/>
              <a:t>Limites de Arestas: </a:t>
            </a:r>
            <a:r>
              <a:rPr lang="pt-BR" altLang="pt-BR" sz="2600" dirty="0"/>
              <a:t>Para um grafo planar simples com </a:t>
            </a:r>
            <a:r>
              <a:rPr lang="pt-BR" altLang="pt-BR" sz="2200" b="1" dirty="0">
                <a:solidFill>
                  <a:srgbClr val="FF0000"/>
                </a:solidFill>
              </a:rPr>
              <a:t>V ≥ 3</a:t>
            </a:r>
            <a:r>
              <a:rPr lang="pt-BR" altLang="pt-BR" sz="2200" dirty="0"/>
              <a:t>, o número de arestas A é no máximo </a:t>
            </a:r>
            <a:r>
              <a:rPr lang="pt-BR" altLang="pt-BR" sz="2200" b="1" dirty="0">
                <a:solidFill>
                  <a:srgbClr val="FF0000"/>
                </a:solidFill>
              </a:rPr>
              <a:t>3V - 6</a:t>
            </a:r>
            <a:r>
              <a:rPr lang="pt-BR" altLang="pt-BR" sz="2200" dirty="0"/>
              <a:t>.</a:t>
            </a:r>
          </a:p>
        </p:txBody>
      </p:sp>
      <p:pic>
        <p:nvPicPr>
          <p:cNvPr id="4" name="Imagem 3">
            <a:extLst>
              <a:ext uri="{FF2B5EF4-FFF2-40B4-BE49-F238E27FC236}">
                <a16:creationId xmlns:a16="http://schemas.microsoft.com/office/drawing/2014/main" id="{0822A0C9-0406-2F92-CFBC-ADADAD2D70CA}"/>
              </a:ext>
            </a:extLst>
          </p:cNvPr>
          <p:cNvPicPr>
            <a:picLocks noChangeAspect="1"/>
          </p:cNvPicPr>
          <p:nvPr/>
        </p:nvPicPr>
        <p:blipFill>
          <a:blip r:embed="rId2"/>
          <a:stretch>
            <a:fillRect/>
          </a:stretch>
        </p:blipFill>
        <p:spPr>
          <a:xfrm>
            <a:off x="6471686" y="1355770"/>
            <a:ext cx="2417530" cy="2439508"/>
          </a:xfrm>
          <a:prstGeom prst="rect">
            <a:avLst/>
          </a:prstGeom>
        </p:spPr>
      </p:pic>
      <p:pic>
        <p:nvPicPr>
          <p:cNvPr id="5" name="Imagem 4">
            <a:extLst>
              <a:ext uri="{FF2B5EF4-FFF2-40B4-BE49-F238E27FC236}">
                <a16:creationId xmlns:a16="http://schemas.microsoft.com/office/drawing/2014/main" id="{960A5B9A-F81B-9246-5DEF-24E1D31E38E1}"/>
              </a:ext>
            </a:extLst>
          </p:cNvPr>
          <p:cNvPicPr>
            <a:picLocks noChangeAspect="1"/>
          </p:cNvPicPr>
          <p:nvPr/>
        </p:nvPicPr>
        <p:blipFill>
          <a:blip r:embed="rId3"/>
          <a:stretch>
            <a:fillRect/>
          </a:stretch>
        </p:blipFill>
        <p:spPr>
          <a:xfrm>
            <a:off x="6471686" y="4287449"/>
            <a:ext cx="5132607" cy="2027164"/>
          </a:xfrm>
          <a:prstGeom prst="rect">
            <a:avLst/>
          </a:prstGeom>
        </p:spPr>
      </p:pic>
      <p:pic>
        <p:nvPicPr>
          <p:cNvPr id="6" name="Imagem 5">
            <a:extLst>
              <a:ext uri="{FF2B5EF4-FFF2-40B4-BE49-F238E27FC236}">
                <a16:creationId xmlns:a16="http://schemas.microsoft.com/office/drawing/2014/main" id="{2FD36247-620B-967F-EFC5-5D2833D90A60}"/>
              </a:ext>
            </a:extLst>
          </p:cNvPr>
          <p:cNvPicPr>
            <a:picLocks noChangeAspect="1"/>
          </p:cNvPicPr>
          <p:nvPr/>
        </p:nvPicPr>
        <p:blipFill>
          <a:blip r:embed="rId4"/>
          <a:stretch>
            <a:fillRect/>
          </a:stretch>
        </p:blipFill>
        <p:spPr>
          <a:xfrm>
            <a:off x="9251399" y="1442049"/>
            <a:ext cx="2381250" cy="2266950"/>
          </a:xfrm>
          <a:prstGeom prst="rect">
            <a:avLst/>
          </a:prstGeom>
        </p:spPr>
      </p:pic>
    </p:spTree>
    <p:extLst>
      <p:ext uri="{BB962C8B-B14F-4D97-AF65-F5344CB8AC3E}">
        <p14:creationId xmlns:p14="http://schemas.microsoft.com/office/powerpoint/2010/main" val="385227515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E3AE1-7E80-2E2B-DF46-05BCDEC03D5B}"/>
            </a:ext>
          </a:extLst>
        </p:cNvPr>
        <p:cNvGrpSpPr/>
        <p:nvPr/>
      </p:nvGrpSpPr>
      <p:grpSpPr>
        <a:xfrm>
          <a:off x="0" y="0"/>
          <a:ext cx="0" cy="0"/>
          <a:chOff x="0" y="0"/>
          <a:chExt cx="0" cy="0"/>
        </a:xfrm>
      </p:grpSpPr>
      <p:sp>
        <p:nvSpPr>
          <p:cNvPr id="33794" name="Rectangle 5">
            <a:extLst>
              <a:ext uri="{FF2B5EF4-FFF2-40B4-BE49-F238E27FC236}">
                <a16:creationId xmlns:a16="http://schemas.microsoft.com/office/drawing/2014/main" id="{D685D628-F441-0F86-793F-6B8341D18D7F}"/>
              </a:ext>
            </a:extLst>
          </p:cNvPr>
          <p:cNvSpPr>
            <a:spLocks noGrp="1"/>
          </p:cNvSpPr>
          <p:nvPr>
            <p:ph type="title"/>
          </p:nvPr>
        </p:nvSpPr>
        <p:spPr>
          <a:xfrm>
            <a:off x="1524001" y="0"/>
            <a:ext cx="8435975" cy="863600"/>
          </a:xfrm>
        </p:spPr>
        <p:txBody>
          <a:bodyPr vert="horz" lIns="90488" tIns="44450" rIns="90488" bIns="44450" rtlCol="0" anchor="b">
            <a:normAutofit/>
          </a:bodyPr>
          <a:lstStyle/>
          <a:p>
            <a:pPr eaLnBrk="1" hangingPunct="1"/>
            <a:r>
              <a:rPr lang="pt-BR" altLang="pt-BR" b="1" dirty="0" err="1"/>
              <a:t>Planaridade</a:t>
            </a:r>
            <a:endParaRPr lang="pt-BR" altLang="pt-BR" b="1" dirty="0"/>
          </a:p>
        </p:txBody>
      </p:sp>
      <p:sp>
        <p:nvSpPr>
          <p:cNvPr id="33795" name="Rectangle 3">
            <a:extLst>
              <a:ext uri="{FF2B5EF4-FFF2-40B4-BE49-F238E27FC236}">
                <a16:creationId xmlns:a16="http://schemas.microsoft.com/office/drawing/2014/main" id="{DBF23F96-FB0E-329E-A232-EEFD032EE8D0}"/>
              </a:ext>
            </a:extLst>
          </p:cNvPr>
          <p:cNvSpPr>
            <a:spLocks noGrp="1"/>
          </p:cNvSpPr>
          <p:nvPr>
            <p:ph idx="1"/>
          </p:nvPr>
        </p:nvSpPr>
        <p:spPr>
          <a:xfrm>
            <a:off x="717551" y="1383507"/>
            <a:ext cx="11159015" cy="5256213"/>
          </a:xfrm>
        </p:spPr>
        <p:txBody>
          <a:bodyPr vert="horz" lIns="90488" tIns="44450" rIns="90488" bIns="44450" rtlCol="0">
            <a:normAutofit/>
          </a:bodyPr>
          <a:lstStyle/>
          <a:p>
            <a:pPr marL="0" indent="0" eaLnBrk="1" hangingPunct="1">
              <a:buNone/>
            </a:pPr>
            <a:r>
              <a:rPr lang="pt-BR" altLang="pt-BR" sz="2600" b="1" dirty="0"/>
              <a:t>Exemplo da fórmula de Euler </a:t>
            </a:r>
          </a:p>
          <a:p>
            <a:pPr eaLnBrk="1" hangingPunct="1"/>
            <a:r>
              <a:rPr lang="pt-BR" altLang="pt-BR" sz="2600" dirty="0"/>
              <a:t>Seja um grafo simples, não direcionado, conexo e planar com </a:t>
            </a:r>
            <a:r>
              <a:rPr lang="pt-BR" altLang="pt-BR" sz="2600" b="1" dirty="0"/>
              <a:t>20 vértices</a:t>
            </a:r>
            <a:r>
              <a:rPr lang="pt-BR" altLang="pt-BR" sz="2600" dirty="0"/>
              <a:t>, cada um com </a:t>
            </a:r>
            <a:r>
              <a:rPr lang="pt-BR" altLang="pt-BR" sz="2600" b="1" dirty="0"/>
              <a:t>grau 3</a:t>
            </a:r>
            <a:r>
              <a:rPr lang="pt-BR" altLang="pt-BR" sz="2600" dirty="0"/>
              <a:t>. Em quantas </a:t>
            </a:r>
            <a:r>
              <a:rPr lang="pt-BR" altLang="pt-BR" sz="2600" b="1" dirty="0"/>
              <a:t>regiões</a:t>
            </a:r>
            <a:r>
              <a:rPr lang="pt-BR" altLang="pt-BR" sz="2600" dirty="0"/>
              <a:t> o plano é dividido em uma representação planar desse grafo?</a:t>
            </a:r>
          </a:p>
          <a:p>
            <a:pPr eaLnBrk="1" hangingPunct="1"/>
            <a:r>
              <a:rPr lang="pt-BR" altLang="pt-BR" sz="2600" dirty="0"/>
              <a:t>O </a:t>
            </a:r>
            <a:r>
              <a:rPr lang="pt-BR" altLang="pt-BR" sz="2600" b="1" dirty="0"/>
              <a:t>grau total do grafo </a:t>
            </a:r>
            <a:r>
              <a:rPr lang="pt-BR" altLang="pt-BR" sz="2600" dirty="0"/>
              <a:t>é 20 x 3 = 60. </a:t>
            </a:r>
          </a:p>
          <a:p>
            <a:pPr eaLnBrk="1" hangingPunct="1"/>
            <a:r>
              <a:rPr lang="pt-BR" altLang="pt-BR" sz="2600" dirty="0"/>
              <a:t>Levando em conta que cada aresta liga 2 vértices, isso significa que o grafo tem </a:t>
            </a:r>
            <a:r>
              <a:rPr lang="pt-BR" altLang="pt-BR" sz="2600" b="1" dirty="0"/>
              <a:t>30 arestas </a:t>
            </a:r>
            <a:r>
              <a:rPr lang="pt-BR" altLang="pt-BR" sz="2600" dirty="0"/>
              <a:t>(A = 30/2). </a:t>
            </a:r>
          </a:p>
          <a:p>
            <a:pPr eaLnBrk="1" hangingPunct="1"/>
            <a:r>
              <a:rPr lang="pt-BR" altLang="pt-BR" sz="2600" dirty="0"/>
              <a:t>Assim, o número de regiões é: </a:t>
            </a:r>
          </a:p>
          <a:p>
            <a:pPr marL="457200" lvl="1" indent="0">
              <a:buNone/>
            </a:pPr>
            <a:r>
              <a:rPr lang="pt-BR" altLang="pt-BR" sz="2200" dirty="0"/>
              <a:t>	F = A – V + 2 </a:t>
            </a:r>
          </a:p>
          <a:p>
            <a:pPr marL="457200" lvl="1" indent="0">
              <a:buNone/>
            </a:pPr>
            <a:r>
              <a:rPr lang="pt-BR" altLang="pt-BR" sz="2200" dirty="0"/>
              <a:t> 	= 30 – 20 + 2 </a:t>
            </a:r>
          </a:p>
          <a:p>
            <a:pPr marL="457200" lvl="1" indent="0">
              <a:buNone/>
            </a:pPr>
            <a:r>
              <a:rPr lang="pt-BR" altLang="pt-BR" sz="2200" dirty="0"/>
              <a:t>	= 12</a:t>
            </a:r>
            <a:endParaRPr lang="pt-BR" altLang="pt-BR" sz="1800" dirty="0"/>
          </a:p>
        </p:txBody>
      </p:sp>
    </p:spTree>
    <p:extLst>
      <p:ext uri="{BB962C8B-B14F-4D97-AF65-F5344CB8AC3E}">
        <p14:creationId xmlns:p14="http://schemas.microsoft.com/office/powerpoint/2010/main" val="31717361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FE372-381C-E4B4-E903-B9AFC9CD87E0}"/>
            </a:ext>
          </a:extLst>
        </p:cNvPr>
        <p:cNvGrpSpPr/>
        <p:nvPr/>
      </p:nvGrpSpPr>
      <p:grpSpPr>
        <a:xfrm>
          <a:off x="0" y="0"/>
          <a:ext cx="0" cy="0"/>
          <a:chOff x="0" y="0"/>
          <a:chExt cx="0" cy="0"/>
        </a:xfrm>
      </p:grpSpPr>
      <p:sp>
        <p:nvSpPr>
          <p:cNvPr id="33794" name="Rectangle 5">
            <a:extLst>
              <a:ext uri="{FF2B5EF4-FFF2-40B4-BE49-F238E27FC236}">
                <a16:creationId xmlns:a16="http://schemas.microsoft.com/office/drawing/2014/main" id="{284AA740-F633-85A7-8F43-039CA97BAE65}"/>
              </a:ext>
            </a:extLst>
          </p:cNvPr>
          <p:cNvSpPr>
            <a:spLocks noGrp="1"/>
          </p:cNvSpPr>
          <p:nvPr>
            <p:ph type="title"/>
          </p:nvPr>
        </p:nvSpPr>
        <p:spPr>
          <a:xfrm>
            <a:off x="1524001" y="0"/>
            <a:ext cx="8435975" cy="863600"/>
          </a:xfrm>
        </p:spPr>
        <p:txBody>
          <a:bodyPr vert="horz" lIns="90488" tIns="44450" rIns="90488" bIns="44450" rtlCol="0" anchor="b">
            <a:normAutofit/>
          </a:bodyPr>
          <a:lstStyle/>
          <a:p>
            <a:pPr eaLnBrk="1" hangingPunct="1"/>
            <a:r>
              <a:rPr lang="pt-BR" altLang="pt-BR" b="1" dirty="0" err="1"/>
              <a:t>Planaridade</a:t>
            </a:r>
            <a:endParaRPr lang="pt-BR" altLang="pt-BR" b="1" dirty="0"/>
          </a:p>
        </p:txBody>
      </p:sp>
      <p:sp>
        <p:nvSpPr>
          <p:cNvPr id="33795" name="Rectangle 3">
            <a:extLst>
              <a:ext uri="{FF2B5EF4-FFF2-40B4-BE49-F238E27FC236}">
                <a16:creationId xmlns:a16="http://schemas.microsoft.com/office/drawing/2014/main" id="{DBC407D2-E47F-67D4-4545-06795D6B6F9B}"/>
              </a:ext>
            </a:extLst>
          </p:cNvPr>
          <p:cNvSpPr>
            <a:spLocks noGrp="1"/>
          </p:cNvSpPr>
          <p:nvPr>
            <p:ph idx="1"/>
          </p:nvPr>
        </p:nvSpPr>
        <p:spPr>
          <a:xfrm>
            <a:off x="717551" y="1383507"/>
            <a:ext cx="5215415" cy="5256213"/>
          </a:xfrm>
        </p:spPr>
        <p:txBody>
          <a:bodyPr vert="horz" lIns="90488" tIns="44450" rIns="90488" bIns="44450" rtlCol="0">
            <a:normAutofit/>
          </a:bodyPr>
          <a:lstStyle/>
          <a:p>
            <a:pPr marL="0" indent="0">
              <a:buNone/>
            </a:pPr>
            <a:r>
              <a:rPr lang="pt-BR" altLang="pt-BR" sz="2600" b="1" dirty="0"/>
              <a:t>Aplicações de grafos planares:</a:t>
            </a:r>
          </a:p>
          <a:p>
            <a:pPr eaLnBrk="1" hangingPunct="1"/>
            <a:r>
              <a:rPr lang="pt-BR" altLang="pt-BR" sz="2600" dirty="0"/>
              <a:t>Estão por toda parte como, por exemplo, no projeto de:</a:t>
            </a:r>
          </a:p>
          <a:p>
            <a:pPr lvl="1"/>
            <a:r>
              <a:rPr lang="pt-BR" altLang="pt-BR" sz="2200" dirty="0"/>
              <a:t>Circuitos Integrados (problema crítico que tem levado a novos avanços na área);</a:t>
            </a:r>
          </a:p>
          <a:p>
            <a:pPr lvl="1"/>
            <a:r>
              <a:rPr lang="pt-BR" altLang="pt-BR" sz="2200" dirty="0"/>
              <a:t>Circuitos Impressos (placas onde componentes eletrônicos são montados);</a:t>
            </a:r>
          </a:p>
          <a:p>
            <a:pPr lvl="1"/>
            <a:r>
              <a:rPr lang="pt-BR" altLang="pt-BR" sz="2200" dirty="0"/>
              <a:t>Rodovias conectando cidades;</a:t>
            </a:r>
          </a:p>
          <a:p>
            <a:pPr lvl="1"/>
            <a:r>
              <a:rPr lang="pt-BR" altLang="pt-BR" sz="2200" dirty="0"/>
              <a:t>Linhas de transmissão de energia elétrica;</a:t>
            </a:r>
          </a:p>
          <a:p>
            <a:pPr lvl="1"/>
            <a:r>
              <a:rPr lang="pt-BR" altLang="pt-BR" sz="2200" dirty="0"/>
              <a:t>Linha de produção em uma indústria.</a:t>
            </a:r>
            <a:endParaRPr lang="pt-BR" altLang="pt-BR" sz="1800" dirty="0"/>
          </a:p>
        </p:txBody>
      </p:sp>
      <p:pic>
        <p:nvPicPr>
          <p:cNvPr id="3" name="Imagem 2">
            <a:extLst>
              <a:ext uri="{FF2B5EF4-FFF2-40B4-BE49-F238E27FC236}">
                <a16:creationId xmlns:a16="http://schemas.microsoft.com/office/drawing/2014/main" id="{9C542959-118A-0C2F-B994-07E0AA273F74}"/>
              </a:ext>
            </a:extLst>
          </p:cNvPr>
          <p:cNvPicPr>
            <a:picLocks noChangeAspect="1"/>
          </p:cNvPicPr>
          <p:nvPr/>
        </p:nvPicPr>
        <p:blipFill>
          <a:blip r:embed="rId2"/>
          <a:stretch>
            <a:fillRect/>
          </a:stretch>
        </p:blipFill>
        <p:spPr>
          <a:xfrm>
            <a:off x="6895886" y="1643461"/>
            <a:ext cx="4015631" cy="2411731"/>
          </a:xfrm>
          <a:prstGeom prst="rect">
            <a:avLst/>
          </a:prstGeom>
        </p:spPr>
      </p:pic>
      <p:pic>
        <p:nvPicPr>
          <p:cNvPr id="7" name="Imagem 6">
            <a:extLst>
              <a:ext uri="{FF2B5EF4-FFF2-40B4-BE49-F238E27FC236}">
                <a16:creationId xmlns:a16="http://schemas.microsoft.com/office/drawing/2014/main" id="{EA641C31-364A-920E-C0EB-0FA947738283}"/>
              </a:ext>
            </a:extLst>
          </p:cNvPr>
          <p:cNvPicPr>
            <a:picLocks noChangeAspect="1"/>
          </p:cNvPicPr>
          <p:nvPr/>
        </p:nvPicPr>
        <p:blipFill>
          <a:blip r:embed="rId3"/>
          <a:stretch>
            <a:fillRect/>
          </a:stretch>
        </p:blipFill>
        <p:spPr>
          <a:xfrm>
            <a:off x="5902141" y="4315145"/>
            <a:ext cx="3001561" cy="1967860"/>
          </a:xfrm>
          <a:prstGeom prst="rect">
            <a:avLst/>
          </a:prstGeom>
        </p:spPr>
      </p:pic>
      <p:pic>
        <p:nvPicPr>
          <p:cNvPr id="8" name="Imagem 7">
            <a:extLst>
              <a:ext uri="{FF2B5EF4-FFF2-40B4-BE49-F238E27FC236}">
                <a16:creationId xmlns:a16="http://schemas.microsoft.com/office/drawing/2014/main" id="{91A80BC8-27B9-9946-4F79-6628F0F5AAF6}"/>
              </a:ext>
            </a:extLst>
          </p:cNvPr>
          <p:cNvPicPr>
            <a:picLocks noChangeAspect="1"/>
          </p:cNvPicPr>
          <p:nvPr/>
        </p:nvPicPr>
        <p:blipFill>
          <a:blip r:embed="rId4"/>
          <a:stretch>
            <a:fillRect/>
          </a:stretch>
        </p:blipFill>
        <p:spPr>
          <a:xfrm>
            <a:off x="9126262" y="4315145"/>
            <a:ext cx="2957165" cy="1967859"/>
          </a:xfrm>
          <a:prstGeom prst="rect">
            <a:avLst/>
          </a:prstGeom>
        </p:spPr>
      </p:pic>
    </p:spTree>
    <p:extLst>
      <p:ext uri="{BB962C8B-B14F-4D97-AF65-F5344CB8AC3E}">
        <p14:creationId xmlns:p14="http://schemas.microsoft.com/office/powerpoint/2010/main" val="167166728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1514A-9C0B-96A1-D8D6-3808356D7D2A}"/>
            </a:ext>
          </a:extLst>
        </p:cNvPr>
        <p:cNvGrpSpPr/>
        <p:nvPr/>
      </p:nvGrpSpPr>
      <p:grpSpPr>
        <a:xfrm>
          <a:off x="0" y="0"/>
          <a:ext cx="0" cy="0"/>
          <a:chOff x="0" y="0"/>
          <a:chExt cx="0" cy="0"/>
        </a:xfrm>
      </p:grpSpPr>
      <p:sp>
        <p:nvSpPr>
          <p:cNvPr id="33794" name="Rectangle 5">
            <a:extLst>
              <a:ext uri="{FF2B5EF4-FFF2-40B4-BE49-F238E27FC236}">
                <a16:creationId xmlns:a16="http://schemas.microsoft.com/office/drawing/2014/main" id="{AF73F8D9-9BAD-6AC9-F11C-3D1FA4A61E69}"/>
              </a:ext>
            </a:extLst>
          </p:cNvPr>
          <p:cNvSpPr>
            <a:spLocks noGrp="1"/>
          </p:cNvSpPr>
          <p:nvPr>
            <p:ph type="title"/>
          </p:nvPr>
        </p:nvSpPr>
        <p:spPr>
          <a:xfrm>
            <a:off x="1524001" y="0"/>
            <a:ext cx="8435975" cy="863600"/>
          </a:xfrm>
        </p:spPr>
        <p:txBody>
          <a:bodyPr vert="horz" lIns="90488" tIns="44450" rIns="90488" bIns="44450" rtlCol="0" anchor="b">
            <a:normAutofit/>
          </a:bodyPr>
          <a:lstStyle/>
          <a:p>
            <a:pPr eaLnBrk="1" hangingPunct="1"/>
            <a:r>
              <a:rPr lang="pt-BR" altLang="pt-BR" b="1" dirty="0" err="1"/>
              <a:t>Planaridade</a:t>
            </a:r>
            <a:endParaRPr lang="pt-BR" altLang="pt-BR" b="1" dirty="0"/>
          </a:p>
        </p:txBody>
      </p:sp>
      <p:sp>
        <p:nvSpPr>
          <p:cNvPr id="33795" name="Rectangle 3">
            <a:extLst>
              <a:ext uri="{FF2B5EF4-FFF2-40B4-BE49-F238E27FC236}">
                <a16:creationId xmlns:a16="http://schemas.microsoft.com/office/drawing/2014/main" id="{363D7D1A-6DD4-2591-C4BD-B85F9CB39DE1}"/>
              </a:ext>
            </a:extLst>
          </p:cNvPr>
          <p:cNvSpPr>
            <a:spLocks noGrp="1"/>
          </p:cNvSpPr>
          <p:nvPr>
            <p:ph idx="1"/>
          </p:nvPr>
        </p:nvSpPr>
        <p:spPr>
          <a:xfrm>
            <a:off x="717552" y="1383507"/>
            <a:ext cx="5002764" cy="5256213"/>
          </a:xfrm>
        </p:spPr>
        <p:txBody>
          <a:bodyPr vert="horz" lIns="90488" tIns="44450" rIns="90488" bIns="44450" rtlCol="0">
            <a:normAutofit fontScale="92500"/>
          </a:bodyPr>
          <a:lstStyle/>
          <a:p>
            <a:pPr eaLnBrk="1" hangingPunct="1"/>
            <a:r>
              <a:rPr lang="pt-BR" altLang="pt-BR" sz="2200" i="1" dirty="0"/>
              <a:t>Um grafo </a:t>
            </a:r>
            <a:r>
              <a:rPr lang="pt-BR" altLang="pt-BR" sz="2200" b="1" i="1" dirty="0">
                <a:solidFill>
                  <a:srgbClr val="FF0000"/>
                </a:solidFill>
              </a:rPr>
              <a:t>não planar </a:t>
            </a:r>
            <a:r>
              <a:rPr lang="pt-BR" altLang="pt-BR" sz="2200" i="1" dirty="0"/>
              <a:t>é aquele que não pode ser desenhado em um plano sem que suas arestas se cruzem. </a:t>
            </a:r>
          </a:p>
          <a:p>
            <a:pPr eaLnBrk="1" hangingPunct="1"/>
            <a:r>
              <a:rPr lang="pt-BR" altLang="pt-BR" sz="2200" i="1" dirty="0"/>
              <a:t>Segundo o </a:t>
            </a:r>
            <a:r>
              <a:rPr lang="pt-BR" altLang="pt-BR" sz="2200" b="1" i="1" dirty="0">
                <a:solidFill>
                  <a:srgbClr val="FF0000"/>
                </a:solidFill>
              </a:rPr>
              <a:t>Teorema de </a:t>
            </a:r>
            <a:r>
              <a:rPr lang="pt-BR" altLang="pt-BR" sz="2200" b="1" i="1" dirty="0" err="1">
                <a:solidFill>
                  <a:srgbClr val="FF0000"/>
                </a:solidFill>
              </a:rPr>
              <a:t>Kuratowski</a:t>
            </a:r>
            <a:r>
              <a:rPr lang="pt-BR" altLang="pt-BR" sz="2200" i="1" dirty="0"/>
              <a:t>, um grafo é não planar se, e somente se, contiver um </a:t>
            </a:r>
            <a:r>
              <a:rPr lang="pt-BR" altLang="pt-BR" sz="2200" i="1" dirty="0" err="1"/>
              <a:t>subgrafo</a:t>
            </a:r>
            <a:r>
              <a:rPr lang="pt-BR" altLang="pt-BR" sz="2200" i="1" dirty="0"/>
              <a:t> homeomorfo ao grafo completo K5 (5 vértices conectados entre si) ou ao grafo bipartido completo K3,3 (3 vértices de um lado conectados a 3 do outro). </a:t>
            </a:r>
          </a:p>
          <a:p>
            <a:pPr eaLnBrk="1" hangingPunct="1"/>
            <a:r>
              <a:rPr lang="pt-BR" altLang="pt-BR" sz="2200" b="1" dirty="0"/>
              <a:t>Grafo K5 (Completo): </a:t>
            </a:r>
            <a:r>
              <a:rPr lang="pt-BR" altLang="pt-BR" sz="2200" dirty="0"/>
              <a:t>Com 5 vértices e 10 arestas, é o grafo mais simples que não pode ser desenhado sem cruzamentos.</a:t>
            </a:r>
          </a:p>
          <a:p>
            <a:pPr eaLnBrk="1" hangingPunct="1"/>
            <a:r>
              <a:rPr lang="pt-BR" altLang="pt-BR" sz="2200" b="1" dirty="0"/>
              <a:t>Grafo K3,3 (Bipartido): </a:t>
            </a:r>
            <a:r>
              <a:rPr lang="pt-BR" altLang="pt-BR" sz="2200" dirty="0"/>
              <a:t>Conhecido como o problema das três casas e três companhias, onde três casas precisam ser conectadas a três utilidades sem que os tubos se cruzem.</a:t>
            </a:r>
          </a:p>
        </p:txBody>
      </p:sp>
      <p:pic>
        <p:nvPicPr>
          <p:cNvPr id="3" name="Imagem 2" descr="Diagrama&#10;&#10;O conteúdo gerado por IA pode estar incorreto.">
            <a:extLst>
              <a:ext uri="{FF2B5EF4-FFF2-40B4-BE49-F238E27FC236}">
                <a16:creationId xmlns:a16="http://schemas.microsoft.com/office/drawing/2014/main" id="{1EFDFD08-E311-2B21-CEDB-4B35DB9EF74A}"/>
              </a:ext>
            </a:extLst>
          </p:cNvPr>
          <p:cNvPicPr>
            <a:picLocks noChangeAspect="1"/>
          </p:cNvPicPr>
          <p:nvPr/>
        </p:nvPicPr>
        <p:blipFill>
          <a:blip r:embed="rId2"/>
          <a:stretch>
            <a:fillRect/>
          </a:stretch>
        </p:blipFill>
        <p:spPr>
          <a:xfrm>
            <a:off x="5869172" y="1452619"/>
            <a:ext cx="5993219" cy="4929522"/>
          </a:xfrm>
          <a:prstGeom prst="rect">
            <a:avLst/>
          </a:prstGeom>
        </p:spPr>
      </p:pic>
    </p:spTree>
    <p:extLst>
      <p:ext uri="{BB962C8B-B14F-4D97-AF65-F5344CB8AC3E}">
        <p14:creationId xmlns:p14="http://schemas.microsoft.com/office/powerpoint/2010/main" val="151231870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B9E10-C151-DE29-5FAF-AE5CF5B57A1E}"/>
            </a:ext>
          </a:extLst>
        </p:cNvPr>
        <p:cNvGrpSpPr/>
        <p:nvPr/>
      </p:nvGrpSpPr>
      <p:grpSpPr>
        <a:xfrm>
          <a:off x="0" y="0"/>
          <a:ext cx="0" cy="0"/>
          <a:chOff x="0" y="0"/>
          <a:chExt cx="0" cy="0"/>
        </a:xfrm>
      </p:grpSpPr>
      <p:sp>
        <p:nvSpPr>
          <p:cNvPr id="33794" name="Rectangle 5">
            <a:extLst>
              <a:ext uri="{FF2B5EF4-FFF2-40B4-BE49-F238E27FC236}">
                <a16:creationId xmlns:a16="http://schemas.microsoft.com/office/drawing/2014/main" id="{150F9E50-4CEE-5128-0CC1-433043158B5C}"/>
              </a:ext>
            </a:extLst>
          </p:cNvPr>
          <p:cNvSpPr>
            <a:spLocks noGrp="1"/>
          </p:cNvSpPr>
          <p:nvPr>
            <p:ph type="title"/>
          </p:nvPr>
        </p:nvSpPr>
        <p:spPr>
          <a:xfrm>
            <a:off x="1524001" y="0"/>
            <a:ext cx="8435975" cy="863600"/>
          </a:xfrm>
        </p:spPr>
        <p:txBody>
          <a:bodyPr vert="horz" lIns="90488" tIns="44450" rIns="90488" bIns="44450" rtlCol="0" anchor="b">
            <a:normAutofit/>
          </a:bodyPr>
          <a:lstStyle/>
          <a:p>
            <a:pPr eaLnBrk="1" hangingPunct="1"/>
            <a:r>
              <a:rPr lang="pt-BR" altLang="pt-BR" b="1" dirty="0" err="1"/>
              <a:t>Planaridade</a:t>
            </a:r>
            <a:endParaRPr lang="pt-BR" altLang="pt-BR" b="1" dirty="0"/>
          </a:p>
        </p:txBody>
      </p:sp>
      <p:sp>
        <p:nvSpPr>
          <p:cNvPr id="33795" name="Rectangle 3">
            <a:extLst>
              <a:ext uri="{FF2B5EF4-FFF2-40B4-BE49-F238E27FC236}">
                <a16:creationId xmlns:a16="http://schemas.microsoft.com/office/drawing/2014/main" id="{16456ED5-580E-AE74-A3D5-692D3DF9FF09}"/>
              </a:ext>
            </a:extLst>
          </p:cNvPr>
          <p:cNvSpPr>
            <a:spLocks noGrp="1"/>
          </p:cNvSpPr>
          <p:nvPr>
            <p:ph idx="1"/>
          </p:nvPr>
        </p:nvSpPr>
        <p:spPr>
          <a:xfrm>
            <a:off x="717552" y="1383507"/>
            <a:ext cx="5002764" cy="5256213"/>
          </a:xfrm>
        </p:spPr>
        <p:txBody>
          <a:bodyPr vert="horz" lIns="90488" tIns="44450" rIns="90488" bIns="44450" rtlCol="0">
            <a:normAutofit/>
          </a:bodyPr>
          <a:lstStyle/>
          <a:p>
            <a:pPr eaLnBrk="1" hangingPunct="1"/>
            <a:r>
              <a:rPr lang="pt-BR" altLang="pt-BR" sz="2200" b="1" dirty="0"/>
              <a:t>Grafos planares </a:t>
            </a:r>
            <a:r>
              <a:rPr lang="pt-BR" altLang="pt-BR" sz="2200" dirty="0"/>
              <a:t>permitem uma representação gráfica sem cruzamentos; </a:t>
            </a:r>
            <a:r>
              <a:rPr lang="pt-BR" altLang="pt-BR" sz="2200" b="1" dirty="0"/>
              <a:t>grafos não planares </a:t>
            </a:r>
            <a:r>
              <a:rPr lang="pt-BR" altLang="pt-BR" sz="2200" dirty="0"/>
              <a:t>exigem pelo menos um cruzamento de arestas.</a:t>
            </a:r>
          </a:p>
          <a:p>
            <a:pPr eaLnBrk="1" hangingPunct="1"/>
            <a:r>
              <a:rPr lang="pt-BR" altLang="pt-BR" sz="2200" b="1" dirty="0"/>
              <a:t>Teorema de </a:t>
            </a:r>
            <a:r>
              <a:rPr lang="pt-BR" altLang="pt-BR" sz="2200" b="1" dirty="0" err="1"/>
              <a:t>Kuratowski</a:t>
            </a:r>
            <a:r>
              <a:rPr lang="pt-BR" altLang="pt-BR" sz="2200" b="1" dirty="0"/>
              <a:t>: </a:t>
            </a:r>
            <a:r>
              <a:rPr lang="pt-BR" altLang="pt-BR" sz="2200" dirty="0"/>
              <a:t>Qualquer grafo que contenha uma subdivisão de K5 ou K3,3 é não planar.</a:t>
            </a:r>
          </a:p>
          <a:p>
            <a:pPr eaLnBrk="1" hangingPunct="1"/>
            <a:r>
              <a:rPr lang="pt-BR" altLang="pt-BR" sz="2200" b="1" dirty="0"/>
              <a:t>Aplicação: </a:t>
            </a:r>
            <a:r>
              <a:rPr lang="pt-BR" altLang="pt-BR" sz="2200" dirty="0"/>
              <a:t>A detecção de grafos não planares é crucial em design de circuitos impressos e layouts de VLSI, onde cruzamentos de trilhas não são desejados. </a:t>
            </a:r>
          </a:p>
          <a:p>
            <a:pPr eaLnBrk="1" hangingPunct="1"/>
            <a:endParaRPr lang="pt-BR" altLang="pt-BR" sz="2200" dirty="0"/>
          </a:p>
        </p:txBody>
      </p:sp>
      <p:pic>
        <p:nvPicPr>
          <p:cNvPr id="2" name="Imagem 1">
            <a:extLst>
              <a:ext uri="{FF2B5EF4-FFF2-40B4-BE49-F238E27FC236}">
                <a16:creationId xmlns:a16="http://schemas.microsoft.com/office/drawing/2014/main" id="{9D997898-493B-C1C7-CB19-8D647818D49F}"/>
              </a:ext>
            </a:extLst>
          </p:cNvPr>
          <p:cNvPicPr>
            <a:picLocks noChangeAspect="1"/>
          </p:cNvPicPr>
          <p:nvPr/>
        </p:nvPicPr>
        <p:blipFill>
          <a:blip r:embed="rId2"/>
          <a:stretch>
            <a:fillRect/>
          </a:stretch>
        </p:blipFill>
        <p:spPr>
          <a:xfrm>
            <a:off x="6862762" y="1502513"/>
            <a:ext cx="4019550" cy="1428750"/>
          </a:xfrm>
          <a:prstGeom prst="rect">
            <a:avLst/>
          </a:prstGeom>
        </p:spPr>
      </p:pic>
      <p:pic>
        <p:nvPicPr>
          <p:cNvPr id="3" name="Imagem 2">
            <a:extLst>
              <a:ext uri="{FF2B5EF4-FFF2-40B4-BE49-F238E27FC236}">
                <a16:creationId xmlns:a16="http://schemas.microsoft.com/office/drawing/2014/main" id="{847686D9-2096-D88D-BFB5-5EBDC6E77FA5}"/>
              </a:ext>
            </a:extLst>
          </p:cNvPr>
          <p:cNvPicPr>
            <a:picLocks noChangeAspect="1"/>
          </p:cNvPicPr>
          <p:nvPr/>
        </p:nvPicPr>
        <p:blipFill>
          <a:blip r:embed="rId3"/>
          <a:stretch>
            <a:fillRect/>
          </a:stretch>
        </p:blipFill>
        <p:spPr>
          <a:xfrm>
            <a:off x="6096000" y="3743236"/>
            <a:ext cx="5720314" cy="2199489"/>
          </a:xfrm>
          <a:prstGeom prst="rect">
            <a:avLst/>
          </a:prstGeom>
        </p:spPr>
      </p:pic>
    </p:spTree>
    <p:extLst>
      <p:ext uri="{BB962C8B-B14F-4D97-AF65-F5344CB8AC3E}">
        <p14:creationId xmlns:p14="http://schemas.microsoft.com/office/powerpoint/2010/main" val="2099575613"/>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a:extLst>
              <a:ext uri="{FF2B5EF4-FFF2-40B4-BE49-F238E27FC236}">
                <a16:creationId xmlns:a16="http://schemas.microsoft.com/office/drawing/2014/main" id="{032545C9-3BE6-4906-B0A1-C6FC754446CF}"/>
              </a:ext>
            </a:extLst>
          </p:cNvPr>
          <p:cNvSpPr>
            <a:spLocks noGrp="1"/>
          </p:cNvSpPr>
          <p:nvPr>
            <p:ph type="title"/>
          </p:nvPr>
        </p:nvSpPr>
        <p:spPr>
          <a:xfrm>
            <a:off x="1703389" y="0"/>
            <a:ext cx="8435975" cy="863600"/>
          </a:xfrm>
        </p:spPr>
        <p:txBody>
          <a:bodyPr vert="horz" lIns="90488" tIns="44450" rIns="90488" bIns="44450" rtlCol="0" anchor="b">
            <a:normAutofit/>
          </a:bodyPr>
          <a:lstStyle/>
          <a:p>
            <a:pPr eaLnBrk="1" hangingPunct="1"/>
            <a:r>
              <a:rPr lang="pt-BR" altLang="pt-BR" b="1" dirty="0"/>
              <a:t>Caminho</a:t>
            </a:r>
          </a:p>
        </p:txBody>
      </p:sp>
      <p:sp>
        <p:nvSpPr>
          <p:cNvPr id="35843" name="Rectangle 2">
            <a:extLst>
              <a:ext uri="{FF2B5EF4-FFF2-40B4-BE49-F238E27FC236}">
                <a16:creationId xmlns:a16="http://schemas.microsoft.com/office/drawing/2014/main" id="{E2857490-275C-435C-A86C-38EFF6A82CD5}"/>
              </a:ext>
            </a:extLst>
          </p:cNvPr>
          <p:cNvSpPr>
            <a:spLocks noGrp="1"/>
          </p:cNvSpPr>
          <p:nvPr>
            <p:ph idx="1"/>
          </p:nvPr>
        </p:nvSpPr>
        <p:spPr>
          <a:xfrm>
            <a:off x="1703388" y="1676400"/>
            <a:ext cx="8736012" cy="1536700"/>
          </a:xfrm>
        </p:spPr>
        <p:txBody>
          <a:bodyPr vert="horz" lIns="90488" tIns="44450" rIns="90488" bIns="44450" rtlCol="0">
            <a:normAutofit/>
          </a:bodyPr>
          <a:lstStyle/>
          <a:p>
            <a:pPr eaLnBrk="1" hangingPunct="1"/>
            <a:r>
              <a:rPr lang="pt-BR" altLang="pt-BR" sz="3100" i="1"/>
              <a:t>Um </a:t>
            </a:r>
            <a:r>
              <a:rPr lang="pt-BR" altLang="pt-BR" sz="3100" b="1">
                <a:solidFill>
                  <a:srgbClr val="FF0000"/>
                </a:solidFill>
              </a:rPr>
              <a:t>caminho</a:t>
            </a:r>
            <a:r>
              <a:rPr lang="pt-BR" altLang="pt-BR" sz="3100" b="1"/>
              <a:t> </a:t>
            </a:r>
            <a:r>
              <a:rPr lang="pt-BR" altLang="pt-BR" sz="3100" i="1"/>
              <a:t>é uma sequencia de </a:t>
            </a:r>
            <a:r>
              <a:rPr lang="pt-BR" altLang="pt-BR" sz="3100" i="1">
                <a:solidFill>
                  <a:srgbClr val="FF0000"/>
                </a:solidFill>
              </a:rPr>
              <a:t>vértices</a:t>
            </a:r>
            <a:r>
              <a:rPr lang="pt-BR" altLang="pt-BR" sz="3100" i="1"/>
              <a:t> e </a:t>
            </a:r>
            <a:r>
              <a:rPr lang="pt-BR" altLang="pt-BR" sz="3100" i="1">
                <a:solidFill>
                  <a:srgbClr val="FF0000"/>
                </a:solidFill>
              </a:rPr>
              <a:t>arestas</a:t>
            </a:r>
            <a:r>
              <a:rPr lang="pt-BR" altLang="pt-BR" sz="3100" i="1"/>
              <a:t>, onde para cada </a:t>
            </a:r>
            <a:r>
              <a:rPr lang="pt-BR" altLang="pt-BR" sz="3100"/>
              <a:t>i,</a:t>
            </a:r>
            <a:r>
              <a:rPr lang="pt-BR" altLang="pt-BR" sz="3100" i="1"/>
              <a:t> os extremos da aresta </a:t>
            </a:r>
            <a:r>
              <a:rPr lang="pt-BR" altLang="pt-BR" sz="3100"/>
              <a:t>a</a:t>
            </a:r>
            <a:r>
              <a:rPr lang="pt-BR" altLang="pt-BR" sz="3100" baseline="-25000"/>
              <a:t>i</a:t>
            </a:r>
            <a:r>
              <a:rPr lang="pt-BR" altLang="pt-BR" sz="3100" i="1" baseline="-25000"/>
              <a:t>  </a:t>
            </a:r>
            <a:r>
              <a:rPr lang="pt-BR" altLang="pt-BR" sz="3100" i="1"/>
              <a:t>são </a:t>
            </a:r>
            <a:r>
              <a:rPr lang="pt-BR" altLang="pt-BR" sz="3100"/>
              <a:t>n</a:t>
            </a:r>
            <a:r>
              <a:rPr lang="pt-BR" altLang="pt-BR" sz="3100" baseline="-25000"/>
              <a:t>i</a:t>
            </a:r>
            <a:r>
              <a:rPr lang="pt-BR" altLang="pt-BR" sz="3100"/>
              <a:t>-n</a:t>
            </a:r>
            <a:r>
              <a:rPr lang="pt-BR" altLang="pt-BR" sz="3100" baseline="-25000"/>
              <a:t>i+1</a:t>
            </a:r>
            <a:r>
              <a:rPr lang="pt-BR" altLang="pt-BR" sz="3100" i="1"/>
              <a:t>.</a:t>
            </a:r>
            <a:r>
              <a:rPr lang="pt-BR" altLang="pt-BR" sz="3100"/>
              <a:t> </a:t>
            </a:r>
          </a:p>
        </p:txBody>
      </p:sp>
      <p:grpSp>
        <p:nvGrpSpPr>
          <p:cNvPr id="35844" name="Group 26">
            <a:extLst>
              <a:ext uri="{FF2B5EF4-FFF2-40B4-BE49-F238E27FC236}">
                <a16:creationId xmlns:a16="http://schemas.microsoft.com/office/drawing/2014/main" id="{276C7A78-F4DF-4E74-A71E-3356DD8FCAB2}"/>
              </a:ext>
            </a:extLst>
          </p:cNvPr>
          <p:cNvGrpSpPr>
            <a:grpSpLocks/>
          </p:cNvGrpSpPr>
          <p:nvPr/>
        </p:nvGrpSpPr>
        <p:grpSpPr bwMode="auto">
          <a:xfrm>
            <a:off x="1919289" y="3500438"/>
            <a:ext cx="4105275" cy="2495550"/>
            <a:chOff x="249" y="2387"/>
            <a:chExt cx="2586" cy="1572"/>
          </a:xfrm>
        </p:grpSpPr>
        <p:sp>
          <p:nvSpPr>
            <p:cNvPr id="35847" name="Oval 4">
              <a:extLst>
                <a:ext uri="{FF2B5EF4-FFF2-40B4-BE49-F238E27FC236}">
                  <a16:creationId xmlns:a16="http://schemas.microsoft.com/office/drawing/2014/main" id="{CD52A130-3683-496C-9D2B-18468B8E7AB0}"/>
                </a:ext>
              </a:extLst>
            </p:cNvPr>
            <p:cNvSpPr>
              <a:spLocks noChangeArrowheads="1"/>
            </p:cNvSpPr>
            <p:nvPr/>
          </p:nvSpPr>
          <p:spPr bwMode="auto">
            <a:xfrm>
              <a:off x="2432" y="3385"/>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5848" name="Oval 5">
              <a:extLst>
                <a:ext uri="{FF2B5EF4-FFF2-40B4-BE49-F238E27FC236}">
                  <a16:creationId xmlns:a16="http://schemas.microsoft.com/office/drawing/2014/main" id="{8B9A0D7F-7D9D-46E1-8B25-546029832A4A}"/>
                </a:ext>
              </a:extLst>
            </p:cNvPr>
            <p:cNvSpPr>
              <a:spLocks noChangeArrowheads="1"/>
            </p:cNvSpPr>
            <p:nvPr/>
          </p:nvSpPr>
          <p:spPr bwMode="auto">
            <a:xfrm>
              <a:off x="300" y="288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5849" name="Oval 6">
              <a:extLst>
                <a:ext uri="{FF2B5EF4-FFF2-40B4-BE49-F238E27FC236}">
                  <a16:creationId xmlns:a16="http://schemas.microsoft.com/office/drawing/2014/main" id="{5B4DAF3C-1D31-426E-B5D3-035AB12E958D}"/>
                </a:ext>
              </a:extLst>
            </p:cNvPr>
            <p:cNvSpPr>
              <a:spLocks noChangeArrowheads="1"/>
            </p:cNvSpPr>
            <p:nvPr/>
          </p:nvSpPr>
          <p:spPr bwMode="auto">
            <a:xfrm>
              <a:off x="828" y="360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5850" name="Oval 7">
              <a:extLst>
                <a:ext uri="{FF2B5EF4-FFF2-40B4-BE49-F238E27FC236}">
                  <a16:creationId xmlns:a16="http://schemas.microsoft.com/office/drawing/2014/main" id="{8F98B4B6-64D1-4ACD-8CC2-AB0C497E3AC9}"/>
                </a:ext>
              </a:extLst>
            </p:cNvPr>
            <p:cNvSpPr>
              <a:spLocks noChangeArrowheads="1"/>
            </p:cNvSpPr>
            <p:nvPr/>
          </p:nvSpPr>
          <p:spPr bwMode="auto">
            <a:xfrm>
              <a:off x="1740" y="360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5851" name="Oval 8">
              <a:extLst>
                <a:ext uri="{FF2B5EF4-FFF2-40B4-BE49-F238E27FC236}">
                  <a16:creationId xmlns:a16="http://schemas.microsoft.com/office/drawing/2014/main" id="{B1F0EA45-B0ED-42BC-AF4C-F3AF495E441C}"/>
                </a:ext>
              </a:extLst>
            </p:cNvPr>
            <p:cNvSpPr>
              <a:spLocks noChangeArrowheads="1"/>
            </p:cNvSpPr>
            <p:nvPr/>
          </p:nvSpPr>
          <p:spPr bwMode="auto">
            <a:xfrm>
              <a:off x="2220" y="288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5852" name="Line 9">
              <a:extLst>
                <a:ext uri="{FF2B5EF4-FFF2-40B4-BE49-F238E27FC236}">
                  <a16:creationId xmlns:a16="http://schemas.microsoft.com/office/drawing/2014/main" id="{156A8F93-CCCB-4154-82F7-EDB5C18F5C3E}"/>
                </a:ext>
              </a:extLst>
            </p:cNvPr>
            <p:cNvSpPr>
              <a:spLocks noChangeShapeType="1"/>
            </p:cNvSpPr>
            <p:nvPr/>
          </p:nvSpPr>
          <p:spPr bwMode="auto">
            <a:xfrm>
              <a:off x="348" y="2936"/>
              <a:ext cx="520" cy="7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5853" name="Line 10">
              <a:extLst>
                <a:ext uri="{FF2B5EF4-FFF2-40B4-BE49-F238E27FC236}">
                  <a16:creationId xmlns:a16="http://schemas.microsoft.com/office/drawing/2014/main" id="{89A1B54F-F4B8-44CD-8974-49C674CFAF09}"/>
                </a:ext>
              </a:extLst>
            </p:cNvPr>
            <p:cNvSpPr>
              <a:spLocks noChangeShapeType="1"/>
            </p:cNvSpPr>
            <p:nvPr/>
          </p:nvSpPr>
          <p:spPr bwMode="auto">
            <a:xfrm flipH="1">
              <a:off x="885" y="2931"/>
              <a:ext cx="1406" cy="7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5854" name="Line 11">
              <a:extLst>
                <a:ext uri="{FF2B5EF4-FFF2-40B4-BE49-F238E27FC236}">
                  <a16:creationId xmlns:a16="http://schemas.microsoft.com/office/drawing/2014/main" id="{9D0F998D-8AB1-4584-A5D1-B1F9E0B24116}"/>
                </a:ext>
              </a:extLst>
            </p:cNvPr>
            <p:cNvSpPr>
              <a:spLocks noChangeShapeType="1"/>
            </p:cNvSpPr>
            <p:nvPr/>
          </p:nvSpPr>
          <p:spPr bwMode="auto">
            <a:xfrm>
              <a:off x="876" y="3652"/>
              <a:ext cx="8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172044" name="Rectangle 12">
              <a:extLst>
                <a:ext uri="{FF2B5EF4-FFF2-40B4-BE49-F238E27FC236}">
                  <a16:creationId xmlns:a16="http://schemas.microsoft.com/office/drawing/2014/main" id="{0A0CFD2F-90B4-4E8D-9250-F17E1548C376}"/>
                </a:ext>
              </a:extLst>
            </p:cNvPr>
            <p:cNvSpPr>
              <a:spLocks noChangeArrowheads="1"/>
            </p:cNvSpPr>
            <p:nvPr/>
          </p:nvSpPr>
          <p:spPr bwMode="auto">
            <a:xfrm>
              <a:off x="249" y="2981"/>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1</a:t>
              </a:r>
            </a:p>
          </p:txBody>
        </p:sp>
        <p:sp>
          <p:nvSpPr>
            <p:cNvPr id="172045" name="Rectangle 13">
              <a:extLst>
                <a:ext uri="{FF2B5EF4-FFF2-40B4-BE49-F238E27FC236}">
                  <a16:creationId xmlns:a16="http://schemas.microsoft.com/office/drawing/2014/main" id="{F4862375-B5F3-4206-BBA5-E61F7295433E}"/>
                </a:ext>
              </a:extLst>
            </p:cNvPr>
            <p:cNvSpPr>
              <a:spLocks noChangeArrowheads="1"/>
            </p:cNvSpPr>
            <p:nvPr/>
          </p:nvSpPr>
          <p:spPr bwMode="auto">
            <a:xfrm>
              <a:off x="2381" y="3142"/>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5</a:t>
              </a:r>
            </a:p>
          </p:txBody>
        </p:sp>
        <p:sp>
          <p:nvSpPr>
            <p:cNvPr id="172046" name="Rectangle 14">
              <a:extLst>
                <a:ext uri="{FF2B5EF4-FFF2-40B4-BE49-F238E27FC236}">
                  <a16:creationId xmlns:a16="http://schemas.microsoft.com/office/drawing/2014/main" id="{74EB6CFF-6369-4524-A578-2E4FEB3559E7}"/>
                </a:ext>
              </a:extLst>
            </p:cNvPr>
            <p:cNvSpPr>
              <a:spLocks noChangeArrowheads="1"/>
            </p:cNvSpPr>
            <p:nvPr/>
          </p:nvSpPr>
          <p:spPr bwMode="auto">
            <a:xfrm>
              <a:off x="2169" y="2981"/>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2</a:t>
              </a:r>
            </a:p>
          </p:txBody>
        </p:sp>
        <p:sp>
          <p:nvSpPr>
            <p:cNvPr id="172047" name="Rectangle 15">
              <a:extLst>
                <a:ext uri="{FF2B5EF4-FFF2-40B4-BE49-F238E27FC236}">
                  <a16:creationId xmlns:a16="http://schemas.microsoft.com/office/drawing/2014/main" id="{C57AE6D1-5D91-4027-A383-0B8E8B6AAB78}"/>
                </a:ext>
              </a:extLst>
            </p:cNvPr>
            <p:cNvSpPr>
              <a:spLocks noChangeArrowheads="1"/>
            </p:cNvSpPr>
            <p:nvPr/>
          </p:nvSpPr>
          <p:spPr bwMode="auto">
            <a:xfrm>
              <a:off x="1792" y="3748"/>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4</a:t>
              </a:r>
            </a:p>
          </p:txBody>
        </p:sp>
        <p:sp>
          <p:nvSpPr>
            <p:cNvPr id="172048" name="Rectangle 16">
              <a:extLst>
                <a:ext uri="{FF2B5EF4-FFF2-40B4-BE49-F238E27FC236}">
                  <a16:creationId xmlns:a16="http://schemas.microsoft.com/office/drawing/2014/main" id="{F8033FED-68F1-4B29-B41D-46019252DAE0}"/>
                </a:ext>
              </a:extLst>
            </p:cNvPr>
            <p:cNvSpPr>
              <a:spLocks noChangeArrowheads="1"/>
            </p:cNvSpPr>
            <p:nvPr/>
          </p:nvSpPr>
          <p:spPr bwMode="auto">
            <a:xfrm>
              <a:off x="777" y="3749"/>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3</a:t>
              </a:r>
            </a:p>
          </p:txBody>
        </p:sp>
        <p:sp>
          <p:nvSpPr>
            <p:cNvPr id="35860" name="Line 17">
              <a:extLst>
                <a:ext uri="{FF2B5EF4-FFF2-40B4-BE49-F238E27FC236}">
                  <a16:creationId xmlns:a16="http://schemas.microsoft.com/office/drawing/2014/main" id="{59CD4C8C-5730-474A-AE2D-CFA9A0EE0D00}"/>
                </a:ext>
              </a:extLst>
            </p:cNvPr>
            <p:cNvSpPr>
              <a:spLocks noChangeShapeType="1"/>
            </p:cNvSpPr>
            <p:nvPr/>
          </p:nvSpPr>
          <p:spPr bwMode="auto">
            <a:xfrm flipH="1">
              <a:off x="340" y="2931"/>
              <a:ext cx="190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5861" name="Oval 18">
              <a:extLst>
                <a:ext uri="{FF2B5EF4-FFF2-40B4-BE49-F238E27FC236}">
                  <a16:creationId xmlns:a16="http://schemas.microsoft.com/office/drawing/2014/main" id="{59724342-D2B4-414C-A760-2FEDEBE3980E}"/>
                </a:ext>
              </a:extLst>
            </p:cNvPr>
            <p:cNvSpPr>
              <a:spLocks noChangeArrowheads="1"/>
            </p:cNvSpPr>
            <p:nvPr/>
          </p:nvSpPr>
          <p:spPr bwMode="auto">
            <a:xfrm>
              <a:off x="2200" y="2614"/>
              <a:ext cx="409" cy="36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5862" name="Freeform 19">
              <a:extLst>
                <a:ext uri="{FF2B5EF4-FFF2-40B4-BE49-F238E27FC236}">
                  <a16:creationId xmlns:a16="http://schemas.microsoft.com/office/drawing/2014/main" id="{6BB15E88-FB08-4369-BBB8-E047496A21E4}"/>
                </a:ext>
              </a:extLst>
            </p:cNvPr>
            <p:cNvSpPr>
              <a:spLocks/>
            </p:cNvSpPr>
            <p:nvPr/>
          </p:nvSpPr>
          <p:spPr bwMode="auto">
            <a:xfrm>
              <a:off x="340" y="2614"/>
              <a:ext cx="1951" cy="317"/>
            </a:xfrm>
            <a:custGeom>
              <a:avLst/>
              <a:gdLst>
                <a:gd name="T0" fmla="*/ 1951 w 1951"/>
                <a:gd name="T1" fmla="*/ 317 h 317"/>
                <a:gd name="T2" fmla="*/ 862 w 1951"/>
                <a:gd name="T3" fmla="*/ 0 h 317"/>
                <a:gd name="T4" fmla="*/ 0 w 1951"/>
                <a:gd name="T5" fmla="*/ 317 h 317"/>
                <a:gd name="T6" fmla="*/ 0 60000 65536"/>
                <a:gd name="T7" fmla="*/ 0 60000 65536"/>
                <a:gd name="T8" fmla="*/ 0 60000 65536"/>
                <a:gd name="T9" fmla="*/ 0 w 1951"/>
                <a:gd name="T10" fmla="*/ 0 h 317"/>
                <a:gd name="T11" fmla="*/ 1951 w 1951"/>
                <a:gd name="T12" fmla="*/ 317 h 317"/>
              </a:gdLst>
              <a:ahLst/>
              <a:cxnLst>
                <a:cxn ang="T6">
                  <a:pos x="T0" y="T1"/>
                </a:cxn>
                <a:cxn ang="T7">
                  <a:pos x="T2" y="T3"/>
                </a:cxn>
                <a:cxn ang="T8">
                  <a:pos x="T4" y="T5"/>
                </a:cxn>
              </a:cxnLst>
              <a:rect l="T9" t="T10" r="T11" b="T12"/>
              <a:pathLst>
                <a:path w="1951" h="317">
                  <a:moveTo>
                    <a:pt x="1951" y="317"/>
                  </a:moveTo>
                  <a:cubicBezTo>
                    <a:pt x="1569" y="158"/>
                    <a:pt x="1187" y="0"/>
                    <a:pt x="862" y="0"/>
                  </a:cubicBezTo>
                  <a:cubicBezTo>
                    <a:pt x="537" y="0"/>
                    <a:pt x="144" y="264"/>
                    <a:pt x="0" y="317"/>
                  </a:cubicBezTo>
                </a:path>
              </a:pathLst>
            </a:custGeom>
            <a:noFill/>
            <a:ln w="127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pt-BR"/>
            </a:p>
          </p:txBody>
        </p:sp>
        <p:sp>
          <p:nvSpPr>
            <p:cNvPr id="35863" name="Text Box 20">
              <a:extLst>
                <a:ext uri="{FF2B5EF4-FFF2-40B4-BE49-F238E27FC236}">
                  <a16:creationId xmlns:a16="http://schemas.microsoft.com/office/drawing/2014/main" id="{2E52B957-A6DF-464A-8311-DAEDAF2A6D54}"/>
                </a:ext>
              </a:extLst>
            </p:cNvPr>
            <p:cNvSpPr txBox="1">
              <a:spLocks noChangeArrowheads="1"/>
            </p:cNvSpPr>
            <p:nvPr/>
          </p:nvSpPr>
          <p:spPr bwMode="auto">
            <a:xfrm>
              <a:off x="340" y="3294"/>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e</a:t>
              </a:r>
            </a:p>
          </p:txBody>
        </p:sp>
        <p:sp>
          <p:nvSpPr>
            <p:cNvPr id="35864" name="Text Box 21">
              <a:extLst>
                <a:ext uri="{FF2B5EF4-FFF2-40B4-BE49-F238E27FC236}">
                  <a16:creationId xmlns:a16="http://schemas.microsoft.com/office/drawing/2014/main" id="{8B97D6A1-1900-45F4-B2AE-553BC37BB14E}"/>
                </a:ext>
              </a:extLst>
            </p:cNvPr>
            <p:cNvSpPr txBox="1">
              <a:spLocks noChangeArrowheads="1"/>
            </p:cNvSpPr>
            <p:nvPr/>
          </p:nvSpPr>
          <p:spPr bwMode="auto">
            <a:xfrm>
              <a:off x="1066" y="2387"/>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b</a:t>
              </a:r>
            </a:p>
          </p:txBody>
        </p:sp>
        <p:sp>
          <p:nvSpPr>
            <p:cNvPr id="35865" name="Text Box 22">
              <a:extLst>
                <a:ext uri="{FF2B5EF4-FFF2-40B4-BE49-F238E27FC236}">
                  <a16:creationId xmlns:a16="http://schemas.microsoft.com/office/drawing/2014/main" id="{0DEABD88-8DA8-499A-BA81-53BEEA169A51}"/>
                </a:ext>
              </a:extLst>
            </p:cNvPr>
            <p:cNvSpPr txBox="1">
              <a:spLocks noChangeArrowheads="1"/>
            </p:cNvSpPr>
            <p:nvPr/>
          </p:nvSpPr>
          <p:spPr bwMode="auto">
            <a:xfrm>
              <a:off x="975" y="2886"/>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a</a:t>
              </a:r>
            </a:p>
          </p:txBody>
        </p:sp>
        <p:sp>
          <p:nvSpPr>
            <p:cNvPr id="35866" name="Text Box 23">
              <a:extLst>
                <a:ext uri="{FF2B5EF4-FFF2-40B4-BE49-F238E27FC236}">
                  <a16:creationId xmlns:a16="http://schemas.microsoft.com/office/drawing/2014/main" id="{524B6B2E-C269-47A3-B04D-918D5D304FED}"/>
                </a:ext>
              </a:extLst>
            </p:cNvPr>
            <p:cNvSpPr txBox="1">
              <a:spLocks noChangeArrowheads="1"/>
            </p:cNvSpPr>
            <p:nvPr/>
          </p:nvSpPr>
          <p:spPr bwMode="auto">
            <a:xfrm>
              <a:off x="1701" y="3113"/>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d</a:t>
              </a:r>
            </a:p>
          </p:txBody>
        </p:sp>
        <p:sp>
          <p:nvSpPr>
            <p:cNvPr id="35867" name="Text Box 24">
              <a:extLst>
                <a:ext uri="{FF2B5EF4-FFF2-40B4-BE49-F238E27FC236}">
                  <a16:creationId xmlns:a16="http://schemas.microsoft.com/office/drawing/2014/main" id="{005893C0-96AB-4704-9C43-DC5557E3C3B4}"/>
                </a:ext>
              </a:extLst>
            </p:cNvPr>
            <p:cNvSpPr txBox="1">
              <a:spLocks noChangeArrowheads="1"/>
            </p:cNvSpPr>
            <p:nvPr/>
          </p:nvSpPr>
          <p:spPr bwMode="auto">
            <a:xfrm>
              <a:off x="2517" y="2478"/>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c</a:t>
              </a:r>
            </a:p>
          </p:txBody>
        </p:sp>
        <p:sp>
          <p:nvSpPr>
            <p:cNvPr id="35868" name="Text Box 25">
              <a:extLst>
                <a:ext uri="{FF2B5EF4-FFF2-40B4-BE49-F238E27FC236}">
                  <a16:creationId xmlns:a16="http://schemas.microsoft.com/office/drawing/2014/main" id="{A3E57F37-8B8F-454F-B4D9-9FF2A06A1F12}"/>
                </a:ext>
              </a:extLst>
            </p:cNvPr>
            <p:cNvSpPr txBox="1">
              <a:spLocks noChangeArrowheads="1"/>
            </p:cNvSpPr>
            <p:nvPr/>
          </p:nvSpPr>
          <p:spPr bwMode="auto">
            <a:xfrm>
              <a:off x="1202" y="3657"/>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f</a:t>
              </a:r>
            </a:p>
          </p:txBody>
        </p:sp>
      </p:grpSp>
      <p:sp>
        <p:nvSpPr>
          <p:cNvPr id="35845" name="Text Box 27">
            <a:extLst>
              <a:ext uri="{FF2B5EF4-FFF2-40B4-BE49-F238E27FC236}">
                <a16:creationId xmlns:a16="http://schemas.microsoft.com/office/drawing/2014/main" id="{A815C58E-FE1E-4CF0-90EB-2356D165E1D2}"/>
              </a:ext>
            </a:extLst>
          </p:cNvPr>
          <p:cNvSpPr txBox="1">
            <a:spLocks noChangeArrowheads="1"/>
          </p:cNvSpPr>
          <p:nvPr/>
        </p:nvSpPr>
        <p:spPr bwMode="auto">
          <a:xfrm>
            <a:off x="7175501" y="4149726"/>
            <a:ext cx="26654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pt-BR" altLang="pt-BR" sz="1800">
              <a:latin typeface="Arial" panose="020B0604020202020204" pitchFamily="34" charset="0"/>
            </a:endParaRPr>
          </a:p>
        </p:txBody>
      </p:sp>
      <p:sp>
        <p:nvSpPr>
          <p:cNvPr id="35846" name="Text Box 28">
            <a:extLst>
              <a:ext uri="{FF2B5EF4-FFF2-40B4-BE49-F238E27FC236}">
                <a16:creationId xmlns:a16="http://schemas.microsoft.com/office/drawing/2014/main" id="{E9B01585-5110-40FB-A9D0-E20D95BC5038}"/>
              </a:ext>
            </a:extLst>
          </p:cNvPr>
          <p:cNvSpPr txBox="1">
            <a:spLocks noChangeArrowheads="1"/>
          </p:cNvSpPr>
          <p:nvPr/>
        </p:nvSpPr>
        <p:spPr bwMode="auto">
          <a:xfrm>
            <a:off x="6167438" y="3068638"/>
            <a:ext cx="4392612" cy="363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pt-BR" altLang="pt-BR">
                <a:solidFill>
                  <a:srgbClr val="FF0000"/>
                </a:solidFill>
                <a:latin typeface="Arial" panose="020B0604020202020204" pitchFamily="34" charset="0"/>
              </a:rPr>
              <a:t>Alguns Caminhos possíveis vértices 2-4=</a:t>
            </a:r>
          </a:p>
          <a:p>
            <a:pPr algn="ctr" eaLnBrk="1" hangingPunct="1">
              <a:spcBef>
                <a:spcPct val="50000"/>
              </a:spcBef>
              <a:buFontTx/>
              <a:buNone/>
            </a:pPr>
            <a:r>
              <a:rPr lang="pt-BR" altLang="pt-BR" sz="2800">
                <a:solidFill>
                  <a:srgbClr val="FF0000"/>
                </a:solidFill>
                <a:latin typeface="Arial" panose="020B0604020202020204" pitchFamily="34" charset="0"/>
              </a:rPr>
              <a:t>2, a, 1, b, 2, d, 3, f, 4</a:t>
            </a:r>
          </a:p>
          <a:p>
            <a:pPr algn="ctr" eaLnBrk="1" hangingPunct="1">
              <a:spcBef>
                <a:spcPct val="50000"/>
              </a:spcBef>
              <a:buFontTx/>
              <a:buNone/>
            </a:pPr>
            <a:r>
              <a:rPr lang="pt-BR" altLang="pt-BR" sz="2800">
                <a:solidFill>
                  <a:srgbClr val="FF0000"/>
                </a:solidFill>
                <a:latin typeface="Arial" panose="020B0604020202020204" pitchFamily="34" charset="0"/>
              </a:rPr>
              <a:t>Ou</a:t>
            </a:r>
          </a:p>
          <a:p>
            <a:pPr algn="ctr" eaLnBrk="1" hangingPunct="1">
              <a:spcBef>
                <a:spcPct val="50000"/>
              </a:spcBef>
              <a:buFontTx/>
              <a:buNone/>
            </a:pPr>
            <a:r>
              <a:rPr lang="pt-BR" altLang="pt-BR" sz="2800">
                <a:solidFill>
                  <a:srgbClr val="FF0000"/>
                </a:solidFill>
                <a:latin typeface="Arial" panose="020B0604020202020204" pitchFamily="34" charset="0"/>
              </a:rPr>
              <a:t>2, d, 3, f, 4</a:t>
            </a:r>
          </a:p>
          <a:p>
            <a:pPr algn="ctr" eaLnBrk="1" hangingPunct="1">
              <a:spcBef>
                <a:spcPct val="50000"/>
              </a:spcBef>
              <a:buFontTx/>
              <a:buNone/>
            </a:pPr>
            <a:r>
              <a:rPr lang="pt-BR" altLang="pt-BR" sz="2800">
                <a:solidFill>
                  <a:srgbClr val="FF0000"/>
                </a:solidFill>
                <a:latin typeface="Arial" panose="020B0604020202020204" pitchFamily="34" charset="0"/>
              </a:rPr>
              <a:t>Ou...</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79D11BBB-A8B7-4B21-A6E9-F3F7264160C4}"/>
              </a:ext>
            </a:extLst>
          </p:cNvPr>
          <p:cNvSpPr>
            <a:spLocks noGrp="1"/>
          </p:cNvSpPr>
          <p:nvPr>
            <p:ph type="title"/>
          </p:nvPr>
        </p:nvSpPr>
        <p:spPr>
          <a:xfrm>
            <a:off x="1524001" y="0"/>
            <a:ext cx="8435975" cy="863600"/>
          </a:xfrm>
        </p:spPr>
        <p:txBody>
          <a:bodyPr vert="horz" lIns="90488" tIns="44450" rIns="90488" bIns="44450" rtlCol="0" anchor="b">
            <a:normAutofit/>
          </a:bodyPr>
          <a:lstStyle/>
          <a:p>
            <a:pPr eaLnBrk="1" hangingPunct="1"/>
            <a:r>
              <a:rPr lang="pt-BR" altLang="pt-BR" b="1" dirty="0"/>
              <a:t>Comprimento</a:t>
            </a:r>
          </a:p>
        </p:txBody>
      </p:sp>
      <p:sp>
        <p:nvSpPr>
          <p:cNvPr id="36867" name="Rectangle 3">
            <a:extLst>
              <a:ext uri="{FF2B5EF4-FFF2-40B4-BE49-F238E27FC236}">
                <a16:creationId xmlns:a16="http://schemas.microsoft.com/office/drawing/2014/main" id="{189CFA7E-77E2-4B11-BBDD-01877AAE23A8}"/>
              </a:ext>
            </a:extLst>
          </p:cNvPr>
          <p:cNvSpPr>
            <a:spLocks noGrp="1"/>
          </p:cNvSpPr>
          <p:nvPr>
            <p:ph idx="1"/>
          </p:nvPr>
        </p:nvSpPr>
        <p:spPr>
          <a:xfrm>
            <a:off x="1524001" y="908050"/>
            <a:ext cx="3960813" cy="2089150"/>
          </a:xfrm>
        </p:spPr>
        <p:txBody>
          <a:bodyPr vert="horz" lIns="90488" tIns="44450" rIns="90488" bIns="44450" rtlCol="0">
            <a:normAutofit/>
          </a:bodyPr>
          <a:lstStyle/>
          <a:p>
            <a:pPr eaLnBrk="1" hangingPunct="1">
              <a:lnSpc>
                <a:spcPct val="90000"/>
              </a:lnSpc>
            </a:pPr>
            <a:r>
              <a:rPr lang="pt-BR" altLang="pt-BR" sz="3000" i="1"/>
              <a:t>O</a:t>
            </a:r>
            <a:r>
              <a:rPr lang="pt-BR" altLang="pt-BR" sz="3000"/>
              <a:t> </a:t>
            </a:r>
            <a:r>
              <a:rPr lang="pt-BR" altLang="pt-BR" sz="3000" b="1">
                <a:solidFill>
                  <a:srgbClr val="FF0000"/>
                </a:solidFill>
              </a:rPr>
              <a:t>comprimento</a:t>
            </a:r>
            <a:r>
              <a:rPr lang="pt-BR" altLang="pt-BR" sz="3000" b="1"/>
              <a:t> </a:t>
            </a:r>
            <a:r>
              <a:rPr lang="pt-BR" altLang="pt-BR" sz="3000"/>
              <a:t> </a:t>
            </a:r>
            <a:r>
              <a:rPr lang="pt-BR" altLang="pt-BR" sz="3000" i="1"/>
              <a:t>de um caminho é o número de </a:t>
            </a:r>
            <a:r>
              <a:rPr lang="pt-BR" altLang="pt-BR" sz="3000" i="1">
                <a:solidFill>
                  <a:srgbClr val="FF0000"/>
                </a:solidFill>
              </a:rPr>
              <a:t>arestas</a:t>
            </a:r>
            <a:r>
              <a:rPr lang="pt-BR" altLang="pt-BR" sz="3000" i="1"/>
              <a:t> que ele contém.</a:t>
            </a:r>
            <a:endParaRPr lang="pt-BR" altLang="pt-BR" sz="3000" b="1"/>
          </a:p>
        </p:txBody>
      </p:sp>
      <p:grpSp>
        <p:nvGrpSpPr>
          <p:cNvPr id="36868" name="Group 8">
            <a:extLst>
              <a:ext uri="{FF2B5EF4-FFF2-40B4-BE49-F238E27FC236}">
                <a16:creationId xmlns:a16="http://schemas.microsoft.com/office/drawing/2014/main" id="{B130A9FC-5BEF-4555-84F7-FB4B31C7385F}"/>
              </a:ext>
            </a:extLst>
          </p:cNvPr>
          <p:cNvGrpSpPr>
            <a:grpSpLocks/>
          </p:cNvGrpSpPr>
          <p:nvPr/>
        </p:nvGrpSpPr>
        <p:grpSpPr bwMode="auto">
          <a:xfrm>
            <a:off x="6240464" y="1484313"/>
            <a:ext cx="4105275" cy="2495550"/>
            <a:chOff x="249" y="2387"/>
            <a:chExt cx="2586" cy="1572"/>
          </a:xfrm>
        </p:grpSpPr>
        <p:sp>
          <p:nvSpPr>
            <p:cNvPr id="36870" name="Oval 9">
              <a:extLst>
                <a:ext uri="{FF2B5EF4-FFF2-40B4-BE49-F238E27FC236}">
                  <a16:creationId xmlns:a16="http://schemas.microsoft.com/office/drawing/2014/main" id="{A0734CB0-9CB5-471D-B757-E0D69DE4CC7D}"/>
                </a:ext>
              </a:extLst>
            </p:cNvPr>
            <p:cNvSpPr>
              <a:spLocks noChangeArrowheads="1"/>
            </p:cNvSpPr>
            <p:nvPr/>
          </p:nvSpPr>
          <p:spPr bwMode="auto">
            <a:xfrm>
              <a:off x="2432" y="3385"/>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6871" name="Oval 10">
              <a:extLst>
                <a:ext uri="{FF2B5EF4-FFF2-40B4-BE49-F238E27FC236}">
                  <a16:creationId xmlns:a16="http://schemas.microsoft.com/office/drawing/2014/main" id="{797A8BE4-0124-4557-9BB2-A151AD60DB45}"/>
                </a:ext>
              </a:extLst>
            </p:cNvPr>
            <p:cNvSpPr>
              <a:spLocks noChangeArrowheads="1"/>
            </p:cNvSpPr>
            <p:nvPr/>
          </p:nvSpPr>
          <p:spPr bwMode="auto">
            <a:xfrm>
              <a:off x="300" y="288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6872" name="Oval 11">
              <a:extLst>
                <a:ext uri="{FF2B5EF4-FFF2-40B4-BE49-F238E27FC236}">
                  <a16:creationId xmlns:a16="http://schemas.microsoft.com/office/drawing/2014/main" id="{04FFFEE9-AB99-483A-90A3-374E30ED9442}"/>
                </a:ext>
              </a:extLst>
            </p:cNvPr>
            <p:cNvSpPr>
              <a:spLocks noChangeArrowheads="1"/>
            </p:cNvSpPr>
            <p:nvPr/>
          </p:nvSpPr>
          <p:spPr bwMode="auto">
            <a:xfrm>
              <a:off x="828" y="360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6873" name="Oval 12">
              <a:extLst>
                <a:ext uri="{FF2B5EF4-FFF2-40B4-BE49-F238E27FC236}">
                  <a16:creationId xmlns:a16="http://schemas.microsoft.com/office/drawing/2014/main" id="{F2E8D67B-C0E1-4043-B282-9C176BDF97B5}"/>
                </a:ext>
              </a:extLst>
            </p:cNvPr>
            <p:cNvSpPr>
              <a:spLocks noChangeArrowheads="1"/>
            </p:cNvSpPr>
            <p:nvPr/>
          </p:nvSpPr>
          <p:spPr bwMode="auto">
            <a:xfrm>
              <a:off x="1740" y="360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6874" name="Oval 13">
              <a:extLst>
                <a:ext uri="{FF2B5EF4-FFF2-40B4-BE49-F238E27FC236}">
                  <a16:creationId xmlns:a16="http://schemas.microsoft.com/office/drawing/2014/main" id="{A7DE13BE-CF00-4247-9112-C76A3DD85FF8}"/>
                </a:ext>
              </a:extLst>
            </p:cNvPr>
            <p:cNvSpPr>
              <a:spLocks noChangeArrowheads="1"/>
            </p:cNvSpPr>
            <p:nvPr/>
          </p:nvSpPr>
          <p:spPr bwMode="auto">
            <a:xfrm>
              <a:off x="2220" y="288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6875" name="Line 14">
              <a:extLst>
                <a:ext uri="{FF2B5EF4-FFF2-40B4-BE49-F238E27FC236}">
                  <a16:creationId xmlns:a16="http://schemas.microsoft.com/office/drawing/2014/main" id="{9BEDCF98-9D04-41F1-9696-8ADE364227A8}"/>
                </a:ext>
              </a:extLst>
            </p:cNvPr>
            <p:cNvSpPr>
              <a:spLocks noChangeShapeType="1"/>
            </p:cNvSpPr>
            <p:nvPr/>
          </p:nvSpPr>
          <p:spPr bwMode="auto">
            <a:xfrm>
              <a:off x="348" y="2936"/>
              <a:ext cx="520" cy="7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6876" name="Line 15">
              <a:extLst>
                <a:ext uri="{FF2B5EF4-FFF2-40B4-BE49-F238E27FC236}">
                  <a16:creationId xmlns:a16="http://schemas.microsoft.com/office/drawing/2014/main" id="{A6BE5E33-932D-4E55-B5A2-304BA93BA200}"/>
                </a:ext>
              </a:extLst>
            </p:cNvPr>
            <p:cNvSpPr>
              <a:spLocks noChangeShapeType="1"/>
            </p:cNvSpPr>
            <p:nvPr/>
          </p:nvSpPr>
          <p:spPr bwMode="auto">
            <a:xfrm flipH="1">
              <a:off x="885" y="2931"/>
              <a:ext cx="1406" cy="7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6877" name="Line 16">
              <a:extLst>
                <a:ext uri="{FF2B5EF4-FFF2-40B4-BE49-F238E27FC236}">
                  <a16:creationId xmlns:a16="http://schemas.microsoft.com/office/drawing/2014/main" id="{E3EB3A1D-2D46-416A-B7B9-7F81958766AC}"/>
                </a:ext>
              </a:extLst>
            </p:cNvPr>
            <p:cNvSpPr>
              <a:spLocks noChangeShapeType="1"/>
            </p:cNvSpPr>
            <p:nvPr/>
          </p:nvSpPr>
          <p:spPr bwMode="auto">
            <a:xfrm>
              <a:off x="876" y="3652"/>
              <a:ext cx="8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9953" name="Rectangle 17">
              <a:extLst>
                <a:ext uri="{FF2B5EF4-FFF2-40B4-BE49-F238E27FC236}">
                  <a16:creationId xmlns:a16="http://schemas.microsoft.com/office/drawing/2014/main" id="{F44C71DA-F4C5-492E-B492-383A6DA4ED60}"/>
                </a:ext>
              </a:extLst>
            </p:cNvPr>
            <p:cNvSpPr>
              <a:spLocks noChangeArrowheads="1"/>
            </p:cNvSpPr>
            <p:nvPr/>
          </p:nvSpPr>
          <p:spPr bwMode="auto">
            <a:xfrm>
              <a:off x="249" y="2981"/>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1</a:t>
              </a:r>
            </a:p>
          </p:txBody>
        </p:sp>
        <p:sp>
          <p:nvSpPr>
            <p:cNvPr id="39954" name="Rectangle 18">
              <a:extLst>
                <a:ext uri="{FF2B5EF4-FFF2-40B4-BE49-F238E27FC236}">
                  <a16:creationId xmlns:a16="http://schemas.microsoft.com/office/drawing/2014/main" id="{433A2EF1-EA7A-4DC5-AA15-571F230810A7}"/>
                </a:ext>
              </a:extLst>
            </p:cNvPr>
            <p:cNvSpPr>
              <a:spLocks noChangeArrowheads="1"/>
            </p:cNvSpPr>
            <p:nvPr/>
          </p:nvSpPr>
          <p:spPr bwMode="auto">
            <a:xfrm>
              <a:off x="2381" y="3142"/>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5</a:t>
              </a:r>
            </a:p>
          </p:txBody>
        </p:sp>
        <p:sp>
          <p:nvSpPr>
            <p:cNvPr id="39955" name="Rectangle 19">
              <a:extLst>
                <a:ext uri="{FF2B5EF4-FFF2-40B4-BE49-F238E27FC236}">
                  <a16:creationId xmlns:a16="http://schemas.microsoft.com/office/drawing/2014/main" id="{6B8FC643-508A-472C-B0DA-AF1A32206BBF}"/>
                </a:ext>
              </a:extLst>
            </p:cNvPr>
            <p:cNvSpPr>
              <a:spLocks noChangeArrowheads="1"/>
            </p:cNvSpPr>
            <p:nvPr/>
          </p:nvSpPr>
          <p:spPr bwMode="auto">
            <a:xfrm>
              <a:off x="2169" y="2981"/>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2</a:t>
              </a:r>
            </a:p>
          </p:txBody>
        </p:sp>
        <p:sp>
          <p:nvSpPr>
            <p:cNvPr id="39956" name="Rectangle 20">
              <a:extLst>
                <a:ext uri="{FF2B5EF4-FFF2-40B4-BE49-F238E27FC236}">
                  <a16:creationId xmlns:a16="http://schemas.microsoft.com/office/drawing/2014/main" id="{2585D020-12AE-40CA-A629-5A8BFBD1247A}"/>
                </a:ext>
              </a:extLst>
            </p:cNvPr>
            <p:cNvSpPr>
              <a:spLocks noChangeArrowheads="1"/>
            </p:cNvSpPr>
            <p:nvPr/>
          </p:nvSpPr>
          <p:spPr bwMode="auto">
            <a:xfrm>
              <a:off x="1792" y="3748"/>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4</a:t>
              </a:r>
            </a:p>
          </p:txBody>
        </p:sp>
        <p:sp>
          <p:nvSpPr>
            <p:cNvPr id="39957" name="Rectangle 21">
              <a:extLst>
                <a:ext uri="{FF2B5EF4-FFF2-40B4-BE49-F238E27FC236}">
                  <a16:creationId xmlns:a16="http://schemas.microsoft.com/office/drawing/2014/main" id="{EE06F1CE-F020-4B7A-86C3-7A91B2A2F90C}"/>
                </a:ext>
              </a:extLst>
            </p:cNvPr>
            <p:cNvSpPr>
              <a:spLocks noChangeArrowheads="1"/>
            </p:cNvSpPr>
            <p:nvPr/>
          </p:nvSpPr>
          <p:spPr bwMode="auto">
            <a:xfrm>
              <a:off x="777" y="3749"/>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3</a:t>
              </a:r>
            </a:p>
          </p:txBody>
        </p:sp>
        <p:sp>
          <p:nvSpPr>
            <p:cNvPr id="36883" name="Line 22">
              <a:extLst>
                <a:ext uri="{FF2B5EF4-FFF2-40B4-BE49-F238E27FC236}">
                  <a16:creationId xmlns:a16="http://schemas.microsoft.com/office/drawing/2014/main" id="{E2D90A5E-D2FA-41E7-942C-042D4314AFCC}"/>
                </a:ext>
              </a:extLst>
            </p:cNvPr>
            <p:cNvSpPr>
              <a:spLocks noChangeShapeType="1"/>
            </p:cNvSpPr>
            <p:nvPr/>
          </p:nvSpPr>
          <p:spPr bwMode="auto">
            <a:xfrm flipH="1">
              <a:off x="340" y="2931"/>
              <a:ext cx="190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6884" name="Oval 23">
              <a:extLst>
                <a:ext uri="{FF2B5EF4-FFF2-40B4-BE49-F238E27FC236}">
                  <a16:creationId xmlns:a16="http://schemas.microsoft.com/office/drawing/2014/main" id="{9F055C80-6CBA-455E-B4BC-ADA92A815395}"/>
                </a:ext>
              </a:extLst>
            </p:cNvPr>
            <p:cNvSpPr>
              <a:spLocks noChangeArrowheads="1"/>
            </p:cNvSpPr>
            <p:nvPr/>
          </p:nvSpPr>
          <p:spPr bwMode="auto">
            <a:xfrm>
              <a:off x="2200" y="2614"/>
              <a:ext cx="409" cy="36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6885" name="Freeform 24">
              <a:extLst>
                <a:ext uri="{FF2B5EF4-FFF2-40B4-BE49-F238E27FC236}">
                  <a16:creationId xmlns:a16="http://schemas.microsoft.com/office/drawing/2014/main" id="{1608FB69-1CAD-433A-9DCC-27336ABF1CFE}"/>
                </a:ext>
              </a:extLst>
            </p:cNvPr>
            <p:cNvSpPr>
              <a:spLocks/>
            </p:cNvSpPr>
            <p:nvPr/>
          </p:nvSpPr>
          <p:spPr bwMode="auto">
            <a:xfrm>
              <a:off x="340" y="2614"/>
              <a:ext cx="1951" cy="317"/>
            </a:xfrm>
            <a:custGeom>
              <a:avLst/>
              <a:gdLst>
                <a:gd name="T0" fmla="*/ 1951 w 1951"/>
                <a:gd name="T1" fmla="*/ 317 h 317"/>
                <a:gd name="T2" fmla="*/ 862 w 1951"/>
                <a:gd name="T3" fmla="*/ 0 h 317"/>
                <a:gd name="T4" fmla="*/ 0 w 1951"/>
                <a:gd name="T5" fmla="*/ 317 h 317"/>
                <a:gd name="T6" fmla="*/ 0 60000 65536"/>
                <a:gd name="T7" fmla="*/ 0 60000 65536"/>
                <a:gd name="T8" fmla="*/ 0 60000 65536"/>
                <a:gd name="T9" fmla="*/ 0 w 1951"/>
                <a:gd name="T10" fmla="*/ 0 h 317"/>
                <a:gd name="T11" fmla="*/ 1951 w 1951"/>
                <a:gd name="T12" fmla="*/ 317 h 317"/>
              </a:gdLst>
              <a:ahLst/>
              <a:cxnLst>
                <a:cxn ang="T6">
                  <a:pos x="T0" y="T1"/>
                </a:cxn>
                <a:cxn ang="T7">
                  <a:pos x="T2" y="T3"/>
                </a:cxn>
                <a:cxn ang="T8">
                  <a:pos x="T4" y="T5"/>
                </a:cxn>
              </a:cxnLst>
              <a:rect l="T9" t="T10" r="T11" b="T12"/>
              <a:pathLst>
                <a:path w="1951" h="317">
                  <a:moveTo>
                    <a:pt x="1951" y="317"/>
                  </a:moveTo>
                  <a:cubicBezTo>
                    <a:pt x="1569" y="158"/>
                    <a:pt x="1187" y="0"/>
                    <a:pt x="862" y="0"/>
                  </a:cubicBezTo>
                  <a:cubicBezTo>
                    <a:pt x="537" y="0"/>
                    <a:pt x="144" y="264"/>
                    <a:pt x="0" y="317"/>
                  </a:cubicBezTo>
                </a:path>
              </a:pathLst>
            </a:custGeom>
            <a:noFill/>
            <a:ln w="127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pt-BR"/>
            </a:p>
          </p:txBody>
        </p:sp>
        <p:sp>
          <p:nvSpPr>
            <p:cNvPr id="36886" name="Text Box 25">
              <a:extLst>
                <a:ext uri="{FF2B5EF4-FFF2-40B4-BE49-F238E27FC236}">
                  <a16:creationId xmlns:a16="http://schemas.microsoft.com/office/drawing/2014/main" id="{72A42CBB-B903-4BD0-A061-ADB8043A167F}"/>
                </a:ext>
              </a:extLst>
            </p:cNvPr>
            <p:cNvSpPr txBox="1">
              <a:spLocks noChangeArrowheads="1"/>
            </p:cNvSpPr>
            <p:nvPr/>
          </p:nvSpPr>
          <p:spPr bwMode="auto">
            <a:xfrm>
              <a:off x="340" y="3294"/>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e</a:t>
              </a:r>
            </a:p>
          </p:txBody>
        </p:sp>
        <p:sp>
          <p:nvSpPr>
            <p:cNvPr id="36887" name="Text Box 26">
              <a:extLst>
                <a:ext uri="{FF2B5EF4-FFF2-40B4-BE49-F238E27FC236}">
                  <a16:creationId xmlns:a16="http://schemas.microsoft.com/office/drawing/2014/main" id="{C6892A8D-0CFD-44BD-9A2A-12A551376384}"/>
                </a:ext>
              </a:extLst>
            </p:cNvPr>
            <p:cNvSpPr txBox="1">
              <a:spLocks noChangeArrowheads="1"/>
            </p:cNvSpPr>
            <p:nvPr/>
          </p:nvSpPr>
          <p:spPr bwMode="auto">
            <a:xfrm>
              <a:off x="1066" y="2387"/>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b</a:t>
              </a:r>
            </a:p>
          </p:txBody>
        </p:sp>
        <p:sp>
          <p:nvSpPr>
            <p:cNvPr id="36888" name="Text Box 27">
              <a:extLst>
                <a:ext uri="{FF2B5EF4-FFF2-40B4-BE49-F238E27FC236}">
                  <a16:creationId xmlns:a16="http://schemas.microsoft.com/office/drawing/2014/main" id="{AA265784-ADAC-4F98-A73D-E1D0A0C07553}"/>
                </a:ext>
              </a:extLst>
            </p:cNvPr>
            <p:cNvSpPr txBox="1">
              <a:spLocks noChangeArrowheads="1"/>
            </p:cNvSpPr>
            <p:nvPr/>
          </p:nvSpPr>
          <p:spPr bwMode="auto">
            <a:xfrm>
              <a:off x="975" y="2886"/>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a</a:t>
              </a:r>
            </a:p>
          </p:txBody>
        </p:sp>
        <p:sp>
          <p:nvSpPr>
            <p:cNvPr id="36889" name="Text Box 28">
              <a:extLst>
                <a:ext uri="{FF2B5EF4-FFF2-40B4-BE49-F238E27FC236}">
                  <a16:creationId xmlns:a16="http://schemas.microsoft.com/office/drawing/2014/main" id="{60DBF377-598E-41DE-97E4-D4178052B201}"/>
                </a:ext>
              </a:extLst>
            </p:cNvPr>
            <p:cNvSpPr txBox="1">
              <a:spLocks noChangeArrowheads="1"/>
            </p:cNvSpPr>
            <p:nvPr/>
          </p:nvSpPr>
          <p:spPr bwMode="auto">
            <a:xfrm>
              <a:off x="1701" y="3113"/>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d</a:t>
              </a:r>
            </a:p>
          </p:txBody>
        </p:sp>
        <p:sp>
          <p:nvSpPr>
            <p:cNvPr id="36890" name="Text Box 29">
              <a:extLst>
                <a:ext uri="{FF2B5EF4-FFF2-40B4-BE49-F238E27FC236}">
                  <a16:creationId xmlns:a16="http://schemas.microsoft.com/office/drawing/2014/main" id="{7753A8CD-8F8C-4AEF-9458-60BE1E3B64D7}"/>
                </a:ext>
              </a:extLst>
            </p:cNvPr>
            <p:cNvSpPr txBox="1">
              <a:spLocks noChangeArrowheads="1"/>
            </p:cNvSpPr>
            <p:nvPr/>
          </p:nvSpPr>
          <p:spPr bwMode="auto">
            <a:xfrm>
              <a:off x="2517" y="2478"/>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c</a:t>
              </a:r>
            </a:p>
          </p:txBody>
        </p:sp>
        <p:sp>
          <p:nvSpPr>
            <p:cNvPr id="36891" name="Text Box 30">
              <a:extLst>
                <a:ext uri="{FF2B5EF4-FFF2-40B4-BE49-F238E27FC236}">
                  <a16:creationId xmlns:a16="http://schemas.microsoft.com/office/drawing/2014/main" id="{002832A1-A443-4AC2-8ACE-CED6B6FDA2BF}"/>
                </a:ext>
              </a:extLst>
            </p:cNvPr>
            <p:cNvSpPr txBox="1">
              <a:spLocks noChangeArrowheads="1"/>
            </p:cNvSpPr>
            <p:nvPr/>
          </p:nvSpPr>
          <p:spPr bwMode="auto">
            <a:xfrm>
              <a:off x="1202" y="3657"/>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f</a:t>
              </a:r>
            </a:p>
          </p:txBody>
        </p:sp>
      </p:grpSp>
      <p:sp>
        <p:nvSpPr>
          <p:cNvPr id="31749" name="Text Box 31">
            <a:extLst>
              <a:ext uri="{FF2B5EF4-FFF2-40B4-BE49-F238E27FC236}">
                <a16:creationId xmlns:a16="http://schemas.microsoft.com/office/drawing/2014/main" id="{9DCA63EC-A8EA-4167-80A5-BA4C01E461E8}"/>
              </a:ext>
            </a:extLst>
          </p:cNvPr>
          <p:cNvSpPr txBox="1">
            <a:spLocks noChangeArrowheads="1"/>
          </p:cNvSpPr>
          <p:nvPr/>
        </p:nvSpPr>
        <p:spPr bwMode="auto">
          <a:xfrm>
            <a:off x="2135189" y="3933825"/>
            <a:ext cx="7343775" cy="1862138"/>
          </a:xfrm>
          <a:prstGeom prst="rect">
            <a:avLst/>
          </a:prstGeom>
          <a:noFill/>
          <a:ln w="12700" algn="ctr">
            <a:noFill/>
            <a:miter lim="800000"/>
            <a:headEnd/>
            <a:tailEnd/>
          </a:ln>
          <a:effectLst/>
        </p:spPr>
        <p:txBody>
          <a:bodyPr>
            <a:spAutoFit/>
          </a:bodyPr>
          <a:lstStyle/>
          <a:p>
            <a:pPr eaLnBrk="1" hangingPunct="1">
              <a:spcBef>
                <a:spcPct val="50000"/>
              </a:spcBef>
              <a:defRPr/>
            </a:pPr>
            <a:r>
              <a:rPr lang="pt-BR" sz="3200" dirty="0">
                <a:solidFill>
                  <a:srgbClr val="FF0000"/>
                </a:solidFill>
                <a:latin typeface="Arial" charset="0"/>
              </a:rPr>
              <a:t>Caminhos \ comprimento</a:t>
            </a:r>
          </a:p>
          <a:p>
            <a:pPr eaLnBrk="1" hangingPunct="1">
              <a:spcBef>
                <a:spcPct val="50000"/>
              </a:spcBef>
              <a:defRPr/>
            </a:pPr>
            <a:r>
              <a:rPr lang="pt-BR" sz="2800" dirty="0">
                <a:solidFill>
                  <a:srgbClr val="FF0000"/>
                </a:solidFill>
                <a:latin typeface="Arial" charset="0"/>
              </a:rPr>
              <a:t>2, a, 1, b, 2, d, 3, f, 4 </a:t>
            </a:r>
            <a:r>
              <a:rPr lang="pt-BR" sz="2800" dirty="0">
                <a:solidFill>
                  <a:srgbClr val="FF0000"/>
                </a:solidFill>
                <a:latin typeface="Arial" charset="0"/>
                <a:cs typeface="Arial" charset="0"/>
              </a:rPr>
              <a:t>►</a:t>
            </a:r>
            <a:r>
              <a:rPr lang="pt-BR" sz="2800" dirty="0">
                <a:solidFill>
                  <a:schemeClr val="accent1">
                    <a:lumMod val="50000"/>
                  </a:schemeClr>
                </a:solidFill>
                <a:latin typeface="Arial" charset="0"/>
                <a:cs typeface="Arial" charset="0"/>
              </a:rPr>
              <a:t>comprimento 4</a:t>
            </a:r>
          </a:p>
          <a:p>
            <a:pPr eaLnBrk="1" hangingPunct="1">
              <a:spcBef>
                <a:spcPct val="50000"/>
              </a:spcBef>
              <a:defRPr/>
            </a:pPr>
            <a:r>
              <a:rPr lang="pt-BR" sz="2800" dirty="0">
                <a:solidFill>
                  <a:srgbClr val="FF0000"/>
                </a:solidFill>
                <a:latin typeface="Arial" charset="0"/>
              </a:rPr>
              <a:t>2, d, 3, f, 4 ►</a:t>
            </a:r>
            <a:r>
              <a:rPr lang="pt-BR" sz="2800" dirty="0">
                <a:solidFill>
                  <a:schemeClr val="accent1">
                    <a:lumMod val="50000"/>
                  </a:schemeClr>
                </a:solidFill>
                <a:latin typeface="Arial" charset="0"/>
                <a:cs typeface="Arial" charset="0"/>
              </a:rPr>
              <a:t>comprimento 2</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id="{00ACA50A-5A37-4F7D-8B5C-A757D7017432}"/>
              </a:ext>
            </a:extLst>
          </p:cNvPr>
          <p:cNvSpPr>
            <a:spLocks noGrp="1"/>
          </p:cNvSpPr>
          <p:nvPr>
            <p:ph type="title"/>
          </p:nvPr>
        </p:nvSpPr>
        <p:spPr>
          <a:xfrm>
            <a:off x="1919289" y="0"/>
            <a:ext cx="8435975" cy="863600"/>
          </a:xfrm>
        </p:spPr>
        <p:txBody>
          <a:bodyPr vert="horz" lIns="90488" tIns="44450" rIns="90488" bIns="44450" rtlCol="0" anchor="b">
            <a:normAutofit/>
          </a:bodyPr>
          <a:lstStyle/>
          <a:p>
            <a:pPr eaLnBrk="1" hangingPunct="1"/>
            <a:r>
              <a:rPr lang="pt-BR" altLang="pt-BR" b="1" dirty="0"/>
              <a:t>Ciclos</a:t>
            </a:r>
          </a:p>
        </p:txBody>
      </p:sp>
      <p:sp>
        <p:nvSpPr>
          <p:cNvPr id="39939" name="Rectangle 2">
            <a:extLst>
              <a:ext uri="{FF2B5EF4-FFF2-40B4-BE49-F238E27FC236}">
                <a16:creationId xmlns:a16="http://schemas.microsoft.com/office/drawing/2014/main" id="{439B2C0A-43DD-4E06-BF4F-5D65C3876AB8}"/>
              </a:ext>
            </a:extLst>
          </p:cNvPr>
          <p:cNvSpPr>
            <a:spLocks noGrp="1"/>
          </p:cNvSpPr>
          <p:nvPr>
            <p:ph idx="1"/>
          </p:nvPr>
        </p:nvSpPr>
        <p:spPr>
          <a:xfrm>
            <a:off x="1774825" y="981075"/>
            <a:ext cx="8642350" cy="2089150"/>
          </a:xfrm>
        </p:spPr>
        <p:txBody>
          <a:bodyPr vert="horz" lIns="90488" tIns="44450" rIns="90488" bIns="44450" rtlCol="0">
            <a:normAutofit/>
          </a:bodyPr>
          <a:lstStyle/>
          <a:p>
            <a:pPr eaLnBrk="1" hangingPunct="1">
              <a:lnSpc>
                <a:spcPct val="90000"/>
              </a:lnSpc>
            </a:pPr>
            <a:r>
              <a:rPr lang="pt-BR" altLang="pt-BR" sz="3000" i="1"/>
              <a:t>Um</a:t>
            </a:r>
            <a:r>
              <a:rPr lang="pt-BR" altLang="pt-BR" sz="3000"/>
              <a:t> </a:t>
            </a:r>
            <a:r>
              <a:rPr lang="pt-BR" altLang="pt-BR" sz="3000" b="1">
                <a:solidFill>
                  <a:srgbClr val="FF0000"/>
                </a:solidFill>
              </a:rPr>
              <a:t>ciclo</a:t>
            </a:r>
            <a:r>
              <a:rPr lang="pt-BR" altLang="pt-BR" sz="3000"/>
              <a:t> </a:t>
            </a:r>
            <a:r>
              <a:rPr lang="pt-BR" altLang="pt-BR" sz="3000" i="1"/>
              <a:t>é um caminho de algum vértice</a:t>
            </a:r>
            <a:r>
              <a:rPr lang="pt-BR" altLang="pt-BR" sz="3000"/>
              <a:t> n </a:t>
            </a:r>
            <a:r>
              <a:rPr lang="pt-BR" altLang="pt-BR" sz="3000" i="1"/>
              <a:t>até</a:t>
            </a:r>
            <a:r>
              <a:rPr lang="pt-BR" altLang="pt-BR" sz="3000"/>
              <a:t> n </a:t>
            </a:r>
            <a:r>
              <a:rPr lang="pt-BR" altLang="pt-BR" sz="3000" i="1"/>
              <a:t>de novo de forma que nenhum vértice ocorra mais de uma vez no caminho.</a:t>
            </a:r>
            <a:endParaRPr lang="pt-BR" altLang="pt-BR" sz="3000"/>
          </a:p>
          <a:p>
            <a:pPr eaLnBrk="1" hangingPunct="1">
              <a:lnSpc>
                <a:spcPct val="90000"/>
              </a:lnSpc>
            </a:pPr>
            <a:r>
              <a:rPr lang="pt-BR" altLang="pt-BR" sz="3000" i="1"/>
              <a:t>Um grafo sem ciclos é dito grafo </a:t>
            </a:r>
            <a:r>
              <a:rPr lang="pt-BR" altLang="pt-BR" sz="3000" b="1"/>
              <a:t>acíclico.</a:t>
            </a:r>
          </a:p>
        </p:txBody>
      </p:sp>
      <p:grpSp>
        <p:nvGrpSpPr>
          <p:cNvPr id="39940" name="Group 4">
            <a:extLst>
              <a:ext uri="{FF2B5EF4-FFF2-40B4-BE49-F238E27FC236}">
                <a16:creationId xmlns:a16="http://schemas.microsoft.com/office/drawing/2014/main" id="{FE40C4AD-AAE9-4D30-957D-F66380BFB613}"/>
              </a:ext>
            </a:extLst>
          </p:cNvPr>
          <p:cNvGrpSpPr>
            <a:grpSpLocks/>
          </p:cNvGrpSpPr>
          <p:nvPr/>
        </p:nvGrpSpPr>
        <p:grpSpPr bwMode="auto">
          <a:xfrm>
            <a:off x="2495551" y="3141663"/>
            <a:ext cx="4105275" cy="2495550"/>
            <a:chOff x="249" y="2387"/>
            <a:chExt cx="2586" cy="1572"/>
          </a:xfrm>
        </p:grpSpPr>
        <p:sp>
          <p:nvSpPr>
            <p:cNvPr id="39942" name="Oval 5">
              <a:extLst>
                <a:ext uri="{FF2B5EF4-FFF2-40B4-BE49-F238E27FC236}">
                  <a16:creationId xmlns:a16="http://schemas.microsoft.com/office/drawing/2014/main" id="{D4BCCB0E-C963-4219-A173-E0ED7472C570}"/>
                </a:ext>
              </a:extLst>
            </p:cNvPr>
            <p:cNvSpPr>
              <a:spLocks noChangeArrowheads="1"/>
            </p:cNvSpPr>
            <p:nvPr/>
          </p:nvSpPr>
          <p:spPr bwMode="auto">
            <a:xfrm>
              <a:off x="2432" y="3385"/>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9943" name="Oval 6">
              <a:extLst>
                <a:ext uri="{FF2B5EF4-FFF2-40B4-BE49-F238E27FC236}">
                  <a16:creationId xmlns:a16="http://schemas.microsoft.com/office/drawing/2014/main" id="{0EA8047F-7058-41C1-9F04-5337AAF5D14F}"/>
                </a:ext>
              </a:extLst>
            </p:cNvPr>
            <p:cNvSpPr>
              <a:spLocks noChangeArrowheads="1"/>
            </p:cNvSpPr>
            <p:nvPr/>
          </p:nvSpPr>
          <p:spPr bwMode="auto">
            <a:xfrm>
              <a:off x="300" y="288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9944" name="Oval 7">
              <a:extLst>
                <a:ext uri="{FF2B5EF4-FFF2-40B4-BE49-F238E27FC236}">
                  <a16:creationId xmlns:a16="http://schemas.microsoft.com/office/drawing/2014/main" id="{B68215E1-31AC-4771-AF54-939F98F294CD}"/>
                </a:ext>
              </a:extLst>
            </p:cNvPr>
            <p:cNvSpPr>
              <a:spLocks noChangeArrowheads="1"/>
            </p:cNvSpPr>
            <p:nvPr/>
          </p:nvSpPr>
          <p:spPr bwMode="auto">
            <a:xfrm>
              <a:off x="828" y="360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9945" name="Oval 8">
              <a:extLst>
                <a:ext uri="{FF2B5EF4-FFF2-40B4-BE49-F238E27FC236}">
                  <a16:creationId xmlns:a16="http://schemas.microsoft.com/office/drawing/2014/main" id="{A78DA36F-B40B-47DE-AD8B-14D2091ECBE6}"/>
                </a:ext>
              </a:extLst>
            </p:cNvPr>
            <p:cNvSpPr>
              <a:spLocks noChangeArrowheads="1"/>
            </p:cNvSpPr>
            <p:nvPr/>
          </p:nvSpPr>
          <p:spPr bwMode="auto">
            <a:xfrm>
              <a:off x="1740" y="360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9946" name="Oval 9">
              <a:extLst>
                <a:ext uri="{FF2B5EF4-FFF2-40B4-BE49-F238E27FC236}">
                  <a16:creationId xmlns:a16="http://schemas.microsoft.com/office/drawing/2014/main" id="{70A1061B-4BAA-4E04-BB79-B9FC729D31DC}"/>
                </a:ext>
              </a:extLst>
            </p:cNvPr>
            <p:cNvSpPr>
              <a:spLocks noChangeArrowheads="1"/>
            </p:cNvSpPr>
            <p:nvPr/>
          </p:nvSpPr>
          <p:spPr bwMode="auto">
            <a:xfrm>
              <a:off x="2220" y="288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9947" name="Line 10">
              <a:extLst>
                <a:ext uri="{FF2B5EF4-FFF2-40B4-BE49-F238E27FC236}">
                  <a16:creationId xmlns:a16="http://schemas.microsoft.com/office/drawing/2014/main" id="{6B40AED7-698D-4FAB-A35B-8F94D70608DB}"/>
                </a:ext>
              </a:extLst>
            </p:cNvPr>
            <p:cNvSpPr>
              <a:spLocks noChangeShapeType="1"/>
            </p:cNvSpPr>
            <p:nvPr/>
          </p:nvSpPr>
          <p:spPr bwMode="auto">
            <a:xfrm>
              <a:off x="348" y="2936"/>
              <a:ext cx="520" cy="7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9948" name="Line 11">
              <a:extLst>
                <a:ext uri="{FF2B5EF4-FFF2-40B4-BE49-F238E27FC236}">
                  <a16:creationId xmlns:a16="http://schemas.microsoft.com/office/drawing/2014/main" id="{729E069D-F96D-4710-BD1F-F798FC5B05EF}"/>
                </a:ext>
              </a:extLst>
            </p:cNvPr>
            <p:cNvSpPr>
              <a:spLocks noChangeShapeType="1"/>
            </p:cNvSpPr>
            <p:nvPr/>
          </p:nvSpPr>
          <p:spPr bwMode="auto">
            <a:xfrm flipH="1">
              <a:off x="885" y="2931"/>
              <a:ext cx="1406" cy="7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9949" name="Line 12">
              <a:extLst>
                <a:ext uri="{FF2B5EF4-FFF2-40B4-BE49-F238E27FC236}">
                  <a16:creationId xmlns:a16="http://schemas.microsoft.com/office/drawing/2014/main" id="{A621CA81-50D0-41C5-9E23-7834681A7CC3}"/>
                </a:ext>
              </a:extLst>
            </p:cNvPr>
            <p:cNvSpPr>
              <a:spLocks noChangeShapeType="1"/>
            </p:cNvSpPr>
            <p:nvPr/>
          </p:nvSpPr>
          <p:spPr bwMode="auto">
            <a:xfrm>
              <a:off x="876" y="3652"/>
              <a:ext cx="8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174093" name="Rectangle 13">
              <a:extLst>
                <a:ext uri="{FF2B5EF4-FFF2-40B4-BE49-F238E27FC236}">
                  <a16:creationId xmlns:a16="http://schemas.microsoft.com/office/drawing/2014/main" id="{0D2B5DE2-84F9-4FE2-98F8-A4D8AAE9F698}"/>
                </a:ext>
              </a:extLst>
            </p:cNvPr>
            <p:cNvSpPr>
              <a:spLocks noChangeArrowheads="1"/>
            </p:cNvSpPr>
            <p:nvPr/>
          </p:nvSpPr>
          <p:spPr bwMode="auto">
            <a:xfrm>
              <a:off x="249" y="2981"/>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1</a:t>
              </a:r>
            </a:p>
          </p:txBody>
        </p:sp>
        <p:sp>
          <p:nvSpPr>
            <p:cNvPr id="174094" name="Rectangle 14">
              <a:extLst>
                <a:ext uri="{FF2B5EF4-FFF2-40B4-BE49-F238E27FC236}">
                  <a16:creationId xmlns:a16="http://schemas.microsoft.com/office/drawing/2014/main" id="{BE01E695-9009-4195-AD79-1D669BE89CB6}"/>
                </a:ext>
              </a:extLst>
            </p:cNvPr>
            <p:cNvSpPr>
              <a:spLocks noChangeArrowheads="1"/>
            </p:cNvSpPr>
            <p:nvPr/>
          </p:nvSpPr>
          <p:spPr bwMode="auto">
            <a:xfrm>
              <a:off x="2381" y="3142"/>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5</a:t>
              </a:r>
            </a:p>
          </p:txBody>
        </p:sp>
        <p:sp>
          <p:nvSpPr>
            <p:cNvPr id="174095" name="Rectangle 15">
              <a:extLst>
                <a:ext uri="{FF2B5EF4-FFF2-40B4-BE49-F238E27FC236}">
                  <a16:creationId xmlns:a16="http://schemas.microsoft.com/office/drawing/2014/main" id="{AD3946EF-A437-4FC2-ABFB-27ED794ADA02}"/>
                </a:ext>
              </a:extLst>
            </p:cNvPr>
            <p:cNvSpPr>
              <a:spLocks noChangeArrowheads="1"/>
            </p:cNvSpPr>
            <p:nvPr/>
          </p:nvSpPr>
          <p:spPr bwMode="auto">
            <a:xfrm>
              <a:off x="2169" y="2981"/>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2</a:t>
              </a:r>
            </a:p>
          </p:txBody>
        </p:sp>
        <p:sp>
          <p:nvSpPr>
            <p:cNvPr id="174096" name="Rectangle 16">
              <a:extLst>
                <a:ext uri="{FF2B5EF4-FFF2-40B4-BE49-F238E27FC236}">
                  <a16:creationId xmlns:a16="http://schemas.microsoft.com/office/drawing/2014/main" id="{82A8189B-3BCD-4B3F-8BAF-EF79BE3F9F1F}"/>
                </a:ext>
              </a:extLst>
            </p:cNvPr>
            <p:cNvSpPr>
              <a:spLocks noChangeArrowheads="1"/>
            </p:cNvSpPr>
            <p:nvPr/>
          </p:nvSpPr>
          <p:spPr bwMode="auto">
            <a:xfrm>
              <a:off x="1792" y="3748"/>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4</a:t>
              </a:r>
            </a:p>
          </p:txBody>
        </p:sp>
        <p:sp>
          <p:nvSpPr>
            <p:cNvPr id="174097" name="Rectangle 17">
              <a:extLst>
                <a:ext uri="{FF2B5EF4-FFF2-40B4-BE49-F238E27FC236}">
                  <a16:creationId xmlns:a16="http://schemas.microsoft.com/office/drawing/2014/main" id="{F2E47ECE-BCCA-49B6-9D56-A6FD57298CFA}"/>
                </a:ext>
              </a:extLst>
            </p:cNvPr>
            <p:cNvSpPr>
              <a:spLocks noChangeArrowheads="1"/>
            </p:cNvSpPr>
            <p:nvPr/>
          </p:nvSpPr>
          <p:spPr bwMode="auto">
            <a:xfrm>
              <a:off x="777" y="3749"/>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3</a:t>
              </a:r>
            </a:p>
          </p:txBody>
        </p:sp>
        <p:sp>
          <p:nvSpPr>
            <p:cNvPr id="39955" name="Line 18">
              <a:extLst>
                <a:ext uri="{FF2B5EF4-FFF2-40B4-BE49-F238E27FC236}">
                  <a16:creationId xmlns:a16="http://schemas.microsoft.com/office/drawing/2014/main" id="{31C43148-C042-432B-A18F-8816A764A1EF}"/>
                </a:ext>
              </a:extLst>
            </p:cNvPr>
            <p:cNvSpPr>
              <a:spLocks noChangeShapeType="1"/>
            </p:cNvSpPr>
            <p:nvPr/>
          </p:nvSpPr>
          <p:spPr bwMode="auto">
            <a:xfrm flipH="1">
              <a:off x="340" y="2931"/>
              <a:ext cx="190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9956" name="Oval 19">
              <a:extLst>
                <a:ext uri="{FF2B5EF4-FFF2-40B4-BE49-F238E27FC236}">
                  <a16:creationId xmlns:a16="http://schemas.microsoft.com/office/drawing/2014/main" id="{AFD0664A-61FF-4AD5-8735-53480B2363A3}"/>
                </a:ext>
              </a:extLst>
            </p:cNvPr>
            <p:cNvSpPr>
              <a:spLocks noChangeArrowheads="1"/>
            </p:cNvSpPr>
            <p:nvPr/>
          </p:nvSpPr>
          <p:spPr bwMode="auto">
            <a:xfrm>
              <a:off x="2200" y="2614"/>
              <a:ext cx="409" cy="36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9957" name="Freeform 20">
              <a:extLst>
                <a:ext uri="{FF2B5EF4-FFF2-40B4-BE49-F238E27FC236}">
                  <a16:creationId xmlns:a16="http://schemas.microsoft.com/office/drawing/2014/main" id="{A6A9E4F4-87A6-490B-B01B-1455B90F63ED}"/>
                </a:ext>
              </a:extLst>
            </p:cNvPr>
            <p:cNvSpPr>
              <a:spLocks/>
            </p:cNvSpPr>
            <p:nvPr/>
          </p:nvSpPr>
          <p:spPr bwMode="auto">
            <a:xfrm>
              <a:off x="340" y="2614"/>
              <a:ext cx="1951" cy="317"/>
            </a:xfrm>
            <a:custGeom>
              <a:avLst/>
              <a:gdLst>
                <a:gd name="T0" fmla="*/ 1951 w 1951"/>
                <a:gd name="T1" fmla="*/ 317 h 317"/>
                <a:gd name="T2" fmla="*/ 862 w 1951"/>
                <a:gd name="T3" fmla="*/ 0 h 317"/>
                <a:gd name="T4" fmla="*/ 0 w 1951"/>
                <a:gd name="T5" fmla="*/ 317 h 317"/>
                <a:gd name="T6" fmla="*/ 0 60000 65536"/>
                <a:gd name="T7" fmla="*/ 0 60000 65536"/>
                <a:gd name="T8" fmla="*/ 0 60000 65536"/>
                <a:gd name="T9" fmla="*/ 0 w 1951"/>
                <a:gd name="T10" fmla="*/ 0 h 317"/>
                <a:gd name="T11" fmla="*/ 1951 w 1951"/>
                <a:gd name="T12" fmla="*/ 317 h 317"/>
              </a:gdLst>
              <a:ahLst/>
              <a:cxnLst>
                <a:cxn ang="T6">
                  <a:pos x="T0" y="T1"/>
                </a:cxn>
                <a:cxn ang="T7">
                  <a:pos x="T2" y="T3"/>
                </a:cxn>
                <a:cxn ang="T8">
                  <a:pos x="T4" y="T5"/>
                </a:cxn>
              </a:cxnLst>
              <a:rect l="T9" t="T10" r="T11" b="T12"/>
              <a:pathLst>
                <a:path w="1951" h="317">
                  <a:moveTo>
                    <a:pt x="1951" y="317"/>
                  </a:moveTo>
                  <a:cubicBezTo>
                    <a:pt x="1569" y="158"/>
                    <a:pt x="1187" y="0"/>
                    <a:pt x="862" y="0"/>
                  </a:cubicBezTo>
                  <a:cubicBezTo>
                    <a:pt x="537" y="0"/>
                    <a:pt x="144" y="264"/>
                    <a:pt x="0" y="317"/>
                  </a:cubicBezTo>
                </a:path>
              </a:pathLst>
            </a:custGeom>
            <a:noFill/>
            <a:ln w="127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pt-BR"/>
            </a:p>
          </p:txBody>
        </p:sp>
        <p:sp>
          <p:nvSpPr>
            <p:cNvPr id="39958" name="Text Box 21">
              <a:extLst>
                <a:ext uri="{FF2B5EF4-FFF2-40B4-BE49-F238E27FC236}">
                  <a16:creationId xmlns:a16="http://schemas.microsoft.com/office/drawing/2014/main" id="{C158D3B8-5D76-4BC2-B5EB-9E22B9997535}"/>
                </a:ext>
              </a:extLst>
            </p:cNvPr>
            <p:cNvSpPr txBox="1">
              <a:spLocks noChangeArrowheads="1"/>
            </p:cNvSpPr>
            <p:nvPr/>
          </p:nvSpPr>
          <p:spPr bwMode="auto">
            <a:xfrm>
              <a:off x="340" y="3294"/>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e</a:t>
              </a:r>
            </a:p>
          </p:txBody>
        </p:sp>
        <p:sp>
          <p:nvSpPr>
            <p:cNvPr id="39959" name="Text Box 22">
              <a:extLst>
                <a:ext uri="{FF2B5EF4-FFF2-40B4-BE49-F238E27FC236}">
                  <a16:creationId xmlns:a16="http://schemas.microsoft.com/office/drawing/2014/main" id="{544FA5C0-A8D4-4C76-85AC-0067E37F1819}"/>
                </a:ext>
              </a:extLst>
            </p:cNvPr>
            <p:cNvSpPr txBox="1">
              <a:spLocks noChangeArrowheads="1"/>
            </p:cNvSpPr>
            <p:nvPr/>
          </p:nvSpPr>
          <p:spPr bwMode="auto">
            <a:xfrm>
              <a:off x="1066" y="2387"/>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b</a:t>
              </a:r>
            </a:p>
          </p:txBody>
        </p:sp>
        <p:sp>
          <p:nvSpPr>
            <p:cNvPr id="39960" name="Text Box 23">
              <a:extLst>
                <a:ext uri="{FF2B5EF4-FFF2-40B4-BE49-F238E27FC236}">
                  <a16:creationId xmlns:a16="http://schemas.microsoft.com/office/drawing/2014/main" id="{98095E16-735B-47D6-AC71-E5749640BAEC}"/>
                </a:ext>
              </a:extLst>
            </p:cNvPr>
            <p:cNvSpPr txBox="1">
              <a:spLocks noChangeArrowheads="1"/>
            </p:cNvSpPr>
            <p:nvPr/>
          </p:nvSpPr>
          <p:spPr bwMode="auto">
            <a:xfrm>
              <a:off x="975" y="2886"/>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a</a:t>
              </a:r>
            </a:p>
          </p:txBody>
        </p:sp>
        <p:sp>
          <p:nvSpPr>
            <p:cNvPr id="39961" name="Text Box 24">
              <a:extLst>
                <a:ext uri="{FF2B5EF4-FFF2-40B4-BE49-F238E27FC236}">
                  <a16:creationId xmlns:a16="http://schemas.microsoft.com/office/drawing/2014/main" id="{01C7D9F4-3B5B-43F0-9FAD-2293A62E7F91}"/>
                </a:ext>
              </a:extLst>
            </p:cNvPr>
            <p:cNvSpPr txBox="1">
              <a:spLocks noChangeArrowheads="1"/>
            </p:cNvSpPr>
            <p:nvPr/>
          </p:nvSpPr>
          <p:spPr bwMode="auto">
            <a:xfrm>
              <a:off x="1701" y="3113"/>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d</a:t>
              </a:r>
            </a:p>
          </p:txBody>
        </p:sp>
        <p:sp>
          <p:nvSpPr>
            <p:cNvPr id="39962" name="Text Box 25">
              <a:extLst>
                <a:ext uri="{FF2B5EF4-FFF2-40B4-BE49-F238E27FC236}">
                  <a16:creationId xmlns:a16="http://schemas.microsoft.com/office/drawing/2014/main" id="{1DFBB861-A7E1-435E-9961-C996214336B9}"/>
                </a:ext>
              </a:extLst>
            </p:cNvPr>
            <p:cNvSpPr txBox="1">
              <a:spLocks noChangeArrowheads="1"/>
            </p:cNvSpPr>
            <p:nvPr/>
          </p:nvSpPr>
          <p:spPr bwMode="auto">
            <a:xfrm>
              <a:off x="2517" y="2478"/>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c</a:t>
              </a:r>
            </a:p>
          </p:txBody>
        </p:sp>
        <p:sp>
          <p:nvSpPr>
            <p:cNvPr id="39963" name="Text Box 26">
              <a:extLst>
                <a:ext uri="{FF2B5EF4-FFF2-40B4-BE49-F238E27FC236}">
                  <a16:creationId xmlns:a16="http://schemas.microsoft.com/office/drawing/2014/main" id="{F75F0D0B-C840-4E09-B5AD-6EBD5447CBA2}"/>
                </a:ext>
              </a:extLst>
            </p:cNvPr>
            <p:cNvSpPr txBox="1">
              <a:spLocks noChangeArrowheads="1"/>
            </p:cNvSpPr>
            <p:nvPr/>
          </p:nvSpPr>
          <p:spPr bwMode="auto">
            <a:xfrm>
              <a:off x="1202" y="3657"/>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f</a:t>
              </a:r>
            </a:p>
          </p:txBody>
        </p:sp>
      </p:grpSp>
      <p:sp>
        <p:nvSpPr>
          <p:cNvPr id="39941" name="Text Box 27">
            <a:extLst>
              <a:ext uri="{FF2B5EF4-FFF2-40B4-BE49-F238E27FC236}">
                <a16:creationId xmlns:a16="http://schemas.microsoft.com/office/drawing/2014/main" id="{2CDDD6E6-F6F4-4D5B-BD62-E83EE258C89A}"/>
              </a:ext>
            </a:extLst>
          </p:cNvPr>
          <p:cNvSpPr txBox="1">
            <a:spLocks noChangeArrowheads="1"/>
          </p:cNvSpPr>
          <p:nvPr/>
        </p:nvSpPr>
        <p:spPr bwMode="auto">
          <a:xfrm>
            <a:off x="5448300" y="5157789"/>
            <a:ext cx="50419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pt-BR" altLang="pt-BR" sz="3000">
                <a:solidFill>
                  <a:srgbClr val="FF0000"/>
                </a:solidFill>
                <a:latin typeface="Arial" panose="020B0604020202020204" pitchFamily="34" charset="0"/>
              </a:rPr>
              <a:t>Ciclo: 1, a, 2, d, 3, e, 1</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26">
            <a:extLst>
              <a:ext uri="{FF2B5EF4-FFF2-40B4-BE49-F238E27FC236}">
                <a16:creationId xmlns:a16="http://schemas.microsoft.com/office/drawing/2014/main" id="{33896520-145B-4497-ABD6-50C78C35FC02}"/>
              </a:ext>
            </a:extLst>
          </p:cNvPr>
          <p:cNvSpPr>
            <a:spLocks noGrp="1"/>
          </p:cNvSpPr>
          <p:nvPr>
            <p:ph idx="1"/>
          </p:nvPr>
        </p:nvSpPr>
        <p:spPr>
          <a:xfrm>
            <a:off x="1524000" y="685800"/>
            <a:ext cx="9144000" cy="838200"/>
          </a:xfrm>
        </p:spPr>
        <p:txBody>
          <a:bodyPr/>
          <a:lstStyle/>
          <a:p>
            <a:pPr marL="0" indent="0">
              <a:buNone/>
            </a:pPr>
            <a:r>
              <a:rPr lang="pt-BR" altLang="pt-BR" b="1" dirty="0">
                <a:cs typeface="Arial" panose="020B0604020202020204" pitchFamily="34" charset="0"/>
              </a:rPr>
              <a:t>Exemplos de ciclos</a:t>
            </a:r>
          </a:p>
        </p:txBody>
      </p:sp>
      <p:sp>
        <p:nvSpPr>
          <p:cNvPr id="41987" name="Text Box 1028">
            <a:extLst>
              <a:ext uri="{FF2B5EF4-FFF2-40B4-BE49-F238E27FC236}">
                <a16:creationId xmlns:a16="http://schemas.microsoft.com/office/drawing/2014/main" id="{38B58F60-A495-48F1-A5F5-58085272C6DB}"/>
              </a:ext>
            </a:extLst>
          </p:cNvPr>
          <p:cNvSpPr txBox="1">
            <a:spLocks noChangeArrowheads="1"/>
          </p:cNvSpPr>
          <p:nvPr/>
        </p:nvSpPr>
        <p:spPr bwMode="auto">
          <a:xfrm>
            <a:off x="4676775" y="5116514"/>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1988" name="Line 1029">
            <a:extLst>
              <a:ext uri="{FF2B5EF4-FFF2-40B4-BE49-F238E27FC236}">
                <a16:creationId xmlns:a16="http://schemas.microsoft.com/office/drawing/2014/main" id="{794F58AE-00FF-4795-B326-A016F6FEB882}"/>
              </a:ext>
            </a:extLst>
          </p:cNvPr>
          <p:cNvSpPr>
            <a:spLocks noChangeShapeType="1"/>
          </p:cNvSpPr>
          <p:nvPr/>
        </p:nvSpPr>
        <p:spPr bwMode="auto">
          <a:xfrm>
            <a:off x="2605089" y="2474913"/>
            <a:ext cx="1900237" cy="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989" name="Text Box 1030">
            <a:extLst>
              <a:ext uri="{FF2B5EF4-FFF2-40B4-BE49-F238E27FC236}">
                <a16:creationId xmlns:a16="http://schemas.microsoft.com/office/drawing/2014/main" id="{FEC552CB-E895-4E3D-8348-335975A835A7}"/>
              </a:ext>
            </a:extLst>
          </p:cNvPr>
          <p:cNvSpPr txBox="1">
            <a:spLocks noChangeArrowheads="1"/>
          </p:cNvSpPr>
          <p:nvPr/>
        </p:nvSpPr>
        <p:spPr bwMode="auto">
          <a:xfrm>
            <a:off x="2098675" y="2133601"/>
            <a:ext cx="35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2400" b="1">
                <a:latin typeface="Arial" panose="020B0604020202020204" pitchFamily="34" charset="0"/>
              </a:rPr>
              <a:t>1</a:t>
            </a:r>
          </a:p>
        </p:txBody>
      </p:sp>
      <p:sp>
        <p:nvSpPr>
          <p:cNvPr id="41990" name="Text Box 1031">
            <a:extLst>
              <a:ext uri="{FF2B5EF4-FFF2-40B4-BE49-F238E27FC236}">
                <a16:creationId xmlns:a16="http://schemas.microsoft.com/office/drawing/2014/main" id="{EB964D50-A9D1-403A-94A8-DAC0F963DA3B}"/>
              </a:ext>
            </a:extLst>
          </p:cNvPr>
          <p:cNvSpPr txBox="1">
            <a:spLocks noChangeArrowheads="1"/>
          </p:cNvSpPr>
          <p:nvPr/>
        </p:nvSpPr>
        <p:spPr bwMode="auto">
          <a:xfrm>
            <a:off x="4714875" y="2170113"/>
            <a:ext cx="357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2400" b="1">
                <a:latin typeface="Arial" panose="020B0604020202020204" pitchFamily="34" charset="0"/>
              </a:rPr>
              <a:t>2</a:t>
            </a:r>
          </a:p>
        </p:txBody>
      </p:sp>
      <p:sp>
        <p:nvSpPr>
          <p:cNvPr id="41991" name="Text Box 1032">
            <a:extLst>
              <a:ext uri="{FF2B5EF4-FFF2-40B4-BE49-F238E27FC236}">
                <a16:creationId xmlns:a16="http://schemas.microsoft.com/office/drawing/2014/main" id="{56F01CD7-94DB-44F8-8458-023DD46655B1}"/>
              </a:ext>
            </a:extLst>
          </p:cNvPr>
          <p:cNvSpPr txBox="1">
            <a:spLocks noChangeArrowheads="1"/>
          </p:cNvSpPr>
          <p:nvPr/>
        </p:nvSpPr>
        <p:spPr bwMode="auto">
          <a:xfrm>
            <a:off x="2630488" y="3236913"/>
            <a:ext cx="355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2400" b="1">
                <a:latin typeface="Arial" panose="020B0604020202020204" pitchFamily="34" charset="0"/>
              </a:rPr>
              <a:t>3</a:t>
            </a:r>
          </a:p>
        </p:txBody>
      </p:sp>
      <p:sp>
        <p:nvSpPr>
          <p:cNvPr id="41992" name="Text Box 1033">
            <a:extLst>
              <a:ext uri="{FF2B5EF4-FFF2-40B4-BE49-F238E27FC236}">
                <a16:creationId xmlns:a16="http://schemas.microsoft.com/office/drawing/2014/main" id="{F0570FCD-4BBD-433F-824C-6C1B6F2D0879}"/>
              </a:ext>
            </a:extLst>
          </p:cNvPr>
          <p:cNvSpPr txBox="1">
            <a:spLocks noChangeArrowheads="1"/>
          </p:cNvSpPr>
          <p:nvPr/>
        </p:nvSpPr>
        <p:spPr bwMode="auto">
          <a:xfrm>
            <a:off x="4083050" y="3236913"/>
            <a:ext cx="355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2400" b="1">
                <a:latin typeface="Arial" panose="020B0604020202020204" pitchFamily="34" charset="0"/>
              </a:rPr>
              <a:t>4</a:t>
            </a:r>
          </a:p>
        </p:txBody>
      </p:sp>
      <p:sp>
        <p:nvSpPr>
          <p:cNvPr id="41993" name="Line 1034">
            <a:extLst>
              <a:ext uri="{FF2B5EF4-FFF2-40B4-BE49-F238E27FC236}">
                <a16:creationId xmlns:a16="http://schemas.microsoft.com/office/drawing/2014/main" id="{8BC3DBA2-B18A-4FA1-A165-DC502E4D4F18}"/>
              </a:ext>
            </a:extLst>
          </p:cNvPr>
          <p:cNvSpPr>
            <a:spLocks noChangeShapeType="1"/>
          </p:cNvSpPr>
          <p:nvPr/>
        </p:nvSpPr>
        <p:spPr bwMode="auto">
          <a:xfrm>
            <a:off x="2535239" y="2398713"/>
            <a:ext cx="492125" cy="1066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994" name="Line 1035">
            <a:extLst>
              <a:ext uri="{FF2B5EF4-FFF2-40B4-BE49-F238E27FC236}">
                <a16:creationId xmlns:a16="http://schemas.microsoft.com/office/drawing/2014/main" id="{AB9C6C7D-9A33-44BF-9261-56B0D4B314A3}"/>
              </a:ext>
            </a:extLst>
          </p:cNvPr>
          <p:cNvSpPr>
            <a:spLocks noChangeShapeType="1"/>
          </p:cNvSpPr>
          <p:nvPr/>
        </p:nvSpPr>
        <p:spPr bwMode="auto">
          <a:xfrm flipH="1">
            <a:off x="3027363" y="2398713"/>
            <a:ext cx="1477962"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995" name="Line 1036">
            <a:extLst>
              <a:ext uri="{FF2B5EF4-FFF2-40B4-BE49-F238E27FC236}">
                <a16:creationId xmlns:a16="http://schemas.microsoft.com/office/drawing/2014/main" id="{CC532A36-9C7D-43EB-959C-B5F434042969}"/>
              </a:ext>
            </a:extLst>
          </p:cNvPr>
          <p:cNvSpPr>
            <a:spLocks noChangeShapeType="1"/>
          </p:cNvSpPr>
          <p:nvPr/>
        </p:nvSpPr>
        <p:spPr bwMode="auto">
          <a:xfrm>
            <a:off x="2535239" y="2398713"/>
            <a:ext cx="1406525" cy="106680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996" name="Line 1037">
            <a:extLst>
              <a:ext uri="{FF2B5EF4-FFF2-40B4-BE49-F238E27FC236}">
                <a16:creationId xmlns:a16="http://schemas.microsoft.com/office/drawing/2014/main" id="{C13B2ED1-5408-4DF1-9374-A08F94CD7967}"/>
              </a:ext>
            </a:extLst>
          </p:cNvPr>
          <p:cNvSpPr>
            <a:spLocks noChangeShapeType="1"/>
          </p:cNvSpPr>
          <p:nvPr/>
        </p:nvSpPr>
        <p:spPr bwMode="auto">
          <a:xfrm flipH="1">
            <a:off x="3941763" y="2398713"/>
            <a:ext cx="563562" cy="106680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997" name="AutoShape 1038">
            <a:extLst>
              <a:ext uri="{FF2B5EF4-FFF2-40B4-BE49-F238E27FC236}">
                <a16:creationId xmlns:a16="http://schemas.microsoft.com/office/drawing/2014/main" id="{4AA118B5-17E5-467D-A75A-D53972E059E4}"/>
              </a:ext>
            </a:extLst>
          </p:cNvPr>
          <p:cNvSpPr>
            <a:spLocks noChangeArrowheads="1"/>
          </p:cNvSpPr>
          <p:nvPr/>
        </p:nvSpPr>
        <p:spPr bwMode="auto">
          <a:xfrm>
            <a:off x="2465389" y="2322513"/>
            <a:ext cx="211137" cy="228600"/>
          </a:xfrm>
          <a:prstGeom prst="flowChartConnector">
            <a:avLst/>
          </a:prstGeom>
          <a:solidFill>
            <a:srgbClr val="0099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1998" name="AutoShape 1039">
            <a:extLst>
              <a:ext uri="{FF2B5EF4-FFF2-40B4-BE49-F238E27FC236}">
                <a16:creationId xmlns:a16="http://schemas.microsoft.com/office/drawing/2014/main" id="{4C4CB232-C03C-43B2-92F7-5E756B32D6FE}"/>
              </a:ext>
            </a:extLst>
          </p:cNvPr>
          <p:cNvSpPr>
            <a:spLocks noChangeArrowheads="1"/>
          </p:cNvSpPr>
          <p:nvPr/>
        </p:nvSpPr>
        <p:spPr bwMode="auto">
          <a:xfrm>
            <a:off x="2957514" y="3389313"/>
            <a:ext cx="211137" cy="228600"/>
          </a:xfrm>
          <a:prstGeom prst="flowChartConnector">
            <a:avLst/>
          </a:prstGeom>
          <a:solidFill>
            <a:srgbClr val="0099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1999" name="AutoShape 1040">
            <a:extLst>
              <a:ext uri="{FF2B5EF4-FFF2-40B4-BE49-F238E27FC236}">
                <a16:creationId xmlns:a16="http://schemas.microsoft.com/office/drawing/2014/main" id="{590FBCAA-73A2-42F7-9489-9CCFF9F9589A}"/>
              </a:ext>
            </a:extLst>
          </p:cNvPr>
          <p:cNvSpPr>
            <a:spLocks noChangeArrowheads="1"/>
          </p:cNvSpPr>
          <p:nvPr/>
        </p:nvSpPr>
        <p:spPr bwMode="auto">
          <a:xfrm>
            <a:off x="4433889" y="2322513"/>
            <a:ext cx="211137" cy="228600"/>
          </a:xfrm>
          <a:prstGeom prst="flowChartConnector">
            <a:avLst/>
          </a:prstGeom>
          <a:solidFill>
            <a:srgbClr val="0099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pt-BR" altLang="pt-BR" sz="1800">
              <a:latin typeface="Arial" panose="020B0604020202020204" pitchFamily="34" charset="0"/>
            </a:endParaRPr>
          </a:p>
        </p:txBody>
      </p:sp>
      <p:sp>
        <p:nvSpPr>
          <p:cNvPr id="42000" name="AutoShape 1041">
            <a:extLst>
              <a:ext uri="{FF2B5EF4-FFF2-40B4-BE49-F238E27FC236}">
                <a16:creationId xmlns:a16="http://schemas.microsoft.com/office/drawing/2014/main" id="{365621F3-69E2-456E-A253-734A73B3E95D}"/>
              </a:ext>
            </a:extLst>
          </p:cNvPr>
          <p:cNvSpPr>
            <a:spLocks noChangeArrowheads="1"/>
          </p:cNvSpPr>
          <p:nvPr/>
        </p:nvSpPr>
        <p:spPr bwMode="auto">
          <a:xfrm>
            <a:off x="3871914" y="3389313"/>
            <a:ext cx="211137" cy="228600"/>
          </a:xfrm>
          <a:prstGeom prst="flowChartConnector">
            <a:avLst/>
          </a:prstGeom>
          <a:solidFill>
            <a:srgbClr val="0099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pt-BR" altLang="pt-BR" sz="1800">
              <a:latin typeface="Arial" panose="020B0604020202020204" pitchFamily="34" charset="0"/>
            </a:endParaRPr>
          </a:p>
        </p:txBody>
      </p:sp>
      <p:sp>
        <p:nvSpPr>
          <p:cNvPr id="42001" name="Line 1042">
            <a:extLst>
              <a:ext uri="{FF2B5EF4-FFF2-40B4-BE49-F238E27FC236}">
                <a16:creationId xmlns:a16="http://schemas.microsoft.com/office/drawing/2014/main" id="{E1909836-A906-485C-98D1-E19CD9B41288}"/>
              </a:ext>
            </a:extLst>
          </p:cNvPr>
          <p:cNvSpPr>
            <a:spLocks noChangeShapeType="1"/>
          </p:cNvSpPr>
          <p:nvPr/>
        </p:nvSpPr>
        <p:spPr bwMode="auto">
          <a:xfrm>
            <a:off x="7038975" y="2474913"/>
            <a:ext cx="1898650" cy="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002" name="Text Box 1043">
            <a:extLst>
              <a:ext uri="{FF2B5EF4-FFF2-40B4-BE49-F238E27FC236}">
                <a16:creationId xmlns:a16="http://schemas.microsoft.com/office/drawing/2014/main" id="{C4D6DDC0-D88E-4198-BD48-3F25334FBC36}"/>
              </a:ext>
            </a:extLst>
          </p:cNvPr>
          <p:cNvSpPr txBox="1">
            <a:spLocks noChangeArrowheads="1"/>
          </p:cNvSpPr>
          <p:nvPr/>
        </p:nvSpPr>
        <p:spPr bwMode="auto">
          <a:xfrm>
            <a:off x="6530975" y="2133601"/>
            <a:ext cx="357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2400" b="1">
                <a:latin typeface="Arial" panose="020B0604020202020204" pitchFamily="34" charset="0"/>
              </a:rPr>
              <a:t>1</a:t>
            </a:r>
          </a:p>
        </p:txBody>
      </p:sp>
      <p:sp>
        <p:nvSpPr>
          <p:cNvPr id="42003" name="Text Box 1044">
            <a:extLst>
              <a:ext uri="{FF2B5EF4-FFF2-40B4-BE49-F238E27FC236}">
                <a16:creationId xmlns:a16="http://schemas.microsoft.com/office/drawing/2014/main" id="{1206244D-3F40-4FA4-A523-6EF5EC66C07E}"/>
              </a:ext>
            </a:extLst>
          </p:cNvPr>
          <p:cNvSpPr txBox="1">
            <a:spLocks noChangeArrowheads="1"/>
          </p:cNvSpPr>
          <p:nvPr/>
        </p:nvSpPr>
        <p:spPr bwMode="auto">
          <a:xfrm>
            <a:off x="9148763" y="2170113"/>
            <a:ext cx="355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2400" b="1">
                <a:latin typeface="Arial" panose="020B0604020202020204" pitchFamily="34" charset="0"/>
              </a:rPr>
              <a:t>2</a:t>
            </a:r>
          </a:p>
        </p:txBody>
      </p:sp>
      <p:sp>
        <p:nvSpPr>
          <p:cNvPr id="42004" name="Text Box 1045">
            <a:extLst>
              <a:ext uri="{FF2B5EF4-FFF2-40B4-BE49-F238E27FC236}">
                <a16:creationId xmlns:a16="http://schemas.microsoft.com/office/drawing/2014/main" id="{38DCB048-E51A-470F-8DD0-FDE4A123A702}"/>
              </a:ext>
            </a:extLst>
          </p:cNvPr>
          <p:cNvSpPr txBox="1">
            <a:spLocks noChangeArrowheads="1"/>
          </p:cNvSpPr>
          <p:nvPr/>
        </p:nvSpPr>
        <p:spPr bwMode="auto">
          <a:xfrm>
            <a:off x="7062789" y="3236913"/>
            <a:ext cx="3571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2400" b="1">
                <a:latin typeface="Arial" panose="020B0604020202020204" pitchFamily="34" charset="0"/>
              </a:rPr>
              <a:t>3</a:t>
            </a:r>
          </a:p>
        </p:txBody>
      </p:sp>
      <p:sp>
        <p:nvSpPr>
          <p:cNvPr id="42005" name="Text Box 1046">
            <a:extLst>
              <a:ext uri="{FF2B5EF4-FFF2-40B4-BE49-F238E27FC236}">
                <a16:creationId xmlns:a16="http://schemas.microsoft.com/office/drawing/2014/main" id="{88A379BA-12AF-4EB3-9C1F-84DDD8A81C24}"/>
              </a:ext>
            </a:extLst>
          </p:cNvPr>
          <p:cNvSpPr txBox="1">
            <a:spLocks noChangeArrowheads="1"/>
          </p:cNvSpPr>
          <p:nvPr/>
        </p:nvSpPr>
        <p:spPr bwMode="auto">
          <a:xfrm>
            <a:off x="8515350" y="3236913"/>
            <a:ext cx="355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2400" b="1">
                <a:latin typeface="Arial" panose="020B0604020202020204" pitchFamily="34" charset="0"/>
              </a:rPr>
              <a:t>4</a:t>
            </a:r>
          </a:p>
        </p:txBody>
      </p:sp>
      <p:sp>
        <p:nvSpPr>
          <p:cNvPr id="42006" name="Line 1047">
            <a:extLst>
              <a:ext uri="{FF2B5EF4-FFF2-40B4-BE49-F238E27FC236}">
                <a16:creationId xmlns:a16="http://schemas.microsoft.com/office/drawing/2014/main" id="{AE552320-901C-4A57-8B4C-B6185B7F94B7}"/>
              </a:ext>
            </a:extLst>
          </p:cNvPr>
          <p:cNvSpPr>
            <a:spLocks noChangeShapeType="1"/>
          </p:cNvSpPr>
          <p:nvPr/>
        </p:nvSpPr>
        <p:spPr bwMode="auto">
          <a:xfrm>
            <a:off x="6967539" y="2398713"/>
            <a:ext cx="492125" cy="106680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007" name="Line 1048">
            <a:extLst>
              <a:ext uri="{FF2B5EF4-FFF2-40B4-BE49-F238E27FC236}">
                <a16:creationId xmlns:a16="http://schemas.microsoft.com/office/drawing/2014/main" id="{4DFFE49E-9420-481E-ACC4-462752F6D965}"/>
              </a:ext>
            </a:extLst>
          </p:cNvPr>
          <p:cNvSpPr>
            <a:spLocks noChangeShapeType="1"/>
          </p:cNvSpPr>
          <p:nvPr/>
        </p:nvSpPr>
        <p:spPr bwMode="auto">
          <a:xfrm flipH="1">
            <a:off x="7459663" y="2398713"/>
            <a:ext cx="1477962" cy="114300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008" name="Line 1049">
            <a:extLst>
              <a:ext uri="{FF2B5EF4-FFF2-40B4-BE49-F238E27FC236}">
                <a16:creationId xmlns:a16="http://schemas.microsoft.com/office/drawing/2014/main" id="{34BD4EBD-1CA5-4565-BAF2-8FD268EA04D2}"/>
              </a:ext>
            </a:extLst>
          </p:cNvPr>
          <p:cNvSpPr>
            <a:spLocks noChangeShapeType="1"/>
          </p:cNvSpPr>
          <p:nvPr/>
        </p:nvSpPr>
        <p:spPr bwMode="auto">
          <a:xfrm>
            <a:off x="6967539" y="2398713"/>
            <a:ext cx="1404937" cy="1066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009" name="Line 1050">
            <a:extLst>
              <a:ext uri="{FF2B5EF4-FFF2-40B4-BE49-F238E27FC236}">
                <a16:creationId xmlns:a16="http://schemas.microsoft.com/office/drawing/2014/main" id="{7C2444F7-66AC-4D65-B3B5-2EF17DB36060}"/>
              </a:ext>
            </a:extLst>
          </p:cNvPr>
          <p:cNvSpPr>
            <a:spLocks noChangeShapeType="1"/>
          </p:cNvSpPr>
          <p:nvPr/>
        </p:nvSpPr>
        <p:spPr bwMode="auto">
          <a:xfrm flipH="1">
            <a:off x="8372475" y="2398713"/>
            <a:ext cx="565150" cy="1066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010" name="AutoShape 1051">
            <a:extLst>
              <a:ext uri="{FF2B5EF4-FFF2-40B4-BE49-F238E27FC236}">
                <a16:creationId xmlns:a16="http://schemas.microsoft.com/office/drawing/2014/main" id="{A0191B9C-45E3-4738-AF03-A832EFBB7751}"/>
              </a:ext>
            </a:extLst>
          </p:cNvPr>
          <p:cNvSpPr>
            <a:spLocks noChangeArrowheads="1"/>
          </p:cNvSpPr>
          <p:nvPr/>
        </p:nvSpPr>
        <p:spPr bwMode="auto">
          <a:xfrm>
            <a:off x="6897689" y="2322513"/>
            <a:ext cx="211137" cy="228600"/>
          </a:xfrm>
          <a:prstGeom prst="flowChartConnector">
            <a:avLst/>
          </a:prstGeom>
          <a:solidFill>
            <a:srgbClr val="0099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2011" name="AutoShape 1052">
            <a:extLst>
              <a:ext uri="{FF2B5EF4-FFF2-40B4-BE49-F238E27FC236}">
                <a16:creationId xmlns:a16="http://schemas.microsoft.com/office/drawing/2014/main" id="{26BD110D-506B-4B3C-AD93-7EA4B787D35C}"/>
              </a:ext>
            </a:extLst>
          </p:cNvPr>
          <p:cNvSpPr>
            <a:spLocks noChangeArrowheads="1"/>
          </p:cNvSpPr>
          <p:nvPr/>
        </p:nvSpPr>
        <p:spPr bwMode="auto">
          <a:xfrm>
            <a:off x="7389814" y="3389313"/>
            <a:ext cx="211137" cy="228600"/>
          </a:xfrm>
          <a:prstGeom prst="flowChartConnector">
            <a:avLst/>
          </a:prstGeom>
          <a:solidFill>
            <a:srgbClr val="0099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2012" name="AutoShape 1053">
            <a:extLst>
              <a:ext uri="{FF2B5EF4-FFF2-40B4-BE49-F238E27FC236}">
                <a16:creationId xmlns:a16="http://schemas.microsoft.com/office/drawing/2014/main" id="{D5B17FB2-F1C0-49D6-8DB0-190820C87999}"/>
              </a:ext>
            </a:extLst>
          </p:cNvPr>
          <p:cNvSpPr>
            <a:spLocks noChangeArrowheads="1"/>
          </p:cNvSpPr>
          <p:nvPr/>
        </p:nvSpPr>
        <p:spPr bwMode="auto">
          <a:xfrm>
            <a:off x="8867775" y="2322513"/>
            <a:ext cx="209550" cy="228600"/>
          </a:xfrm>
          <a:prstGeom prst="flowChartConnector">
            <a:avLst/>
          </a:prstGeom>
          <a:solidFill>
            <a:srgbClr val="0099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pt-BR" altLang="pt-BR" sz="1800">
              <a:latin typeface="Arial" panose="020B0604020202020204" pitchFamily="34" charset="0"/>
            </a:endParaRPr>
          </a:p>
        </p:txBody>
      </p:sp>
      <p:sp>
        <p:nvSpPr>
          <p:cNvPr id="42013" name="AutoShape 1054">
            <a:extLst>
              <a:ext uri="{FF2B5EF4-FFF2-40B4-BE49-F238E27FC236}">
                <a16:creationId xmlns:a16="http://schemas.microsoft.com/office/drawing/2014/main" id="{73BE043E-F6BD-4322-A439-D6733B73EDC0}"/>
              </a:ext>
            </a:extLst>
          </p:cNvPr>
          <p:cNvSpPr>
            <a:spLocks noChangeArrowheads="1"/>
          </p:cNvSpPr>
          <p:nvPr/>
        </p:nvSpPr>
        <p:spPr bwMode="auto">
          <a:xfrm>
            <a:off x="8302626" y="3389313"/>
            <a:ext cx="212725" cy="228600"/>
          </a:xfrm>
          <a:prstGeom prst="flowChartConnector">
            <a:avLst/>
          </a:prstGeom>
          <a:solidFill>
            <a:srgbClr val="0099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pt-BR" altLang="pt-BR" sz="1800">
              <a:latin typeface="Arial" panose="020B0604020202020204" pitchFamily="34" charset="0"/>
            </a:endParaRPr>
          </a:p>
        </p:txBody>
      </p:sp>
      <p:sp>
        <p:nvSpPr>
          <p:cNvPr id="42014" name="Text Box 1055">
            <a:extLst>
              <a:ext uri="{FF2B5EF4-FFF2-40B4-BE49-F238E27FC236}">
                <a16:creationId xmlns:a16="http://schemas.microsoft.com/office/drawing/2014/main" id="{B114DADF-69C2-4600-B05A-2F853C1B6F00}"/>
              </a:ext>
            </a:extLst>
          </p:cNvPr>
          <p:cNvSpPr txBox="1">
            <a:spLocks noChangeArrowheads="1"/>
          </p:cNvSpPr>
          <p:nvPr/>
        </p:nvSpPr>
        <p:spPr bwMode="auto">
          <a:xfrm>
            <a:off x="2020889" y="4191000"/>
            <a:ext cx="3284537" cy="95408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pt-BR" altLang="pt-BR" sz="2800">
                <a:solidFill>
                  <a:srgbClr val="003399"/>
                </a:solidFill>
                <a:latin typeface="Arial" panose="020B0604020202020204" pitchFamily="34" charset="0"/>
              </a:rPr>
              <a:t>Ciclo de tamanho 3</a:t>
            </a:r>
          </a:p>
          <a:p>
            <a:pPr algn="ctr" eaLnBrk="1" hangingPunct="1">
              <a:spcBef>
                <a:spcPct val="0"/>
              </a:spcBef>
              <a:buFontTx/>
              <a:buNone/>
            </a:pPr>
            <a:r>
              <a:rPr lang="pt-BR" altLang="pt-BR" sz="2800">
                <a:solidFill>
                  <a:srgbClr val="003399"/>
                </a:solidFill>
                <a:latin typeface="Arial" panose="020B0604020202020204" pitchFamily="34" charset="0"/>
              </a:rPr>
              <a:t>1 </a:t>
            </a:r>
            <a:r>
              <a:rPr lang="pt-BR" altLang="pt-BR" sz="2800">
                <a:solidFill>
                  <a:srgbClr val="003399"/>
                </a:solidFill>
                <a:latin typeface="Arial" panose="020B0604020202020204" pitchFamily="34" charset="0"/>
                <a:sym typeface="Symbol" panose="05050102010706020507" pitchFamily="18" charset="2"/>
              </a:rPr>
              <a:t> 2  4  1 </a:t>
            </a:r>
          </a:p>
        </p:txBody>
      </p:sp>
      <p:sp>
        <p:nvSpPr>
          <p:cNvPr id="42015" name="Text Box 1056">
            <a:extLst>
              <a:ext uri="{FF2B5EF4-FFF2-40B4-BE49-F238E27FC236}">
                <a16:creationId xmlns:a16="http://schemas.microsoft.com/office/drawing/2014/main" id="{DAA8529E-26B2-49E2-B7E9-57C3B50BD160}"/>
              </a:ext>
            </a:extLst>
          </p:cNvPr>
          <p:cNvSpPr txBox="1">
            <a:spLocks noChangeArrowheads="1"/>
          </p:cNvSpPr>
          <p:nvPr/>
        </p:nvSpPr>
        <p:spPr bwMode="auto">
          <a:xfrm>
            <a:off x="6324600" y="4191000"/>
            <a:ext cx="3284538" cy="95408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pt-BR" altLang="pt-BR" sz="2800">
                <a:solidFill>
                  <a:srgbClr val="003399"/>
                </a:solidFill>
                <a:latin typeface="Arial" panose="020B0604020202020204" pitchFamily="34" charset="0"/>
              </a:rPr>
              <a:t>Ciclo de tamanho 3</a:t>
            </a:r>
          </a:p>
          <a:p>
            <a:pPr algn="ctr" eaLnBrk="1" hangingPunct="1">
              <a:spcBef>
                <a:spcPct val="0"/>
              </a:spcBef>
              <a:buFontTx/>
              <a:buNone/>
            </a:pPr>
            <a:r>
              <a:rPr lang="pt-BR" altLang="pt-BR" sz="2800">
                <a:solidFill>
                  <a:srgbClr val="003399"/>
                </a:solidFill>
                <a:latin typeface="Arial" panose="020B0604020202020204" pitchFamily="34" charset="0"/>
              </a:rPr>
              <a:t>1 </a:t>
            </a:r>
            <a:r>
              <a:rPr lang="pt-BR" altLang="pt-BR" sz="2800">
                <a:solidFill>
                  <a:srgbClr val="003399"/>
                </a:solidFill>
                <a:latin typeface="Arial" panose="020B0604020202020204" pitchFamily="34" charset="0"/>
                <a:sym typeface="Symbol" panose="05050102010706020507" pitchFamily="18" charset="2"/>
              </a:rPr>
              <a:t> 2  3  1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26">
            <a:extLst>
              <a:ext uri="{FF2B5EF4-FFF2-40B4-BE49-F238E27FC236}">
                <a16:creationId xmlns:a16="http://schemas.microsoft.com/office/drawing/2014/main" id="{1DD47CEC-49F8-4F23-BDD9-BDB0C943C0D9}"/>
              </a:ext>
            </a:extLst>
          </p:cNvPr>
          <p:cNvSpPr>
            <a:spLocks noGrp="1"/>
          </p:cNvSpPr>
          <p:nvPr>
            <p:ph idx="1"/>
          </p:nvPr>
        </p:nvSpPr>
        <p:spPr>
          <a:xfrm>
            <a:off x="1524000" y="685800"/>
            <a:ext cx="9144000" cy="2286000"/>
          </a:xfrm>
        </p:spPr>
        <p:txBody>
          <a:bodyPr/>
          <a:lstStyle/>
          <a:p>
            <a:pPr eaLnBrk="1" hangingPunct="1"/>
            <a:r>
              <a:rPr lang="pt-BR" altLang="pt-BR" sz="3600" b="1" dirty="0">
                <a:cs typeface="Arial" panose="020B0604020202020204" pitchFamily="34" charset="0"/>
              </a:rPr>
              <a:t>Ciclo (ou circuito)</a:t>
            </a:r>
          </a:p>
          <a:p>
            <a:pPr eaLnBrk="1" hangingPunct="1"/>
            <a:endParaRPr lang="pt-BR" altLang="pt-BR" b="1" dirty="0">
              <a:solidFill>
                <a:srgbClr val="800000"/>
              </a:solidFill>
            </a:endParaRPr>
          </a:p>
        </p:txBody>
      </p:sp>
      <p:pic>
        <p:nvPicPr>
          <p:cNvPr id="43011" name="Picture 1028" descr="f-conexo">
            <a:extLst>
              <a:ext uri="{FF2B5EF4-FFF2-40B4-BE49-F238E27FC236}">
                <a16:creationId xmlns:a16="http://schemas.microsoft.com/office/drawing/2014/main" id="{6556673F-0F03-4079-8D50-1B64D8670F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850" y="2781300"/>
            <a:ext cx="4184650" cy="220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Text Box 1029">
            <a:extLst>
              <a:ext uri="{FF2B5EF4-FFF2-40B4-BE49-F238E27FC236}">
                <a16:creationId xmlns:a16="http://schemas.microsoft.com/office/drawing/2014/main" id="{EFCD76AF-4653-4039-BB59-4BB09A6F24C4}"/>
              </a:ext>
            </a:extLst>
          </p:cNvPr>
          <p:cNvSpPr txBox="1">
            <a:spLocks noChangeArrowheads="1"/>
          </p:cNvSpPr>
          <p:nvPr/>
        </p:nvSpPr>
        <p:spPr bwMode="auto">
          <a:xfrm>
            <a:off x="6311900" y="2852738"/>
            <a:ext cx="3938588" cy="24003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3000">
                <a:latin typeface="Arial" panose="020B0604020202020204" pitchFamily="34" charset="0"/>
              </a:rPr>
              <a:t>A seqüência de vértices </a:t>
            </a:r>
            <a:r>
              <a:rPr lang="pt-BR" altLang="pt-BR" sz="3000">
                <a:solidFill>
                  <a:srgbClr val="A50021"/>
                </a:solidFill>
                <a:latin typeface="Arial" panose="020B0604020202020204" pitchFamily="34" charset="0"/>
              </a:rPr>
              <a:t>(x</a:t>
            </a:r>
            <a:r>
              <a:rPr lang="pt-BR" altLang="pt-BR" sz="3000" baseline="-30000">
                <a:solidFill>
                  <a:srgbClr val="A50021"/>
                </a:solidFill>
                <a:latin typeface="Arial" panose="020B0604020202020204" pitchFamily="34" charset="0"/>
              </a:rPr>
              <a:t>1</a:t>
            </a:r>
            <a:r>
              <a:rPr lang="pt-BR" altLang="pt-BR" sz="3000">
                <a:solidFill>
                  <a:srgbClr val="A50021"/>
                </a:solidFill>
                <a:latin typeface="Arial" panose="020B0604020202020204" pitchFamily="34" charset="0"/>
              </a:rPr>
              <a:t>, x</a:t>
            </a:r>
            <a:r>
              <a:rPr lang="pt-BR" altLang="pt-BR" sz="3000" baseline="-30000">
                <a:solidFill>
                  <a:srgbClr val="A50021"/>
                </a:solidFill>
                <a:latin typeface="Arial" panose="020B0604020202020204" pitchFamily="34" charset="0"/>
              </a:rPr>
              <a:t>2</a:t>
            </a:r>
            <a:r>
              <a:rPr lang="pt-BR" altLang="pt-BR" sz="3000">
                <a:solidFill>
                  <a:srgbClr val="A50021"/>
                </a:solidFill>
                <a:latin typeface="Arial" panose="020B0604020202020204" pitchFamily="34" charset="0"/>
              </a:rPr>
              <a:t>, x</a:t>
            </a:r>
            <a:r>
              <a:rPr lang="pt-BR" altLang="pt-BR" sz="3000" baseline="-30000">
                <a:solidFill>
                  <a:srgbClr val="A50021"/>
                </a:solidFill>
                <a:latin typeface="Arial" panose="020B0604020202020204" pitchFamily="34" charset="0"/>
              </a:rPr>
              <a:t>5</a:t>
            </a:r>
            <a:r>
              <a:rPr lang="pt-BR" altLang="pt-BR" sz="3000">
                <a:solidFill>
                  <a:srgbClr val="A50021"/>
                </a:solidFill>
                <a:latin typeface="Arial" panose="020B0604020202020204" pitchFamily="34" charset="0"/>
              </a:rPr>
              <a:t>, x</a:t>
            </a:r>
            <a:r>
              <a:rPr lang="pt-BR" altLang="pt-BR" sz="3000" baseline="-30000">
                <a:solidFill>
                  <a:srgbClr val="A50021"/>
                </a:solidFill>
                <a:latin typeface="Arial" panose="020B0604020202020204" pitchFamily="34" charset="0"/>
              </a:rPr>
              <a:t>4</a:t>
            </a:r>
            <a:r>
              <a:rPr lang="pt-BR" altLang="pt-BR" sz="3000">
                <a:solidFill>
                  <a:srgbClr val="A50021"/>
                </a:solidFill>
                <a:latin typeface="Arial" panose="020B0604020202020204" pitchFamily="34" charset="0"/>
              </a:rPr>
              <a:t>, x</a:t>
            </a:r>
            <a:r>
              <a:rPr lang="pt-BR" altLang="pt-BR" sz="3000" baseline="-30000">
                <a:solidFill>
                  <a:srgbClr val="A50021"/>
                </a:solidFill>
                <a:latin typeface="Arial" panose="020B0604020202020204" pitchFamily="34" charset="0"/>
              </a:rPr>
              <a:t>1</a:t>
            </a:r>
            <a:r>
              <a:rPr lang="pt-BR" altLang="pt-BR" sz="3000">
                <a:solidFill>
                  <a:srgbClr val="A50021"/>
                </a:solidFill>
                <a:latin typeface="Arial" panose="020B0604020202020204" pitchFamily="34" charset="0"/>
              </a:rPr>
              <a:t>) </a:t>
            </a:r>
          </a:p>
          <a:p>
            <a:pPr eaLnBrk="1" hangingPunct="1">
              <a:spcBef>
                <a:spcPct val="0"/>
              </a:spcBef>
              <a:buFontTx/>
              <a:buNone/>
            </a:pPr>
            <a:r>
              <a:rPr lang="pt-BR" altLang="pt-BR" sz="3000">
                <a:latin typeface="Arial" panose="020B0604020202020204" pitchFamily="34" charset="0"/>
              </a:rPr>
              <a:t> é um exemplo de ciclo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C28F8A3C-79AF-4CE9-B47B-A55A0CE74D51}"/>
              </a:ext>
            </a:extLst>
          </p:cNvPr>
          <p:cNvSpPr>
            <a:spLocks noGrp="1"/>
          </p:cNvSpPr>
          <p:nvPr>
            <p:ph type="title"/>
          </p:nvPr>
        </p:nvSpPr>
        <p:spPr>
          <a:xfrm>
            <a:off x="1847851" y="0"/>
            <a:ext cx="8435975" cy="863600"/>
          </a:xfrm>
        </p:spPr>
        <p:txBody>
          <a:bodyPr vert="horz" lIns="90488" tIns="44450" rIns="90488" bIns="44450" rtlCol="0" anchor="b">
            <a:normAutofit/>
          </a:bodyPr>
          <a:lstStyle/>
          <a:p>
            <a:pPr eaLnBrk="1" hangingPunct="1"/>
            <a:r>
              <a:rPr lang="pt-BR" altLang="pt-BR" b="1" dirty="0"/>
              <a:t>Conectividade</a:t>
            </a:r>
          </a:p>
        </p:txBody>
      </p:sp>
      <p:sp>
        <p:nvSpPr>
          <p:cNvPr id="37891" name="Rectangle 2">
            <a:extLst>
              <a:ext uri="{FF2B5EF4-FFF2-40B4-BE49-F238E27FC236}">
                <a16:creationId xmlns:a16="http://schemas.microsoft.com/office/drawing/2014/main" id="{58713BD1-5C45-4930-A547-95462B2967DD}"/>
              </a:ext>
            </a:extLst>
          </p:cNvPr>
          <p:cNvSpPr>
            <a:spLocks noGrp="1"/>
          </p:cNvSpPr>
          <p:nvPr>
            <p:ph idx="1"/>
          </p:nvPr>
        </p:nvSpPr>
        <p:spPr>
          <a:xfrm>
            <a:off x="1847850" y="1052513"/>
            <a:ext cx="8229600" cy="1160462"/>
          </a:xfrm>
        </p:spPr>
        <p:txBody>
          <a:bodyPr vert="horz" lIns="90488" tIns="44450" rIns="90488" bIns="44450" rtlCol="0">
            <a:normAutofit/>
          </a:bodyPr>
          <a:lstStyle/>
          <a:p>
            <a:pPr eaLnBrk="1" hangingPunct="1">
              <a:lnSpc>
                <a:spcPct val="90000"/>
              </a:lnSpc>
            </a:pPr>
            <a:r>
              <a:rPr lang="pt-BR" altLang="pt-BR" sz="3000" i="1"/>
              <a:t>Um grafo é </a:t>
            </a:r>
            <a:r>
              <a:rPr lang="pt-BR" altLang="pt-BR" sz="3000" b="1">
                <a:solidFill>
                  <a:srgbClr val="FF0000"/>
                </a:solidFill>
              </a:rPr>
              <a:t>conexo</a:t>
            </a:r>
            <a:r>
              <a:rPr lang="pt-BR" altLang="pt-BR" sz="3000" i="1"/>
              <a:t> se houver um caminho entre quaisquer dois vértices.</a:t>
            </a:r>
          </a:p>
        </p:txBody>
      </p:sp>
      <p:grpSp>
        <p:nvGrpSpPr>
          <p:cNvPr id="37892" name="Group 4">
            <a:extLst>
              <a:ext uri="{FF2B5EF4-FFF2-40B4-BE49-F238E27FC236}">
                <a16:creationId xmlns:a16="http://schemas.microsoft.com/office/drawing/2014/main" id="{9155918B-A6AF-4106-8D32-695B8C9B39F0}"/>
              </a:ext>
            </a:extLst>
          </p:cNvPr>
          <p:cNvGrpSpPr>
            <a:grpSpLocks/>
          </p:cNvGrpSpPr>
          <p:nvPr/>
        </p:nvGrpSpPr>
        <p:grpSpPr bwMode="auto">
          <a:xfrm>
            <a:off x="1992314" y="2205038"/>
            <a:ext cx="4105275" cy="2495550"/>
            <a:chOff x="249" y="2387"/>
            <a:chExt cx="2586" cy="1572"/>
          </a:xfrm>
        </p:grpSpPr>
        <p:sp>
          <p:nvSpPr>
            <p:cNvPr id="37911" name="Oval 5">
              <a:extLst>
                <a:ext uri="{FF2B5EF4-FFF2-40B4-BE49-F238E27FC236}">
                  <a16:creationId xmlns:a16="http://schemas.microsoft.com/office/drawing/2014/main" id="{541EAA83-0F52-4A00-8F7E-1E20C4FBC7A6}"/>
                </a:ext>
              </a:extLst>
            </p:cNvPr>
            <p:cNvSpPr>
              <a:spLocks noChangeArrowheads="1"/>
            </p:cNvSpPr>
            <p:nvPr/>
          </p:nvSpPr>
          <p:spPr bwMode="auto">
            <a:xfrm>
              <a:off x="2432" y="3385"/>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7912" name="Oval 6">
              <a:extLst>
                <a:ext uri="{FF2B5EF4-FFF2-40B4-BE49-F238E27FC236}">
                  <a16:creationId xmlns:a16="http://schemas.microsoft.com/office/drawing/2014/main" id="{C1CD7D5F-7B23-47C6-98DD-0CD51B7038ED}"/>
                </a:ext>
              </a:extLst>
            </p:cNvPr>
            <p:cNvSpPr>
              <a:spLocks noChangeArrowheads="1"/>
            </p:cNvSpPr>
            <p:nvPr/>
          </p:nvSpPr>
          <p:spPr bwMode="auto">
            <a:xfrm>
              <a:off x="300" y="288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7913" name="Oval 7">
              <a:extLst>
                <a:ext uri="{FF2B5EF4-FFF2-40B4-BE49-F238E27FC236}">
                  <a16:creationId xmlns:a16="http://schemas.microsoft.com/office/drawing/2014/main" id="{2202D1DD-4B62-4157-B5CD-EAFA2136434C}"/>
                </a:ext>
              </a:extLst>
            </p:cNvPr>
            <p:cNvSpPr>
              <a:spLocks noChangeArrowheads="1"/>
            </p:cNvSpPr>
            <p:nvPr/>
          </p:nvSpPr>
          <p:spPr bwMode="auto">
            <a:xfrm>
              <a:off x="828" y="360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7914" name="Oval 8">
              <a:extLst>
                <a:ext uri="{FF2B5EF4-FFF2-40B4-BE49-F238E27FC236}">
                  <a16:creationId xmlns:a16="http://schemas.microsoft.com/office/drawing/2014/main" id="{C93CF105-684F-4B08-8641-13B2AA9E3C3D}"/>
                </a:ext>
              </a:extLst>
            </p:cNvPr>
            <p:cNvSpPr>
              <a:spLocks noChangeArrowheads="1"/>
            </p:cNvSpPr>
            <p:nvPr/>
          </p:nvSpPr>
          <p:spPr bwMode="auto">
            <a:xfrm>
              <a:off x="1740" y="360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7915" name="Oval 9">
              <a:extLst>
                <a:ext uri="{FF2B5EF4-FFF2-40B4-BE49-F238E27FC236}">
                  <a16:creationId xmlns:a16="http://schemas.microsoft.com/office/drawing/2014/main" id="{602E5B89-4F49-42EB-93BF-E1E504ED1DAC}"/>
                </a:ext>
              </a:extLst>
            </p:cNvPr>
            <p:cNvSpPr>
              <a:spLocks noChangeArrowheads="1"/>
            </p:cNvSpPr>
            <p:nvPr/>
          </p:nvSpPr>
          <p:spPr bwMode="auto">
            <a:xfrm>
              <a:off x="2220" y="2888"/>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7916" name="Line 10">
              <a:extLst>
                <a:ext uri="{FF2B5EF4-FFF2-40B4-BE49-F238E27FC236}">
                  <a16:creationId xmlns:a16="http://schemas.microsoft.com/office/drawing/2014/main" id="{91E60C0F-0597-4A18-B879-5108D7C70215}"/>
                </a:ext>
              </a:extLst>
            </p:cNvPr>
            <p:cNvSpPr>
              <a:spLocks noChangeShapeType="1"/>
            </p:cNvSpPr>
            <p:nvPr/>
          </p:nvSpPr>
          <p:spPr bwMode="auto">
            <a:xfrm>
              <a:off x="348" y="2936"/>
              <a:ext cx="520" cy="7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7917" name="Line 11">
              <a:extLst>
                <a:ext uri="{FF2B5EF4-FFF2-40B4-BE49-F238E27FC236}">
                  <a16:creationId xmlns:a16="http://schemas.microsoft.com/office/drawing/2014/main" id="{09E5A9F8-C465-485E-B91A-93EEB9AF60BB}"/>
                </a:ext>
              </a:extLst>
            </p:cNvPr>
            <p:cNvSpPr>
              <a:spLocks noChangeShapeType="1"/>
            </p:cNvSpPr>
            <p:nvPr/>
          </p:nvSpPr>
          <p:spPr bwMode="auto">
            <a:xfrm flipH="1">
              <a:off x="885" y="2931"/>
              <a:ext cx="1406" cy="7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7918" name="Line 12">
              <a:extLst>
                <a:ext uri="{FF2B5EF4-FFF2-40B4-BE49-F238E27FC236}">
                  <a16:creationId xmlns:a16="http://schemas.microsoft.com/office/drawing/2014/main" id="{4217C553-B2B6-4088-8309-057C5BE4AA6B}"/>
                </a:ext>
              </a:extLst>
            </p:cNvPr>
            <p:cNvSpPr>
              <a:spLocks noChangeShapeType="1"/>
            </p:cNvSpPr>
            <p:nvPr/>
          </p:nvSpPr>
          <p:spPr bwMode="auto">
            <a:xfrm>
              <a:off x="876" y="3652"/>
              <a:ext cx="8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173069" name="Rectangle 13">
              <a:extLst>
                <a:ext uri="{FF2B5EF4-FFF2-40B4-BE49-F238E27FC236}">
                  <a16:creationId xmlns:a16="http://schemas.microsoft.com/office/drawing/2014/main" id="{B4BEC7D3-F73E-4A56-BCDD-B62A8B1A1AA8}"/>
                </a:ext>
              </a:extLst>
            </p:cNvPr>
            <p:cNvSpPr>
              <a:spLocks noChangeArrowheads="1"/>
            </p:cNvSpPr>
            <p:nvPr/>
          </p:nvSpPr>
          <p:spPr bwMode="auto">
            <a:xfrm>
              <a:off x="249" y="2981"/>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1</a:t>
              </a:r>
            </a:p>
          </p:txBody>
        </p:sp>
        <p:sp>
          <p:nvSpPr>
            <p:cNvPr id="173070" name="Rectangle 14">
              <a:extLst>
                <a:ext uri="{FF2B5EF4-FFF2-40B4-BE49-F238E27FC236}">
                  <a16:creationId xmlns:a16="http://schemas.microsoft.com/office/drawing/2014/main" id="{385E5CA2-49D7-4DE9-AD38-49B638F22D67}"/>
                </a:ext>
              </a:extLst>
            </p:cNvPr>
            <p:cNvSpPr>
              <a:spLocks noChangeArrowheads="1"/>
            </p:cNvSpPr>
            <p:nvPr/>
          </p:nvSpPr>
          <p:spPr bwMode="auto">
            <a:xfrm>
              <a:off x="2381" y="3142"/>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5</a:t>
              </a:r>
            </a:p>
          </p:txBody>
        </p:sp>
        <p:sp>
          <p:nvSpPr>
            <p:cNvPr id="173071" name="Rectangle 15">
              <a:extLst>
                <a:ext uri="{FF2B5EF4-FFF2-40B4-BE49-F238E27FC236}">
                  <a16:creationId xmlns:a16="http://schemas.microsoft.com/office/drawing/2014/main" id="{CECFD770-B11E-4D18-9F16-489C937807AB}"/>
                </a:ext>
              </a:extLst>
            </p:cNvPr>
            <p:cNvSpPr>
              <a:spLocks noChangeArrowheads="1"/>
            </p:cNvSpPr>
            <p:nvPr/>
          </p:nvSpPr>
          <p:spPr bwMode="auto">
            <a:xfrm>
              <a:off x="2169" y="2981"/>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2</a:t>
              </a:r>
            </a:p>
          </p:txBody>
        </p:sp>
        <p:sp>
          <p:nvSpPr>
            <p:cNvPr id="173072" name="Rectangle 16">
              <a:extLst>
                <a:ext uri="{FF2B5EF4-FFF2-40B4-BE49-F238E27FC236}">
                  <a16:creationId xmlns:a16="http://schemas.microsoft.com/office/drawing/2014/main" id="{0D3EF3B4-9B92-47AB-B324-97C2706BE684}"/>
                </a:ext>
              </a:extLst>
            </p:cNvPr>
            <p:cNvSpPr>
              <a:spLocks noChangeArrowheads="1"/>
            </p:cNvSpPr>
            <p:nvPr/>
          </p:nvSpPr>
          <p:spPr bwMode="auto">
            <a:xfrm>
              <a:off x="1792" y="3748"/>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4</a:t>
              </a:r>
            </a:p>
          </p:txBody>
        </p:sp>
        <p:sp>
          <p:nvSpPr>
            <p:cNvPr id="173073" name="Rectangle 17">
              <a:extLst>
                <a:ext uri="{FF2B5EF4-FFF2-40B4-BE49-F238E27FC236}">
                  <a16:creationId xmlns:a16="http://schemas.microsoft.com/office/drawing/2014/main" id="{E3A38E23-2002-4BF9-AA8F-280F80509062}"/>
                </a:ext>
              </a:extLst>
            </p:cNvPr>
            <p:cNvSpPr>
              <a:spLocks noChangeArrowheads="1"/>
            </p:cNvSpPr>
            <p:nvPr/>
          </p:nvSpPr>
          <p:spPr bwMode="auto">
            <a:xfrm>
              <a:off x="777" y="3749"/>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3</a:t>
              </a:r>
            </a:p>
          </p:txBody>
        </p:sp>
        <p:sp>
          <p:nvSpPr>
            <p:cNvPr id="37924" name="Line 18">
              <a:extLst>
                <a:ext uri="{FF2B5EF4-FFF2-40B4-BE49-F238E27FC236}">
                  <a16:creationId xmlns:a16="http://schemas.microsoft.com/office/drawing/2014/main" id="{B401AC7C-29EB-4B42-AECE-9E921FE3AE89}"/>
                </a:ext>
              </a:extLst>
            </p:cNvPr>
            <p:cNvSpPr>
              <a:spLocks noChangeShapeType="1"/>
            </p:cNvSpPr>
            <p:nvPr/>
          </p:nvSpPr>
          <p:spPr bwMode="auto">
            <a:xfrm flipH="1">
              <a:off x="340" y="2931"/>
              <a:ext cx="190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7925" name="Oval 19">
              <a:extLst>
                <a:ext uri="{FF2B5EF4-FFF2-40B4-BE49-F238E27FC236}">
                  <a16:creationId xmlns:a16="http://schemas.microsoft.com/office/drawing/2014/main" id="{4BDF7A80-BF21-4E35-9081-529C0B8ACD18}"/>
                </a:ext>
              </a:extLst>
            </p:cNvPr>
            <p:cNvSpPr>
              <a:spLocks noChangeArrowheads="1"/>
            </p:cNvSpPr>
            <p:nvPr/>
          </p:nvSpPr>
          <p:spPr bwMode="auto">
            <a:xfrm>
              <a:off x="2200" y="2614"/>
              <a:ext cx="409" cy="36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7926" name="Freeform 20">
              <a:extLst>
                <a:ext uri="{FF2B5EF4-FFF2-40B4-BE49-F238E27FC236}">
                  <a16:creationId xmlns:a16="http://schemas.microsoft.com/office/drawing/2014/main" id="{F062188A-8DF2-47B9-89D1-BE679D1CC6A0}"/>
                </a:ext>
              </a:extLst>
            </p:cNvPr>
            <p:cNvSpPr>
              <a:spLocks/>
            </p:cNvSpPr>
            <p:nvPr/>
          </p:nvSpPr>
          <p:spPr bwMode="auto">
            <a:xfrm>
              <a:off x="340" y="2614"/>
              <a:ext cx="1951" cy="317"/>
            </a:xfrm>
            <a:custGeom>
              <a:avLst/>
              <a:gdLst>
                <a:gd name="T0" fmla="*/ 1951 w 1951"/>
                <a:gd name="T1" fmla="*/ 317 h 317"/>
                <a:gd name="T2" fmla="*/ 862 w 1951"/>
                <a:gd name="T3" fmla="*/ 0 h 317"/>
                <a:gd name="T4" fmla="*/ 0 w 1951"/>
                <a:gd name="T5" fmla="*/ 317 h 317"/>
                <a:gd name="T6" fmla="*/ 0 60000 65536"/>
                <a:gd name="T7" fmla="*/ 0 60000 65536"/>
                <a:gd name="T8" fmla="*/ 0 60000 65536"/>
                <a:gd name="T9" fmla="*/ 0 w 1951"/>
                <a:gd name="T10" fmla="*/ 0 h 317"/>
                <a:gd name="T11" fmla="*/ 1951 w 1951"/>
                <a:gd name="T12" fmla="*/ 317 h 317"/>
              </a:gdLst>
              <a:ahLst/>
              <a:cxnLst>
                <a:cxn ang="T6">
                  <a:pos x="T0" y="T1"/>
                </a:cxn>
                <a:cxn ang="T7">
                  <a:pos x="T2" y="T3"/>
                </a:cxn>
                <a:cxn ang="T8">
                  <a:pos x="T4" y="T5"/>
                </a:cxn>
              </a:cxnLst>
              <a:rect l="T9" t="T10" r="T11" b="T12"/>
              <a:pathLst>
                <a:path w="1951" h="317">
                  <a:moveTo>
                    <a:pt x="1951" y="317"/>
                  </a:moveTo>
                  <a:cubicBezTo>
                    <a:pt x="1569" y="158"/>
                    <a:pt x="1187" y="0"/>
                    <a:pt x="862" y="0"/>
                  </a:cubicBezTo>
                  <a:cubicBezTo>
                    <a:pt x="537" y="0"/>
                    <a:pt x="144" y="264"/>
                    <a:pt x="0" y="317"/>
                  </a:cubicBezTo>
                </a:path>
              </a:pathLst>
            </a:custGeom>
            <a:noFill/>
            <a:ln w="127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pt-BR"/>
            </a:p>
          </p:txBody>
        </p:sp>
        <p:sp>
          <p:nvSpPr>
            <p:cNvPr id="37927" name="Text Box 21">
              <a:extLst>
                <a:ext uri="{FF2B5EF4-FFF2-40B4-BE49-F238E27FC236}">
                  <a16:creationId xmlns:a16="http://schemas.microsoft.com/office/drawing/2014/main" id="{10A780D4-BDF5-4D1E-83AC-890E2D11B479}"/>
                </a:ext>
              </a:extLst>
            </p:cNvPr>
            <p:cNvSpPr txBox="1">
              <a:spLocks noChangeArrowheads="1"/>
            </p:cNvSpPr>
            <p:nvPr/>
          </p:nvSpPr>
          <p:spPr bwMode="auto">
            <a:xfrm>
              <a:off x="340" y="3294"/>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e</a:t>
              </a:r>
            </a:p>
          </p:txBody>
        </p:sp>
        <p:sp>
          <p:nvSpPr>
            <p:cNvPr id="37928" name="Text Box 22">
              <a:extLst>
                <a:ext uri="{FF2B5EF4-FFF2-40B4-BE49-F238E27FC236}">
                  <a16:creationId xmlns:a16="http://schemas.microsoft.com/office/drawing/2014/main" id="{F4D61BCC-87F5-4FDB-8EBB-10AFCAC402D6}"/>
                </a:ext>
              </a:extLst>
            </p:cNvPr>
            <p:cNvSpPr txBox="1">
              <a:spLocks noChangeArrowheads="1"/>
            </p:cNvSpPr>
            <p:nvPr/>
          </p:nvSpPr>
          <p:spPr bwMode="auto">
            <a:xfrm>
              <a:off x="1066" y="2387"/>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b</a:t>
              </a:r>
            </a:p>
          </p:txBody>
        </p:sp>
        <p:sp>
          <p:nvSpPr>
            <p:cNvPr id="37929" name="Text Box 23">
              <a:extLst>
                <a:ext uri="{FF2B5EF4-FFF2-40B4-BE49-F238E27FC236}">
                  <a16:creationId xmlns:a16="http://schemas.microsoft.com/office/drawing/2014/main" id="{B8E467E0-F723-4C09-9187-04093EAA86F1}"/>
                </a:ext>
              </a:extLst>
            </p:cNvPr>
            <p:cNvSpPr txBox="1">
              <a:spLocks noChangeArrowheads="1"/>
            </p:cNvSpPr>
            <p:nvPr/>
          </p:nvSpPr>
          <p:spPr bwMode="auto">
            <a:xfrm>
              <a:off x="975" y="2886"/>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a</a:t>
              </a:r>
            </a:p>
          </p:txBody>
        </p:sp>
        <p:sp>
          <p:nvSpPr>
            <p:cNvPr id="37930" name="Text Box 24">
              <a:extLst>
                <a:ext uri="{FF2B5EF4-FFF2-40B4-BE49-F238E27FC236}">
                  <a16:creationId xmlns:a16="http://schemas.microsoft.com/office/drawing/2014/main" id="{02B47CC1-E9A3-4A6A-87AE-5A1DEAB9C13F}"/>
                </a:ext>
              </a:extLst>
            </p:cNvPr>
            <p:cNvSpPr txBox="1">
              <a:spLocks noChangeArrowheads="1"/>
            </p:cNvSpPr>
            <p:nvPr/>
          </p:nvSpPr>
          <p:spPr bwMode="auto">
            <a:xfrm>
              <a:off x="1701" y="3113"/>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d</a:t>
              </a:r>
            </a:p>
          </p:txBody>
        </p:sp>
        <p:sp>
          <p:nvSpPr>
            <p:cNvPr id="37931" name="Text Box 25">
              <a:extLst>
                <a:ext uri="{FF2B5EF4-FFF2-40B4-BE49-F238E27FC236}">
                  <a16:creationId xmlns:a16="http://schemas.microsoft.com/office/drawing/2014/main" id="{BEE56C75-F806-4ACA-A0E1-0E7D24F9DE06}"/>
                </a:ext>
              </a:extLst>
            </p:cNvPr>
            <p:cNvSpPr txBox="1">
              <a:spLocks noChangeArrowheads="1"/>
            </p:cNvSpPr>
            <p:nvPr/>
          </p:nvSpPr>
          <p:spPr bwMode="auto">
            <a:xfrm>
              <a:off x="2517" y="2478"/>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c</a:t>
              </a:r>
            </a:p>
          </p:txBody>
        </p:sp>
        <p:sp>
          <p:nvSpPr>
            <p:cNvPr id="37932" name="Text Box 26">
              <a:extLst>
                <a:ext uri="{FF2B5EF4-FFF2-40B4-BE49-F238E27FC236}">
                  <a16:creationId xmlns:a16="http://schemas.microsoft.com/office/drawing/2014/main" id="{08D0279E-B64A-4558-81EC-7F7CD02D9D4E}"/>
                </a:ext>
              </a:extLst>
            </p:cNvPr>
            <p:cNvSpPr txBox="1">
              <a:spLocks noChangeArrowheads="1"/>
            </p:cNvSpPr>
            <p:nvPr/>
          </p:nvSpPr>
          <p:spPr bwMode="auto">
            <a:xfrm>
              <a:off x="1202" y="3657"/>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f</a:t>
              </a:r>
            </a:p>
          </p:txBody>
        </p:sp>
      </p:grpSp>
      <p:sp>
        <p:nvSpPr>
          <p:cNvPr id="37893" name="Oval 29">
            <a:extLst>
              <a:ext uri="{FF2B5EF4-FFF2-40B4-BE49-F238E27FC236}">
                <a16:creationId xmlns:a16="http://schemas.microsoft.com/office/drawing/2014/main" id="{2EEC4842-E471-4A52-B544-62891E1A6124}"/>
              </a:ext>
            </a:extLst>
          </p:cNvPr>
          <p:cNvSpPr>
            <a:spLocks noChangeArrowheads="1"/>
          </p:cNvSpPr>
          <p:nvPr/>
        </p:nvSpPr>
        <p:spPr bwMode="auto">
          <a:xfrm>
            <a:off x="6464300" y="3648075"/>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7894" name="Oval 30">
            <a:extLst>
              <a:ext uri="{FF2B5EF4-FFF2-40B4-BE49-F238E27FC236}">
                <a16:creationId xmlns:a16="http://schemas.microsoft.com/office/drawing/2014/main" id="{61AD4BAE-C072-4132-9022-ABF52182B61D}"/>
              </a:ext>
            </a:extLst>
          </p:cNvPr>
          <p:cNvSpPr>
            <a:spLocks noChangeArrowheads="1"/>
          </p:cNvSpPr>
          <p:nvPr/>
        </p:nvSpPr>
        <p:spPr bwMode="auto">
          <a:xfrm>
            <a:off x="7302500" y="4791075"/>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7895" name="Oval 32">
            <a:extLst>
              <a:ext uri="{FF2B5EF4-FFF2-40B4-BE49-F238E27FC236}">
                <a16:creationId xmlns:a16="http://schemas.microsoft.com/office/drawing/2014/main" id="{DA0C5894-DF4A-43F9-BA5E-08D1F5E214D7}"/>
              </a:ext>
            </a:extLst>
          </p:cNvPr>
          <p:cNvSpPr>
            <a:spLocks noChangeArrowheads="1"/>
          </p:cNvSpPr>
          <p:nvPr/>
        </p:nvSpPr>
        <p:spPr bwMode="auto">
          <a:xfrm>
            <a:off x="9512300" y="3648075"/>
            <a:ext cx="139700" cy="139700"/>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7896" name="Line 33">
            <a:extLst>
              <a:ext uri="{FF2B5EF4-FFF2-40B4-BE49-F238E27FC236}">
                <a16:creationId xmlns:a16="http://schemas.microsoft.com/office/drawing/2014/main" id="{0B1DC55B-9873-493B-A5E3-A263959B4007}"/>
              </a:ext>
            </a:extLst>
          </p:cNvPr>
          <p:cNvSpPr>
            <a:spLocks noChangeShapeType="1"/>
          </p:cNvSpPr>
          <p:nvPr/>
        </p:nvSpPr>
        <p:spPr bwMode="auto">
          <a:xfrm>
            <a:off x="6540500" y="3724275"/>
            <a:ext cx="825500" cy="1130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7897" name="Line 34">
            <a:extLst>
              <a:ext uri="{FF2B5EF4-FFF2-40B4-BE49-F238E27FC236}">
                <a16:creationId xmlns:a16="http://schemas.microsoft.com/office/drawing/2014/main" id="{7B6AFF17-FDED-4830-8BA8-31606EEF3F78}"/>
              </a:ext>
            </a:extLst>
          </p:cNvPr>
          <p:cNvSpPr>
            <a:spLocks noChangeShapeType="1"/>
          </p:cNvSpPr>
          <p:nvPr/>
        </p:nvSpPr>
        <p:spPr bwMode="auto">
          <a:xfrm flipH="1">
            <a:off x="7392989" y="3716339"/>
            <a:ext cx="2232025" cy="11271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173092" name="Rectangle 36">
            <a:extLst>
              <a:ext uri="{FF2B5EF4-FFF2-40B4-BE49-F238E27FC236}">
                <a16:creationId xmlns:a16="http://schemas.microsoft.com/office/drawing/2014/main" id="{DACD23CE-7D56-4A06-AAC9-140E3A2D6961}"/>
              </a:ext>
            </a:extLst>
          </p:cNvPr>
          <p:cNvSpPr>
            <a:spLocks noChangeArrowheads="1"/>
          </p:cNvSpPr>
          <p:nvPr/>
        </p:nvSpPr>
        <p:spPr bwMode="auto">
          <a:xfrm>
            <a:off x="6383339" y="3795714"/>
            <a:ext cx="301625" cy="333375"/>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1</a:t>
            </a:r>
          </a:p>
        </p:txBody>
      </p:sp>
      <p:sp>
        <p:nvSpPr>
          <p:cNvPr id="173094" name="Rectangle 38">
            <a:extLst>
              <a:ext uri="{FF2B5EF4-FFF2-40B4-BE49-F238E27FC236}">
                <a16:creationId xmlns:a16="http://schemas.microsoft.com/office/drawing/2014/main" id="{89D22506-AFBD-4217-AC7C-6FD0DD34B339}"/>
              </a:ext>
            </a:extLst>
          </p:cNvPr>
          <p:cNvSpPr>
            <a:spLocks noChangeArrowheads="1"/>
          </p:cNvSpPr>
          <p:nvPr/>
        </p:nvSpPr>
        <p:spPr bwMode="auto">
          <a:xfrm>
            <a:off x="9431339" y="3795714"/>
            <a:ext cx="301625" cy="333375"/>
          </a:xfrm>
          <a:prstGeom prst="rect">
            <a:avLst/>
          </a:prstGeom>
          <a:noFill/>
          <a:ln>
            <a:noFill/>
          </a:ln>
          <a:effectLst/>
        </p:spPr>
        <p:txBody>
          <a:bodyPr lIns="90488" tIns="44450" rIns="90488" bIns="44450">
            <a:spAutoFit/>
          </a:bodyPr>
          <a:lstStyle/>
          <a:p>
            <a:pPr>
              <a:spcBef>
                <a:spcPct val="50000"/>
              </a:spcBef>
              <a:defRPr/>
            </a:pPr>
            <a:r>
              <a:rPr lang="pt-BR" sz="1600" b="1" i="1" dirty="0">
                <a:effectLst>
                  <a:outerShdw blurRad="38100" dist="38100" dir="2700000" algn="tl">
                    <a:srgbClr val="C0C0C0"/>
                  </a:outerShdw>
                </a:effectLst>
                <a:latin typeface="Arial" charset="0"/>
              </a:rPr>
              <a:t>2</a:t>
            </a:r>
          </a:p>
        </p:txBody>
      </p:sp>
      <p:sp>
        <p:nvSpPr>
          <p:cNvPr id="173096" name="Rectangle 40">
            <a:extLst>
              <a:ext uri="{FF2B5EF4-FFF2-40B4-BE49-F238E27FC236}">
                <a16:creationId xmlns:a16="http://schemas.microsoft.com/office/drawing/2014/main" id="{D6878702-FCD5-42B4-B296-98104282D915}"/>
              </a:ext>
            </a:extLst>
          </p:cNvPr>
          <p:cNvSpPr>
            <a:spLocks noChangeArrowheads="1"/>
          </p:cNvSpPr>
          <p:nvPr/>
        </p:nvSpPr>
        <p:spPr bwMode="auto">
          <a:xfrm>
            <a:off x="7221539" y="5014914"/>
            <a:ext cx="301625" cy="333375"/>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3</a:t>
            </a:r>
          </a:p>
        </p:txBody>
      </p:sp>
      <p:sp>
        <p:nvSpPr>
          <p:cNvPr id="37901" name="Line 41">
            <a:extLst>
              <a:ext uri="{FF2B5EF4-FFF2-40B4-BE49-F238E27FC236}">
                <a16:creationId xmlns:a16="http://schemas.microsoft.com/office/drawing/2014/main" id="{1CDB121A-75E2-4886-8F03-91AF620C685B}"/>
              </a:ext>
            </a:extLst>
          </p:cNvPr>
          <p:cNvSpPr>
            <a:spLocks noChangeShapeType="1"/>
          </p:cNvSpPr>
          <p:nvPr/>
        </p:nvSpPr>
        <p:spPr bwMode="auto">
          <a:xfrm flipH="1">
            <a:off x="6527800" y="3716338"/>
            <a:ext cx="30241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7902" name="Oval 42">
            <a:extLst>
              <a:ext uri="{FF2B5EF4-FFF2-40B4-BE49-F238E27FC236}">
                <a16:creationId xmlns:a16="http://schemas.microsoft.com/office/drawing/2014/main" id="{B9A7A585-7BB5-4797-AA5E-A11849E8E074}"/>
              </a:ext>
            </a:extLst>
          </p:cNvPr>
          <p:cNvSpPr>
            <a:spLocks noChangeArrowheads="1"/>
          </p:cNvSpPr>
          <p:nvPr/>
        </p:nvSpPr>
        <p:spPr bwMode="auto">
          <a:xfrm>
            <a:off x="9480550" y="3213101"/>
            <a:ext cx="649288" cy="57626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7903" name="Freeform 43">
            <a:extLst>
              <a:ext uri="{FF2B5EF4-FFF2-40B4-BE49-F238E27FC236}">
                <a16:creationId xmlns:a16="http://schemas.microsoft.com/office/drawing/2014/main" id="{58A650CB-9C79-4A08-932D-EE1DF4EB26B6}"/>
              </a:ext>
            </a:extLst>
          </p:cNvPr>
          <p:cNvSpPr>
            <a:spLocks/>
          </p:cNvSpPr>
          <p:nvPr/>
        </p:nvSpPr>
        <p:spPr bwMode="auto">
          <a:xfrm>
            <a:off x="6527801" y="3213100"/>
            <a:ext cx="3097213" cy="503238"/>
          </a:xfrm>
          <a:custGeom>
            <a:avLst/>
            <a:gdLst>
              <a:gd name="T0" fmla="*/ 2147483646 w 1951"/>
              <a:gd name="T1" fmla="*/ 2147483646 h 317"/>
              <a:gd name="T2" fmla="*/ 2147483646 w 1951"/>
              <a:gd name="T3" fmla="*/ 0 h 317"/>
              <a:gd name="T4" fmla="*/ 0 w 1951"/>
              <a:gd name="T5" fmla="*/ 2147483646 h 317"/>
              <a:gd name="T6" fmla="*/ 0 60000 65536"/>
              <a:gd name="T7" fmla="*/ 0 60000 65536"/>
              <a:gd name="T8" fmla="*/ 0 60000 65536"/>
              <a:gd name="T9" fmla="*/ 0 w 1951"/>
              <a:gd name="T10" fmla="*/ 0 h 317"/>
              <a:gd name="T11" fmla="*/ 1951 w 1951"/>
              <a:gd name="T12" fmla="*/ 317 h 317"/>
            </a:gdLst>
            <a:ahLst/>
            <a:cxnLst>
              <a:cxn ang="T6">
                <a:pos x="T0" y="T1"/>
              </a:cxn>
              <a:cxn ang="T7">
                <a:pos x="T2" y="T3"/>
              </a:cxn>
              <a:cxn ang="T8">
                <a:pos x="T4" y="T5"/>
              </a:cxn>
            </a:cxnLst>
            <a:rect l="T9" t="T10" r="T11" b="T12"/>
            <a:pathLst>
              <a:path w="1951" h="317">
                <a:moveTo>
                  <a:pt x="1951" y="317"/>
                </a:moveTo>
                <a:cubicBezTo>
                  <a:pt x="1569" y="158"/>
                  <a:pt x="1187" y="0"/>
                  <a:pt x="862" y="0"/>
                </a:cubicBezTo>
                <a:cubicBezTo>
                  <a:pt x="537" y="0"/>
                  <a:pt x="144" y="264"/>
                  <a:pt x="0" y="317"/>
                </a:cubicBezTo>
              </a:path>
            </a:pathLst>
          </a:custGeom>
          <a:noFill/>
          <a:ln w="127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pt-BR"/>
          </a:p>
        </p:txBody>
      </p:sp>
      <p:sp>
        <p:nvSpPr>
          <p:cNvPr id="37904" name="Text Box 44">
            <a:extLst>
              <a:ext uri="{FF2B5EF4-FFF2-40B4-BE49-F238E27FC236}">
                <a16:creationId xmlns:a16="http://schemas.microsoft.com/office/drawing/2014/main" id="{9A7210EF-2DCE-41DF-AACC-8EC5A8FCDD15}"/>
              </a:ext>
            </a:extLst>
          </p:cNvPr>
          <p:cNvSpPr txBox="1">
            <a:spLocks noChangeArrowheads="1"/>
          </p:cNvSpPr>
          <p:nvPr/>
        </p:nvSpPr>
        <p:spPr bwMode="auto">
          <a:xfrm>
            <a:off x="6527801" y="4292601"/>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e</a:t>
            </a:r>
          </a:p>
        </p:txBody>
      </p:sp>
      <p:sp>
        <p:nvSpPr>
          <p:cNvPr id="37905" name="Text Box 45">
            <a:extLst>
              <a:ext uri="{FF2B5EF4-FFF2-40B4-BE49-F238E27FC236}">
                <a16:creationId xmlns:a16="http://schemas.microsoft.com/office/drawing/2014/main" id="{657BC7BC-6F86-401E-840A-C47574E29B3D}"/>
              </a:ext>
            </a:extLst>
          </p:cNvPr>
          <p:cNvSpPr txBox="1">
            <a:spLocks noChangeArrowheads="1"/>
          </p:cNvSpPr>
          <p:nvPr/>
        </p:nvSpPr>
        <p:spPr bwMode="auto">
          <a:xfrm>
            <a:off x="7680326" y="2852738"/>
            <a:ext cx="504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b</a:t>
            </a:r>
          </a:p>
        </p:txBody>
      </p:sp>
      <p:sp>
        <p:nvSpPr>
          <p:cNvPr id="37906" name="Text Box 46">
            <a:extLst>
              <a:ext uri="{FF2B5EF4-FFF2-40B4-BE49-F238E27FC236}">
                <a16:creationId xmlns:a16="http://schemas.microsoft.com/office/drawing/2014/main" id="{0F2637B8-7125-4F65-9BC0-ABF3D51053F7}"/>
              </a:ext>
            </a:extLst>
          </p:cNvPr>
          <p:cNvSpPr txBox="1">
            <a:spLocks noChangeArrowheads="1"/>
          </p:cNvSpPr>
          <p:nvPr/>
        </p:nvSpPr>
        <p:spPr bwMode="auto">
          <a:xfrm>
            <a:off x="7535864" y="3644901"/>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a</a:t>
            </a:r>
          </a:p>
        </p:txBody>
      </p:sp>
      <p:sp>
        <p:nvSpPr>
          <p:cNvPr id="37907" name="Text Box 47">
            <a:extLst>
              <a:ext uri="{FF2B5EF4-FFF2-40B4-BE49-F238E27FC236}">
                <a16:creationId xmlns:a16="http://schemas.microsoft.com/office/drawing/2014/main" id="{942D80CB-4612-4E0C-8174-3316B83FB393}"/>
              </a:ext>
            </a:extLst>
          </p:cNvPr>
          <p:cNvSpPr txBox="1">
            <a:spLocks noChangeArrowheads="1"/>
          </p:cNvSpPr>
          <p:nvPr/>
        </p:nvSpPr>
        <p:spPr bwMode="auto">
          <a:xfrm>
            <a:off x="8688389" y="4005263"/>
            <a:ext cx="504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d</a:t>
            </a:r>
          </a:p>
        </p:txBody>
      </p:sp>
      <p:sp>
        <p:nvSpPr>
          <p:cNvPr id="37908" name="Text Box 48">
            <a:extLst>
              <a:ext uri="{FF2B5EF4-FFF2-40B4-BE49-F238E27FC236}">
                <a16:creationId xmlns:a16="http://schemas.microsoft.com/office/drawing/2014/main" id="{CE3EA1E9-B60B-40D8-820D-8F234FB28AF4}"/>
              </a:ext>
            </a:extLst>
          </p:cNvPr>
          <p:cNvSpPr txBox="1">
            <a:spLocks noChangeArrowheads="1"/>
          </p:cNvSpPr>
          <p:nvPr/>
        </p:nvSpPr>
        <p:spPr bwMode="auto">
          <a:xfrm>
            <a:off x="9983789" y="2997201"/>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c</a:t>
            </a:r>
          </a:p>
        </p:txBody>
      </p:sp>
      <p:sp>
        <p:nvSpPr>
          <p:cNvPr id="37909" name="Text Box 50">
            <a:extLst>
              <a:ext uri="{FF2B5EF4-FFF2-40B4-BE49-F238E27FC236}">
                <a16:creationId xmlns:a16="http://schemas.microsoft.com/office/drawing/2014/main" id="{F06DCD75-66EB-49DD-8124-445DA8AA8084}"/>
              </a:ext>
            </a:extLst>
          </p:cNvPr>
          <p:cNvSpPr txBox="1">
            <a:spLocks noChangeArrowheads="1"/>
          </p:cNvSpPr>
          <p:nvPr/>
        </p:nvSpPr>
        <p:spPr bwMode="auto">
          <a:xfrm>
            <a:off x="2063750" y="4941889"/>
            <a:ext cx="34559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pt-BR" altLang="pt-BR" sz="3000">
                <a:solidFill>
                  <a:srgbClr val="FF0000"/>
                </a:solidFill>
                <a:latin typeface="Arial" panose="020B0604020202020204" pitchFamily="34" charset="0"/>
              </a:rPr>
              <a:t>Não conexo (vértice 5 isolado)</a:t>
            </a:r>
          </a:p>
        </p:txBody>
      </p:sp>
      <p:sp>
        <p:nvSpPr>
          <p:cNvPr id="37910" name="Text Box 51">
            <a:extLst>
              <a:ext uri="{FF2B5EF4-FFF2-40B4-BE49-F238E27FC236}">
                <a16:creationId xmlns:a16="http://schemas.microsoft.com/office/drawing/2014/main" id="{14686C46-0DCA-4201-BF14-7EDC4EC49BDF}"/>
              </a:ext>
            </a:extLst>
          </p:cNvPr>
          <p:cNvSpPr txBox="1">
            <a:spLocks noChangeArrowheads="1"/>
          </p:cNvSpPr>
          <p:nvPr/>
        </p:nvSpPr>
        <p:spPr bwMode="auto">
          <a:xfrm>
            <a:off x="6600825" y="5300664"/>
            <a:ext cx="3455988"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pt-BR" altLang="pt-BR" sz="2800">
                <a:solidFill>
                  <a:srgbClr val="FF0000"/>
                </a:solidFill>
                <a:latin typeface="Arial" panose="020B0604020202020204" pitchFamily="34" charset="0"/>
              </a:rPr>
              <a:t>Conexo (caminhos entre 2 vértices)</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D416F4D-DF3F-4F72-907E-7B1D91E441C9}"/>
              </a:ext>
            </a:extLst>
          </p:cNvPr>
          <p:cNvSpPr>
            <a:spLocks noGrp="1"/>
          </p:cNvSpPr>
          <p:nvPr>
            <p:ph idx="1"/>
          </p:nvPr>
        </p:nvSpPr>
        <p:spPr>
          <a:xfrm>
            <a:off x="1524001" y="260350"/>
            <a:ext cx="8791575" cy="2286000"/>
          </a:xfrm>
        </p:spPr>
        <p:txBody>
          <a:bodyPr>
            <a:normAutofit/>
          </a:bodyPr>
          <a:lstStyle/>
          <a:p>
            <a:pPr eaLnBrk="1" hangingPunct="1">
              <a:lnSpc>
                <a:spcPct val="90000"/>
              </a:lnSpc>
              <a:buFontTx/>
              <a:buNone/>
            </a:pPr>
            <a:r>
              <a:rPr lang="pt-BR" altLang="pt-BR" sz="3600" b="1" dirty="0"/>
              <a:t>Grafo desconexo</a:t>
            </a:r>
            <a:r>
              <a:rPr lang="pt-BR" altLang="pt-BR" sz="3000" b="1" dirty="0"/>
              <a:t> </a:t>
            </a:r>
          </a:p>
          <a:p>
            <a:pPr lvl="1" eaLnBrk="1" hangingPunct="1">
              <a:lnSpc>
                <a:spcPct val="90000"/>
              </a:lnSpc>
            </a:pPr>
            <a:endParaRPr lang="pt-BR" altLang="pt-BR" sz="2600" dirty="0">
              <a:solidFill>
                <a:srgbClr val="003399"/>
              </a:solidFill>
            </a:endParaRPr>
          </a:p>
          <a:p>
            <a:pPr lvl="1" eaLnBrk="1" hangingPunct="1">
              <a:lnSpc>
                <a:spcPct val="90000"/>
              </a:lnSpc>
            </a:pPr>
            <a:r>
              <a:rPr lang="pt-BR" altLang="pt-BR" sz="3000" dirty="0"/>
              <a:t>O grafo mostrado a seguir não é conexo pois, por exemplo, não existe um caminho entre x</a:t>
            </a:r>
            <a:r>
              <a:rPr lang="pt-BR" altLang="pt-BR" sz="3000" baseline="-25000" dirty="0"/>
              <a:t>3  </a:t>
            </a:r>
            <a:r>
              <a:rPr lang="pt-BR" altLang="pt-BR" sz="3000" dirty="0"/>
              <a:t>e x</a:t>
            </a:r>
            <a:r>
              <a:rPr lang="pt-BR" altLang="pt-BR" sz="3000" baseline="-25000" dirty="0"/>
              <a:t>5</a:t>
            </a:r>
            <a:r>
              <a:rPr lang="pt-BR" altLang="pt-BR" sz="3000" dirty="0"/>
              <a:t>.</a:t>
            </a:r>
          </a:p>
          <a:p>
            <a:pPr lvl="1" eaLnBrk="1" hangingPunct="1">
              <a:lnSpc>
                <a:spcPct val="90000"/>
              </a:lnSpc>
            </a:pPr>
            <a:endParaRPr lang="pt-BR" altLang="pt-BR" sz="3000" dirty="0">
              <a:solidFill>
                <a:srgbClr val="003399"/>
              </a:solidFill>
            </a:endParaRPr>
          </a:p>
          <a:p>
            <a:pPr lvl="1" eaLnBrk="1" hangingPunct="1">
              <a:lnSpc>
                <a:spcPct val="90000"/>
              </a:lnSpc>
              <a:buFontTx/>
              <a:buNone/>
            </a:pPr>
            <a:endParaRPr lang="pt-BR" altLang="pt-BR" sz="3000" dirty="0">
              <a:solidFill>
                <a:srgbClr val="003399"/>
              </a:solidFill>
            </a:endParaRPr>
          </a:p>
        </p:txBody>
      </p:sp>
      <p:pic>
        <p:nvPicPr>
          <p:cNvPr id="38915" name="Picture 4" descr="desconexo">
            <a:extLst>
              <a:ext uri="{FF2B5EF4-FFF2-40B4-BE49-F238E27FC236}">
                <a16:creationId xmlns:a16="http://schemas.microsoft.com/office/drawing/2014/main" id="{498A5B78-17FE-4CC1-B800-C34D8C5754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3501" y="3471864"/>
            <a:ext cx="4684713" cy="247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1">
            <a:extLst>
              <a:ext uri="{FF2B5EF4-FFF2-40B4-BE49-F238E27FC236}">
                <a16:creationId xmlns:a16="http://schemas.microsoft.com/office/drawing/2014/main" id="{9D7FA756-1923-4C60-97AF-85CFDFB23993}"/>
              </a:ext>
            </a:extLst>
          </p:cNvPr>
          <p:cNvSpPr>
            <a:spLocks noGrp="1"/>
          </p:cNvSpPr>
          <p:nvPr>
            <p:ph type="title"/>
          </p:nvPr>
        </p:nvSpPr>
        <p:spPr>
          <a:xfrm>
            <a:off x="1774825" y="1"/>
            <a:ext cx="8229600" cy="811213"/>
          </a:xfrm>
        </p:spPr>
        <p:txBody>
          <a:bodyPr vert="horz" lIns="90488" tIns="44450" rIns="90488" bIns="44450" rtlCol="0" anchor="b">
            <a:normAutofit/>
          </a:bodyPr>
          <a:lstStyle/>
          <a:p>
            <a:pPr eaLnBrk="1" hangingPunct="1"/>
            <a:r>
              <a:rPr lang="pt-BR" altLang="pt-BR" b="1" dirty="0"/>
              <a:t>Adjacência</a:t>
            </a:r>
          </a:p>
        </p:txBody>
      </p:sp>
      <p:sp>
        <p:nvSpPr>
          <p:cNvPr id="22531" name="Rectangle 3">
            <a:extLst>
              <a:ext uri="{FF2B5EF4-FFF2-40B4-BE49-F238E27FC236}">
                <a16:creationId xmlns:a16="http://schemas.microsoft.com/office/drawing/2014/main" id="{BA24B426-F930-4C3C-9643-409E8B00FC3F}"/>
              </a:ext>
            </a:extLst>
          </p:cNvPr>
          <p:cNvSpPr>
            <a:spLocks noGrp="1"/>
          </p:cNvSpPr>
          <p:nvPr>
            <p:ph idx="1"/>
          </p:nvPr>
        </p:nvSpPr>
        <p:spPr>
          <a:xfrm>
            <a:off x="1847850" y="1676400"/>
            <a:ext cx="8591550" cy="1392238"/>
          </a:xfrm>
        </p:spPr>
        <p:txBody>
          <a:bodyPr vert="horz" lIns="90488" tIns="44450" rIns="90488" bIns="44450" rtlCol="0">
            <a:normAutofit/>
          </a:bodyPr>
          <a:lstStyle/>
          <a:p>
            <a:pPr eaLnBrk="1" hangingPunct="1"/>
            <a:r>
              <a:rPr lang="pt-BR" altLang="pt-BR" sz="3300" i="1"/>
              <a:t>Dois vértices são</a:t>
            </a:r>
            <a:r>
              <a:rPr lang="pt-BR" altLang="pt-BR" sz="3300"/>
              <a:t> </a:t>
            </a:r>
            <a:r>
              <a:rPr lang="pt-BR" altLang="pt-BR" sz="3300" b="1">
                <a:solidFill>
                  <a:srgbClr val="FF0000"/>
                </a:solidFill>
              </a:rPr>
              <a:t>vértices adjacentes </a:t>
            </a:r>
            <a:r>
              <a:rPr lang="pt-BR" altLang="pt-BR" sz="3300" i="1"/>
              <a:t>se forem os extremos de uma mesma reta.</a:t>
            </a:r>
          </a:p>
          <a:p>
            <a:pPr eaLnBrk="1" hangingPunct="1"/>
            <a:endParaRPr lang="pt-BR" altLang="pt-BR" sz="3300" i="1"/>
          </a:p>
        </p:txBody>
      </p:sp>
      <p:grpSp>
        <p:nvGrpSpPr>
          <p:cNvPr id="22532" name="Group 59">
            <a:extLst>
              <a:ext uri="{FF2B5EF4-FFF2-40B4-BE49-F238E27FC236}">
                <a16:creationId xmlns:a16="http://schemas.microsoft.com/office/drawing/2014/main" id="{0655523D-993A-4236-B35F-C08D21C54F70}"/>
              </a:ext>
            </a:extLst>
          </p:cNvPr>
          <p:cNvGrpSpPr>
            <a:grpSpLocks/>
          </p:cNvGrpSpPr>
          <p:nvPr/>
        </p:nvGrpSpPr>
        <p:grpSpPr bwMode="auto">
          <a:xfrm>
            <a:off x="2782889" y="2924176"/>
            <a:ext cx="4105275" cy="3000375"/>
            <a:chOff x="793" y="1842"/>
            <a:chExt cx="2586" cy="1890"/>
          </a:xfrm>
        </p:grpSpPr>
        <p:sp>
          <p:nvSpPr>
            <p:cNvPr id="22534" name="Oval 6">
              <a:extLst>
                <a:ext uri="{FF2B5EF4-FFF2-40B4-BE49-F238E27FC236}">
                  <a16:creationId xmlns:a16="http://schemas.microsoft.com/office/drawing/2014/main" id="{9C68B2E3-74C3-4149-A2C9-2C11AFCD866F}"/>
                </a:ext>
              </a:extLst>
            </p:cNvPr>
            <p:cNvSpPr>
              <a:spLocks noChangeArrowheads="1"/>
            </p:cNvSpPr>
            <p:nvPr/>
          </p:nvSpPr>
          <p:spPr bwMode="auto">
            <a:xfrm>
              <a:off x="2236" y="2085"/>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2535" name="Oval 7">
              <a:extLst>
                <a:ext uri="{FF2B5EF4-FFF2-40B4-BE49-F238E27FC236}">
                  <a16:creationId xmlns:a16="http://schemas.microsoft.com/office/drawing/2014/main" id="{6B3F1D4F-59D2-4C08-B51D-0A41D80BA6A6}"/>
                </a:ext>
              </a:extLst>
            </p:cNvPr>
            <p:cNvSpPr>
              <a:spLocks noChangeArrowheads="1"/>
            </p:cNvSpPr>
            <p:nvPr/>
          </p:nvSpPr>
          <p:spPr bwMode="auto">
            <a:xfrm>
              <a:off x="844" y="2661"/>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2536" name="Oval 8">
              <a:extLst>
                <a:ext uri="{FF2B5EF4-FFF2-40B4-BE49-F238E27FC236}">
                  <a16:creationId xmlns:a16="http://schemas.microsoft.com/office/drawing/2014/main" id="{68379299-F34D-46A3-B50B-424093EE7FA2}"/>
                </a:ext>
              </a:extLst>
            </p:cNvPr>
            <p:cNvSpPr>
              <a:spLocks noChangeArrowheads="1"/>
            </p:cNvSpPr>
            <p:nvPr/>
          </p:nvSpPr>
          <p:spPr bwMode="auto">
            <a:xfrm>
              <a:off x="1372" y="3381"/>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2537" name="Oval 9">
              <a:extLst>
                <a:ext uri="{FF2B5EF4-FFF2-40B4-BE49-F238E27FC236}">
                  <a16:creationId xmlns:a16="http://schemas.microsoft.com/office/drawing/2014/main" id="{B2394764-391B-4242-8888-46F3BE067A68}"/>
                </a:ext>
              </a:extLst>
            </p:cNvPr>
            <p:cNvSpPr>
              <a:spLocks noChangeArrowheads="1"/>
            </p:cNvSpPr>
            <p:nvPr/>
          </p:nvSpPr>
          <p:spPr bwMode="auto">
            <a:xfrm>
              <a:off x="2284" y="3381"/>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2538" name="Oval 10">
              <a:extLst>
                <a:ext uri="{FF2B5EF4-FFF2-40B4-BE49-F238E27FC236}">
                  <a16:creationId xmlns:a16="http://schemas.microsoft.com/office/drawing/2014/main" id="{7511C23F-39CE-4D4D-830B-512D982020C7}"/>
                </a:ext>
              </a:extLst>
            </p:cNvPr>
            <p:cNvSpPr>
              <a:spLocks noChangeArrowheads="1"/>
            </p:cNvSpPr>
            <p:nvPr/>
          </p:nvSpPr>
          <p:spPr bwMode="auto">
            <a:xfrm>
              <a:off x="2764" y="2661"/>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2539" name="Line 18">
              <a:extLst>
                <a:ext uri="{FF2B5EF4-FFF2-40B4-BE49-F238E27FC236}">
                  <a16:creationId xmlns:a16="http://schemas.microsoft.com/office/drawing/2014/main" id="{E78EFDE5-ADC1-4D71-B636-8B55AC85A457}"/>
                </a:ext>
              </a:extLst>
            </p:cNvPr>
            <p:cNvSpPr>
              <a:spLocks noChangeShapeType="1"/>
            </p:cNvSpPr>
            <p:nvPr/>
          </p:nvSpPr>
          <p:spPr bwMode="auto">
            <a:xfrm>
              <a:off x="892" y="2709"/>
              <a:ext cx="520" cy="7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22540" name="Line 20">
              <a:extLst>
                <a:ext uri="{FF2B5EF4-FFF2-40B4-BE49-F238E27FC236}">
                  <a16:creationId xmlns:a16="http://schemas.microsoft.com/office/drawing/2014/main" id="{18D9C138-0B16-4629-84A8-49BA1C0B19DC}"/>
                </a:ext>
              </a:extLst>
            </p:cNvPr>
            <p:cNvSpPr>
              <a:spLocks noChangeShapeType="1"/>
            </p:cNvSpPr>
            <p:nvPr/>
          </p:nvSpPr>
          <p:spPr bwMode="auto">
            <a:xfrm flipH="1">
              <a:off x="1429" y="2704"/>
              <a:ext cx="1406" cy="7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22541" name="Line 21">
              <a:extLst>
                <a:ext uri="{FF2B5EF4-FFF2-40B4-BE49-F238E27FC236}">
                  <a16:creationId xmlns:a16="http://schemas.microsoft.com/office/drawing/2014/main" id="{6F3933DE-051E-4D4E-A4EB-09051BC7C1C0}"/>
                </a:ext>
              </a:extLst>
            </p:cNvPr>
            <p:cNvSpPr>
              <a:spLocks noChangeShapeType="1"/>
            </p:cNvSpPr>
            <p:nvPr/>
          </p:nvSpPr>
          <p:spPr bwMode="auto">
            <a:xfrm>
              <a:off x="1420" y="3425"/>
              <a:ext cx="8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32802" name="Rectangle 34">
              <a:extLst>
                <a:ext uri="{FF2B5EF4-FFF2-40B4-BE49-F238E27FC236}">
                  <a16:creationId xmlns:a16="http://schemas.microsoft.com/office/drawing/2014/main" id="{D0D13A33-3159-49B6-B8A1-D1095FA74CB0}"/>
                </a:ext>
              </a:extLst>
            </p:cNvPr>
            <p:cNvSpPr>
              <a:spLocks noChangeArrowheads="1"/>
            </p:cNvSpPr>
            <p:nvPr/>
          </p:nvSpPr>
          <p:spPr bwMode="auto">
            <a:xfrm>
              <a:off x="793" y="2754"/>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1</a:t>
              </a:r>
            </a:p>
          </p:txBody>
        </p:sp>
        <p:sp>
          <p:nvSpPr>
            <p:cNvPr id="32805" name="Rectangle 37">
              <a:extLst>
                <a:ext uri="{FF2B5EF4-FFF2-40B4-BE49-F238E27FC236}">
                  <a16:creationId xmlns:a16="http://schemas.microsoft.com/office/drawing/2014/main" id="{25241151-1235-4FD7-9853-5278F9152B92}"/>
                </a:ext>
              </a:extLst>
            </p:cNvPr>
            <p:cNvSpPr>
              <a:spLocks noChangeArrowheads="1"/>
            </p:cNvSpPr>
            <p:nvPr/>
          </p:nvSpPr>
          <p:spPr bwMode="auto">
            <a:xfrm>
              <a:off x="2185" y="1842"/>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5</a:t>
              </a:r>
            </a:p>
          </p:txBody>
        </p:sp>
        <p:sp>
          <p:nvSpPr>
            <p:cNvPr id="32807" name="Rectangle 39">
              <a:extLst>
                <a:ext uri="{FF2B5EF4-FFF2-40B4-BE49-F238E27FC236}">
                  <a16:creationId xmlns:a16="http://schemas.microsoft.com/office/drawing/2014/main" id="{023435D3-6AF0-4C69-ACB7-5BF9F44852E8}"/>
                </a:ext>
              </a:extLst>
            </p:cNvPr>
            <p:cNvSpPr>
              <a:spLocks noChangeArrowheads="1"/>
            </p:cNvSpPr>
            <p:nvPr/>
          </p:nvSpPr>
          <p:spPr bwMode="auto">
            <a:xfrm>
              <a:off x="2713" y="2754"/>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2</a:t>
              </a:r>
            </a:p>
          </p:txBody>
        </p:sp>
        <p:sp>
          <p:nvSpPr>
            <p:cNvPr id="32809" name="Rectangle 41">
              <a:extLst>
                <a:ext uri="{FF2B5EF4-FFF2-40B4-BE49-F238E27FC236}">
                  <a16:creationId xmlns:a16="http://schemas.microsoft.com/office/drawing/2014/main" id="{621127AF-FE67-4990-93ED-52ECBB84A7AE}"/>
                </a:ext>
              </a:extLst>
            </p:cNvPr>
            <p:cNvSpPr>
              <a:spLocks noChangeArrowheads="1"/>
            </p:cNvSpPr>
            <p:nvPr/>
          </p:nvSpPr>
          <p:spPr bwMode="auto">
            <a:xfrm>
              <a:off x="2336" y="3521"/>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4</a:t>
              </a:r>
            </a:p>
          </p:txBody>
        </p:sp>
        <p:sp>
          <p:nvSpPr>
            <p:cNvPr id="32810" name="Rectangle 42">
              <a:extLst>
                <a:ext uri="{FF2B5EF4-FFF2-40B4-BE49-F238E27FC236}">
                  <a16:creationId xmlns:a16="http://schemas.microsoft.com/office/drawing/2014/main" id="{B29AB4CF-02C4-41FB-B536-E7E5BC376CA8}"/>
                </a:ext>
              </a:extLst>
            </p:cNvPr>
            <p:cNvSpPr>
              <a:spLocks noChangeArrowheads="1"/>
            </p:cNvSpPr>
            <p:nvPr/>
          </p:nvSpPr>
          <p:spPr bwMode="auto">
            <a:xfrm>
              <a:off x="1321" y="3522"/>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3</a:t>
              </a:r>
            </a:p>
          </p:txBody>
        </p:sp>
        <p:sp>
          <p:nvSpPr>
            <p:cNvPr id="22547" name="Line 45">
              <a:extLst>
                <a:ext uri="{FF2B5EF4-FFF2-40B4-BE49-F238E27FC236}">
                  <a16:creationId xmlns:a16="http://schemas.microsoft.com/office/drawing/2014/main" id="{411518FE-4FFE-49CC-AE53-1C84750898E2}"/>
                </a:ext>
              </a:extLst>
            </p:cNvPr>
            <p:cNvSpPr>
              <a:spLocks noChangeShapeType="1"/>
            </p:cNvSpPr>
            <p:nvPr/>
          </p:nvSpPr>
          <p:spPr bwMode="auto">
            <a:xfrm flipH="1">
              <a:off x="884" y="2704"/>
              <a:ext cx="190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22548" name="Oval 46">
              <a:extLst>
                <a:ext uri="{FF2B5EF4-FFF2-40B4-BE49-F238E27FC236}">
                  <a16:creationId xmlns:a16="http://schemas.microsoft.com/office/drawing/2014/main" id="{4605B655-ECC1-40FD-A33F-71E188E19343}"/>
                </a:ext>
              </a:extLst>
            </p:cNvPr>
            <p:cNvSpPr>
              <a:spLocks noChangeArrowheads="1"/>
            </p:cNvSpPr>
            <p:nvPr/>
          </p:nvSpPr>
          <p:spPr bwMode="auto">
            <a:xfrm>
              <a:off x="2744" y="2387"/>
              <a:ext cx="409" cy="36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2549" name="Freeform 51">
              <a:extLst>
                <a:ext uri="{FF2B5EF4-FFF2-40B4-BE49-F238E27FC236}">
                  <a16:creationId xmlns:a16="http://schemas.microsoft.com/office/drawing/2014/main" id="{A486B38F-A830-435E-80E4-E44EDDF8F193}"/>
                </a:ext>
              </a:extLst>
            </p:cNvPr>
            <p:cNvSpPr>
              <a:spLocks/>
            </p:cNvSpPr>
            <p:nvPr/>
          </p:nvSpPr>
          <p:spPr bwMode="auto">
            <a:xfrm>
              <a:off x="884" y="2387"/>
              <a:ext cx="1951" cy="317"/>
            </a:xfrm>
            <a:custGeom>
              <a:avLst/>
              <a:gdLst>
                <a:gd name="T0" fmla="*/ 1951 w 1951"/>
                <a:gd name="T1" fmla="*/ 317 h 317"/>
                <a:gd name="T2" fmla="*/ 862 w 1951"/>
                <a:gd name="T3" fmla="*/ 0 h 317"/>
                <a:gd name="T4" fmla="*/ 0 w 1951"/>
                <a:gd name="T5" fmla="*/ 317 h 317"/>
                <a:gd name="T6" fmla="*/ 0 60000 65536"/>
                <a:gd name="T7" fmla="*/ 0 60000 65536"/>
                <a:gd name="T8" fmla="*/ 0 60000 65536"/>
                <a:gd name="T9" fmla="*/ 0 w 1951"/>
                <a:gd name="T10" fmla="*/ 0 h 317"/>
                <a:gd name="T11" fmla="*/ 1951 w 1951"/>
                <a:gd name="T12" fmla="*/ 317 h 317"/>
              </a:gdLst>
              <a:ahLst/>
              <a:cxnLst>
                <a:cxn ang="T6">
                  <a:pos x="T0" y="T1"/>
                </a:cxn>
                <a:cxn ang="T7">
                  <a:pos x="T2" y="T3"/>
                </a:cxn>
                <a:cxn ang="T8">
                  <a:pos x="T4" y="T5"/>
                </a:cxn>
              </a:cxnLst>
              <a:rect l="T9" t="T10" r="T11" b="T12"/>
              <a:pathLst>
                <a:path w="1951" h="317">
                  <a:moveTo>
                    <a:pt x="1951" y="317"/>
                  </a:moveTo>
                  <a:cubicBezTo>
                    <a:pt x="1569" y="158"/>
                    <a:pt x="1187" y="0"/>
                    <a:pt x="862" y="0"/>
                  </a:cubicBezTo>
                  <a:cubicBezTo>
                    <a:pt x="537" y="0"/>
                    <a:pt x="144" y="264"/>
                    <a:pt x="0" y="317"/>
                  </a:cubicBezTo>
                </a:path>
              </a:pathLst>
            </a:custGeom>
            <a:noFill/>
            <a:ln w="127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pt-BR"/>
            </a:p>
          </p:txBody>
        </p:sp>
        <p:sp>
          <p:nvSpPr>
            <p:cNvPr id="22550" name="Text Box 52">
              <a:extLst>
                <a:ext uri="{FF2B5EF4-FFF2-40B4-BE49-F238E27FC236}">
                  <a16:creationId xmlns:a16="http://schemas.microsoft.com/office/drawing/2014/main" id="{2952B83F-57B6-4C4A-BAAC-4BF79AB33813}"/>
                </a:ext>
              </a:extLst>
            </p:cNvPr>
            <p:cNvSpPr txBox="1">
              <a:spLocks noChangeArrowheads="1"/>
            </p:cNvSpPr>
            <p:nvPr/>
          </p:nvSpPr>
          <p:spPr bwMode="auto">
            <a:xfrm>
              <a:off x="884" y="3067"/>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e</a:t>
              </a:r>
            </a:p>
          </p:txBody>
        </p:sp>
        <p:sp>
          <p:nvSpPr>
            <p:cNvPr id="22551" name="Text Box 53">
              <a:extLst>
                <a:ext uri="{FF2B5EF4-FFF2-40B4-BE49-F238E27FC236}">
                  <a16:creationId xmlns:a16="http://schemas.microsoft.com/office/drawing/2014/main" id="{46E79FB3-B1A3-4550-849F-9912C8E1792F}"/>
                </a:ext>
              </a:extLst>
            </p:cNvPr>
            <p:cNvSpPr txBox="1">
              <a:spLocks noChangeArrowheads="1"/>
            </p:cNvSpPr>
            <p:nvPr/>
          </p:nvSpPr>
          <p:spPr bwMode="auto">
            <a:xfrm>
              <a:off x="1610" y="2160"/>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b</a:t>
              </a:r>
            </a:p>
          </p:txBody>
        </p:sp>
        <p:sp>
          <p:nvSpPr>
            <p:cNvPr id="22552" name="Text Box 54">
              <a:extLst>
                <a:ext uri="{FF2B5EF4-FFF2-40B4-BE49-F238E27FC236}">
                  <a16:creationId xmlns:a16="http://schemas.microsoft.com/office/drawing/2014/main" id="{DF9CA528-77AF-46B7-9593-F1918617D95E}"/>
                </a:ext>
              </a:extLst>
            </p:cNvPr>
            <p:cNvSpPr txBox="1">
              <a:spLocks noChangeArrowheads="1"/>
            </p:cNvSpPr>
            <p:nvPr/>
          </p:nvSpPr>
          <p:spPr bwMode="auto">
            <a:xfrm>
              <a:off x="1519" y="2659"/>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a</a:t>
              </a:r>
            </a:p>
          </p:txBody>
        </p:sp>
        <p:sp>
          <p:nvSpPr>
            <p:cNvPr id="22553" name="Text Box 55">
              <a:extLst>
                <a:ext uri="{FF2B5EF4-FFF2-40B4-BE49-F238E27FC236}">
                  <a16:creationId xmlns:a16="http://schemas.microsoft.com/office/drawing/2014/main" id="{F010D695-4D85-4488-AA32-45525A6C0EBD}"/>
                </a:ext>
              </a:extLst>
            </p:cNvPr>
            <p:cNvSpPr txBox="1">
              <a:spLocks noChangeArrowheads="1"/>
            </p:cNvSpPr>
            <p:nvPr/>
          </p:nvSpPr>
          <p:spPr bwMode="auto">
            <a:xfrm>
              <a:off x="2245" y="2886"/>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d</a:t>
              </a:r>
            </a:p>
          </p:txBody>
        </p:sp>
        <p:sp>
          <p:nvSpPr>
            <p:cNvPr id="22554" name="Text Box 56">
              <a:extLst>
                <a:ext uri="{FF2B5EF4-FFF2-40B4-BE49-F238E27FC236}">
                  <a16:creationId xmlns:a16="http://schemas.microsoft.com/office/drawing/2014/main" id="{8FA9E4FD-F2C0-440A-8475-B122068CF670}"/>
                </a:ext>
              </a:extLst>
            </p:cNvPr>
            <p:cNvSpPr txBox="1">
              <a:spLocks noChangeArrowheads="1"/>
            </p:cNvSpPr>
            <p:nvPr/>
          </p:nvSpPr>
          <p:spPr bwMode="auto">
            <a:xfrm>
              <a:off x="3061" y="2251"/>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c</a:t>
              </a:r>
            </a:p>
          </p:txBody>
        </p:sp>
        <p:sp>
          <p:nvSpPr>
            <p:cNvPr id="22555" name="Text Box 57">
              <a:extLst>
                <a:ext uri="{FF2B5EF4-FFF2-40B4-BE49-F238E27FC236}">
                  <a16:creationId xmlns:a16="http://schemas.microsoft.com/office/drawing/2014/main" id="{3FBEE5CF-82B4-49E9-85B1-2DAD95BCC1B5}"/>
                </a:ext>
              </a:extLst>
            </p:cNvPr>
            <p:cNvSpPr txBox="1">
              <a:spLocks noChangeArrowheads="1"/>
            </p:cNvSpPr>
            <p:nvPr/>
          </p:nvSpPr>
          <p:spPr bwMode="auto">
            <a:xfrm>
              <a:off x="1746" y="3430"/>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f</a:t>
              </a:r>
            </a:p>
          </p:txBody>
        </p:sp>
      </p:grpSp>
      <p:sp>
        <p:nvSpPr>
          <p:cNvPr id="22533" name="Text Box 58">
            <a:extLst>
              <a:ext uri="{FF2B5EF4-FFF2-40B4-BE49-F238E27FC236}">
                <a16:creationId xmlns:a16="http://schemas.microsoft.com/office/drawing/2014/main" id="{5F33552A-3DA9-46AA-90CB-FFEAF98F7BD0}"/>
              </a:ext>
            </a:extLst>
          </p:cNvPr>
          <p:cNvSpPr txBox="1">
            <a:spLocks noChangeArrowheads="1"/>
          </p:cNvSpPr>
          <p:nvPr/>
        </p:nvSpPr>
        <p:spPr bwMode="auto">
          <a:xfrm>
            <a:off x="7680326" y="4508501"/>
            <a:ext cx="180022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b="1">
                <a:solidFill>
                  <a:srgbClr val="FF0000"/>
                </a:solidFill>
                <a:latin typeface="Arial" panose="020B0604020202020204" pitchFamily="34" charset="0"/>
              </a:rPr>
              <a:t>1 e 3</a:t>
            </a:r>
          </a:p>
          <a:p>
            <a:pPr algn="ctr">
              <a:spcBef>
                <a:spcPct val="50000"/>
              </a:spcBef>
              <a:buFontTx/>
              <a:buNone/>
            </a:pPr>
            <a:r>
              <a:rPr lang="pt-BR" altLang="pt-BR" b="1">
                <a:solidFill>
                  <a:srgbClr val="FF0000"/>
                </a:solidFill>
                <a:latin typeface="Arial" panose="020B0604020202020204" pitchFamily="34" charset="0"/>
              </a:rPr>
              <a:t>(e)</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69">
            <a:extLst>
              <a:ext uri="{FF2B5EF4-FFF2-40B4-BE49-F238E27FC236}">
                <a16:creationId xmlns:a16="http://schemas.microsoft.com/office/drawing/2014/main" id="{5D1B219F-3AE5-42F8-81C6-5A5F11B601F0}"/>
              </a:ext>
            </a:extLst>
          </p:cNvPr>
          <p:cNvSpPr>
            <a:spLocks noGrp="1"/>
          </p:cNvSpPr>
          <p:nvPr>
            <p:ph type="title"/>
          </p:nvPr>
        </p:nvSpPr>
        <p:spPr>
          <a:xfrm>
            <a:off x="1847850" y="1"/>
            <a:ext cx="8229600" cy="811213"/>
          </a:xfrm>
        </p:spPr>
        <p:txBody>
          <a:bodyPr vert="horz" lIns="90488" tIns="44450" rIns="90488" bIns="44450" rtlCol="0" anchor="b">
            <a:normAutofit/>
          </a:bodyPr>
          <a:lstStyle/>
          <a:p>
            <a:pPr eaLnBrk="1" hangingPunct="1"/>
            <a:r>
              <a:rPr lang="pt-BR" altLang="pt-BR" b="1"/>
              <a:t>Adjacência</a:t>
            </a:r>
          </a:p>
        </p:txBody>
      </p:sp>
      <p:sp>
        <p:nvSpPr>
          <p:cNvPr id="23555" name="Rectangle 3">
            <a:extLst>
              <a:ext uri="{FF2B5EF4-FFF2-40B4-BE49-F238E27FC236}">
                <a16:creationId xmlns:a16="http://schemas.microsoft.com/office/drawing/2014/main" id="{805D9C98-AA65-4355-ADBE-C9F69CE99127}"/>
              </a:ext>
            </a:extLst>
          </p:cNvPr>
          <p:cNvSpPr>
            <a:spLocks noGrp="1"/>
          </p:cNvSpPr>
          <p:nvPr>
            <p:ph idx="1"/>
          </p:nvPr>
        </p:nvSpPr>
        <p:spPr>
          <a:xfrm>
            <a:off x="1847850" y="1676401"/>
            <a:ext cx="8591550" cy="1681163"/>
          </a:xfrm>
        </p:spPr>
        <p:txBody>
          <a:bodyPr vert="horz" lIns="90488" tIns="44450" rIns="90488" bIns="44450" rtlCol="0">
            <a:normAutofit/>
          </a:bodyPr>
          <a:lstStyle/>
          <a:p>
            <a:pPr eaLnBrk="1" hangingPunct="1"/>
            <a:r>
              <a:rPr lang="pt-BR" altLang="pt-BR" sz="3300" i="1"/>
              <a:t>Duas arestas que possuem um extremo em comum são ditas </a:t>
            </a:r>
            <a:r>
              <a:rPr lang="pt-BR" altLang="pt-BR" sz="3300" b="1">
                <a:solidFill>
                  <a:srgbClr val="FF0000"/>
                </a:solidFill>
              </a:rPr>
              <a:t>arestas adjacentes</a:t>
            </a:r>
            <a:r>
              <a:rPr lang="pt-BR" altLang="pt-BR" sz="3300"/>
              <a:t>.</a:t>
            </a:r>
          </a:p>
        </p:txBody>
      </p:sp>
      <p:grpSp>
        <p:nvGrpSpPr>
          <p:cNvPr id="23556" name="Group 44">
            <a:extLst>
              <a:ext uri="{FF2B5EF4-FFF2-40B4-BE49-F238E27FC236}">
                <a16:creationId xmlns:a16="http://schemas.microsoft.com/office/drawing/2014/main" id="{F3972EF3-5E8C-4D7D-96F7-6FB515516AF6}"/>
              </a:ext>
            </a:extLst>
          </p:cNvPr>
          <p:cNvGrpSpPr>
            <a:grpSpLocks/>
          </p:cNvGrpSpPr>
          <p:nvPr/>
        </p:nvGrpSpPr>
        <p:grpSpPr bwMode="auto">
          <a:xfrm>
            <a:off x="2782889" y="2924176"/>
            <a:ext cx="4105275" cy="3000375"/>
            <a:chOff x="793" y="1842"/>
            <a:chExt cx="2586" cy="1890"/>
          </a:xfrm>
        </p:grpSpPr>
        <p:sp>
          <p:nvSpPr>
            <p:cNvPr id="23558" name="Oval 45">
              <a:extLst>
                <a:ext uri="{FF2B5EF4-FFF2-40B4-BE49-F238E27FC236}">
                  <a16:creationId xmlns:a16="http://schemas.microsoft.com/office/drawing/2014/main" id="{19636657-608F-419D-A445-5F92A9485F0F}"/>
                </a:ext>
              </a:extLst>
            </p:cNvPr>
            <p:cNvSpPr>
              <a:spLocks noChangeArrowheads="1"/>
            </p:cNvSpPr>
            <p:nvPr/>
          </p:nvSpPr>
          <p:spPr bwMode="auto">
            <a:xfrm>
              <a:off x="2236" y="2085"/>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3559" name="Oval 46">
              <a:extLst>
                <a:ext uri="{FF2B5EF4-FFF2-40B4-BE49-F238E27FC236}">
                  <a16:creationId xmlns:a16="http://schemas.microsoft.com/office/drawing/2014/main" id="{CF5162B9-E471-457A-82B0-46C23490B6DD}"/>
                </a:ext>
              </a:extLst>
            </p:cNvPr>
            <p:cNvSpPr>
              <a:spLocks noChangeArrowheads="1"/>
            </p:cNvSpPr>
            <p:nvPr/>
          </p:nvSpPr>
          <p:spPr bwMode="auto">
            <a:xfrm>
              <a:off x="844" y="2661"/>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3560" name="Oval 47">
              <a:extLst>
                <a:ext uri="{FF2B5EF4-FFF2-40B4-BE49-F238E27FC236}">
                  <a16:creationId xmlns:a16="http://schemas.microsoft.com/office/drawing/2014/main" id="{5F838EA6-8247-444A-B8C3-5E5D288AC0A3}"/>
                </a:ext>
              </a:extLst>
            </p:cNvPr>
            <p:cNvSpPr>
              <a:spLocks noChangeArrowheads="1"/>
            </p:cNvSpPr>
            <p:nvPr/>
          </p:nvSpPr>
          <p:spPr bwMode="auto">
            <a:xfrm>
              <a:off x="1372" y="3381"/>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3561" name="Oval 48">
              <a:extLst>
                <a:ext uri="{FF2B5EF4-FFF2-40B4-BE49-F238E27FC236}">
                  <a16:creationId xmlns:a16="http://schemas.microsoft.com/office/drawing/2014/main" id="{6B7CB481-86C2-4A2C-A26F-0055C3A0C147}"/>
                </a:ext>
              </a:extLst>
            </p:cNvPr>
            <p:cNvSpPr>
              <a:spLocks noChangeArrowheads="1"/>
            </p:cNvSpPr>
            <p:nvPr/>
          </p:nvSpPr>
          <p:spPr bwMode="auto">
            <a:xfrm>
              <a:off x="2284" y="3381"/>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3562" name="Oval 49">
              <a:extLst>
                <a:ext uri="{FF2B5EF4-FFF2-40B4-BE49-F238E27FC236}">
                  <a16:creationId xmlns:a16="http://schemas.microsoft.com/office/drawing/2014/main" id="{4F3074AC-F73B-4BF1-B605-2207A1CD6196}"/>
                </a:ext>
              </a:extLst>
            </p:cNvPr>
            <p:cNvSpPr>
              <a:spLocks noChangeArrowheads="1"/>
            </p:cNvSpPr>
            <p:nvPr/>
          </p:nvSpPr>
          <p:spPr bwMode="auto">
            <a:xfrm>
              <a:off x="2764" y="2661"/>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3563" name="Line 50">
              <a:extLst>
                <a:ext uri="{FF2B5EF4-FFF2-40B4-BE49-F238E27FC236}">
                  <a16:creationId xmlns:a16="http://schemas.microsoft.com/office/drawing/2014/main" id="{ADBDDCB5-BEBC-4456-9071-AF35635C993E}"/>
                </a:ext>
              </a:extLst>
            </p:cNvPr>
            <p:cNvSpPr>
              <a:spLocks noChangeShapeType="1"/>
            </p:cNvSpPr>
            <p:nvPr/>
          </p:nvSpPr>
          <p:spPr bwMode="auto">
            <a:xfrm>
              <a:off x="892" y="2709"/>
              <a:ext cx="520" cy="7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23564" name="Line 51">
              <a:extLst>
                <a:ext uri="{FF2B5EF4-FFF2-40B4-BE49-F238E27FC236}">
                  <a16:creationId xmlns:a16="http://schemas.microsoft.com/office/drawing/2014/main" id="{132F48B0-C0C1-4AF2-8A4E-EEE64CBB6A30}"/>
                </a:ext>
              </a:extLst>
            </p:cNvPr>
            <p:cNvSpPr>
              <a:spLocks noChangeShapeType="1"/>
            </p:cNvSpPr>
            <p:nvPr/>
          </p:nvSpPr>
          <p:spPr bwMode="auto">
            <a:xfrm flipH="1">
              <a:off x="1429" y="2704"/>
              <a:ext cx="1406" cy="7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23565" name="Line 52">
              <a:extLst>
                <a:ext uri="{FF2B5EF4-FFF2-40B4-BE49-F238E27FC236}">
                  <a16:creationId xmlns:a16="http://schemas.microsoft.com/office/drawing/2014/main" id="{D3845FE3-BA47-4579-BED4-710C0698A78B}"/>
                </a:ext>
              </a:extLst>
            </p:cNvPr>
            <p:cNvSpPr>
              <a:spLocks noChangeShapeType="1"/>
            </p:cNvSpPr>
            <p:nvPr/>
          </p:nvSpPr>
          <p:spPr bwMode="auto">
            <a:xfrm>
              <a:off x="1420" y="3425"/>
              <a:ext cx="8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142389" name="Rectangle 53">
              <a:extLst>
                <a:ext uri="{FF2B5EF4-FFF2-40B4-BE49-F238E27FC236}">
                  <a16:creationId xmlns:a16="http://schemas.microsoft.com/office/drawing/2014/main" id="{87510777-3481-4AEB-BC81-6FAF4D6C901D}"/>
                </a:ext>
              </a:extLst>
            </p:cNvPr>
            <p:cNvSpPr>
              <a:spLocks noChangeArrowheads="1"/>
            </p:cNvSpPr>
            <p:nvPr/>
          </p:nvSpPr>
          <p:spPr bwMode="auto">
            <a:xfrm>
              <a:off x="793" y="2754"/>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1</a:t>
              </a:r>
            </a:p>
          </p:txBody>
        </p:sp>
        <p:sp>
          <p:nvSpPr>
            <p:cNvPr id="142390" name="Rectangle 54">
              <a:extLst>
                <a:ext uri="{FF2B5EF4-FFF2-40B4-BE49-F238E27FC236}">
                  <a16:creationId xmlns:a16="http://schemas.microsoft.com/office/drawing/2014/main" id="{A3BC0D2C-7FE7-4558-886C-74971D84BBDB}"/>
                </a:ext>
              </a:extLst>
            </p:cNvPr>
            <p:cNvSpPr>
              <a:spLocks noChangeArrowheads="1"/>
            </p:cNvSpPr>
            <p:nvPr/>
          </p:nvSpPr>
          <p:spPr bwMode="auto">
            <a:xfrm>
              <a:off x="2185" y="1842"/>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5</a:t>
              </a:r>
            </a:p>
          </p:txBody>
        </p:sp>
        <p:sp>
          <p:nvSpPr>
            <p:cNvPr id="142391" name="Rectangle 55">
              <a:extLst>
                <a:ext uri="{FF2B5EF4-FFF2-40B4-BE49-F238E27FC236}">
                  <a16:creationId xmlns:a16="http://schemas.microsoft.com/office/drawing/2014/main" id="{BB5BAD4A-9C48-4952-8EBD-E0A025684C4E}"/>
                </a:ext>
              </a:extLst>
            </p:cNvPr>
            <p:cNvSpPr>
              <a:spLocks noChangeArrowheads="1"/>
            </p:cNvSpPr>
            <p:nvPr/>
          </p:nvSpPr>
          <p:spPr bwMode="auto">
            <a:xfrm>
              <a:off x="2713" y="2754"/>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2</a:t>
              </a:r>
            </a:p>
          </p:txBody>
        </p:sp>
        <p:sp>
          <p:nvSpPr>
            <p:cNvPr id="142392" name="Rectangle 56">
              <a:extLst>
                <a:ext uri="{FF2B5EF4-FFF2-40B4-BE49-F238E27FC236}">
                  <a16:creationId xmlns:a16="http://schemas.microsoft.com/office/drawing/2014/main" id="{EA13619B-76A9-4DA9-AEED-7B22B0493FDE}"/>
                </a:ext>
              </a:extLst>
            </p:cNvPr>
            <p:cNvSpPr>
              <a:spLocks noChangeArrowheads="1"/>
            </p:cNvSpPr>
            <p:nvPr/>
          </p:nvSpPr>
          <p:spPr bwMode="auto">
            <a:xfrm>
              <a:off x="2336" y="3521"/>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4</a:t>
              </a:r>
            </a:p>
          </p:txBody>
        </p:sp>
        <p:sp>
          <p:nvSpPr>
            <p:cNvPr id="142393" name="Rectangle 57">
              <a:extLst>
                <a:ext uri="{FF2B5EF4-FFF2-40B4-BE49-F238E27FC236}">
                  <a16:creationId xmlns:a16="http://schemas.microsoft.com/office/drawing/2014/main" id="{DA64E092-1337-439C-AAA8-64F6A068657D}"/>
                </a:ext>
              </a:extLst>
            </p:cNvPr>
            <p:cNvSpPr>
              <a:spLocks noChangeArrowheads="1"/>
            </p:cNvSpPr>
            <p:nvPr/>
          </p:nvSpPr>
          <p:spPr bwMode="auto">
            <a:xfrm>
              <a:off x="1321" y="3522"/>
              <a:ext cx="190" cy="210"/>
            </a:xfrm>
            <a:prstGeom prst="rect">
              <a:avLst/>
            </a:prstGeom>
            <a:noFill/>
            <a:ln>
              <a:noFill/>
            </a:ln>
            <a:effectLst/>
          </p:spPr>
          <p:txBody>
            <a:bodyPr lIns="90488" tIns="44450" rIns="90488" bIns="44450">
              <a:spAutoFit/>
            </a:bodyPr>
            <a:lstStyle/>
            <a:p>
              <a:pPr>
                <a:spcBef>
                  <a:spcPct val="50000"/>
                </a:spcBef>
                <a:defRPr/>
              </a:pPr>
              <a:r>
                <a:rPr lang="pt-BR" sz="1600" b="1" i="1">
                  <a:effectLst>
                    <a:outerShdw blurRad="38100" dist="38100" dir="2700000" algn="tl">
                      <a:srgbClr val="C0C0C0"/>
                    </a:outerShdw>
                  </a:effectLst>
                  <a:latin typeface="Arial" charset="0"/>
                </a:rPr>
                <a:t>3</a:t>
              </a:r>
            </a:p>
          </p:txBody>
        </p:sp>
        <p:sp>
          <p:nvSpPr>
            <p:cNvPr id="23571" name="Line 58">
              <a:extLst>
                <a:ext uri="{FF2B5EF4-FFF2-40B4-BE49-F238E27FC236}">
                  <a16:creationId xmlns:a16="http://schemas.microsoft.com/office/drawing/2014/main" id="{2FEF20B6-CB18-4E57-AAC9-14479B103AEB}"/>
                </a:ext>
              </a:extLst>
            </p:cNvPr>
            <p:cNvSpPr>
              <a:spLocks noChangeShapeType="1"/>
            </p:cNvSpPr>
            <p:nvPr/>
          </p:nvSpPr>
          <p:spPr bwMode="auto">
            <a:xfrm flipH="1">
              <a:off x="884" y="2704"/>
              <a:ext cx="190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23572" name="Oval 59">
              <a:extLst>
                <a:ext uri="{FF2B5EF4-FFF2-40B4-BE49-F238E27FC236}">
                  <a16:creationId xmlns:a16="http://schemas.microsoft.com/office/drawing/2014/main" id="{2F8F3AE5-5E36-41A8-942C-CF114AC19E9E}"/>
                </a:ext>
              </a:extLst>
            </p:cNvPr>
            <p:cNvSpPr>
              <a:spLocks noChangeArrowheads="1"/>
            </p:cNvSpPr>
            <p:nvPr/>
          </p:nvSpPr>
          <p:spPr bwMode="auto">
            <a:xfrm>
              <a:off x="2744" y="2387"/>
              <a:ext cx="409" cy="36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23573" name="Freeform 60">
              <a:extLst>
                <a:ext uri="{FF2B5EF4-FFF2-40B4-BE49-F238E27FC236}">
                  <a16:creationId xmlns:a16="http://schemas.microsoft.com/office/drawing/2014/main" id="{AA1320E6-D57F-4C74-832D-B8C7A7667088}"/>
                </a:ext>
              </a:extLst>
            </p:cNvPr>
            <p:cNvSpPr>
              <a:spLocks/>
            </p:cNvSpPr>
            <p:nvPr/>
          </p:nvSpPr>
          <p:spPr bwMode="auto">
            <a:xfrm>
              <a:off x="884" y="2387"/>
              <a:ext cx="1951" cy="317"/>
            </a:xfrm>
            <a:custGeom>
              <a:avLst/>
              <a:gdLst>
                <a:gd name="T0" fmla="*/ 1951 w 1951"/>
                <a:gd name="T1" fmla="*/ 317 h 317"/>
                <a:gd name="T2" fmla="*/ 862 w 1951"/>
                <a:gd name="T3" fmla="*/ 0 h 317"/>
                <a:gd name="T4" fmla="*/ 0 w 1951"/>
                <a:gd name="T5" fmla="*/ 317 h 317"/>
                <a:gd name="T6" fmla="*/ 0 60000 65536"/>
                <a:gd name="T7" fmla="*/ 0 60000 65536"/>
                <a:gd name="T8" fmla="*/ 0 60000 65536"/>
                <a:gd name="T9" fmla="*/ 0 w 1951"/>
                <a:gd name="T10" fmla="*/ 0 h 317"/>
                <a:gd name="T11" fmla="*/ 1951 w 1951"/>
                <a:gd name="T12" fmla="*/ 317 h 317"/>
              </a:gdLst>
              <a:ahLst/>
              <a:cxnLst>
                <a:cxn ang="T6">
                  <a:pos x="T0" y="T1"/>
                </a:cxn>
                <a:cxn ang="T7">
                  <a:pos x="T2" y="T3"/>
                </a:cxn>
                <a:cxn ang="T8">
                  <a:pos x="T4" y="T5"/>
                </a:cxn>
              </a:cxnLst>
              <a:rect l="T9" t="T10" r="T11" b="T12"/>
              <a:pathLst>
                <a:path w="1951" h="317">
                  <a:moveTo>
                    <a:pt x="1951" y="317"/>
                  </a:moveTo>
                  <a:cubicBezTo>
                    <a:pt x="1569" y="158"/>
                    <a:pt x="1187" y="0"/>
                    <a:pt x="862" y="0"/>
                  </a:cubicBezTo>
                  <a:cubicBezTo>
                    <a:pt x="537" y="0"/>
                    <a:pt x="144" y="264"/>
                    <a:pt x="0" y="317"/>
                  </a:cubicBezTo>
                </a:path>
              </a:pathLst>
            </a:custGeom>
            <a:noFill/>
            <a:ln w="127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pt-BR"/>
            </a:p>
          </p:txBody>
        </p:sp>
        <p:sp>
          <p:nvSpPr>
            <p:cNvPr id="23574" name="Text Box 61">
              <a:extLst>
                <a:ext uri="{FF2B5EF4-FFF2-40B4-BE49-F238E27FC236}">
                  <a16:creationId xmlns:a16="http://schemas.microsoft.com/office/drawing/2014/main" id="{C78F3A15-91C4-4F2D-8600-013A35DAF678}"/>
                </a:ext>
              </a:extLst>
            </p:cNvPr>
            <p:cNvSpPr txBox="1">
              <a:spLocks noChangeArrowheads="1"/>
            </p:cNvSpPr>
            <p:nvPr/>
          </p:nvSpPr>
          <p:spPr bwMode="auto">
            <a:xfrm>
              <a:off x="884" y="3067"/>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e</a:t>
              </a:r>
            </a:p>
          </p:txBody>
        </p:sp>
        <p:sp>
          <p:nvSpPr>
            <p:cNvPr id="23575" name="Text Box 62">
              <a:extLst>
                <a:ext uri="{FF2B5EF4-FFF2-40B4-BE49-F238E27FC236}">
                  <a16:creationId xmlns:a16="http://schemas.microsoft.com/office/drawing/2014/main" id="{2117BE7C-7A49-40A2-9152-65A27621B311}"/>
                </a:ext>
              </a:extLst>
            </p:cNvPr>
            <p:cNvSpPr txBox="1">
              <a:spLocks noChangeArrowheads="1"/>
            </p:cNvSpPr>
            <p:nvPr/>
          </p:nvSpPr>
          <p:spPr bwMode="auto">
            <a:xfrm>
              <a:off x="1610" y="2160"/>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b</a:t>
              </a:r>
            </a:p>
          </p:txBody>
        </p:sp>
        <p:sp>
          <p:nvSpPr>
            <p:cNvPr id="23576" name="Text Box 63">
              <a:extLst>
                <a:ext uri="{FF2B5EF4-FFF2-40B4-BE49-F238E27FC236}">
                  <a16:creationId xmlns:a16="http://schemas.microsoft.com/office/drawing/2014/main" id="{EF3FBDDA-E526-4575-B3BD-F70256B7F974}"/>
                </a:ext>
              </a:extLst>
            </p:cNvPr>
            <p:cNvSpPr txBox="1">
              <a:spLocks noChangeArrowheads="1"/>
            </p:cNvSpPr>
            <p:nvPr/>
          </p:nvSpPr>
          <p:spPr bwMode="auto">
            <a:xfrm>
              <a:off x="1519" y="2659"/>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a</a:t>
              </a:r>
            </a:p>
          </p:txBody>
        </p:sp>
        <p:sp>
          <p:nvSpPr>
            <p:cNvPr id="23577" name="Text Box 64">
              <a:extLst>
                <a:ext uri="{FF2B5EF4-FFF2-40B4-BE49-F238E27FC236}">
                  <a16:creationId xmlns:a16="http://schemas.microsoft.com/office/drawing/2014/main" id="{ACEA1781-A433-4414-A58F-E815B7640A0B}"/>
                </a:ext>
              </a:extLst>
            </p:cNvPr>
            <p:cNvSpPr txBox="1">
              <a:spLocks noChangeArrowheads="1"/>
            </p:cNvSpPr>
            <p:nvPr/>
          </p:nvSpPr>
          <p:spPr bwMode="auto">
            <a:xfrm>
              <a:off x="2245" y="2886"/>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d</a:t>
              </a:r>
            </a:p>
          </p:txBody>
        </p:sp>
        <p:sp>
          <p:nvSpPr>
            <p:cNvPr id="23578" name="Text Box 65">
              <a:extLst>
                <a:ext uri="{FF2B5EF4-FFF2-40B4-BE49-F238E27FC236}">
                  <a16:creationId xmlns:a16="http://schemas.microsoft.com/office/drawing/2014/main" id="{73D034F8-9FB5-4C8F-BA18-459633A47682}"/>
                </a:ext>
              </a:extLst>
            </p:cNvPr>
            <p:cNvSpPr txBox="1">
              <a:spLocks noChangeArrowheads="1"/>
            </p:cNvSpPr>
            <p:nvPr/>
          </p:nvSpPr>
          <p:spPr bwMode="auto">
            <a:xfrm>
              <a:off x="3061" y="2251"/>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c</a:t>
              </a:r>
            </a:p>
          </p:txBody>
        </p:sp>
        <p:sp>
          <p:nvSpPr>
            <p:cNvPr id="23579" name="Text Box 66">
              <a:extLst>
                <a:ext uri="{FF2B5EF4-FFF2-40B4-BE49-F238E27FC236}">
                  <a16:creationId xmlns:a16="http://schemas.microsoft.com/office/drawing/2014/main" id="{B80DE081-9039-4698-BDD3-5F0FC77C7E3C}"/>
                </a:ext>
              </a:extLst>
            </p:cNvPr>
            <p:cNvSpPr txBox="1">
              <a:spLocks noChangeArrowheads="1"/>
            </p:cNvSpPr>
            <p:nvPr/>
          </p:nvSpPr>
          <p:spPr bwMode="auto">
            <a:xfrm>
              <a:off x="1746" y="3430"/>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sz="1800">
                  <a:latin typeface="Arial" panose="020B0604020202020204" pitchFamily="34" charset="0"/>
                </a:rPr>
                <a:t>f</a:t>
              </a:r>
            </a:p>
          </p:txBody>
        </p:sp>
      </p:grpSp>
      <p:sp>
        <p:nvSpPr>
          <p:cNvPr id="23557" name="Text Box 67">
            <a:extLst>
              <a:ext uri="{FF2B5EF4-FFF2-40B4-BE49-F238E27FC236}">
                <a16:creationId xmlns:a16="http://schemas.microsoft.com/office/drawing/2014/main" id="{FC67B6F1-727E-4F91-B5D2-0F045A936075}"/>
              </a:ext>
            </a:extLst>
          </p:cNvPr>
          <p:cNvSpPr txBox="1">
            <a:spLocks noChangeArrowheads="1"/>
          </p:cNvSpPr>
          <p:nvPr/>
        </p:nvSpPr>
        <p:spPr bwMode="auto">
          <a:xfrm>
            <a:off x="7680326" y="4005264"/>
            <a:ext cx="180022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pt-BR" altLang="pt-BR" b="1">
                <a:solidFill>
                  <a:srgbClr val="FF0000"/>
                </a:solidFill>
                <a:latin typeface="Arial" panose="020B0604020202020204" pitchFamily="34" charset="0"/>
              </a:rPr>
              <a:t>a e d</a:t>
            </a:r>
          </a:p>
          <a:p>
            <a:pPr algn="ctr">
              <a:spcBef>
                <a:spcPct val="50000"/>
              </a:spcBef>
              <a:buFontTx/>
              <a:buNone/>
            </a:pPr>
            <a:r>
              <a:rPr lang="pt-BR" altLang="pt-BR" b="1">
                <a:solidFill>
                  <a:srgbClr val="FF0000"/>
                </a:solidFill>
                <a:latin typeface="Arial" panose="020B0604020202020204" pitchFamily="34" charset="0"/>
              </a:rPr>
              <a:t>(2)</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358EDA-A17E-41BB-B4FF-FCBF83298DD8}"/>
              </a:ext>
            </a:extLst>
          </p:cNvPr>
          <p:cNvSpPr>
            <a:spLocks noGrp="1"/>
          </p:cNvSpPr>
          <p:nvPr>
            <p:ph type="title"/>
          </p:nvPr>
        </p:nvSpPr>
        <p:spPr/>
        <p:txBody>
          <a:bodyPr/>
          <a:lstStyle/>
          <a:p>
            <a:r>
              <a:rPr lang="pt-BR" b="1" dirty="0"/>
              <a:t>Exercícios </a:t>
            </a:r>
          </a:p>
        </p:txBody>
      </p:sp>
      <p:sp>
        <p:nvSpPr>
          <p:cNvPr id="3" name="Espaço Reservado para Conteúdo 2">
            <a:extLst>
              <a:ext uri="{FF2B5EF4-FFF2-40B4-BE49-F238E27FC236}">
                <a16:creationId xmlns:a16="http://schemas.microsoft.com/office/drawing/2014/main" id="{87B14FF7-0B24-4166-AD4F-AD8790CF6A96}"/>
              </a:ext>
            </a:extLst>
          </p:cNvPr>
          <p:cNvSpPr>
            <a:spLocks noGrp="1"/>
          </p:cNvSpPr>
          <p:nvPr>
            <p:ph idx="1"/>
          </p:nvPr>
        </p:nvSpPr>
        <p:spPr>
          <a:xfrm>
            <a:off x="565150" y="1616765"/>
            <a:ext cx="10275128" cy="4144463"/>
          </a:xfrm>
        </p:spPr>
        <p:txBody>
          <a:bodyPr>
            <a:normAutofit fontScale="92500"/>
          </a:bodyPr>
          <a:lstStyle/>
          <a:p>
            <a:r>
              <a:rPr lang="pt-BR" dirty="0"/>
              <a:t>O que são grafos?</a:t>
            </a:r>
          </a:p>
          <a:p>
            <a:r>
              <a:rPr lang="pt-BR" dirty="0"/>
              <a:t>Construa um exemplo de grafo simples dirigido e um não dirigido</a:t>
            </a:r>
          </a:p>
          <a:p>
            <a:pPr lvl="0"/>
            <a:r>
              <a:rPr lang="pt-BR" dirty="0"/>
              <a:t>Construa os grafos não-dirigidos a partir dos conjuntos de vértices e arestas dados a seguir: </a:t>
            </a:r>
          </a:p>
          <a:p>
            <a:pPr lvl="1"/>
            <a:r>
              <a:rPr lang="pt-PT" dirty="0"/>
              <a:t>V = {1, 2, 3, 4, 5} e A = {(1, 2), (1, 4), (1, 5), (2, 3), (3, 4), (4, 4)}; </a:t>
            </a:r>
            <a:endParaRPr lang="pt-BR" dirty="0"/>
          </a:p>
          <a:p>
            <a:pPr lvl="1"/>
            <a:r>
              <a:rPr lang="pt-PT" dirty="0"/>
              <a:t>V = {1, 2, 3, 4, 5, 6} e A = {(1, 2), (1, 4), (1, 4), (2, 3), (2, 5), (3, 5)}; </a:t>
            </a:r>
            <a:endParaRPr lang="pt-BR" dirty="0"/>
          </a:p>
          <a:p>
            <a:pPr lvl="1"/>
            <a:r>
              <a:rPr lang="pt-PT" dirty="0"/>
              <a:t>V = {1, 2, 3, 4, 5, 6} e A = {(1, 2), (1, 3), (1, 4), (2, 5), (2, 6), (3, 5), (3, 6), (4, 5), (4, 6)}; </a:t>
            </a:r>
            <a:endParaRPr lang="pt-BR" dirty="0"/>
          </a:p>
          <a:p>
            <a:pPr lvl="1"/>
            <a:r>
              <a:rPr lang="pt-PT" dirty="0"/>
              <a:t>V = {1, 2, 3, 4, 5} e A = {(1, 2), (1, 4), (2, 3), (2, 4), (2, 5), (3, 4), (3, 5)}; </a:t>
            </a:r>
            <a:endParaRPr lang="pt-BR" dirty="0"/>
          </a:p>
          <a:p>
            <a:pPr lvl="1"/>
            <a:r>
              <a:rPr lang="pt-PT" dirty="0"/>
              <a:t>V = {1, 2, 3, 4} e A = {(1, 2), (2, 3), (2, 4), (3, 4)}; </a:t>
            </a:r>
            <a:endParaRPr lang="pt-BR" dirty="0"/>
          </a:p>
          <a:p>
            <a:pPr lvl="1"/>
            <a:r>
              <a:rPr lang="pt-PT" dirty="0"/>
              <a:t>V = {1, 2, 3, 4, 5, 6, 7, 8} e A = {(1, 2), (2, 2), (2, 3), (3, 4), (3, 5), (6, 7), (6, 8), (7, 8)}. </a:t>
            </a:r>
            <a:endParaRPr lang="pt-BR" dirty="0"/>
          </a:p>
          <a:p>
            <a:endParaRPr lang="pt-BR" dirty="0"/>
          </a:p>
        </p:txBody>
      </p:sp>
    </p:spTree>
    <p:extLst>
      <p:ext uri="{BB962C8B-B14F-4D97-AF65-F5344CB8AC3E}">
        <p14:creationId xmlns:p14="http://schemas.microsoft.com/office/powerpoint/2010/main" val="32257143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358EDA-A17E-41BB-B4FF-FCBF83298DD8}"/>
              </a:ext>
            </a:extLst>
          </p:cNvPr>
          <p:cNvSpPr>
            <a:spLocks noGrp="1"/>
          </p:cNvSpPr>
          <p:nvPr>
            <p:ph type="title"/>
          </p:nvPr>
        </p:nvSpPr>
        <p:spPr/>
        <p:txBody>
          <a:bodyPr/>
          <a:lstStyle/>
          <a:p>
            <a:r>
              <a:rPr lang="pt-BR" b="1" dirty="0"/>
              <a:t>Exercícios </a:t>
            </a:r>
          </a:p>
        </p:txBody>
      </p:sp>
      <p:sp>
        <p:nvSpPr>
          <p:cNvPr id="3" name="Espaço Reservado para Conteúdo 2">
            <a:extLst>
              <a:ext uri="{FF2B5EF4-FFF2-40B4-BE49-F238E27FC236}">
                <a16:creationId xmlns:a16="http://schemas.microsoft.com/office/drawing/2014/main" id="{87B14FF7-0B24-4166-AD4F-AD8790CF6A96}"/>
              </a:ext>
            </a:extLst>
          </p:cNvPr>
          <p:cNvSpPr>
            <a:spLocks noGrp="1"/>
          </p:cNvSpPr>
          <p:nvPr>
            <p:ph idx="1"/>
          </p:nvPr>
        </p:nvSpPr>
        <p:spPr>
          <a:xfrm>
            <a:off x="565150" y="1616765"/>
            <a:ext cx="10275128" cy="4144463"/>
          </a:xfrm>
        </p:spPr>
        <p:txBody>
          <a:bodyPr>
            <a:normAutofit/>
          </a:bodyPr>
          <a:lstStyle/>
          <a:p>
            <a:r>
              <a:rPr lang="pt-BR" dirty="0"/>
              <a:t>Escreva o número de vértices, número de arestas e os graus de cada vértice dos grafos abaixo:</a:t>
            </a:r>
          </a:p>
          <a:p>
            <a:endParaRPr lang="pt-BR" dirty="0"/>
          </a:p>
        </p:txBody>
      </p:sp>
      <p:pic>
        <p:nvPicPr>
          <p:cNvPr id="12" name="Imagem 11">
            <a:extLst>
              <a:ext uri="{FF2B5EF4-FFF2-40B4-BE49-F238E27FC236}">
                <a16:creationId xmlns:a16="http://schemas.microsoft.com/office/drawing/2014/main" id="{FBADD8CC-9482-4493-8434-76E6B9F21E59}"/>
              </a:ext>
            </a:extLst>
          </p:cNvPr>
          <p:cNvPicPr>
            <a:picLocks noChangeAspect="1"/>
          </p:cNvPicPr>
          <p:nvPr/>
        </p:nvPicPr>
        <p:blipFill>
          <a:blip r:embed="rId2"/>
          <a:stretch>
            <a:fillRect/>
          </a:stretch>
        </p:blipFill>
        <p:spPr>
          <a:xfrm>
            <a:off x="1739259" y="2584795"/>
            <a:ext cx="9384077" cy="2835345"/>
          </a:xfrm>
          <a:prstGeom prst="rect">
            <a:avLst/>
          </a:prstGeom>
        </p:spPr>
      </p:pic>
    </p:spTree>
    <p:extLst>
      <p:ext uri="{BB962C8B-B14F-4D97-AF65-F5344CB8AC3E}">
        <p14:creationId xmlns:p14="http://schemas.microsoft.com/office/powerpoint/2010/main" val="41536396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358EDA-A17E-41BB-B4FF-FCBF83298DD8}"/>
              </a:ext>
            </a:extLst>
          </p:cNvPr>
          <p:cNvSpPr>
            <a:spLocks noGrp="1"/>
          </p:cNvSpPr>
          <p:nvPr>
            <p:ph type="title"/>
          </p:nvPr>
        </p:nvSpPr>
        <p:spPr/>
        <p:txBody>
          <a:bodyPr/>
          <a:lstStyle/>
          <a:p>
            <a:r>
              <a:rPr lang="pt-BR" b="1" dirty="0"/>
              <a:t>Exercícios </a:t>
            </a:r>
          </a:p>
        </p:txBody>
      </p:sp>
      <p:sp>
        <p:nvSpPr>
          <p:cNvPr id="3" name="Espaço Reservado para Conteúdo 2">
            <a:extLst>
              <a:ext uri="{FF2B5EF4-FFF2-40B4-BE49-F238E27FC236}">
                <a16:creationId xmlns:a16="http://schemas.microsoft.com/office/drawing/2014/main" id="{87B14FF7-0B24-4166-AD4F-AD8790CF6A96}"/>
              </a:ext>
            </a:extLst>
          </p:cNvPr>
          <p:cNvSpPr>
            <a:spLocks noGrp="1"/>
          </p:cNvSpPr>
          <p:nvPr>
            <p:ph idx="1"/>
          </p:nvPr>
        </p:nvSpPr>
        <p:spPr>
          <a:xfrm>
            <a:off x="565150" y="1616765"/>
            <a:ext cx="7439163" cy="4144463"/>
          </a:xfrm>
        </p:spPr>
        <p:txBody>
          <a:bodyPr>
            <a:normAutofit fontScale="92500" lnSpcReduction="20000"/>
          </a:bodyPr>
          <a:lstStyle/>
          <a:p>
            <a:pPr lvl="0"/>
            <a:r>
              <a:rPr lang="pt-BR" dirty="0"/>
              <a:t>Para o grafo a seguir, responda: </a:t>
            </a:r>
          </a:p>
          <a:p>
            <a:pPr marL="457200" lvl="0" indent="-457200">
              <a:buFont typeface="+mj-lt"/>
              <a:buAutoNum type="alphaLcParenR"/>
            </a:pPr>
            <a:r>
              <a:rPr lang="pt-BR" dirty="0"/>
              <a:t>é um grafo simples? </a:t>
            </a:r>
          </a:p>
          <a:p>
            <a:pPr marL="457200" lvl="0" indent="-457200">
              <a:buFont typeface="+mj-lt"/>
              <a:buAutoNum type="alphaLcParenR"/>
            </a:pPr>
            <a:r>
              <a:rPr lang="pt-BR" dirty="0"/>
              <a:t>é um grafo completo? </a:t>
            </a:r>
          </a:p>
          <a:p>
            <a:pPr marL="457200" lvl="0" indent="-457200">
              <a:buFont typeface="+mj-lt"/>
              <a:buAutoNum type="alphaLcParenR"/>
            </a:pPr>
            <a:r>
              <a:rPr lang="pt-BR" dirty="0"/>
              <a:t>é um grafo conexo? </a:t>
            </a:r>
          </a:p>
          <a:p>
            <a:pPr marL="457200" lvl="0" indent="-457200">
              <a:buFont typeface="+mj-lt"/>
              <a:buAutoNum type="alphaLcParenR"/>
            </a:pPr>
            <a:r>
              <a:rPr lang="pt-BR" dirty="0"/>
              <a:t>existem dois caminhos entre os vértices 3 e 6? </a:t>
            </a:r>
          </a:p>
          <a:p>
            <a:pPr marL="457200" lvl="0" indent="-457200">
              <a:buFont typeface="+mj-lt"/>
              <a:buAutoNum type="alphaLcParenR"/>
            </a:pPr>
            <a:r>
              <a:rPr lang="pt-BR" dirty="0"/>
              <a:t>o grafo possui algum ciclo? </a:t>
            </a:r>
          </a:p>
          <a:p>
            <a:pPr marL="457200" lvl="0" indent="-457200">
              <a:buFont typeface="+mj-lt"/>
              <a:buAutoNum type="alphaLcParenR"/>
            </a:pPr>
            <a:r>
              <a:rPr lang="pt-BR" dirty="0"/>
              <a:t>o grafo possui algum arco cuja remoção o tornaria um grafo acíclico? </a:t>
            </a:r>
          </a:p>
          <a:p>
            <a:pPr marL="457200" lvl="0" indent="-457200">
              <a:buFont typeface="+mj-lt"/>
              <a:buAutoNum type="alphaLcParenR"/>
            </a:pPr>
            <a:r>
              <a:rPr lang="pt-BR" dirty="0"/>
              <a:t>o grafo possui algum arco cuja remoção o tornaria desconexo? </a:t>
            </a:r>
          </a:p>
          <a:p>
            <a:endParaRPr lang="pt-BR" dirty="0"/>
          </a:p>
        </p:txBody>
      </p:sp>
      <p:pic>
        <p:nvPicPr>
          <p:cNvPr id="4" name="Imagem 3">
            <a:extLst>
              <a:ext uri="{FF2B5EF4-FFF2-40B4-BE49-F238E27FC236}">
                <a16:creationId xmlns:a16="http://schemas.microsoft.com/office/drawing/2014/main" id="{C2BB2ECA-798B-432D-9261-3AED25CB4FF7}"/>
              </a:ext>
            </a:extLst>
          </p:cNvPr>
          <p:cNvPicPr>
            <a:picLocks noChangeAspect="1"/>
          </p:cNvPicPr>
          <p:nvPr/>
        </p:nvPicPr>
        <p:blipFill>
          <a:blip r:embed="rId2"/>
          <a:stretch>
            <a:fillRect/>
          </a:stretch>
        </p:blipFill>
        <p:spPr>
          <a:xfrm>
            <a:off x="8158405" y="2202125"/>
            <a:ext cx="4033595" cy="3986640"/>
          </a:xfrm>
          <a:prstGeom prst="rect">
            <a:avLst/>
          </a:prstGeom>
        </p:spPr>
      </p:pic>
    </p:spTree>
    <p:extLst>
      <p:ext uri="{BB962C8B-B14F-4D97-AF65-F5344CB8AC3E}">
        <p14:creationId xmlns:p14="http://schemas.microsoft.com/office/powerpoint/2010/main" val="28195029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4AAD"/>
        </a:solidFill>
        <a:effectLst/>
      </p:bgPr>
    </p:bg>
    <p:spTree>
      <p:nvGrpSpPr>
        <p:cNvPr id="1" name=""/>
        <p:cNvGrpSpPr/>
        <p:nvPr/>
      </p:nvGrpSpPr>
      <p:grpSpPr>
        <a:xfrm>
          <a:off x="0" y="0"/>
          <a:ext cx="0" cy="0"/>
          <a:chOff x="0" y="0"/>
          <a:chExt cx="0" cy="0"/>
        </a:xfrm>
      </p:grpSpPr>
      <p:grpSp>
        <p:nvGrpSpPr>
          <p:cNvPr id="2" name="Group 2"/>
          <p:cNvGrpSpPr/>
          <p:nvPr/>
        </p:nvGrpSpPr>
        <p:grpSpPr>
          <a:xfrm>
            <a:off x="6665131" y="685801"/>
            <a:ext cx="261731" cy="261731"/>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txBody>
            <a:bodyPr/>
            <a:lstStyle/>
            <a:p>
              <a:pPr defTabSz="609630"/>
              <a:endParaRPr lang="pt-BR" sz="1200">
                <a:solidFill>
                  <a:prstClr val="black"/>
                </a:solidFill>
                <a:latin typeface="Calibri"/>
              </a:endParaRPr>
            </a:p>
          </p:txBody>
        </p:sp>
      </p:grpSp>
      <p:sp>
        <p:nvSpPr>
          <p:cNvPr id="4" name="AutoShape 4"/>
          <p:cNvSpPr/>
          <p:nvPr/>
        </p:nvSpPr>
        <p:spPr>
          <a:xfrm flipV="1">
            <a:off x="186631" y="684213"/>
            <a:ext cx="7832871" cy="3175"/>
          </a:xfrm>
          <a:prstGeom prst="line">
            <a:avLst/>
          </a:prstGeom>
          <a:ln w="9525" cap="flat">
            <a:solidFill>
              <a:srgbClr val="BFBFBF"/>
            </a:solidFill>
            <a:prstDash val="solid"/>
            <a:headEnd type="none" w="sm" len="sm"/>
            <a:tailEnd type="none" w="sm" len="sm"/>
          </a:ln>
        </p:spPr>
        <p:txBody>
          <a:bodyPr/>
          <a:lstStyle/>
          <a:p>
            <a:pPr defTabSz="609630"/>
            <a:endParaRPr lang="pt-BR" sz="1200">
              <a:solidFill>
                <a:prstClr val="black"/>
              </a:solidFill>
              <a:latin typeface="Calibri"/>
            </a:endParaRPr>
          </a:p>
        </p:txBody>
      </p:sp>
      <p:sp>
        <p:nvSpPr>
          <p:cNvPr id="5" name="AutoShape 5"/>
          <p:cNvSpPr/>
          <p:nvPr/>
        </p:nvSpPr>
        <p:spPr>
          <a:xfrm>
            <a:off x="186584" y="1351389"/>
            <a:ext cx="7832918" cy="0"/>
          </a:xfrm>
          <a:prstGeom prst="line">
            <a:avLst/>
          </a:prstGeom>
          <a:ln w="9525" cap="flat">
            <a:solidFill>
              <a:srgbClr val="BFBFBF"/>
            </a:solidFill>
            <a:prstDash val="solid"/>
            <a:headEnd type="none" w="sm" len="sm"/>
            <a:tailEnd type="none" w="sm" len="sm"/>
          </a:ln>
        </p:spPr>
        <p:txBody>
          <a:bodyPr/>
          <a:lstStyle/>
          <a:p>
            <a:pPr defTabSz="609630"/>
            <a:endParaRPr lang="pt-BR" sz="1200">
              <a:solidFill>
                <a:prstClr val="black"/>
              </a:solidFill>
              <a:latin typeface="Calibri"/>
            </a:endParaRPr>
          </a:p>
        </p:txBody>
      </p:sp>
      <p:sp>
        <p:nvSpPr>
          <p:cNvPr id="6" name="Freeform 6"/>
          <p:cNvSpPr/>
          <p:nvPr/>
        </p:nvSpPr>
        <p:spPr>
          <a:xfrm>
            <a:off x="10235355" y="0"/>
            <a:ext cx="1956645" cy="6858000"/>
          </a:xfrm>
          <a:custGeom>
            <a:avLst/>
            <a:gdLst/>
            <a:ahLst/>
            <a:cxnLst/>
            <a:rect l="l" t="t" r="r" b="b"/>
            <a:pathLst>
              <a:path w="2934968" h="10287000">
                <a:moveTo>
                  <a:pt x="0" y="0"/>
                </a:moveTo>
                <a:lnTo>
                  <a:pt x="2934968" y="0"/>
                </a:lnTo>
                <a:lnTo>
                  <a:pt x="2934968" y="10287000"/>
                </a:lnTo>
                <a:lnTo>
                  <a:pt x="0" y="10287000"/>
                </a:lnTo>
                <a:lnTo>
                  <a:pt x="0" y="0"/>
                </a:lnTo>
                <a:close/>
              </a:path>
            </a:pathLst>
          </a:custGeom>
          <a:blipFill>
            <a:blip r:embed="rId2"/>
            <a:stretch>
              <a:fillRect l="-144651" r="-105845"/>
            </a:stretch>
          </a:blipFill>
        </p:spPr>
        <p:txBody>
          <a:bodyPr/>
          <a:lstStyle/>
          <a:p>
            <a:pPr defTabSz="609630"/>
            <a:endParaRPr lang="pt-BR" sz="1200">
              <a:solidFill>
                <a:prstClr val="black"/>
              </a:solidFill>
              <a:latin typeface="Calibri"/>
            </a:endParaRPr>
          </a:p>
        </p:txBody>
      </p:sp>
      <p:sp>
        <p:nvSpPr>
          <p:cNvPr id="7" name="TextBox 7"/>
          <p:cNvSpPr txBox="1"/>
          <p:nvPr/>
        </p:nvSpPr>
        <p:spPr>
          <a:xfrm>
            <a:off x="186632" y="2965450"/>
            <a:ext cx="4687109" cy="923330"/>
          </a:xfrm>
          <a:prstGeom prst="rect">
            <a:avLst/>
          </a:prstGeom>
        </p:spPr>
        <p:txBody>
          <a:bodyPr lIns="0" tIns="0" rIns="0" bIns="0" rtlCol="0" anchor="t">
            <a:spAutoFit/>
          </a:bodyPr>
          <a:lstStyle/>
          <a:p>
            <a:pPr defTabSz="609630">
              <a:lnSpc>
                <a:spcPts val="7200"/>
              </a:lnSpc>
            </a:pPr>
            <a:r>
              <a:rPr lang="en-US" sz="6000">
                <a:solidFill>
                  <a:srgbClr val="F6F6F6"/>
                </a:solidFill>
                <a:latin typeface="Libre Franklin Thin"/>
                <a:ea typeface="Libre Franklin Thin"/>
                <a:cs typeface="Libre Franklin Thin"/>
                <a:sym typeface="Libre Franklin Thin"/>
              </a:rPr>
              <a:t>Bibliografia</a:t>
            </a:r>
          </a:p>
        </p:txBody>
      </p:sp>
      <p:sp>
        <p:nvSpPr>
          <p:cNvPr id="8" name="TextBox 8"/>
          <p:cNvSpPr txBox="1"/>
          <p:nvPr/>
        </p:nvSpPr>
        <p:spPr>
          <a:xfrm>
            <a:off x="5496888" y="886782"/>
            <a:ext cx="2522615" cy="224420"/>
          </a:xfrm>
          <a:prstGeom prst="rect">
            <a:avLst/>
          </a:prstGeom>
        </p:spPr>
        <p:txBody>
          <a:bodyPr lIns="0" tIns="0" rIns="0" bIns="0" rtlCol="0" anchor="t">
            <a:spAutoFit/>
          </a:bodyPr>
          <a:lstStyle/>
          <a:p>
            <a:pPr algn="r" defTabSz="609630">
              <a:lnSpc>
                <a:spcPts val="1867"/>
              </a:lnSpc>
            </a:pPr>
            <a:r>
              <a:rPr lang="en-US" sz="1333">
                <a:solidFill>
                  <a:srgbClr val="F6F6F6"/>
                </a:solidFill>
                <a:latin typeface="Libre Franklin Light"/>
                <a:ea typeface="Libre Franklin Light"/>
                <a:cs typeface="Libre Franklin Light"/>
                <a:sym typeface="Libre Franklin Light"/>
              </a:rPr>
              <a:t>Professor Jonathan Bandeira</a:t>
            </a:r>
          </a:p>
        </p:txBody>
      </p:sp>
      <p:sp>
        <p:nvSpPr>
          <p:cNvPr id="9" name="TextBox 9"/>
          <p:cNvSpPr txBox="1"/>
          <p:nvPr/>
        </p:nvSpPr>
        <p:spPr>
          <a:xfrm>
            <a:off x="342767" y="886782"/>
            <a:ext cx="2530255" cy="224420"/>
          </a:xfrm>
          <a:prstGeom prst="rect">
            <a:avLst/>
          </a:prstGeom>
        </p:spPr>
        <p:txBody>
          <a:bodyPr lIns="0" tIns="0" rIns="0" bIns="0" rtlCol="0" anchor="t">
            <a:spAutoFit/>
          </a:bodyPr>
          <a:lstStyle/>
          <a:p>
            <a:pPr defTabSz="609630">
              <a:lnSpc>
                <a:spcPts val="1867"/>
              </a:lnSpc>
            </a:pPr>
            <a:r>
              <a:rPr lang="en-US" sz="1333">
                <a:solidFill>
                  <a:srgbClr val="F6F6F6"/>
                </a:solidFill>
                <a:latin typeface="Libre Franklin Light"/>
                <a:ea typeface="Libre Franklin Light"/>
                <a:cs typeface="Libre Franklin Light"/>
                <a:sym typeface="Libre Franklin Light"/>
              </a:rPr>
              <a:t>Unit/PE</a:t>
            </a:r>
          </a:p>
        </p:txBody>
      </p:sp>
      <p:grpSp>
        <p:nvGrpSpPr>
          <p:cNvPr id="10" name="Group 10"/>
          <p:cNvGrpSpPr/>
          <p:nvPr/>
        </p:nvGrpSpPr>
        <p:grpSpPr>
          <a:xfrm>
            <a:off x="4624003" y="2000678"/>
            <a:ext cx="5372783" cy="2662993"/>
            <a:chOff x="0" y="-28575"/>
            <a:chExt cx="10745567" cy="5325986"/>
          </a:xfrm>
        </p:grpSpPr>
        <p:sp>
          <p:nvSpPr>
            <p:cNvPr id="11" name="TextBox 11"/>
            <p:cNvSpPr txBox="1"/>
            <p:nvPr/>
          </p:nvSpPr>
          <p:spPr>
            <a:xfrm>
              <a:off x="0" y="940705"/>
              <a:ext cx="10745567" cy="4356706"/>
            </a:xfrm>
            <a:prstGeom prst="rect">
              <a:avLst/>
            </a:prstGeom>
          </p:spPr>
          <p:txBody>
            <a:bodyPr lIns="0" tIns="0" rIns="0" bIns="0" rtlCol="0" anchor="t">
              <a:spAutoFit/>
            </a:bodyPr>
            <a:lstStyle/>
            <a:p>
              <a:pPr defTabSz="609630">
                <a:lnSpc>
                  <a:spcPts val="1928"/>
                </a:lnSpc>
              </a:pPr>
              <a:r>
                <a:rPr lang="en-US" sz="1483" dirty="0">
                  <a:solidFill>
                    <a:srgbClr val="F6F6F6"/>
                  </a:solidFill>
                  <a:latin typeface="Libre Franklin Light"/>
                  <a:ea typeface="Libre Franklin Light"/>
                  <a:cs typeface="Libre Franklin Light"/>
                  <a:sym typeface="Libre Franklin Light"/>
                </a:rPr>
                <a:t>GOLDBARG, Marco; GOLDBARG, Elizabeth. </a:t>
              </a:r>
              <a:r>
                <a:rPr lang="en-US" sz="1483" dirty="0" err="1">
                  <a:solidFill>
                    <a:srgbClr val="F6F6F6"/>
                  </a:solidFill>
                  <a:latin typeface="Libre Franklin Light"/>
                  <a:ea typeface="Libre Franklin Light"/>
                  <a:cs typeface="Libre Franklin Light"/>
                  <a:sym typeface="Libre Franklin Light"/>
                </a:rPr>
                <a:t>Grafos</a:t>
              </a:r>
              <a:r>
                <a:rPr lang="en-US" sz="1483" dirty="0">
                  <a:solidFill>
                    <a:srgbClr val="F6F6F6"/>
                  </a:solidFill>
                  <a:latin typeface="Libre Franklin Light"/>
                  <a:ea typeface="Libre Franklin Light"/>
                  <a:cs typeface="Libre Franklin Light"/>
                  <a:sym typeface="Libre Franklin Light"/>
                </a:rPr>
                <a:t>: </a:t>
              </a:r>
              <a:r>
                <a:rPr lang="en-US" sz="1483" dirty="0" err="1">
                  <a:solidFill>
                    <a:srgbClr val="F6F6F6"/>
                  </a:solidFill>
                  <a:latin typeface="Libre Franklin Light"/>
                  <a:ea typeface="Libre Franklin Light"/>
                  <a:cs typeface="Libre Franklin Light"/>
                  <a:sym typeface="Libre Franklin Light"/>
                </a:rPr>
                <a:t>Conceitos</a:t>
              </a:r>
              <a:r>
                <a:rPr lang="en-US" sz="1483" dirty="0">
                  <a:solidFill>
                    <a:srgbClr val="F6F6F6"/>
                  </a:solidFill>
                  <a:latin typeface="Libre Franklin Light"/>
                  <a:ea typeface="Libre Franklin Light"/>
                  <a:cs typeface="Libre Franklin Light"/>
                  <a:sym typeface="Libre Franklin Light"/>
                </a:rPr>
                <a:t>, </a:t>
              </a:r>
              <a:r>
                <a:rPr lang="en-US" sz="1483" dirty="0" err="1">
                  <a:solidFill>
                    <a:srgbClr val="F6F6F6"/>
                  </a:solidFill>
                  <a:latin typeface="Libre Franklin Light"/>
                  <a:ea typeface="Libre Franklin Light"/>
                  <a:cs typeface="Libre Franklin Light"/>
                  <a:sym typeface="Libre Franklin Light"/>
                </a:rPr>
                <a:t>Algoritmos</a:t>
              </a:r>
              <a:r>
                <a:rPr lang="en-US" sz="1483" dirty="0">
                  <a:solidFill>
                    <a:srgbClr val="F6F6F6"/>
                  </a:solidFill>
                  <a:latin typeface="Libre Franklin Light"/>
                  <a:ea typeface="Libre Franklin Light"/>
                  <a:cs typeface="Libre Franklin Light"/>
                  <a:sym typeface="Libre Franklin Light"/>
                </a:rPr>
                <a:t> e </a:t>
              </a:r>
              <a:r>
                <a:rPr lang="en-US" sz="1483" dirty="0" err="1">
                  <a:solidFill>
                    <a:srgbClr val="F6F6F6"/>
                  </a:solidFill>
                  <a:latin typeface="Libre Franklin Light"/>
                  <a:ea typeface="Libre Franklin Light"/>
                  <a:cs typeface="Libre Franklin Light"/>
                  <a:sym typeface="Libre Franklin Light"/>
                </a:rPr>
                <a:t>Aplicações</a:t>
              </a:r>
              <a:r>
                <a:rPr lang="en-US" sz="1483" dirty="0">
                  <a:solidFill>
                    <a:srgbClr val="F6F6F6"/>
                  </a:solidFill>
                  <a:latin typeface="Libre Franklin Light"/>
                  <a:ea typeface="Libre Franklin Light"/>
                  <a:cs typeface="Libre Franklin Light"/>
                  <a:sym typeface="Libre Franklin Light"/>
                </a:rPr>
                <a:t>. Elsevier, 2012.</a:t>
              </a:r>
            </a:p>
            <a:p>
              <a:pPr defTabSz="609630">
                <a:lnSpc>
                  <a:spcPts val="1928"/>
                </a:lnSpc>
              </a:pPr>
              <a:endParaRPr lang="en-US" sz="1483" dirty="0">
                <a:solidFill>
                  <a:srgbClr val="F6F6F6"/>
                </a:solidFill>
                <a:latin typeface="Libre Franklin Light"/>
                <a:ea typeface="Libre Franklin Light"/>
                <a:cs typeface="Libre Franklin Light"/>
                <a:sym typeface="Libre Franklin Light"/>
              </a:endParaRPr>
            </a:p>
            <a:p>
              <a:pPr defTabSz="609630">
                <a:lnSpc>
                  <a:spcPts val="1928"/>
                </a:lnSpc>
              </a:pPr>
              <a:r>
                <a:rPr lang="en-US" sz="1483" dirty="0">
                  <a:solidFill>
                    <a:srgbClr val="F6F6F6"/>
                  </a:solidFill>
                  <a:latin typeface="Libre Franklin Light"/>
                  <a:ea typeface="Libre Franklin Light"/>
                  <a:cs typeface="Libre Franklin Light"/>
                  <a:sym typeface="Libre Franklin Light"/>
                </a:rPr>
                <a:t>SZWARCFITER, Jayme Luiz. Teoria </a:t>
              </a:r>
              <a:r>
                <a:rPr lang="en-US" sz="1483" dirty="0" err="1">
                  <a:solidFill>
                    <a:srgbClr val="F6F6F6"/>
                  </a:solidFill>
                  <a:latin typeface="Libre Franklin Light"/>
                  <a:ea typeface="Libre Franklin Light"/>
                  <a:cs typeface="Libre Franklin Light"/>
                  <a:sym typeface="Libre Franklin Light"/>
                </a:rPr>
                <a:t>Computacional</a:t>
              </a:r>
              <a:r>
                <a:rPr lang="en-US" sz="1483" dirty="0">
                  <a:solidFill>
                    <a:srgbClr val="F6F6F6"/>
                  </a:solidFill>
                  <a:latin typeface="Libre Franklin Light"/>
                  <a:ea typeface="Libre Franklin Light"/>
                  <a:cs typeface="Libre Franklin Light"/>
                  <a:sym typeface="Libre Franklin Light"/>
                </a:rPr>
                <a:t> de </a:t>
              </a:r>
              <a:r>
                <a:rPr lang="en-US" sz="1483" dirty="0" err="1">
                  <a:solidFill>
                    <a:srgbClr val="F6F6F6"/>
                  </a:solidFill>
                  <a:latin typeface="Libre Franklin Light"/>
                  <a:ea typeface="Libre Franklin Light"/>
                  <a:cs typeface="Libre Franklin Light"/>
                  <a:sym typeface="Libre Franklin Light"/>
                </a:rPr>
                <a:t>Grafos</a:t>
              </a:r>
              <a:r>
                <a:rPr lang="en-US" sz="1483" dirty="0">
                  <a:solidFill>
                    <a:srgbClr val="F6F6F6"/>
                  </a:solidFill>
                  <a:latin typeface="Libre Franklin Light"/>
                  <a:ea typeface="Libre Franklin Light"/>
                  <a:cs typeface="Libre Franklin Light"/>
                  <a:sym typeface="Libre Franklin Light"/>
                </a:rPr>
                <a:t>: </a:t>
              </a:r>
              <a:r>
                <a:rPr lang="en-US" sz="1483" dirty="0" err="1">
                  <a:solidFill>
                    <a:srgbClr val="F6F6F6"/>
                  </a:solidFill>
                  <a:latin typeface="Libre Franklin Light"/>
                  <a:ea typeface="Libre Franklin Light"/>
                  <a:cs typeface="Libre Franklin Light"/>
                  <a:sym typeface="Libre Franklin Light"/>
                </a:rPr>
                <a:t>Os</a:t>
              </a:r>
              <a:r>
                <a:rPr lang="en-US" sz="1483" dirty="0">
                  <a:solidFill>
                    <a:srgbClr val="F6F6F6"/>
                  </a:solidFill>
                  <a:latin typeface="Libre Franklin Light"/>
                  <a:ea typeface="Libre Franklin Light"/>
                  <a:cs typeface="Libre Franklin Light"/>
                  <a:sym typeface="Libre Franklin Light"/>
                </a:rPr>
                <a:t> </a:t>
              </a:r>
              <a:r>
                <a:rPr lang="en-US" sz="1483" dirty="0" err="1">
                  <a:solidFill>
                    <a:srgbClr val="F6F6F6"/>
                  </a:solidFill>
                  <a:latin typeface="Libre Franklin Light"/>
                  <a:ea typeface="Libre Franklin Light"/>
                  <a:cs typeface="Libre Franklin Light"/>
                  <a:sym typeface="Libre Franklin Light"/>
                </a:rPr>
                <a:t>Algoritmos</a:t>
              </a:r>
              <a:r>
                <a:rPr lang="en-US" sz="1483" dirty="0">
                  <a:solidFill>
                    <a:srgbClr val="F6F6F6"/>
                  </a:solidFill>
                  <a:latin typeface="Libre Franklin Light"/>
                  <a:ea typeface="Libre Franklin Light"/>
                  <a:cs typeface="Libre Franklin Light"/>
                  <a:sym typeface="Libre Franklin Light"/>
                </a:rPr>
                <a:t>. Série SBC. Elsevier. 2018.</a:t>
              </a:r>
            </a:p>
            <a:p>
              <a:pPr defTabSz="609630">
                <a:lnSpc>
                  <a:spcPts val="1928"/>
                </a:lnSpc>
              </a:pPr>
              <a:endParaRPr lang="en-US" sz="1483" dirty="0">
                <a:solidFill>
                  <a:srgbClr val="F6F6F6"/>
                </a:solidFill>
                <a:latin typeface="Libre Franklin Light"/>
                <a:ea typeface="Libre Franklin Light"/>
                <a:cs typeface="Libre Franklin Light"/>
                <a:sym typeface="Libre Franklin Light"/>
              </a:endParaRPr>
            </a:p>
            <a:p>
              <a:pPr defTabSz="609630">
                <a:lnSpc>
                  <a:spcPts val="1928"/>
                </a:lnSpc>
              </a:pPr>
              <a:r>
                <a:rPr lang="en-US" sz="1483" dirty="0">
                  <a:solidFill>
                    <a:srgbClr val="F6F6F6"/>
                  </a:solidFill>
                  <a:latin typeface="Libre Franklin Light"/>
                  <a:ea typeface="Libre Franklin Light"/>
                  <a:cs typeface="Libre Franklin Light"/>
                  <a:sym typeface="Libre Franklin Light"/>
                </a:rPr>
                <a:t>NICOLETTI, Maria do Carmo; HRUSCHKA JR, E. R. </a:t>
              </a:r>
              <a:r>
                <a:rPr lang="en-US" sz="1483" dirty="0" err="1">
                  <a:solidFill>
                    <a:srgbClr val="F6F6F6"/>
                  </a:solidFill>
                  <a:latin typeface="Libre Franklin Light"/>
                  <a:ea typeface="Libre Franklin Light"/>
                  <a:cs typeface="Libre Franklin Light"/>
                  <a:sym typeface="Libre Franklin Light"/>
                </a:rPr>
                <a:t>Fundamentos</a:t>
              </a:r>
              <a:r>
                <a:rPr lang="en-US" sz="1483" dirty="0">
                  <a:solidFill>
                    <a:srgbClr val="F6F6F6"/>
                  </a:solidFill>
                  <a:latin typeface="Libre Franklin Light"/>
                  <a:ea typeface="Libre Franklin Light"/>
                  <a:cs typeface="Libre Franklin Light"/>
                  <a:sym typeface="Libre Franklin Light"/>
                </a:rPr>
                <a:t> da </a:t>
              </a:r>
              <a:r>
                <a:rPr lang="en-US" sz="1483" dirty="0" err="1">
                  <a:solidFill>
                    <a:srgbClr val="F6F6F6"/>
                  </a:solidFill>
                  <a:latin typeface="Libre Franklin Light"/>
                  <a:ea typeface="Libre Franklin Light"/>
                  <a:cs typeface="Libre Franklin Light"/>
                  <a:sym typeface="Libre Franklin Light"/>
                </a:rPr>
                <a:t>teoria</a:t>
              </a:r>
              <a:r>
                <a:rPr lang="en-US" sz="1483" dirty="0">
                  <a:solidFill>
                    <a:srgbClr val="F6F6F6"/>
                  </a:solidFill>
                  <a:latin typeface="Libre Franklin Light"/>
                  <a:ea typeface="Libre Franklin Light"/>
                  <a:cs typeface="Libre Franklin Light"/>
                  <a:sym typeface="Libre Franklin Light"/>
                </a:rPr>
                <a:t> dos </a:t>
              </a:r>
              <a:r>
                <a:rPr lang="en-US" sz="1483" dirty="0" err="1">
                  <a:solidFill>
                    <a:srgbClr val="F6F6F6"/>
                  </a:solidFill>
                  <a:latin typeface="Libre Franklin Light"/>
                  <a:ea typeface="Libre Franklin Light"/>
                  <a:cs typeface="Libre Franklin Light"/>
                  <a:sym typeface="Libre Franklin Light"/>
                </a:rPr>
                <a:t>grafos</a:t>
              </a:r>
              <a:r>
                <a:rPr lang="en-US" sz="1483" dirty="0">
                  <a:solidFill>
                    <a:srgbClr val="F6F6F6"/>
                  </a:solidFill>
                  <a:latin typeface="Libre Franklin Light"/>
                  <a:ea typeface="Libre Franklin Light"/>
                  <a:cs typeface="Libre Franklin Light"/>
                  <a:sym typeface="Libre Franklin Light"/>
                </a:rPr>
                <a:t> para </a:t>
              </a:r>
              <a:r>
                <a:rPr lang="en-US" sz="1483" dirty="0" err="1">
                  <a:solidFill>
                    <a:srgbClr val="F6F6F6"/>
                  </a:solidFill>
                  <a:latin typeface="Libre Franklin Light"/>
                  <a:ea typeface="Libre Franklin Light"/>
                  <a:cs typeface="Libre Franklin Light"/>
                  <a:sym typeface="Libre Franklin Light"/>
                </a:rPr>
                <a:t>computação</a:t>
              </a:r>
              <a:r>
                <a:rPr lang="en-US" sz="1483" dirty="0">
                  <a:solidFill>
                    <a:srgbClr val="F6F6F6"/>
                  </a:solidFill>
                  <a:latin typeface="Libre Franklin Light"/>
                  <a:ea typeface="Libre Franklin Light"/>
                  <a:cs typeface="Libre Franklin Light"/>
                  <a:sym typeface="Libre Franklin Light"/>
                </a:rPr>
                <a:t>. 3. Ed. LTC, 2018.</a:t>
              </a:r>
            </a:p>
          </p:txBody>
        </p:sp>
        <p:sp>
          <p:nvSpPr>
            <p:cNvPr id="12" name="TextBox 12"/>
            <p:cNvSpPr txBox="1"/>
            <p:nvPr/>
          </p:nvSpPr>
          <p:spPr>
            <a:xfrm>
              <a:off x="0" y="-28575"/>
              <a:ext cx="10745567" cy="567720"/>
            </a:xfrm>
            <a:prstGeom prst="rect">
              <a:avLst/>
            </a:prstGeom>
          </p:spPr>
          <p:txBody>
            <a:bodyPr lIns="0" tIns="0" rIns="0" bIns="0" rtlCol="0" anchor="t">
              <a:spAutoFit/>
            </a:bodyPr>
            <a:lstStyle/>
            <a:p>
              <a:pPr defTabSz="609630">
                <a:lnSpc>
                  <a:spcPts val="2361"/>
                </a:lnSpc>
              </a:pPr>
              <a:r>
                <a:rPr lang="en-US" sz="1816" b="1">
                  <a:solidFill>
                    <a:srgbClr val="FFFFFF"/>
                  </a:solidFill>
                  <a:latin typeface="Libre Franklin Semi-Bold"/>
                  <a:ea typeface="Libre Franklin Semi-Bold"/>
                  <a:cs typeface="Libre Franklin Semi-Bold"/>
                  <a:sym typeface="Libre Franklin Semi-Bold"/>
                </a:rPr>
                <a:t>Principal</a:t>
              </a: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4AAD"/>
        </a:solidFill>
        <a:effectLst/>
      </p:bgPr>
    </p:bg>
    <p:spTree>
      <p:nvGrpSpPr>
        <p:cNvPr id="1" name=""/>
        <p:cNvGrpSpPr/>
        <p:nvPr/>
      </p:nvGrpSpPr>
      <p:grpSpPr>
        <a:xfrm>
          <a:off x="0" y="0"/>
          <a:ext cx="0" cy="0"/>
          <a:chOff x="0" y="0"/>
          <a:chExt cx="0" cy="0"/>
        </a:xfrm>
      </p:grpSpPr>
      <p:grpSp>
        <p:nvGrpSpPr>
          <p:cNvPr id="2" name="Group 2"/>
          <p:cNvGrpSpPr/>
          <p:nvPr/>
        </p:nvGrpSpPr>
        <p:grpSpPr>
          <a:xfrm>
            <a:off x="6665131" y="685801"/>
            <a:ext cx="261731" cy="261731"/>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txBody>
            <a:bodyPr/>
            <a:lstStyle/>
            <a:p>
              <a:pPr defTabSz="609630"/>
              <a:endParaRPr lang="pt-BR" sz="1200">
                <a:solidFill>
                  <a:prstClr val="black"/>
                </a:solidFill>
                <a:latin typeface="Calibri"/>
              </a:endParaRPr>
            </a:p>
          </p:txBody>
        </p:sp>
      </p:grpSp>
      <p:sp>
        <p:nvSpPr>
          <p:cNvPr id="4" name="AutoShape 4"/>
          <p:cNvSpPr/>
          <p:nvPr/>
        </p:nvSpPr>
        <p:spPr>
          <a:xfrm flipV="1">
            <a:off x="186630" y="279400"/>
            <a:ext cx="7832871" cy="3175"/>
          </a:xfrm>
          <a:prstGeom prst="line">
            <a:avLst/>
          </a:prstGeom>
          <a:ln w="9525" cap="flat">
            <a:solidFill>
              <a:srgbClr val="BFBFBF"/>
            </a:solidFill>
            <a:prstDash val="solid"/>
            <a:headEnd type="none" w="sm" len="sm"/>
            <a:tailEnd type="none" w="sm" len="sm"/>
          </a:ln>
        </p:spPr>
        <p:txBody>
          <a:bodyPr/>
          <a:lstStyle/>
          <a:p>
            <a:pPr defTabSz="609630"/>
            <a:endParaRPr lang="pt-BR" sz="1200">
              <a:solidFill>
                <a:prstClr val="black"/>
              </a:solidFill>
              <a:latin typeface="Calibri"/>
            </a:endParaRPr>
          </a:p>
        </p:txBody>
      </p:sp>
      <p:sp>
        <p:nvSpPr>
          <p:cNvPr id="5" name="AutoShape 5"/>
          <p:cNvSpPr/>
          <p:nvPr/>
        </p:nvSpPr>
        <p:spPr>
          <a:xfrm>
            <a:off x="186630" y="802166"/>
            <a:ext cx="7832918" cy="0"/>
          </a:xfrm>
          <a:prstGeom prst="line">
            <a:avLst/>
          </a:prstGeom>
          <a:ln w="9525" cap="flat">
            <a:solidFill>
              <a:srgbClr val="BFBFBF"/>
            </a:solidFill>
            <a:prstDash val="solid"/>
            <a:headEnd type="none" w="sm" len="sm"/>
            <a:tailEnd type="none" w="sm" len="sm"/>
          </a:ln>
        </p:spPr>
        <p:txBody>
          <a:bodyPr/>
          <a:lstStyle/>
          <a:p>
            <a:pPr defTabSz="609630"/>
            <a:endParaRPr lang="pt-BR" sz="1200">
              <a:solidFill>
                <a:prstClr val="black"/>
              </a:solidFill>
              <a:latin typeface="Calibri"/>
            </a:endParaRPr>
          </a:p>
        </p:txBody>
      </p:sp>
      <p:sp>
        <p:nvSpPr>
          <p:cNvPr id="6" name="TextBox 6"/>
          <p:cNvSpPr txBox="1"/>
          <p:nvPr/>
        </p:nvSpPr>
        <p:spPr>
          <a:xfrm>
            <a:off x="137740" y="2793082"/>
            <a:ext cx="4072473" cy="923330"/>
          </a:xfrm>
          <a:prstGeom prst="rect">
            <a:avLst/>
          </a:prstGeom>
        </p:spPr>
        <p:txBody>
          <a:bodyPr lIns="0" tIns="0" rIns="0" bIns="0" rtlCol="0" anchor="t">
            <a:spAutoFit/>
          </a:bodyPr>
          <a:lstStyle/>
          <a:p>
            <a:pPr defTabSz="609630">
              <a:lnSpc>
                <a:spcPts val="7200"/>
              </a:lnSpc>
            </a:pPr>
            <a:r>
              <a:rPr lang="en-US" sz="6000">
                <a:solidFill>
                  <a:srgbClr val="F6F6F6"/>
                </a:solidFill>
                <a:latin typeface="Libre Franklin Thin"/>
                <a:ea typeface="Libre Franklin Thin"/>
                <a:cs typeface="Libre Franklin Thin"/>
                <a:sym typeface="Libre Franklin Thin"/>
              </a:rPr>
              <a:t>Bibliografia</a:t>
            </a:r>
          </a:p>
        </p:txBody>
      </p:sp>
      <p:sp>
        <p:nvSpPr>
          <p:cNvPr id="7" name="TextBox 7"/>
          <p:cNvSpPr txBox="1"/>
          <p:nvPr/>
        </p:nvSpPr>
        <p:spPr>
          <a:xfrm>
            <a:off x="5403823" y="452967"/>
            <a:ext cx="2522615" cy="224420"/>
          </a:xfrm>
          <a:prstGeom prst="rect">
            <a:avLst/>
          </a:prstGeom>
        </p:spPr>
        <p:txBody>
          <a:bodyPr lIns="0" tIns="0" rIns="0" bIns="0" rtlCol="0" anchor="t">
            <a:spAutoFit/>
          </a:bodyPr>
          <a:lstStyle/>
          <a:p>
            <a:pPr algn="r" defTabSz="609630">
              <a:lnSpc>
                <a:spcPts val="1867"/>
              </a:lnSpc>
            </a:pPr>
            <a:r>
              <a:rPr lang="en-US" sz="1333">
                <a:solidFill>
                  <a:srgbClr val="F6F6F6"/>
                </a:solidFill>
                <a:latin typeface="Libre Franklin Light"/>
                <a:ea typeface="Libre Franklin Light"/>
                <a:cs typeface="Libre Franklin Light"/>
                <a:sym typeface="Libre Franklin Light"/>
              </a:rPr>
              <a:t>Professor Jonathan Bandeira</a:t>
            </a:r>
          </a:p>
        </p:txBody>
      </p:sp>
      <p:sp>
        <p:nvSpPr>
          <p:cNvPr id="8" name="TextBox 8"/>
          <p:cNvSpPr txBox="1"/>
          <p:nvPr/>
        </p:nvSpPr>
        <p:spPr>
          <a:xfrm>
            <a:off x="318322" y="452967"/>
            <a:ext cx="2530255" cy="224420"/>
          </a:xfrm>
          <a:prstGeom prst="rect">
            <a:avLst/>
          </a:prstGeom>
        </p:spPr>
        <p:txBody>
          <a:bodyPr lIns="0" tIns="0" rIns="0" bIns="0" rtlCol="0" anchor="t">
            <a:spAutoFit/>
          </a:bodyPr>
          <a:lstStyle/>
          <a:p>
            <a:pPr defTabSz="609630">
              <a:lnSpc>
                <a:spcPts val="1867"/>
              </a:lnSpc>
            </a:pPr>
            <a:r>
              <a:rPr lang="en-US" sz="1333">
                <a:solidFill>
                  <a:srgbClr val="F6F6F6"/>
                </a:solidFill>
                <a:latin typeface="Libre Franklin Light"/>
                <a:ea typeface="Libre Franklin Light"/>
                <a:cs typeface="Libre Franklin Light"/>
                <a:sym typeface="Libre Franklin Light"/>
              </a:rPr>
              <a:t>Unit/PE</a:t>
            </a:r>
          </a:p>
        </p:txBody>
      </p:sp>
      <p:grpSp>
        <p:nvGrpSpPr>
          <p:cNvPr id="9" name="Group 9"/>
          <p:cNvGrpSpPr/>
          <p:nvPr/>
        </p:nvGrpSpPr>
        <p:grpSpPr>
          <a:xfrm>
            <a:off x="4718474" y="1333294"/>
            <a:ext cx="5372783" cy="4368588"/>
            <a:chOff x="0" y="-28575"/>
            <a:chExt cx="10745567" cy="8737176"/>
          </a:xfrm>
        </p:grpSpPr>
        <p:sp>
          <p:nvSpPr>
            <p:cNvPr id="10" name="TextBox 10"/>
            <p:cNvSpPr txBox="1"/>
            <p:nvPr/>
          </p:nvSpPr>
          <p:spPr>
            <a:xfrm>
              <a:off x="0" y="940705"/>
              <a:ext cx="10745567" cy="7767896"/>
            </a:xfrm>
            <a:prstGeom prst="rect">
              <a:avLst/>
            </a:prstGeom>
          </p:spPr>
          <p:txBody>
            <a:bodyPr lIns="0" tIns="0" rIns="0" bIns="0" rtlCol="0" anchor="t">
              <a:spAutoFit/>
            </a:bodyPr>
            <a:lstStyle/>
            <a:p>
              <a:pPr defTabSz="609630">
                <a:lnSpc>
                  <a:spcPts val="1928"/>
                </a:lnSpc>
              </a:pPr>
              <a:r>
                <a:rPr lang="en-US" sz="1483" dirty="0">
                  <a:solidFill>
                    <a:srgbClr val="F6F6F6"/>
                  </a:solidFill>
                  <a:latin typeface="Libre Franklin Light"/>
                  <a:ea typeface="Libre Franklin Light"/>
                  <a:cs typeface="Libre Franklin Light"/>
                  <a:sym typeface="Libre Franklin Light"/>
                </a:rPr>
                <a:t>BOAVENTURA NETTO, Paulo Oswaldo. NETTO, Boaventura, OSWALDIO, Paulo. </a:t>
              </a:r>
              <a:r>
                <a:rPr lang="en-US" sz="1483" dirty="0" err="1">
                  <a:solidFill>
                    <a:srgbClr val="F6F6F6"/>
                  </a:solidFill>
                  <a:latin typeface="Libre Franklin Light"/>
                  <a:ea typeface="Libre Franklin Light"/>
                  <a:cs typeface="Libre Franklin Light"/>
                  <a:sym typeface="Libre Franklin Light"/>
                </a:rPr>
                <a:t>Grafos</a:t>
              </a:r>
              <a:r>
                <a:rPr lang="en-US" sz="1483" dirty="0">
                  <a:solidFill>
                    <a:srgbClr val="F6F6F6"/>
                  </a:solidFill>
                  <a:latin typeface="Libre Franklin Light"/>
                  <a:ea typeface="Libre Franklin Light"/>
                  <a:cs typeface="Libre Franklin Light"/>
                  <a:sym typeface="Libre Franklin Light"/>
                </a:rPr>
                <a:t>: Teoria, </a:t>
              </a:r>
              <a:r>
                <a:rPr lang="en-US" sz="1483" dirty="0" err="1">
                  <a:solidFill>
                    <a:srgbClr val="F6F6F6"/>
                  </a:solidFill>
                  <a:latin typeface="Libre Franklin Light"/>
                  <a:ea typeface="Libre Franklin Light"/>
                  <a:cs typeface="Libre Franklin Light"/>
                  <a:sym typeface="Libre Franklin Light"/>
                </a:rPr>
                <a:t>Modelos</a:t>
              </a:r>
              <a:r>
                <a:rPr lang="en-US" sz="1483" dirty="0">
                  <a:solidFill>
                    <a:srgbClr val="F6F6F6"/>
                  </a:solidFill>
                  <a:latin typeface="Libre Franklin Light"/>
                  <a:ea typeface="Libre Franklin Light"/>
                  <a:cs typeface="Libre Franklin Light"/>
                  <a:sym typeface="Libre Franklin Light"/>
                </a:rPr>
                <a:t>, </a:t>
              </a:r>
              <a:r>
                <a:rPr lang="en-US" sz="1483" dirty="0" err="1">
                  <a:solidFill>
                    <a:srgbClr val="F6F6F6"/>
                  </a:solidFill>
                  <a:latin typeface="Libre Franklin Light"/>
                  <a:ea typeface="Libre Franklin Light"/>
                  <a:cs typeface="Libre Franklin Light"/>
                  <a:sym typeface="Libre Franklin Light"/>
                </a:rPr>
                <a:t>Algoritmo</a:t>
              </a:r>
              <a:r>
                <a:rPr lang="en-US" sz="1483" dirty="0">
                  <a:solidFill>
                    <a:srgbClr val="F6F6F6"/>
                  </a:solidFill>
                  <a:latin typeface="Libre Franklin Light"/>
                  <a:ea typeface="Libre Franklin Light"/>
                  <a:cs typeface="Libre Franklin Light"/>
                  <a:sym typeface="Libre Franklin Light"/>
                </a:rPr>
                <a:t>. 45ª ed. São Paulo: Edgard Blucher.</a:t>
              </a:r>
            </a:p>
            <a:p>
              <a:pPr defTabSz="609630">
                <a:lnSpc>
                  <a:spcPts val="1928"/>
                </a:lnSpc>
              </a:pPr>
              <a:endParaRPr lang="en-US" sz="1483" dirty="0">
                <a:solidFill>
                  <a:srgbClr val="F6F6F6"/>
                </a:solidFill>
                <a:latin typeface="Libre Franklin Light"/>
                <a:ea typeface="Libre Franklin Light"/>
                <a:cs typeface="Libre Franklin Light"/>
                <a:sym typeface="Libre Franklin Light"/>
              </a:endParaRPr>
            </a:p>
            <a:p>
              <a:pPr defTabSz="609630">
                <a:lnSpc>
                  <a:spcPts val="1928"/>
                </a:lnSpc>
              </a:pPr>
              <a:r>
                <a:rPr lang="en-US" sz="1483" dirty="0">
                  <a:solidFill>
                    <a:srgbClr val="F6F6F6"/>
                  </a:solidFill>
                  <a:latin typeface="Libre Franklin Light"/>
                  <a:ea typeface="Libre Franklin Light"/>
                  <a:cs typeface="Libre Franklin Light"/>
                  <a:sym typeface="Libre Franklin Light"/>
                </a:rPr>
                <a:t>CORMEN, Thomas H. et al. </a:t>
              </a:r>
              <a:r>
                <a:rPr lang="en-US" sz="1483" dirty="0" err="1">
                  <a:solidFill>
                    <a:srgbClr val="F6F6F6"/>
                  </a:solidFill>
                  <a:latin typeface="Libre Franklin Light"/>
                  <a:ea typeface="Libre Franklin Light"/>
                  <a:cs typeface="Libre Franklin Light"/>
                  <a:sym typeface="Libre Franklin Light"/>
                </a:rPr>
                <a:t>Algoritmos</a:t>
              </a:r>
              <a:r>
                <a:rPr lang="en-US" sz="1483" dirty="0">
                  <a:solidFill>
                    <a:srgbClr val="F6F6F6"/>
                  </a:solidFill>
                  <a:latin typeface="Libre Franklin Light"/>
                  <a:ea typeface="Libre Franklin Light"/>
                  <a:cs typeface="Libre Franklin Light"/>
                  <a:sym typeface="Libre Franklin Light"/>
                </a:rPr>
                <a:t>: Teoria e </a:t>
              </a:r>
              <a:r>
                <a:rPr lang="en-US" sz="1483" dirty="0" err="1">
                  <a:solidFill>
                    <a:srgbClr val="F6F6F6"/>
                  </a:solidFill>
                  <a:latin typeface="Libre Franklin Light"/>
                  <a:ea typeface="Libre Franklin Light"/>
                  <a:cs typeface="Libre Franklin Light"/>
                  <a:sym typeface="Libre Franklin Light"/>
                </a:rPr>
                <a:t>Prática</a:t>
              </a:r>
              <a:r>
                <a:rPr lang="en-US" sz="1483" dirty="0">
                  <a:solidFill>
                    <a:srgbClr val="F6F6F6"/>
                  </a:solidFill>
                  <a:latin typeface="Libre Franklin Light"/>
                  <a:ea typeface="Libre Franklin Light"/>
                  <a:cs typeface="Libre Franklin Light"/>
                  <a:sym typeface="Libre Franklin Light"/>
                </a:rPr>
                <a:t>. 3. ed. Elsevier, 2012.</a:t>
              </a:r>
            </a:p>
            <a:p>
              <a:pPr defTabSz="609630">
                <a:lnSpc>
                  <a:spcPts val="1928"/>
                </a:lnSpc>
              </a:pPr>
              <a:endParaRPr lang="en-US" sz="1483" dirty="0">
                <a:solidFill>
                  <a:srgbClr val="F6F6F6"/>
                </a:solidFill>
                <a:latin typeface="Libre Franklin Light"/>
                <a:ea typeface="Libre Franklin Light"/>
                <a:cs typeface="Libre Franklin Light"/>
                <a:sym typeface="Libre Franklin Light"/>
              </a:endParaRPr>
            </a:p>
            <a:p>
              <a:pPr defTabSz="609630">
                <a:lnSpc>
                  <a:spcPts val="1928"/>
                </a:lnSpc>
              </a:pPr>
              <a:r>
                <a:rPr lang="en-US" sz="1483" dirty="0">
                  <a:solidFill>
                    <a:srgbClr val="F6F6F6"/>
                  </a:solidFill>
                  <a:latin typeface="Libre Franklin Light"/>
                  <a:ea typeface="Libre Franklin Light"/>
                  <a:cs typeface="Libre Franklin Light"/>
                  <a:sym typeface="Libre Franklin Light"/>
                </a:rPr>
                <a:t>FEOFILOFF, Paulo; KOHAYAKAWA, </a:t>
              </a:r>
              <a:r>
                <a:rPr lang="en-US" sz="1483" dirty="0" err="1">
                  <a:solidFill>
                    <a:srgbClr val="F6F6F6"/>
                  </a:solidFill>
                  <a:latin typeface="Libre Franklin Light"/>
                  <a:ea typeface="Libre Franklin Light"/>
                  <a:cs typeface="Libre Franklin Light"/>
                  <a:sym typeface="Libre Franklin Light"/>
                </a:rPr>
                <a:t>Yoshiahuro</a:t>
              </a:r>
              <a:r>
                <a:rPr lang="en-US" sz="1483" dirty="0">
                  <a:solidFill>
                    <a:srgbClr val="F6F6F6"/>
                  </a:solidFill>
                  <a:latin typeface="Libre Franklin Light"/>
                  <a:ea typeface="Libre Franklin Light"/>
                  <a:cs typeface="Libre Franklin Light"/>
                  <a:sym typeface="Libre Franklin Light"/>
                </a:rPr>
                <a:t>; WAKABAYASHI, Yoshiro. Teoria dos </a:t>
              </a:r>
              <a:r>
                <a:rPr lang="en-US" sz="1483" dirty="0" err="1">
                  <a:solidFill>
                    <a:srgbClr val="F6F6F6"/>
                  </a:solidFill>
                  <a:latin typeface="Libre Franklin Light"/>
                  <a:ea typeface="Libre Franklin Light"/>
                  <a:cs typeface="Libre Franklin Light"/>
                  <a:sym typeface="Libre Franklin Light"/>
                </a:rPr>
                <a:t>Grafos</a:t>
              </a:r>
              <a:r>
                <a:rPr lang="en-US" sz="1483" dirty="0">
                  <a:solidFill>
                    <a:srgbClr val="F6F6F6"/>
                  </a:solidFill>
                  <a:latin typeface="Libre Franklin Light"/>
                  <a:ea typeface="Libre Franklin Light"/>
                  <a:cs typeface="Libre Franklin Light"/>
                  <a:sym typeface="Libre Franklin Light"/>
                </a:rPr>
                <a:t>: Uma </a:t>
              </a:r>
              <a:r>
                <a:rPr lang="en-US" sz="1483" dirty="0" err="1">
                  <a:solidFill>
                    <a:srgbClr val="F6F6F6"/>
                  </a:solidFill>
                  <a:latin typeface="Libre Franklin Light"/>
                  <a:ea typeface="Libre Franklin Light"/>
                  <a:cs typeface="Libre Franklin Light"/>
                  <a:sym typeface="Libre Franklin Light"/>
                </a:rPr>
                <a:t>Introdução</a:t>
              </a:r>
              <a:r>
                <a:rPr lang="en-US" sz="1483" dirty="0">
                  <a:solidFill>
                    <a:srgbClr val="F6F6F6"/>
                  </a:solidFill>
                  <a:latin typeface="Libre Franklin Light"/>
                  <a:ea typeface="Libre Franklin Light"/>
                  <a:cs typeface="Libre Franklin Light"/>
                  <a:sym typeface="Libre Franklin Light"/>
                </a:rPr>
                <a:t> </a:t>
              </a:r>
              <a:r>
                <a:rPr lang="en-US" sz="1483" dirty="0" err="1">
                  <a:solidFill>
                    <a:srgbClr val="F6F6F6"/>
                  </a:solidFill>
                  <a:latin typeface="Libre Franklin Light"/>
                  <a:ea typeface="Libre Franklin Light"/>
                  <a:cs typeface="Libre Franklin Light"/>
                  <a:sym typeface="Libre Franklin Light"/>
                </a:rPr>
                <a:t>Sucinta</a:t>
              </a:r>
              <a:r>
                <a:rPr lang="en-US" sz="1483" dirty="0">
                  <a:solidFill>
                    <a:srgbClr val="F6F6F6"/>
                  </a:solidFill>
                  <a:latin typeface="Libre Franklin Light"/>
                  <a:ea typeface="Libre Franklin Light"/>
                  <a:cs typeface="Libre Franklin Light"/>
                  <a:sym typeface="Libre Franklin Light"/>
                </a:rPr>
                <a:t>. São Paulo: USP, 2011.</a:t>
              </a:r>
            </a:p>
            <a:p>
              <a:pPr defTabSz="609630">
                <a:lnSpc>
                  <a:spcPts val="1928"/>
                </a:lnSpc>
              </a:pPr>
              <a:endParaRPr lang="en-US" sz="1483" dirty="0">
                <a:solidFill>
                  <a:srgbClr val="F6F6F6"/>
                </a:solidFill>
                <a:latin typeface="Libre Franklin Light"/>
                <a:ea typeface="Libre Franklin Light"/>
                <a:cs typeface="Libre Franklin Light"/>
                <a:sym typeface="Libre Franklin Light"/>
              </a:endParaRPr>
            </a:p>
            <a:p>
              <a:pPr defTabSz="609630">
                <a:lnSpc>
                  <a:spcPts val="1928"/>
                </a:lnSpc>
              </a:pPr>
              <a:r>
                <a:rPr lang="en-US" sz="1483" dirty="0">
                  <a:solidFill>
                    <a:srgbClr val="F6F6F6"/>
                  </a:solidFill>
                  <a:latin typeface="Libre Franklin Light"/>
                  <a:ea typeface="Libre Franklin Light"/>
                  <a:cs typeface="Libre Franklin Light"/>
                  <a:sym typeface="Libre Franklin Light"/>
                </a:rPr>
                <a:t>TRUDEAU, Richard J. Introduction to graph theory. Courier Corporation, 2013.</a:t>
              </a:r>
            </a:p>
            <a:p>
              <a:pPr defTabSz="609630">
                <a:lnSpc>
                  <a:spcPts val="1928"/>
                </a:lnSpc>
              </a:pPr>
              <a:endParaRPr lang="en-US" sz="1483" dirty="0">
                <a:solidFill>
                  <a:srgbClr val="F6F6F6"/>
                </a:solidFill>
                <a:latin typeface="Libre Franklin Light"/>
                <a:ea typeface="Libre Franklin Light"/>
                <a:cs typeface="Libre Franklin Light"/>
                <a:sym typeface="Libre Franklin Light"/>
              </a:endParaRPr>
            </a:p>
            <a:p>
              <a:pPr defTabSz="609630">
                <a:lnSpc>
                  <a:spcPts val="1928"/>
                </a:lnSpc>
              </a:pPr>
              <a:r>
                <a:rPr lang="en-US" sz="1483" dirty="0">
                  <a:solidFill>
                    <a:srgbClr val="F6F6F6"/>
                  </a:solidFill>
                  <a:latin typeface="Libre Franklin Light"/>
                  <a:ea typeface="Libre Franklin Light"/>
                  <a:cs typeface="Libre Franklin Light"/>
                  <a:sym typeface="Libre Franklin Light"/>
                </a:rPr>
                <a:t>WILSON, Robin J. Introduction to Graph Theory. 5. ed. Prentice Hall, 2015.</a:t>
              </a:r>
            </a:p>
          </p:txBody>
        </p:sp>
        <p:sp>
          <p:nvSpPr>
            <p:cNvPr id="11" name="TextBox 11"/>
            <p:cNvSpPr txBox="1"/>
            <p:nvPr/>
          </p:nvSpPr>
          <p:spPr>
            <a:xfrm>
              <a:off x="0" y="-28575"/>
              <a:ext cx="10745567" cy="567720"/>
            </a:xfrm>
            <a:prstGeom prst="rect">
              <a:avLst/>
            </a:prstGeom>
          </p:spPr>
          <p:txBody>
            <a:bodyPr lIns="0" tIns="0" rIns="0" bIns="0" rtlCol="0" anchor="t">
              <a:spAutoFit/>
            </a:bodyPr>
            <a:lstStyle/>
            <a:p>
              <a:pPr defTabSz="609630">
                <a:lnSpc>
                  <a:spcPts val="2361"/>
                </a:lnSpc>
              </a:pPr>
              <a:r>
                <a:rPr lang="en-US" sz="1816" b="1">
                  <a:solidFill>
                    <a:srgbClr val="FFFFFF"/>
                  </a:solidFill>
                  <a:latin typeface="Libre Franklin Semi-Bold"/>
                  <a:ea typeface="Libre Franklin Semi-Bold"/>
                  <a:cs typeface="Libre Franklin Semi-Bold"/>
                  <a:sym typeface="Libre Franklin Semi-Bold"/>
                </a:rPr>
                <a:t>Complementar</a:t>
              </a:r>
            </a:p>
          </p:txBody>
        </p:sp>
      </p:grpSp>
      <p:sp>
        <p:nvSpPr>
          <p:cNvPr id="12" name="Freeform 12"/>
          <p:cNvSpPr/>
          <p:nvPr/>
        </p:nvSpPr>
        <p:spPr>
          <a:xfrm>
            <a:off x="10235355" y="0"/>
            <a:ext cx="1956645" cy="6858000"/>
          </a:xfrm>
          <a:custGeom>
            <a:avLst/>
            <a:gdLst/>
            <a:ahLst/>
            <a:cxnLst/>
            <a:rect l="l" t="t" r="r" b="b"/>
            <a:pathLst>
              <a:path w="2934968" h="10287000">
                <a:moveTo>
                  <a:pt x="0" y="0"/>
                </a:moveTo>
                <a:lnTo>
                  <a:pt x="2934968" y="0"/>
                </a:lnTo>
                <a:lnTo>
                  <a:pt x="2934968" y="10287000"/>
                </a:lnTo>
                <a:lnTo>
                  <a:pt x="0" y="10287000"/>
                </a:lnTo>
                <a:lnTo>
                  <a:pt x="0" y="0"/>
                </a:lnTo>
                <a:close/>
              </a:path>
            </a:pathLst>
          </a:custGeom>
          <a:blipFill>
            <a:blip r:embed="rId2"/>
            <a:stretch>
              <a:fillRect l="-144651" r="-105845"/>
            </a:stretch>
          </a:blipFill>
        </p:spPr>
        <p:txBody>
          <a:bodyPr/>
          <a:lstStyle/>
          <a:p>
            <a:pPr defTabSz="609630"/>
            <a:endParaRPr lang="pt-BR" sz="1200">
              <a:solidFill>
                <a:prstClr val="black"/>
              </a:solidFill>
              <a:latin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141805-F623-41AB-B29A-D374D78B242C}"/>
              </a:ext>
            </a:extLst>
          </p:cNvPr>
          <p:cNvSpPr>
            <a:spLocks noGrp="1"/>
          </p:cNvSpPr>
          <p:nvPr>
            <p:ph type="title"/>
          </p:nvPr>
        </p:nvSpPr>
        <p:spPr>
          <a:xfrm>
            <a:off x="2523958" y="276726"/>
            <a:ext cx="6471186" cy="762000"/>
          </a:xfrm>
        </p:spPr>
        <p:txBody>
          <a:bodyPr>
            <a:normAutofit/>
          </a:bodyPr>
          <a:lstStyle/>
          <a:p>
            <a:pPr algn="ctr"/>
            <a:r>
              <a:rPr lang="pt-BR" sz="3600" b="1" dirty="0">
                <a:ln w="0"/>
                <a:latin typeface="+mn-lt"/>
                <a:ea typeface="+mn-ea"/>
                <a:cs typeface="+mn-cs"/>
              </a:rPr>
              <a:t>Muito obrigado e até a Próxima!</a:t>
            </a:r>
            <a:endParaRPr lang="pt-BR" b="1" dirty="0">
              <a:ln w="0"/>
            </a:endParaRPr>
          </a:p>
        </p:txBody>
      </p:sp>
      <p:pic>
        <p:nvPicPr>
          <p:cNvPr id="4" name="Imagem 3">
            <a:extLst>
              <a:ext uri="{FF2B5EF4-FFF2-40B4-BE49-F238E27FC236}">
                <a16:creationId xmlns:a16="http://schemas.microsoft.com/office/drawing/2014/main" id="{0C2BD879-6317-CE97-0A36-E66775D3E96D}"/>
              </a:ext>
            </a:extLst>
          </p:cNvPr>
          <p:cNvPicPr>
            <a:picLocks noChangeAspect="1"/>
          </p:cNvPicPr>
          <p:nvPr/>
        </p:nvPicPr>
        <p:blipFill>
          <a:blip r:embed="rId2"/>
          <a:stretch>
            <a:fillRect/>
          </a:stretch>
        </p:blipFill>
        <p:spPr>
          <a:xfrm>
            <a:off x="2247014" y="1358403"/>
            <a:ext cx="7357730" cy="5222871"/>
          </a:xfrm>
          <a:prstGeom prst="rect">
            <a:avLst/>
          </a:prstGeom>
        </p:spPr>
      </p:pic>
    </p:spTree>
    <p:extLst>
      <p:ext uri="{BB962C8B-B14F-4D97-AF65-F5344CB8AC3E}">
        <p14:creationId xmlns:p14="http://schemas.microsoft.com/office/powerpoint/2010/main" val="12373333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00E5FE-D33B-4EE6-BF6A-728719A7F65F}"/>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3AF760C2-539C-7435-5909-48752E416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D520667-C898-E6AA-5AA3-7F30F5246EEB}"/>
              </a:ext>
            </a:extLst>
          </p:cNvPr>
          <p:cNvSpPr>
            <a:spLocks noGrp="1"/>
          </p:cNvSpPr>
          <p:nvPr>
            <p:ph type="ctrTitle"/>
          </p:nvPr>
        </p:nvSpPr>
        <p:spPr>
          <a:xfrm>
            <a:off x="514349" y="2849909"/>
            <a:ext cx="11344275" cy="1637503"/>
          </a:xfrm>
          <a:solidFill>
            <a:srgbClr val="FFFFFF"/>
          </a:solidFill>
          <a:ln w="38100">
            <a:solidFill>
              <a:srgbClr val="404040"/>
            </a:solidFill>
            <a:miter lim="800000"/>
          </a:ln>
        </p:spPr>
        <p:txBody>
          <a:bodyPr anchor="ctr">
            <a:noAutofit/>
          </a:bodyPr>
          <a:lstStyle/>
          <a:p>
            <a:r>
              <a:rPr lang="pt-BR" sz="6000" b="1" dirty="0">
                <a:latin typeface="Times New Roman" panose="02020603050405020304" pitchFamily="18" charset="0"/>
                <a:cs typeface="Times New Roman" panose="02020603050405020304" pitchFamily="18" charset="0"/>
              </a:rPr>
              <a:t>Teoria dos Grafos                 </a:t>
            </a:r>
            <a:r>
              <a:rPr lang="pt-BR" sz="5600" dirty="0"/>
              <a:t>Conceitos Básicos</a:t>
            </a:r>
            <a:endParaRPr lang="pt-BR" sz="5600" dirty="0">
              <a:solidFill>
                <a:srgbClr val="404040"/>
              </a:solidFill>
              <a:latin typeface="Times New Roman" panose="02020603050405020304" pitchFamily="18" charset="0"/>
              <a:cs typeface="Times New Roman" panose="02020603050405020304" pitchFamily="18" charset="0"/>
            </a:endParaRPr>
          </a:p>
        </p:txBody>
      </p:sp>
      <p:sp>
        <p:nvSpPr>
          <p:cNvPr id="3" name="Subtítulo 2">
            <a:extLst>
              <a:ext uri="{FF2B5EF4-FFF2-40B4-BE49-F238E27FC236}">
                <a16:creationId xmlns:a16="http://schemas.microsoft.com/office/drawing/2014/main" id="{C141877F-C341-01B8-09FC-1072C792173D}"/>
              </a:ext>
            </a:extLst>
          </p:cNvPr>
          <p:cNvSpPr>
            <a:spLocks noGrp="1"/>
          </p:cNvSpPr>
          <p:nvPr>
            <p:ph type="subTitle" idx="1"/>
          </p:nvPr>
        </p:nvSpPr>
        <p:spPr>
          <a:xfrm>
            <a:off x="2247966" y="5041078"/>
            <a:ext cx="8519882" cy="847176"/>
          </a:xfrm>
        </p:spPr>
        <p:txBody>
          <a:bodyPr>
            <a:normAutofit/>
          </a:bodyPr>
          <a:lstStyle/>
          <a:p>
            <a:r>
              <a:rPr lang="pt-BR" sz="2900" dirty="0">
                <a:solidFill>
                  <a:srgbClr val="FFFFFF"/>
                </a:solidFill>
                <a:latin typeface="Times New Roman" panose="02020603050405020304" pitchFamily="18" charset="0"/>
                <a:cs typeface="Times New Roman" panose="02020603050405020304" pitchFamily="18" charset="0"/>
              </a:rPr>
              <a:t>Jonathan Bandeira: </a:t>
            </a:r>
            <a:r>
              <a:rPr lang="pt-BR" sz="2900" dirty="0">
                <a:solidFill>
                  <a:srgbClr val="FFFFFF"/>
                </a:solidFill>
                <a:latin typeface="Times New Roman" panose="02020603050405020304" pitchFamily="18" charset="0"/>
                <a:cs typeface="Times New Roman" panose="02020603050405020304" pitchFamily="18" charset="0"/>
                <a:sym typeface="Calibri"/>
                <a:hlinkClick r:id="rId2"/>
              </a:rPr>
              <a:t>jonathan.bandeira@souunit.com.br</a:t>
            </a:r>
            <a:r>
              <a:rPr lang="pt-BR" sz="2900" dirty="0">
                <a:solidFill>
                  <a:srgbClr val="FFFFFF"/>
                </a:solidFill>
                <a:latin typeface="Times New Roman" panose="02020603050405020304" pitchFamily="18" charset="0"/>
                <a:cs typeface="Times New Roman" panose="02020603050405020304" pitchFamily="18" charset="0"/>
                <a:sym typeface="Calibri"/>
              </a:rPr>
              <a:t> </a:t>
            </a:r>
          </a:p>
          <a:p>
            <a:endParaRPr lang="pt-BR" sz="1600" dirty="0">
              <a:solidFill>
                <a:srgbClr val="FFFFFF"/>
              </a:solidFill>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44163689-1B15-1BFE-ABF1-E8D12C5888DF}"/>
              </a:ext>
            </a:extLst>
          </p:cNvPr>
          <p:cNvSpPr/>
          <p:nvPr/>
        </p:nvSpPr>
        <p:spPr>
          <a:xfrm>
            <a:off x="3979097" y="6319351"/>
            <a:ext cx="3607078" cy="480131"/>
          </a:xfrm>
          <a:prstGeom prst="rect">
            <a:avLst/>
          </a:prstGeom>
        </p:spPr>
        <p:txBody>
          <a:bodyPr wrap="none">
            <a:spAutoFit/>
          </a:bodyPr>
          <a:lstStyle/>
          <a:p>
            <a:pPr algn="ctr">
              <a:lnSpc>
                <a:spcPct val="90000"/>
              </a:lnSpc>
              <a:spcBef>
                <a:spcPts val="1000"/>
              </a:spcBef>
            </a:pPr>
            <a:r>
              <a:rPr lang="pt-BR" sz="2800" dirty="0">
                <a:solidFill>
                  <a:srgbClr val="FFFFFF"/>
                </a:solidFill>
                <a:latin typeface="Times New Roman" panose="02020603050405020304" pitchFamily="18" charset="0"/>
                <a:cs typeface="Times New Roman" panose="02020603050405020304" pitchFamily="18" charset="0"/>
              </a:rPr>
              <a:t>Ciência da Computação</a:t>
            </a:r>
          </a:p>
        </p:txBody>
      </p:sp>
      <p:pic>
        <p:nvPicPr>
          <p:cNvPr id="6" name="Imagem 5">
            <a:extLst>
              <a:ext uri="{FF2B5EF4-FFF2-40B4-BE49-F238E27FC236}">
                <a16:creationId xmlns:a16="http://schemas.microsoft.com/office/drawing/2014/main" id="{586279F5-540A-E1AF-634A-61EE82BDCE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8113" y="140903"/>
            <a:ext cx="4110038" cy="2195590"/>
          </a:xfrm>
          <a:prstGeom prst="rect">
            <a:avLst/>
          </a:prstGeom>
        </p:spPr>
      </p:pic>
      <p:pic>
        <p:nvPicPr>
          <p:cNvPr id="2052" name="Picture 4" descr="Porto Digital | LinkedIn">
            <a:extLst>
              <a:ext uri="{FF2B5EF4-FFF2-40B4-BE49-F238E27FC236}">
                <a16:creationId xmlns:a16="http://schemas.microsoft.com/office/drawing/2014/main" id="{B10D850C-40F5-EEF8-8AF4-2617713D5D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812910" cy="2812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028540"/>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3869</TotalTime>
  <Words>3412</Words>
  <Application>Microsoft Office PowerPoint</Application>
  <PresentationFormat>Widescreen</PresentationFormat>
  <Paragraphs>423</Paragraphs>
  <Slides>59</Slides>
  <Notes>1</Notes>
  <HiddenSlides>0</HiddenSlides>
  <MMClips>0</MMClips>
  <ScaleCrop>false</ScaleCrop>
  <HeadingPairs>
    <vt:vector size="6" baseType="variant">
      <vt:variant>
        <vt:lpstr>Fontes usadas</vt:lpstr>
      </vt:variant>
      <vt:variant>
        <vt:i4>8</vt:i4>
      </vt:variant>
      <vt:variant>
        <vt:lpstr>Tema</vt:lpstr>
      </vt:variant>
      <vt:variant>
        <vt:i4>2</vt:i4>
      </vt:variant>
      <vt:variant>
        <vt:lpstr>Títulos de slides</vt:lpstr>
      </vt:variant>
      <vt:variant>
        <vt:i4>59</vt:i4>
      </vt:variant>
    </vt:vector>
  </HeadingPairs>
  <TitlesOfParts>
    <vt:vector size="69" baseType="lpstr">
      <vt:lpstr>Arial</vt:lpstr>
      <vt:lpstr>Calibri</vt:lpstr>
      <vt:lpstr>Calibri Light</vt:lpstr>
      <vt:lpstr>Libre Franklin Light</vt:lpstr>
      <vt:lpstr>Libre Franklin Semi-Bold</vt:lpstr>
      <vt:lpstr>Libre Franklin Thin</vt:lpstr>
      <vt:lpstr>Times New Roman</vt:lpstr>
      <vt:lpstr>Wingdings</vt:lpstr>
      <vt:lpstr>Tema do Office</vt:lpstr>
      <vt:lpstr>Office Theme</vt:lpstr>
      <vt:lpstr>Teoria dos Grafos                 Conceitos Básicos</vt:lpstr>
      <vt:lpstr>Roteiro</vt:lpstr>
      <vt:lpstr>Introdução</vt:lpstr>
      <vt:lpstr>Motivação: Fronteira   </vt:lpstr>
      <vt:lpstr>Motivação: Amizade em redes sociais   </vt:lpstr>
      <vt:lpstr>Motivação: Alocação de professores</vt:lpstr>
      <vt:lpstr>Motivação: Fronteira (Coloração de grafos)   </vt:lpstr>
      <vt:lpstr>Motivação: árvore genealógica da família imperial    </vt:lpstr>
      <vt:lpstr>Motivação:  Transporte aéreo  </vt:lpstr>
      <vt:lpstr>Motivação: Compra virtual     </vt:lpstr>
      <vt:lpstr>Motivação: Coleta de lixo   </vt:lpstr>
      <vt:lpstr>Motivação: Saneamento básico   </vt:lpstr>
      <vt:lpstr>Motivação: Páginas da Web  </vt:lpstr>
      <vt:lpstr>Motivação: Características de uma linguagem de programação   </vt:lpstr>
      <vt:lpstr>Contexto Histórico</vt:lpstr>
      <vt:lpstr>Contexto Histórico</vt:lpstr>
      <vt:lpstr>Contexto Histórico</vt:lpstr>
      <vt:lpstr>O problema das 3 casas</vt:lpstr>
      <vt:lpstr>Conceitos Básicos </vt:lpstr>
      <vt:lpstr>Conceitos Básicos </vt:lpstr>
      <vt:lpstr>Representação Matemática</vt:lpstr>
      <vt:lpstr>Grafo Bipartido</vt:lpstr>
      <vt:lpstr>Grafos ponderados e não ponderados</vt:lpstr>
      <vt:lpstr>Grafos orientados e não orientados</vt:lpstr>
      <vt:lpstr>Grau de um vértice em grafos não direcionados</vt:lpstr>
      <vt:lpstr>Grau de um vértice em grafos não direcionados</vt:lpstr>
      <vt:lpstr>Grau de um vértice em grafos não direcionados</vt:lpstr>
      <vt:lpstr>Grau de um vértice em grafos direcionados</vt:lpstr>
      <vt:lpstr>Grau de um vértice em grafos direcionados</vt:lpstr>
      <vt:lpstr>Laços</vt:lpstr>
      <vt:lpstr>Paralelismo</vt:lpstr>
      <vt:lpstr>Grafo Simples</vt:lpstr>
      <vt:lpstr>Grafo Completo</vt:lpstr>
      <vt:lpstr>Grafo Completo</vt:lpstr>
      <vt:lpstr> Grafos Regulares e Completos</vt:lpstr>
      <vt:lpstr>Grafos Regulares</vt:lpstr>
      <vt:lpstr>Subgrafo</vt:lpstr>
      <vt:lpstr>Planaridade</vt:lpstr>
      <vt:lpstr>Planaridade</vt:lpstr>
      <vt:lpstr>Planaridade</vt:lpstr>
      <vt:lpstr>Planaridade</vt:lpstr>
      <vt:lpstr>Planaridade</vt:lpstr>
      <vt:lpstr>Planaridade</vt:lpstr>
      <vt:lpstr>Caminho</vt:lpstr>
      <vt:lpstr>Comprimento</vt:lpstr>
      <vt:lpstr>Ciclos</vt:lpstr>
      <vt:lpstr>Apresentação do PowerPoint</vt:lpstr>
      <vt:lpstr>Apresentação do PowerPoint</vt:lpstr>
      <vt:lpstr>Conectividade</vt:lpstr>
      <vt:lpstr>Apresentação do PowerPoint</vt:lpstr>
      <vt:lpstr>Adjacência</vt:lpstr>
      <vt:lpstr>Adjacência</vt:lpstr>
      <vt:lpstr>Exercícios </vt:lpstr>
      <vt:lpstr>Exercícios </vt:lpstr>
      <vt:lpstr>Exercícios </vt:lpstr>
      <vt:lpstr>Apresentação do PowerPoint</vt:lpstr>
      <vt:lpstr>Apresentação do PowerPoint</vt:lpstr>
      <vt:lpstr>Muito obrigado e até a Próxima!</vt:lpstr>
      <vt:lpstr>Teoria dos Grafos                 Conceitos Básicos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LINGUAGEM DE PROGRAMAÇÃO ORIENTADA A OBJETOS</dc:title>
  <dc:creator>FLAVIO DA SILVA NEVES</dc:creator>
  <cp:lastModifiedBy>Jonathan da Silva Bandeira</cp:lastModifiedBy>
  <cp:revision>152</cp:revision>
  <dcterms:created xsi:type="dcterms:W3CDTF">2020-02-02T23:21:56Z</dcterms:created>
  <dcterms:modified xsi:type="dcterms:W3CDTF">2026-01-28T15:48:30Z</dcterms:modified>
</cp:coreProperties>
</file>