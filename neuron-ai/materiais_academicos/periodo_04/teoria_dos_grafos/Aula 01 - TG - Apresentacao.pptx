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72" r:id="rId3"/>
  </p:sldMasterIdLst>
  <p:notesMasterIdLst>
    <p:notesMasterId r:id="rId29"/>
  </p:notesMasterIdLst>
  <p:sldIdLst>
    <p:sldId id="256" r:id="rId4"/>
    <p:sldId id="257" r:id="rId5"/>
    <p:sldId id="324" r:id="rId6"/>
    <p:sldId id="258" r:id="rId7"/>
    <p:sldId id="259" r:id="rId8"/>
    <p:sldId id="260" r:id="rId9"/>
    <p:sldId id="262" r:id="rId10"/>
    <p:sldId id="276" r:id="rId11"/>
    <p:sldId id="263" r:id="rId12"/>
    <p:sldId id="264" r:id="rId13"/>
    <p:sldId id="265" r:id="rId14"/>
    <p:sldId id="462" r:id="rId15"/>
    <p:sldId id="266" r:id="rId16"/>
    <p:sldId id="464" r:id="rId17"/>
    <p:sldId id="267" r:id="rId18"/>
    <p:sldId id="268" r:id="rId19"/>
    <p:sldId id="457" r:id="rId20"/>
    <p:sldId id="459" r:id="rId21"/>
    <p:sldId id="269" r:id="rId22"/>
    <p:sldId id="270" r:id="rId23"/>
    <p:sldId id="272" r:id="rId24"/>
    <p:sldId id="273" r:id="rId25"/>
    <p:sldId id="274" r:id="rId26"/>
    <p:sldId id="495" r:id="rId27"/>
    <p:sldId id="461" r:id="rId28"/>
  </p:sldIdLst>
  <p:sldSz cx="18288000" cy="10287000"/>
  <p:notesSz cx="6858000" cy="9144000"/>
  <p:embeddedFontLst>
    <p:embeddedFont>
      <p:font typeface="Libre Franklin" pitchFamily="2" charset="0"/>
      <p:regular r:id="rId30"/>
      <p:bold r:id="rId31"/>
      <p:italic r:id="rId32"/>
      <p:boldItalic r:id="rId33"/>
    </p:embeddedFont>
    <p:embeddedFont>
      <p:font typeface="Libre Franklin Bold" charset="0"/>
      <p:regular r:id="rId34"/>
      <p:bold r:id="rId35"/>
    </p:embeddedFont>
    <p:embeddedFont>
      <p:font typeface="Libre Franklin Light" pitchFamily="2" charset="0"/>
      <p:regular r:id="rId36"/>
      <p:italic r:id="rId37"/>
    </p:embeddedFont>
    <p:embeddedFont>
      <p:font typeface="Libre Franklin Medium" pitchFamily="2" charset="0"/>
      <p:regular r:id="rId38"/>
      <p:italic r:id="rId39"/>
    </p:embeddedFont>
    <p:embeddedFont>
      <p:font typeface="Libre Franklin Semi-Bold" panose="020B0604020202020204" charset="0"/>
      <p:regular r:id="rId40"/>
    </p:embeddedFont>
    <p:embeddedFont>
      <p:font typeface="Libre Franklin Thin" pitchFamily="2" charset="0"/>
      <p:regular r:id="rId41"/>
      <p: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0.fntdata"/><Relationship Id="rId21" Type="http://schemas.openxmlformats.org/officeDocument/2006/relationships/slide" Target="slides/slide18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font" Target="fonts/font7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20D4D-EF55-4F91-90C1-6308FE1185C6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EE77B1-366E-4645-87F1-043D6C467FD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943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601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779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610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E698-340F-4EBF-8F30-50453018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3148B-081B-4AAA-A608-7C7248C86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61F22-6C42-4B66-95B6-11D31254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8ABF6-ABE2-4EC1-908D-6E256231A578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95534-CCD6-491F-A2E1-73E332F4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2B9C3-B338-421F-97FF-D83A38E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381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B7E36-420C-4401-8D2F-58B82EAB765B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434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9B9-C203-4DDB-9622-439B05E8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70E03-BE51-4677-897D-A0FBB7BB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72A9-AE11-4C2C-96FA-E5412F9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6B1D8-1B9F-4835-BCED-72F2FAA9BD9D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E67E6-F866-44DA-95E5-3C586795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FE0C1-F50E-4535-A077-E85F2666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7601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307CC-1EE9-4E03-A8E4-A188391F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40398-DF18-428D-8BD6-A8175529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F92D6-2AA9-476A-9428-74BB2155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3D60A-99C0-43D8-A538-032756C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A3A6D-31CB-4DA8-8615-F73B2F58262C}" type="datetime1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A64066-069D-4832-9E95-87DFF30E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A151F2-785F-48FC-A706-B3B6CEEA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742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693D-5F3B-4CFD-8A7E-0661B4E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96E33-A9FA-4134-9F74-F9D4376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F8C7B-A663-44AD-8D10-14F2C930E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6EBEE3-CA07-4782-A360-635B2120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918A83-2868-4683-8EEC-E911D02A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54105-C3CE-40D9-9F51-066AC34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244A-00E5-4A90-B95B-F4EACF41DB37}" type="datetime1">
              <a:rPr lang="pt-BR" smtClean="0"/>
              <a:t>12/02/2026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0CC430-9377-457F-87BC-4325C1B4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52A023-5E54-45CF-A288-75AAC3A9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6141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EE1-7D51-4138-8413-1DB8E29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1B466E-6465-432B-BF93-A670E7A9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46D04-E70E-4365-8EDE-B165118CFFC0}" type="datetime1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9E9D2F-30CA-41C1-9878-03445A92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A8759-97ED-4356-8F07-F67B3CF2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0446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2641B1-C909-4EF1-BF0C-5B3B01B5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46AC8-B108-4C96-A239-C1E58522AA05}" type="datetime1">
              <a:rPr lang="pt-BR" smtClean="0"/>
              <a:t>12/02/2026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D9BBBB-43C7-48A3-A705-96F0A36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8FEE4-F7DE-4CBB-B498-A904FF3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4201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73E6-1F86-48B3-B617-62BA8F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73076-EBF9-4E18-B856-EEF4B299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AB3B9D-23F1-4980-9A8B-4EE72F5A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468B-BDA6-4BF0-A2B9-97923EA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D9864-C71A-46C3-BB46-B9822AD6A233}" type="datetime1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45E7B-CFB3-4806-A8E5-64E2B710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8A86-EA15-4FCE-AD77-5C42440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082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B41D0-1716-4F0A-89E3-B7F24280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1BD11-CA16-472C-A2E4-13BA64C4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A3AF83-743F-4AB8-BD33-8B1B8687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877D6-E487-4A25-A13D-B193F3D2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B05D7-38EB-408C-BF76-6F9F805C93EF}" type="datetime1">
              <a:rPr lang="pt-BR" smtClean="0"/>
              <a:t>12/02/2026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9429D-CDCA-4E9C-BCCE-7CC6466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B507C-82C3-4DEB-8CE5-D4444D2D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40388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1B732-27AE-438A-8BFF-862D6A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01D6B1-9A93-4213-8E10-574E11F3D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6302D-DC45-4A1A-995E-B976A6B9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BC12E-0017-4D90-8EDD-C139988DA080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9D52E-42B7-496A-9698-ECC761DD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3E8CC-B11F-40DA-A0D6-F03C115F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A2BCF-45B9-4EA2-AFEA-551F296F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7FC913-1466-4466-93FC-3B186E5F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B044-85AF-401E-A0A1-A087317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48F3-7F3A-4191-8FA2-D05637E5853A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EAAF9-5F5C-48BF-B1DB-37067F2F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DFBD-9EB4-4D00-94D0-C67DF97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239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A7E698-340F-4EBF-8F30-50453018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53148B-081B-4AAA-A608-7C7248C86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61F22-6C42-4B66-95B6-11D312543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95534-CCD6-491F-A2E1-73E332F45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52B9C3-B338-421F-97FF-D83A38E1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0787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72B48-7FAE-4D90-A750-F67CA7D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C795F3-C7D4-4453-8EF9-EF2AD65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FD1F5-C29A-4D4D-AEFD-CEAC58ACF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9B0816-DD1A-4889-8D4B-FEACBD91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FDFF90-7FA0-4AF1-8FB3-172685785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9732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219B9-C203-4DDB-9622-439B05E8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070E03-BE51-4677-897D-A0FBB7BB4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72A9-AE11-4C2C-96FA-E5412F97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9E67E6-F866-44DA-95E5-3C5867955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EFE0C1-F50E-4535-A077-E85F2666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2021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307CC-1EE9-4E03-A8E4-A188391FB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40398-DF18-428D-8BD6-A81755299E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4F92D6-2AA9-476A-9428-74BB2155E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A3D60A-99C0-43D8-A538-032756C6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A64066-069D-4832-9E95-87DFF30E2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A151F2-785F-48FC-A706-B3B6CEEAB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098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4693D-5F3B-4CFD-8A7E-0661B4ECB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396E33-A9FA-4134-9F74-F9D43767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F8C7B-A663-44AD-8D10-14F2C930E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46EBEE3-CA07-4782-A360-635B212032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E918A83-2868-4683-8EEC-E911D02AE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9454105-C3CE-40D9-9F51-066AC34C9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30CC430-9377-457F-87BC-4325C1B4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52A023-5E54-45CF-A288-75AAC3A91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8765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64EE1-7D51-4138-8413-1DB8E29F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1B466E-6465-432B-BF93-A670E7A9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9E9D2F-30CA-41C1-9878-03445A92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BA8759-97ED-4356-8F07-F67B3CF2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6524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32641B1-C909-4EF1-BF0C-5B3B01B55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D9BBBB-43C7-48A3-A705-96F0A365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8FEE4-F7DE-4CBB-B498-A904FF32F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93210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1773E6-1F86-48B3-B617-62BA8F41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673076-EBF9-4E18-B856-EEF4B299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AB3B9D-23F1-4980-9A8B-4EE72F5AB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10468B-BDA6-4BF0-A2B9-97923EAAC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745E7B-CFB3-4806-A8E5-64E2B710A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F8A86-EA15-4FCE-AD77-5C4244043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1805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B41D0-1716-4F0A-89E3-B7F24280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61BD11-CA16-472C-A2E4-13BA64C44D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A3AF83-743F-4AB8-BD33-8B1B868737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B877D6-E487-4A25-A13D-B193F3D21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99429D-CDCA-4E9C-BCCE-7CC6466B2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6B507C-82C3-4DEB-8CE5-D4444D2D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3814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91B732-27AE-438A-8BFF-862D6AB2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01D6B1-9A93-4213-8E10-574E11F3D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66302D-DC45-4A1A-995E-B976A6B9D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9D52E-42B7-496A-9698-ECC761DDD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3E8CC-B11F-40DA-A0D6-F03C115FF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7668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16A2BCF-45B9-4EA2-AFEA-551F296F6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7FC913-1466-4466-93FC-3B186E5F0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6DB044-85AF-401E-A0A1-A087317E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EAAF9-5F5C-48BF-B1DB-37067F2F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56DFBD-9EB4-4D00-94D0-C67DF97A1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754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A4B0C-CEB8-4239-B7CB-D30F63DB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DA91-4622-4472-BA27-C1B09036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3F8B6-BF5F-4566-A90D-925F5721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2F7D8-B744-4635-A482-611B666ECB08}" type="datetime1">
              <a:rPr lang="pt-BR" smtClean="0"/>
              <a:t>12/02/2026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83AC9-2DF1-4775-B7F8-DCE61C444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Fundamentos em Inteligência Artificial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6475A-9735-477F-BA89-044917D79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72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1A4B0C-CEB8-4239-B7CB-D30F63DB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DFDA91-4622-4472-BA27-C1B09036F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73F8B6-BF5F-4566-A90D-925F57210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09/02/2011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83AC9-2DF1-4775-B7F8-DCE61C4448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Banco de Dados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96475A-9735-477F-BA89-044917D79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1214-D368-4B4F-B4B3-73A619B7B8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69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4296" y="7482808"/>
            <a:ext cx="6015932" cy="0"/>
          </a:xfrm>
          <a:prstGeom prst="line">
            <a:avLst/>
          </a:prstGeom>
          <a:ln w="9525" cap="flat">
            <a:solidFill>
              <a:srgbClr val="F6F6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/>
          <p:cNvSpPr/>
          <p:nvPr/>
        </p:nvSpPr>
        <p:spPr>
          <a:xfrm>
            <a:off x="1514296" y="4584997"/>
            <a:ext cx="3069545" cy="1639520"/>
          </a:xfrm>
          <a:custGeom>
            <a:avLst/>
            <a:gdLst/>
            <a:ahLst/>
            <a:cxnLst/>
            <a:rect l="l" t="t" r="r" b="b"/>
            <a:pathLst>
              <a:path w="3069545" h="1639520">
                <a:moveTo>
                  <a:pt x="0" y="0"/>
                </a:moveTo>
                <a:lnTo>
                  <a:pt x="3069545" y="0"/>
                </a:lnTo>
                <a:lnTo>
                  <a:pt x="3069545" y="1639520"/>
                </a:lnTo>
                <a:lnTo>
                  <a:pt x="0" y="163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8954009" y="8079446"/>
            <a:ext cx="2207554" cy="2207554"/>
          </a:xfrm>
          <a:custGeom>
            <a:avLst/>
            <a:gdLst/>
            <a:ahLst/>
            <a:cxnLst/>
            <a:rect l="l" t="t" r="r" b="b"/>
            <a:pathLst>
              <a:path w="2207554" h="2207554">
                <a:moveTo>
                  <a:pt x="0" y="0"/>
                </a:moveTo>
                <a:lnTo>
                  <a:pt x="2207554" y="0"/>
                </a:lnTo>
                <a:lnTo>
                  <a:pt x="2207554" y="2207554"/>
                </a:lnTo>
                <a:lnTo>
                  <a:pt x="0" y="2207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557971" y="1104900"/>
            <a:ext cx="1026242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Teoria dos </a:t>
            </a:r>
            <a:r>
              <a:rPr lang="en-US" sz="9000" dirty="0" err="1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Grafos</a:t>
            </a:r>
            <a:endParaRPr lang="en-US" sz="90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4296" y="6830966"/>
            <a:ext cx="5402793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14296" y="6463936"/>
            <a:ext cx="6015932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Centro Universitário Tiradentes - UNIT/PE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A5E3C90-B9BF-3FBD-059C-85554AA6F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535" y="1"/>
            <a:ext cx="7152465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309184" y="1023938"/>
            <a:ext cx="10978816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7309184" y="2027085"/>
            <a:ext cx="10978816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7152465" y="6309813"/>
            <a:ext cx="10978816" cy="275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Apresentação da Disciplina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09184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83BCC9E-FF38-49B7-5C94-BE86C7AB8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94" y="2171700"/>
            <a:ext cx="6648450" cy="6648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ctr" anchorCtr="0">
            <a:noAutofit/>
          </a:bodyPr>
          <a:lstStyle/>
          <a:p>
            <a:pPr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Apresentação do Professor e Estudantes;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Características da Disciplina;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 Competências;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Metodologia de Ensino;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Horários;</a:t>
            </a:r>
            <a:endParaRPr lang="pt-BR"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Conteúdo Programático;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Calendário da Disciplina no Semestre (2026.1);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da Disciplina;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de Avaliação;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590"/>
              <a:buFont typeface="Arial"/>
              <a:buChar char="•"/>
            </a:pPr>
            <a:r>
              <a:rPr lang="pt-BR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Bibliografia.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71600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/>
              <a:t>3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4027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028700" y="2013492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3241168" y="0"/>
            <a:ext cx="5046832" cy="10287000"/>
          </a:xfrm>
          <a:custGeom>
            <a:avLst/>
            <a:gdLst/>
            <a:ahLst/>
            <a:cxnLst/>
            <a:rect l="l" t="t" r="r" b="b"/>
            <a:pathLst>
              <a:path w="5046832" h="10287000">
                <a:moveTo>
                  <a:pt x="0" y="0"/>
                </a:moveTo>
                <a:lnTo>
                  <a:pt x="5046832" y="0"/>
                </a:lnTo>
                <a:lnTo>
                  <a:pt x="504683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796" r="-77524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85726" y="6264980"/>
            <a:ext cx="2413738" cy="2405179"/>
          </a:xfrm>
          <a:custGeom>
            <a:avLst/>
            <a:gdLst/>
            <a:ahLst/>
            <a:cxnLst/>
            <a:rect l="l" t="t" r="r" b="b"/>
            <a:pathLst>
              <a:path w="2413738" h="2405179">
                <a:moveTo>
                  <a:pt x="0" y="0"/>
                </a:moveTo>
                <a:lnTo>
                  <a:pt x="2413739" y="0"/>
                </a:lnTo>
                <a:lnTo>
                  <a:pt x="2413739" y="2405180"/>
                </a:lnTo>
                <a:lnTo>
                  <a:pt x="0" y="2405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2599465" y="6264980"/>
            <a:ext cx="2851734" cy="2405179"/>
          </a:xfrm>
          <a:custGeom>
            <a:avLst/>
            <a:gdLst/>
            <a:ahLst/>
            <a:cxnLst/>
            <a:rect l="l" t="t" r="r" b="b"/>
            <a:pathLst>
              <a:path w="2851734" h="2405179">
                <a:moveTo>
                  <a:pt x="0" y="0"/>
                </a:moveTo>
                <a:lnTo>
                  <a:pt x="2851734" y="0"/>
                </a:lnTo>
                <a:lnTo>
                  <a:pt x="2851734" y="2405180"/>
                </a:lnTo>
                <a:lnTo>
                  <a:pt x="0" y="2405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63" r="-3990" b="-20533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5451199" y="6264980"/>
            <a:ext cx="3990708" cy="2400827"/>
          </a:xfrm>
          <a:custGeom>
            <a:avLst/>
            <a:gdLst/>
            <a:ahLst/>
            <a:cxnLst/>
            <a:rect l="l" t="t" r="r" b="b"/>
            <a:pathLst>
              <a:path w="3990708" h="2400827">
                <a:moveTo>
                  <a:pt x="0" y="0"/>
                </a:moveTo>
                <a:lnTo>
                  <a:pt x="3990708" y="0"/>
                </a:lnTo>
                <a:lnTo>
                  <a:pt x="3990708" y="2400828"/>
                </a:lnTo>
                <a:lnTo>
                  <a:pt x="0" y="240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41" t="-907" b="-90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2813878" y="8665808"/>
            <a:ext cx="5975429" cy="1649266"/>
          </a:xfrm>
          <a:custGeom>
            <a:avLst/>
            <a:gdLst/>
            <a:ahLst/>
            <a:cxnLst/>
            <a:rect l="l" t="t" r="r" b="b"/>
            <a:pathLst>
              <a:path w="5975429" h="1787363">
                <a:moveTo>
                  <a:pt x="0" y="0"/>
                </a:moveTo>
                <a:lnTo>
                  <a:pt x="5975430" y="0"/>
                </a:lnTo>
                <a:lnTo>
                  <a:pt x="5975430" y="1787363"/>
                </a:lnTo>
                <a:lnTo>
                  <a:pt x="0" y="17873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22506" b="-11276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9441907" y="6264980"/>
            <a:ext cx="3491861" cy="2420136"/>
          </a:xfrm>
          <a:custGeom>
            <a:avLst/>
            <a:gdLst/>
            <a:ahLst/>
            <a:cxnLst/>
            <a:rect l="l" t="t" r="r" b="b"/>
            <a:pathLst>
              <a:path w="3491861" h="2778644">
                <a:moveTo>
                  <a:pt x="0" y="0"/>
                </a:moveTo>
                <a:lnTo>
                  <a:pt x="3491861" y="0"/>
                </a:lnTo>
                <a:lnTo>
                  <a:pt x="3491861" y="2778644"/>
                </a:lnTo>
                <a:lnTo>
                  <a:pt x="0" y="2778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323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10350261" y="8685116"/>
            <a:ext cx="2583508" cy="1550578"/>
          </a:xfrm>
          <a:custGeom>
            <a:avLst/>
            <a:gdLst/>
            <a:ahLst/>
            <a:cxnLst/>
            <a:rect l="l" t="t" r="r" b="b"/>
            <a:pathLst>
              <a:path w="2583508" h="1192070">
                <a:moveTo>
                  <a:pt x="0" y="0"/>
                </a:moveTo>
                <a:lnTo>
                  <a:pt x="2583507" y="0"/>
                </a:lnTo>
                <a:lnTo>
                  <a:pt x="2583507" y="1192070"/>
                </a:lnTo>
                <a:lnTo>
                  <a:pt x="0" y="11920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5767" b="-6095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Freeform 11"/>
          <p:cNvSpPr/>
          <p:nvPr/>
        </p:nvSpPr>
        <p:spPr>
          <a:xfrm>
            <a:off x="178222" y="8642087"/>
            <a:ext cx="2628152" cy="1672986"/>
          </a:xfrm>
          <a:custGeom>
            <a:avLst/>
            <a:gdLst/>
            <a:ahLst/>
            <a:cxnLst/>
            <a:rect l="l" t="t" r="r" b="b"/>
            <a:pathLst>
              <a:path w="2628152" h="1672986">
                <a:moveTo>
                  <a:pt x="0" y="0"/>
                </a:moveTo>
                <a:lnTo>
                  <a:pt x="2628152" y="0"/>
                </a:lnTo>
                <a:lnTo>
                  <a:pt x="2628152" y="1672986"/>
                </a:lnTo>
                <a:lnTo>
                  <a:pt x="0" y="16729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3" name="TextBox 13"/>
          <p:cNvSpPr txBox="1"/>
          <p:nvPr/>
        </p:nvSpPr>
        <p:spPr>
          <a:xfrm>
            <a:off x="415561" y="2639647"/>
            <a:ext cx="12320782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Professor Jonathan Bandeira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5726" y="3969337"/>
            <a:ext cx="4087082" cy="92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1"/>
              </a:lnSpc>
            </a:pPr>
            <a:r>
              <a:rPr lang="en-US" sz="2824" b="1">
                <a:solidFill>
                  <a:srgbClr val="4F8420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Mestre em Inteligência Computacional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74425" y="4188412"/>
            <a:ext cx="3803054" cy="133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724" b="1">
                <a:solidFill>
                  <a:srgbClr val="4F8420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Analista de Sistemas com ênfase em Banco de Dados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726" y="5208975"/>
            <a:ext cx="4189105" cy="8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724" b="1">
                <a:solidFill>
                  <a:srgbClr val="4F8420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Residente do programa de estágio do TJPE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2421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79513" y="4188412"/>
            <a:ext cx="4529737" cy="133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sz="2724" b="1">
                <a:solidFill>
                  <a:srgbClr val="4F8420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Professor em graduação e pós-graduação de cursos superiores de Tecnologia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B7357F7-468B-9EBA-6005-9330EA290D9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6095" y="8472202"/>
            <a:ext cx="1435592" cy="17634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28700" y="2013492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3745567" y="0"/>
            <a:ext cx="4542433" cy="10287000"/>
          </a:xfrm>
          <a:custGeom>
            <a:avLst/>
            <a:gdLst/>
            <a:ahLst/>
            <a:cxnLst/>
            <a:rect l="l" t="t" r="r" b="b"/>
            <a:pathLst>
              <a:path w="4542433" h="10287000">
                <a:moveTo>
                  <a:pt x="0" y="0"/>
                </a:moveTo>
                <a:lnTo>
                  <a:pt x="4542433" y="0"/>
                </a:lnTo>
                <a:lnTo>
                  <a:pt x="454243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932" r="-15597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15561" y="2639647"/>
            <a:ext cx="12320782" cy="202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9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 Thin"/>
                <a:ea typeface="Libre Franklin Thin"/>
                <a:cs typeface="Libre Franklin Thin"/>
                <a:sym typeface="Libre Franklin Thin"/>
              </a:rPr>
              <a:t>Em até 3 minutos, fale um pouco sobre você...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8620" y="5833732"/>
            <a:ext cx="4087082" cy="456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67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24" b="1" i="0" u="none" strike="noStrike" kern="1200" cap="none" spc="0" normalizeH="0" baseline="0" noProof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...qual é o seu nome?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44383" y="5607637"/>
            <a:ext cx="3803054" cy="8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24" b="1" i="0" u="none" strike="noStrike" kern="1200" cap="none" spc="0" normalizeH="0" baseline="0" noProof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...o que você gosta de fazer nas horas vagas?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8620" y="6916054"/>
            <a:ext cx="4189105" cy="44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24" b="1" i="0" u="none" strike="noStrike" kern="1200" cap="none" spc="0" normalizeH="0" baseline="0" noProof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...de onde você é?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52421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44383" y="6898751"/>
            <a:ext cx="4529737" cy="8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24" b="1" i="0" u="none" strike="noStrike" kern="1200" cap="none" spc="0" normalizeH="0" baseline="0" noProof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...o que você mais gosta na área de tecnologia?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13304" y="5617417"/>
            <a:ext cx="4529737" cy="88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24" b="1" i="0" u="none" strike="noStrike" kern="1200" cap="none" spc="0" normalizeH="0" baseline="0" noProof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...o que espera aprender nesta disciplina?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3304" y="6898751"/>
            <a:ext cx="4529737" cy="133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5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...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já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tem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algum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conhecimento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ou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ouviu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</a:t>
            </a:r>
            <a:r>
              <a:rPr kumimoji="0" lang="en-US" sz="2724" b="1" i="0" u="none" strike="noStrike" kern="1200" cap="none" spc="0" normalizeH="0" baseline="0" noProof="0" dirty="0" err="1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falar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 de </a:t>
            </a:r>
            <a:r>
              <a:rPr lang="en-US" sz="2724" b="1" dirty="0" err="1">
                <a:solidFill>
                  <a:srgbClr val="4F8420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grafos</a:t>
            </a:r>
            <a:r>
              <a:rPr kumimoji="0" lang="en-US" sz="2724" b="1" i="0" u="none" strike="noStrike" kern="1200" cap="none" spc="0" normalizeH="0" baseline="0" noProof="0" dirty="0">
                <a:ln>
                  <a:noFill/>
                </a:ln>
                <a:solidFill>
                  <a:srgbClr val="4F8420"/>
                </a:solidFill>
                <a:effectLst/>
                <a:uLnTx/>
                <a:uFillTx/>
                <a:latin typeface="Libre Franklin Semi-Bold"/>
                <a:ea typeface="Libre Franklin Semi-Bold"/>
                <a:cs typeface="Libre Franklin Semi-Bold"/>
                <a:sym typeface="Libre Franklin Semi-Bold"/>
              </a:rPr>
              <a:t>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08" y="4324070"/>
            <a:ext cx="6818325" cy="227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7485">
                <a:solidFill>
                  <a:srgbClr val="F6F6F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Características da Disciplina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grpSp>
        <p:nvGrpSpPr>
          <p:cNvPr id="7" name="Group 7"/>
          <p:cNvGrpSpPr/>
          <p:nvPr/>
        </p:nvGrpSpPr>
        <p:grpSpPr>
          <a:xfrm>
            <a:off x="7633372" y="4075090"/>
            <a:ext cx="10511573" cy="2330281"/>
            <a:chOff x="0" y="-28575"/>
            <a:chExt cx="14015431" cy="3107041"/>
          </a:xfrm>
        </p:grpSpPr>
        <p:sp>
          <p:nvSpPr>
            <p:cNvPr id="8" name="TextBox 8"/>
            <p:cNvSpPr txBox="1"/>
            <p:nvPr/>
          </p:nvSpPr>
          <p:spPr>
            <a:xfrm>
              <a:off x="0" y="990373"/>
              <a:ext cx="14015431" cy="20880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135"/>
                </a:lnSpc>
              </a:pPr>
              <a:r>
                <a:rPr lang="pt-BR" sz="2411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 Básicos de Algoritmos e Grafos. Algoritmos de Busca. Caminhos. Técnicas Básicas de Grafos. Fluxo Máximo em Redes. Árvores Geradoras para Grafos. Classes de Problemas. Implementação de Algoritmos de Grafos.</a:t>
              </a:r>
              <a:endParaRPr lang="en-US" sz="2411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4015431" cy="625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953" b="1">
                  <a:solidFill>
                    <a:srgbClr val="99B83C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Ementa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33372" y="2483554"/>
            <a:ext cx="8445068" cy="1152430"/>
            <a:chOff x="0" y="0"/>
            <a:chExt cx="11260091" cy="1536573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90373"/>
              <a:ext cx="11260091" cy="5108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35"/>
                </a:lnSpc>
              </a:pPr>
              <a:r>
                <a:rPr lang="en-US" sz="241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80 horas (híbrida): 40 horas (presencial) + 40 horas (AVA)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1260091" cy="625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40"/>
                </a:lnSpc>
              </a:pPr>
              <a:r>
                <a:rPr lang="en-US" sz="2953" b="1">
                  <a:solidFill>
                    <a:srgbClr val="99B83C"/>
                  </a:solidFill>
                  <a:latin typeface="Libre Franklin Medium"/>
                  <a:ea typeface="Libre Franklin Medium"/>
                  <a:cs typeface="Libre Franklin Medium"/>
                  <a:sym typeface="Libre Franklin Medium"/>
                </a:rPr>
                <a:t>Carga Horária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12138" y="2482952"/>
            <a:ext cx="1326372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Objetivos da Disciplina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5" name="AutoShape 5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3382039" y="4810059"/>
            <a:ext cx="634557" cy="807886"/>
          </a:xfrm>
          <a:custGeom>
            <a:avLst/>
            <a:gdLst/>
            <a:ahLst/>
            <a:cxnLst/>
            <a:rect l="l" t="t" r="r" b="b"/>
            <a:pathLst>
              <a:path w="634557" h="807886">
                <a:moveTo>
                  <a:pt x="0" y="0"/>
                </a:moveTo>
                <a:lnTo>
                  <a:pt x="634558" y="0"/>
                </a:lnTo>
                <a:lnTo>
                  <a:pt x="634558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8" name="Group 8"/>
          <p:cNvGrpSpPr/>
          <p:nvPr/>
        </p:nvGrpSpPr>
        <p:grpSpPr>
          <a:xfrm>
            <a:off x="1025502" y="5952015"/>
            <a:ext cx="5209132" cy="1407656"/>
            <a:chOff x="0" y="-28575"/>
            <a:chExt cx="6945509" cy="1876875"/>
          </a:xfrm>
        </p:grpSpPr>
        <p:sp>
          <p:nvSpPr>
            <p:cNvPr id="9" name="TextBox 9"/>
            <p:cNvSpPr txBox="1"/>
            <p:nvPr/>
          </p:nvSpPr>
          <p:spPr>
            <a:xfrm>
              <a:off x="0" y="920952"/>
              <a:ext cx="6945509" cy="9273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5"/>
                </a:lnSpc>
              </a:pPr>
              <a:r>
                <a:rPr lang="pt-BR" sz="2150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Apresentar os conceitos teóricos e práticos da teoria dos grafos.</a:t>
              </a:r>
              <a:endParaRPr lang="en-US" sz="215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6945509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724" b="1">
                  <a:solidFill>
                    <a:srgbClr val="99B83C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Objetivo Geral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39434" y="5952015"/>
            <a:ext cx="5209132" cy="2125802"/>
            <a:chOff x="0" y="-28575"/>
            <a:chExt cx="6945509" cy="2834403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20952"/>
              <a:ext cx="6945509" cy="1884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5"/>
                </a:lnSpc>
              </a:pPr>
              <a:r>
                <a:rPr lang="pt-BR" sz="2150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Fazer um amplo estudo dos</a:t>
              </a:r>
            </a:p>
            <a:p>
              <a:pPr algn="ctr">
                <a:lnSpc>
                  <a:spcPts val="2795"/>
                </a:lnSpc>
              </a:pPr>
              <a:r>
                <a:rPr lang="pt-BR" sz="2150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diversos algoritmos da teoria dos grafos bem como seus conceitos matemáticos e aplicações.</a:t>
              </a:r>
              <a:endParaRPr lang="en-US" sz="2150" dirty="0">
                <a:solidFill>
                  <a:srgbClr val="F6F6F6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6945509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724" b="1">
                  <a:solidFill>
                    <a:srgbClr val="99B83C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Objetivos Específicos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053366" y="5952015"/>
            <a:ext cx="5209132" cy="2125801"/>
            <a:chOff x="0" y="-28575"/>
            <a:chExt cx="6945509" cy="283440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920950"/>
              <a:ext cx="6945509" cy="1884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95"/>
                </a:lnSpc>
              </a:pPr>
              <a:r>
                <a:rPr lang="pt-BR" sz="2150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Estimular nos discentes a prática de pesquisa em temas relacionados à teoria dos grafos por meio</a:t>
              </a:r>
            </a:p>
            <a:p>
              <a:pPr algn="ctr">
                <a:lnSpc>
                  <a:spcPts val="2795"/>
                </a:lnSpc>
              </a:pPr>
              <a:r>
                <a:rPr lang="pt-BR" sz="2150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de projetos de implementação.</a:t>
              </a:r>
              <a:endParaRPr lang="en-US" sz="215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6945509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42"/>
                </a:lnSpc>
              </a:pPr>
              <a:r>
                <a:rPr lang="en-US" sz="2724" b="1">
                  <a:solidFill>
                    <a:srgbClr val="99B83C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Objetivos Específicos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271404" y="4835627"/>
            <a:ext cx="634557" cy="807886"/>
          </a:xfrm>
          <a:custGeom>
            <a:avLst/>
            <a:gdLst/>
            <a:ahLst/>
            <a:cxnLst/>
            <a:rect l="l" t="t" r="r" b="b"/>
            <a:pathLst>
              <a:path w="634557" h="807886">
                <a:moveTo>
                  <a:pt x="0" y="0"/>
                </a:moveTo>
                <a:lnTo>
                  <a:pt x="634557" y="0"/>
                </a:lnTo>
                <a:lnTo>
                  <a:pt x="634557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A939E459-F818-56AB-236C-29D6C098827D}"/>
              </a:ext>
            </a:extLst>
          </p:cNvPr>
          <p:cNvSpPr/>
          <p:nvPr/>
        </p:nvSpPr>
        <p:spPr>
          <a:xfrm>
            <a:off x="8739953" y="4860175"/>
            <a:ext cx="634557" cy="807886"/>
          </a:xfrm>
          <a:custGeom>
            <a:avLst/>
            <a:gdLst/>
            <a:ahLst/>
            <a:cxnLst/>
            <a:rect l="l" t="t" r="r" b="b"/>
            <a:pathLst>
              <a:path w="634557" h="807886">
                <a:moveTo>
                  <a:pt x="0" y="0"/>
                </a:moveTo>
                <a:lnTo>
                  <a:pt x="634557" y="0"/>
                </a:lnTo>
                <a:lnTo>
                  <a:pt x="634557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3270D-A5F0-EF6B-B980-A7C0C01B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81B7EE9-E0EE-83D2-0627-9C9880BE66A7}"/>
              </a:ext>
            </a:extLst>
          </p:cNvPr>
          <p:cNvSpPr txBox="1"/>
          <p:nvPr/>
        </p:nvSpPr>
        <p:spPr>
          <a:xfrm>
            <a:off x="2512138" y="2482952"/>
            <a:ext cx="1326372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dirty="0" err="1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Competências</a:t>
            </a:r>
            <a:endParaRPr lang="en-US" sz="9000" dirty="0">
              <a:solidFill>
                <a:srgbClr val="F6F6F6"/>
              </a:solidFill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C37CB98-800C-F748-7ED2-2CB276268FEA}"/>
              </a:ext>
            </a:extLst>
          </p:cNvPr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B91795E-654A-83AE-3B62-B5F9C1ED111F}"/>
              </a:ext>
            </a:extLst>
          </p:cNvPr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3BB6DF9-EB2E-4BD7-51D5-DE66CCF8CD86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02263B13-9DD7-839E-7310-25D18BB6E8B1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07CF1A1-82DA-E04B-5B55-372DE1F5D4E7}"/>
              </a:ext>
            </a:extLst>
          </p:cNvPr>
          <p:cNvSpPr txBox="1"/>
          <p:nvPr/>
        </p:nvSpPr>
        <p:spPr>
          <a:xfrm>
            <a:off x="1108584" y="6008685"/>
            <a:ext cx="520913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pt-BR" sz="28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Dominar os conceitos básicos de grafos e seus principais algoritmos tanto do ponto de</a:t>
            </a:r>
          </a:p>
          <a:p>
            <a:pPr algn="ctr">
              <a:lnSpc>
                <a:spcPts val="2795"/>
              </a:lnSpc>
            </a:pPr>
            <a:r>
              <a:rPr lang="pt-BR" sz="28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vista teórico quanto prático.</a:t>
            </a:r>
          </a:p>
          <a:p>
            <a:pPr algn="ctr">
              <a:lnSpc>
                <a:spcPts val="2795"/>
              </a:lnSpc>
            </a:pPr>
            <a:endParaRPr lang="pt-BR" sz="28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7EA4789B-FD50-D019-5515-76CD74AC4DCC}"/>
              </a:ext>
            </a:extLst>
          </p:cNvPr>
          <p:cNvSpPr/>
          <p:nvPr/>
        </p:nvSpPr>
        <p:spPr>
          <a:xfrm>
            <a:off x="3182993" y="4860776"/>
            <a:ext cx="800541" cy="807886"/>
          </a:xfrm>
          <a:custGeom>
            <a:avLst/>
            <a:gdLst/>
            <a:ahLst/>
            <a:cxnLst/>
            <a:rect l="l" t="t" r="r" b="b"/>
            <a:pathLst>
              <a:path w="800541" h="807886">
                <a:moveTo>
                  <a:pt x="0" y="0"/>
                </a:moveTo>
                <a:lnTo>
                  <a:pt x="800542" y="0"/>
                </a:lnTo>
                <a:lnTo>
                  <a:pt x="800542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18">
            <a:extLst>
              <a:ext uri="{FF2B5EF4-FFF2-40B4-BE49-F238E27FC236}">
                <a16:creationId xmlns:a16="http://schemas.microsoft.com/office/drawing/2014/main" id="{F7D090FD-394A-1C30-8F6C-2788D7C064DF}"/>
              </a:ext>
            </a:extLst>
          </p:cNvPr>
          <p:cNvSpPr/>
          <p:nvPr/>
        </p:nvSpPr>
        <p:spPr>
          <a:xfrm>
            <a:off x="8743728" y="4860776"/>
            <a:ext cx="800541" cy="807886"/>
          </a:xfrm>
          <a:custGeom>
            <a:avLst/>
            <a:gdLst/>
            <a:ahLst/>
            <a:cxnLst/>
            <a:rect l="l" t="t" r="r" b="b"/>
            <a:pathLst>
              <a:path w="800541" h="807886">
                <a:moveTo>
                  <a:pt x="0" y="0"/>
                </a:moveTo>
                <a:lnTo>
                  <a:pt x="800542" y="0"/>
                </a:lnTo>
                <a:lnTo>
                  <a:pt x="800542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56CC46FD-0A10-B877-EEC9-6477055403CA}"/>
              </a:ext>
            </a:extLst>
          </p:cNvPr>
          <p:cNvSpPr/>
          <p:nvPr/>
        </p:nvSpPr>
        <p:spPr>
          <a:xfrm>
            <a:off x="14304466" y="4715871"/>
            <a:ext cx="800541" cy="807886"/>
          </a:xfrm>
          <a:custGeom>
            <a:avLst/>
            <a:gdLst/>
            <a:ahLst/>
            <a:cxnLst/>
            <a:rect l="l" t="t" r="r" b="b"/>
            <a:pathLst>
              <a:path w="800541" h="807886">
                <a:moveTo>
                  <a:pt x="0" y="0"/>
                </a:moveTo>
                <a:lnTo>
                  <a:pt x="800542" y="0"/>
                </a:lnTo>
                <a:lnTo>
                  <a:pt x="800542" y="807886"/>
                </a:lnTo>
                <a:lnTo>
                  <a:pt x="0" y="8078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366BD-CC63-CE95-6159-FDD9BAC5D478}"/>
              </a:ext>
            </a:extLst>
          </p:cNvPr>
          <p:cNvSpPr txBox="1"/>
          <p:nvPr/>
        </p:nvSpPr>
        <p:spPr>
          <a:xfrm>
            <a:off x="6539433" y="5668662"/>
            <a:ext cx="5209132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endParaRPr lang="pt-BR" sz="28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  <a:p>
            <a:pPr algn="ctr">
              <a:lnSpc>
                <a:spcPts val="2795"/>
              </a:lnSpc>
            </a:pPr>
            <a:r>
              <a:rPr lang="pt-BR" sz="28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Aplicar os algoritmos estudados em diferentes cenários nos quais a teoria dos grafos se faz presente.</a:t>
            </a:r>
          </a:p>
          <a:p>
            <a:pPr algn="ctr">
              <a:lnSpc>
                <a:spcPts val="2795"/>
              </a:lnSpc>
            </a:pPr>
            <a:endParaRPr lang="pt-BR" sz="28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C25DDFC3-69F4-903C-3D30-B9377C30E992}"/>
              </a:ext>
            </a:extLst>
          </p:cNvPr>
          <p:cNvSpPr txBox="1"/>
          <p:nvPr/>
        </p:nvSpPr>
        <p:spPr>
          <a:xfrm>
            <a:off x="12192000" y="5547569"/>
            <a:ext cx="5209132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endParaRPr lang="pt-BR" sz="28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  <a:p>
            <a:pPr algn="ctr">
              <a:lnSpc>
                <a:spcPts val="2795"/>
              </a:lnSpc>
            </a:pPr>
            <a:r>
              <a:rPr lang="pt-BR" sz="28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Problematizar cenários nos quais a formalização do mesmo por meio de Grafos ajuda na</a:t>
            </a:r>
          </a:p>
          <a:p>
            <a:pPr algn="ctr">
              <a:lnSpc>
                <a:spcPts val="2795"/>
              </a:lnSpc>
            </a:pPr>
            <a:r>
              <a:rPr lang="pt-BR" sz="28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resolução dos problemas.</a:t>
            </a:r>
            <a:endParaRPr lang="en-US" sz="28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  <p:extLst>
      <p:ext uri="{BB962C8B-B14F-4D97-AF65-F5344CB8AC3E}">
        <p14:creationId xmlns:p14="http://schemas.microsoft.com/office/powerpoint/2010/main" val="2838406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8261944" y="5138738"/>
            <a:ext cx="8917802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8261944" y="6747225"/>
            <a:ext cx="8917802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 flipV="1">
            <a:off x="886170" y="262692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AutoShape 6"/>
          <p:cNvSpPr/>
          <p:nvPr/>
        </p:nvSpPr>
        <p:spPr>
          <a:xfrm flipV="1">
            <a:off x="886168" y="1019175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1074132" y="4984912"/>
            <a:ext cx="6282937" cy="3534152"/>
          </a:xfrm>
          <a:custGeom>
            <a:avLst/>
            <a:gdLst/>
            <a:ahLst/>
            <a:cxnLst/>
            <a:rect l="l" t="t" r="r" b="b"/>
            <a:pathLst>
              <a:path w="6282937" h="3534152">
                <a:moveTo>
                  <a:pt x="0" y="0"/>
                </a:moveTo>
                <a:lnTo>
                  <a:pt x="6282937" y="0"/>
                </a:lnTo>
                <a:lnTo>
                  <a:pt x="6282937" y="3534152"/>
                </a:lnTo>
                <a:lnTo>
                  <a:pt x="0" y="3534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TextBox 8"/>
          <p:cNvSpPr txBox="1"/>
          <p:nvPr/>
        </p:nvSpPr>
        <p:spPr>
          <a:xfrm>
            <a:off x="1028700" y="3483384"/>
            <a:ext cx="6140405" cy="118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57"/>
              </a:lnSpc>
            </a:pPr>
            <a:r>
              <a:rPr lang="en-US" sz="8325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Metodologia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09086" y="3632729"/>
            <a:ext cx="4188288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Apresentação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do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conteúdo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(slides/classroom)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42422" y="5458522"/>
            <a:ext cx="4663977" cy="9689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Pesquisas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e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listas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exercícios</a:t>
            </a:r>
            <a:endParaRPr lang="en-US" sz="3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317559" y="3926108"/>
            <a:ext cx="3828849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Aulas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teóricas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expositivas</a:t>
            </a:r>
            <a:endParaRPr lang="en-US" sz="3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453192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51552" y="452021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3D25654D-0BC7-FAF5-87BE-39D96F94752A}"/>
              </a:ext>
            </a:extLst>
          </p:cNvPr>
          <p:cNvSpPr txBox="1"/>
          <p:nvPr/>
        </p:nvSpPr>
        <p:spPr>
          <a:xfrm>
            <a:off x="13317559" y="5360769"/>
            <a:ext cx="4188288" cy="968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900"/>
              </a:lnSpc>
              <a:buFont typeface="Arial"/>
              <a:buChar char="•"/>
            </a:pP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Resolução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de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exercícios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</a:t>
            </a:r>
            <a:r>
              <a:rPr lang="en-US" sz="3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aula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7695" y="1028700"/>
            <a:ext cx="392597" cy="39259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279947" y="1026319"/>
            <a:ext cx="11749306" cy="4762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279876" y="2027084"/>
            <a:ext cx="11749377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2778006" y="0"/>
            <a:ext cx="5509994" cy="11464610"/>
          </a:xfrm>
          <a:custGeom>
            <a:avLst/>
            <a:gdLst/>
            <a:ahLst/>
            <a:cxnLst/>
            <a:rect l="l" t="t" r="r" b="b"/>
            <a:pathLst>
              <a:path w="5509994" h="11464610">
                <a:moveTo>
                  <a:pt x="0" y="0"/>
                </a:moveTo>
                <a:lnTo>
                  <a:pt x="5509994" y="0"/>
                </a:lnTo>
                <a:lnTo>
                  <a:pt x="5509994" y="11464610"/>
                </a:lnTo>
                <a:lnTo>
                  <a:pt x="0" y="1146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202" r="-17270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206609" y="2521419"/>
            <a:ext cx="8937391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Horários (Aulas)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45331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4151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79945" y="4754066"/>
            <a:ext cx="8059175" cy="1069490"/>
            <a:chOff x="0" y="0"/>
            <a:chExt cx="10745567" cy="1425987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40705"/>
              <a:ext cx="10745567" cy="463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07:50 </a:t>
              </a:r>
              <a:r>
                <a:rPr lang="en-US" sz="2225" dirty="0" err="1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às</a:t>
              </a:r>
              <a:r>
                <a:rPr lang="en-US" sz="2225" dirty="0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09:45 - </a:t>
              </a:r>
              <a:r>
                <a:rPr lang="en-US" sz="2225" dirty="0" err="1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Conteúdo</a:t>
              </a:r>
              <a:r>
                <a:rPr lang="en-US" sz="2225" dirty="0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 </a:t>
              </a:r>
              <a:r>
                <a:rPr lang="en-US" sz="2225" dirty="0" err="1">
                  <a:solidFill>
                    <a:srgbClr val="F6F6F6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Programático</a:t>
              </a:r>
              <a:endParaRPr lang="en-US" sz="2225" dirty="0">
                <a:solidFill>
                  <a:srgbClr val="F6F6F6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745567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Quintas [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Manhã</a:t>
              </a: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] - 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Horário</a:t>
              </a: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Padrão</a:t>
              </a:r>
              <a:endParaRPr lang="en-US" sz="2724" b="1" dirty="0">
                <a:solidFill>
                  <a:srgbClr val="FFFFFF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9945" y="7259450"/>
            <a:ext cx="8445225" cy="1075389"/>
            <a:chOff x="0" y="-28575"/>
            <a:chExt cx="11260301" cy="1433852"/>
          </a:xfrm>
        </p:grpSpPr>
        <p:sp>
          <p:nvSpPr>
            <p:cNvPr id="14" name="TextBox 14"/>
            <p:cNvSpPr txBox="1"/>
            <p:nvPr/>
          </p:nvSpPr>
          <p:spPr>
            <a:xfrm>
              <a:off x="0" y="940705"/>
              <a:ext cx="11260301" cy="4645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07:50 - 09:45 -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Conteúdo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Programático</a:t>
              </a: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1260301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Sábados</a:t>
              </a: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[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Manhã</a:t>
              </a: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] - 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Horário</a:t>
              </a:r>
              <a:r>
                <a:rPr lang="en-US" sz="2724" b="1" dirty="0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de </a:t>
              </a:r>
              <a:r>
                <a:rPr lang="en-US" sz="2724" b="1" dirty="0" err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Reposições</a:t>
              </a:r>
              <a:endParaRPr lang="en-US" sz="2724" b="1" dirty="0">
                <a:solidFill>
                  <a:srgbClr val="FFFFFF"/>
                </a:solidFill>
                <a:latin typeface="Libre Franklin Semi-Bold"/>
                <a:ea typeface="Libre Franklin Semi-Bold"/>
                <a:cs typeface="Libre Franklin Semi-Bold"/>
                <a:sym typeface="Libre Franklin Semi-Bol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133263" y="2315620"/>
            <a:ext cx="1034935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dirty="0" err="1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Conteúdo</a:t>
            </a:r>
            <a:r>
              <a:rPr lang="en-US" sz="7200" dirty="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 </a:t>
            </a:r>
            <a:r>
              <a:rPr lang="en-US" sz="7200" dirty="0" err="1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Programático</a:t>
            </a:r>
            <a:endParaRPr lang="en-US" sz="7200" dirty="0">
              <a:solidFill>
                <a:srgbClr val="000000"/>
              </a:solidFill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133263" y="3632325"/>
            <a:ext cx="12705437" cy="5589680"/>
            <a:chOff x="0" y="-28575"/>
            <a:chExt cx="16940583" cy="7452904"/>
          </a:xfrm>
        </p:grpSpPr>
        <p:sp>
          <p:nvSpPr>
            <p:cNvPr id="6" name="TextBox 6"/>
            <p:cNvSpPr txBox="1"/>
            <p:nvPr/>
          </p:nvSpPr>
          <p:spPr>
            <a:xfrm>
              <a:off x="0" y="877582"/>
              <a:ext cx="16940583" cy="65467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 Básicos de Grafos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Contexto histórico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 básicos de grafos.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Conectividade.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Planaridade</a:t>
              </a: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Representação de Grafos.</a:t>
              </a:r>
            </a:p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Caminhos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Definição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Caminho Hamiltoniano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Caminho </a:t>
              </a:r>
              <a:r>
                <a:rPr lang="pt-BR" sz="2721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Euleriano</a:t>
              </a:r>
              <a:endParaRPr lang="pt-BR" sz="2721" dirty="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Caminho Mínimo: Algoritmo de </a:t>
              </a:r>
              <a:r>
                <a:rPr lang="pt-BR" sz="2721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Dijkstra</a:t>
              </a:r>
              <a:endParaRPr lang="pt-BR" sz="2721" dirty="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40583" cy="68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2"/>
                </a:lnSpc>
              </a:pPr>
              <a:r>
                <a:rPr lang="en-US" sz="32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1ª Unidade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BDC4D-81A3-7110-46C7-02EB959D2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A5BBA8A-4B22-9E70-BB38-9E50CFA9D9F2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585C4B5-D416-036A-0CA2-88733F491A19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FDB0001-9715-A317-D37F-2864B63A173E}"/>
              </a:ext>
            </a:extLst>
          </p:cNvPr>
          <p:cNvSpPr txBox="1"/>
          <p:nvPr/>
        </p:nvSpPr>
        <p:spPr>
          <a:xfrm>
            <a:off x="1133263" y="2315620"/>
            <a:ext cx="1034935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dirty="0" err="1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Conteúdo</a:t>
            </a:r>
            <a:r>
              <a:rPr lang="en-US" sz="7200" dirty="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 </a:t>
            </a:r>
            <a:r>
              <a:rPr lang="en-US" sz="7200" dirty="0" err="1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Programático</a:t>
            </a:r>
            <a:endParaRPr lang="en-US" sz="7200" dirty="0">
              <a:solidFill>
                <a:srgbClr val="000000"/>
              </a:solidFill>
              <a:latin typeface="Libre Franklin Thin"/>
              <a:ea typeface="Libre Franklin Thin"/>
              <a:cs typeface="Libre Franklin Thin"/>
              <a:sym typeface="Libre Franklin Thin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C3C4985A-5744-F986-E50A-8D03E58D6EB3}"/>
              </a:ext>
            </a:extLst>
          </p:cNvPr>
          <p:cNvGrpSpPr/>
          <p:nvPr/>
        </p:nvGrpSpPr>
        <p:grpSpPr>
          <a:xfrm>
            <a:off x="1133263" y="3632325"/>
            <a:ext cx="12705437" cy="4243158"/>
            <a:chOff x="0" y="-28575"/>
            <a:chExt cx="16940583" cy="5657542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3A5007E-D089-AF1D-E021-9841BA53358A}"/>
                </a:ext>
              </a:extLst>
            </p:cNvPr>
            <p:cNvSpPr txBox="1"/>
            <p:nvPr/>
          </p:nvSpPr>
          <p:spPr>
            <a:xfrm>
              <a:off x="0" y="877582"/>
              <a:ext cx="16940583" cy="47513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 de Busca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Definição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Busca em Profundidade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Busca em Largura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Outros tipos de busca.</a:t>
              </a:r>
            </a:p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Implementação de Algoritmos de Grafos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Representação de Grafos em Computador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Implementação de algoritmos Clássicos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8A6373-3644-0B44-8DCE-B7BD82A9EB79}"/>
                </a:ext>
              </a:extLst>
            </p:cNvPr>
            <p:cNvSpPr txBox="1"/>
            <p:nvPr/>
          </p:nvSpPr>
          <p:spPr>
            <a:xfrm>
              <a:off x="0" y="-28575"/>
              <a:ext cx="16940583" cy="68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2"/>
                </a:lnSpc>
              </a:pPr>
              <a:r>
                <a:rPr lang="en-US" sz="32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1ª Unidade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25205BFF-253F-D8F6-8455-A4A605664DF6}"/>
              </a:ext>
            </a:extLst>
          </p:cNvPr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30B023A-36A8-09F1-D539-6C6B34B297B6}"/>
              </a:ext>
            </a:extLst>
          </p:cNvPr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  <p:extLst>
      <p:ext uri="{BB962C8B-B14F-4D97-AF65-F5344CB8AC3E}">
        <p14:creationId xmlns:p14="http://schemas.microsoft.com/office/powerpoint/2010/main" val="550512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133263" y="2492477"/>
            <a:ext cx="1034935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Conteúdo Programático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133263" y="4376046"/>
            <a:ext cx="12705437" cy="4243158"/>
            <a:chOff x="0" y="-28575"/>
            <a:chExt cx="16940583" cy="5657547"/>
          </a:xfrm>
        </p:grpSpPr>
        <p:sp>
          <p:nvSpPr>
            <p:cNvPr id="6" name="TextBox 6"/>
            <p:cNvSpPr txBox="1"/>
            <p:nvPr/>
          </p:nvSpPr>
          <p:spPr>
            <a:xfrm>
              <a:off x="0" y="877583"/>
              <a:ext cx="16940583" cy="4751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Classes de Problemas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 Básicos.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Problemas NP-Completo.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Problema do Caixeiro Viajante (PVC).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Heurísticas para resolver o PVC.</a:t>
              </a:r>
            </a:p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Técnicas Básicas de Grafos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Coloração de Vértices e Arestas.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Ordenação Topológica.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40583" cy="68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2"/>
                </a:lnSpc>
              </a:pPr>
              <a:r>
                <a:rPr lang="en-US" sz="32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2ª Unidade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2C90E3-4036-F8E2-1C15-5A44491E2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3401CFF-6B51-DE1C-D2CB-668855027DA4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AD38808-6A51-2C0C-E546-4A9FD0123622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C78E930-29C0-E3BB-AAB7-389D2FC949FE}"/>
              </a:ext>
            </a:extLst>
          </p:cNvPr>
          <p:cNvSpPr txBox="1"/>
          <p:nvPr/>
        </p:nvSpPr>
        <p:spPr>
          <a:xfrm>
            <a:off x="1133263" y="2492477"/>
            <a:ext cx="10349352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Conteúdo Programático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09147C6-DB50-AA9F-F8AE-5D89DE5673D5}"/>
              </a:ext>
            </a:extLst>
          </p:cNvPr>
          <p:cNvGrpSpPr/>
          <p:nvPr/>
        </p:nvGrpSpPr>
        <p:grpSpPr>
          <a:xfrm>
            <a:off x="1133263" y="4376046"/>
            <a:ext cx="12705437" cy="4691998"/>
            <a:chOff x="0" y="-28575"/>
            <a:chExt cx="16940583" cy="6256001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BB1D39A-B0BB-9B3D-7412-B819C262FDA3}"/>
                </a:ext>
              </a:extLst>
            </p:cNvPr>
            <p:cNvSpPr txBox="1"/>
            <p:nvPr/>
          </p:nvSpPr>
          <p:spPr>
            <a:xfrm>
              <a:off x="0" y="877583"/>
              <a:ext cx="16940583" cy="53498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Fluxo Máximo em Redes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 problema do Fluxo Máximo.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 teorema do Fluxo Máximo - corte mínimo.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 de Fluxo Máximo em Redes.</a:t>
              </a:r>
            </a:p>
            <a:p>
              <a:pPr marL="587663" lvl="1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Árvores Geradoras para Grafos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 Básicos de Árvores.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Árvore Geradora.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Árvore Geradora Mínima.</a:t>
              </a:r>
            </a:p>
            <a:p>
              <a:pPr marL="1044863" lvl="2" indent="-293832" algn="just">
                <a:lnSpc>
                  <a:spcPts val="3538"/>
                </a:lnSpc>
                <a:buFont typeface="Arial"/>
                <a:buChar char="•"/>
              </a:pPr>
              <a:r>
                <a:rPr lang="pt-BR" sz="2721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 para Árvore Geradora Mínima.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C7A992C-AA26-9A3E-1A86-8E2F279ADDEA}"/>
                </a:ext>
              </a:extLst>
            </p:cNvPr>
            <p:cNvSpPr txBox="1"/>
            <p:nvPr/>
          </p:nvSpPr>
          <p:spPr>
            <a:xfrm>
              <a:off x="0" y="-28575"/>
              <a:ext cx="16940583" cy="6803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2"/>
                </a:lnSpc>
              </a:pPr>
              <a:r>
                <a:rPr lang="en-US" sz="32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2ª Unidade</a:t>
              </a:r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656E837A-EF17-7344-6E0E-01D0FA504853}"/>
              </a:ext>
            </a:extLst>
          </p:cNvPr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BBD13C4-0F5A-C26E-B0A0-2F704A9E17C8}"/>
              </a:ext>
            </a:extLst>
          </p:cNvPr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  <p:extLst>
      <p:ext uri="{BB962C8B-B14F-4D97-AF65-F5344CB8AC3E}">
        <p14:creationId xmlns:p14="http://schemas.microsoft.com/office/powerpoint/2010/main" val="3275515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29636" y="1953171"/>
            <a:ext cx="6601659" cy="7872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12/02 -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01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19/02 -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02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21/02 -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03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 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- </a:t>
            </a:r>
            <a:r>
              <a:rPr lang="en-US" sz="2000" b="1" dirty="0" err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Reposição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(Sábado)</a:t>
            </a:r>
            <a:r>
              <a:rPr lang="en-US" sz="2000" b="1" dirty="0">
                <a:solidFill>
                  <a:srgbClr val="000000"/>
                </a:solidFill>
                <a:latin typeface="Libre Franklin"/>
                <a:ea typeface="Libre Franklin Bold"/>
                <a:cs typeface="Libre Franklin Bold"/>
                <a:sym typeface="Libre Franklin"/>
              </a:rPr>
              <a:t>;</a:t>
            </a: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004AAD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26/02 -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04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28/02 -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05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 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- </a:t>
            </a:r>
            <a:r>
              <a:rPr lang="en-US" sz="2000" b="1" dirty="0" err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Reposição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(Sábado)</a:t>
            </a:r>
            <a:r>
              <a:rPr lang="en-US" sz="2000" b="1" dirty="0">
                <a:solidFill>
                  <a:srgbClr val="000000"/>
                </a:solidFill>
                <a:latin typeface="Libre Franklin"/>
                <a:ea typeface="Libre Franklin Bold"/>
                <a:cs typeface="Libre Franklin Bold"/>
                <a:sym typeface="Libre Franklin"/>
              </a:rPr>
              <a:t>;</a:t>
            </a: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05/03 -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06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12/03 -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07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19/03 -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08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"/>
                <a:cs typeface="Libre Franklin"/>
                <a:sym typeface="Libre Franklin Bold"/>
              </a:rPr>
              <a:t>;</a:t>
            </a:r>
            <a:endParaRPr lang="en-US" sz="2000" b="1" dirty="0">
              <a:solidFill>
                <a:srgbClr val="000000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26/03 -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09 (1ª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  <a:endParaRPr lang="en-US" sz="2000" b="1" dirty="0">
              <a:solidFill>
                <a:srgbClr val="000000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02/04 - </a:t>
            </a:r>
            <a:r>
              <a:rPr lang="en-US" sz="2000" b="1" dirty="0" err="1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Feriado</a:t>
            </a:r>
            <a:r>
              <a:rPr lang="en-US" sz="2000" b="1" dirty="0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(Semana Santa);</a:t>
            </a:r>
            <a:r>
              <a:rPr lang="en-US" sz="2000" dirty="0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09/04 -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Encontro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10 -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Avaliação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UP1;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FF313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04760" y="3616255"/>
            <a:ext cx="6918230" cy="412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Calendário do Semestre (1ª Unidade)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886170" y="262692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 flipV="1">
            <a:off x="886168" y="1019175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1028700" y="453192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1552" y="452021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Freeform 8"/>
          <p:cNvSpPr/>
          <p:nvPr/>
        </p:nvSpPr>
        <p:spPr>
          <a:xfrm>
            <a:off x="14437064" y="0"/>
            <a:ext cx="3850936" cy="10287000"/>
          </a:xfrm>
          <a:custGeom>
            <a:avLst/>
            <a:gdLst/>
            <a:ahLst/>
            <a:cxnLst/>
            <a:rect l="l" t="t" r="r" b="b"/>
            <a:pathLst>
              <a:path w="3850936" h="10287000">
                <a:moveTo>
                  <a:pt x="0" y="0"/>
                </a:moveTo>
                <a:lnTo>
                  <a:pt x="3850936" y="0"/>
                </a:lnTo>
                <a:lnTo>
                  <a:pt x="38509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860" r="-84155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86168" y="1033462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 flipV="1">
            <a:off x="886170" y="262692"/>
            <a:ext cx="11749306" cy="47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14437064" y="0"/>
            <a:ext cx="3850936" cy="10287000"/>
          </a:xfrm>
          <a:custGeom>
            <a:avLst/>
            <a:gdLst/>
            <a:ahLst/>
            <a:cxnLst/>
            <a:rect l="l" t="t" r="r" b="b"/>
            <a:pathLst>
              <a:path w="3850936" h="10287000">
                <a:moveTo>
                  <a:pt x="0" y="0"/>
                </a:moveTo>
                <a:lnTo>
                  <a:pt x="3850936" y="0"/>
                </a:lnTo>
                <a:lnTo>
                  <a:pt x="38509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860" r="-8415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92327" y="3762375"/>
            <a:ext cx="6760823" cy="412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Calendário do Semestre (2ª Unidade)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7600" y="1567279"/>
            <a:ext cx="6760823" cy="82313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16/04 -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11 (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Início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da 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23/04 -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12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30/04 -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13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07/05 -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14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09/05 -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15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 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- </a:t>
            </a:r>
            <a:r>
              <a:rPr lang="en-US" sz="2000" b="1" dirty="0" err="1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Reposição</a:t>
            </a: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(Sábado)</a:t>
            </a:r>
            <a:r>
              <a:rPr lang="en-US" sz="2000" b="1" dirty="0">
                <a:solidFill>
                  <a:srgbClr val="000000"/>
                </a:solidFill>
                <a:latin typeface="Libre Franklin"/>
                <a:ea typeface="Libre Franklin Bold"/>
                <a:cs typeface="Libre Franklin Bold"/>
                <a:sym typeface="Libre Franklin"/>
              </a:rPr>
              <a:t>;</a:t>
            </a: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14/05 -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16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21/05 -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17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000000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28/05 -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Encontro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18 (2ª </a:t>
            </a:r>
            <a:r>
              <a:rPr lang="en-US" sz="2000" dirty="0" err="1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Unidade</a:t>
            </a:r>
            <a:r>
              <a:rPr lang="en-US" sz="2000" dirty="0">
                <a:solidFill>
                  <a:srgbClr val="00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);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>
              <a:lnSpc>
                <a:spcPts val="2800"/>
              </a:lnSpc>
            </a:pPr>
            <a:r>
              <a:rPr lang="en-US" sz="2000" b="1" dirty="0">
                <a:solidFill>
                  <a:schemeClr val="tx2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04/06 - </a:t>
            </a:r>
            <a:r>
              <a:rPr lang="en-US" sz="2000" b="1" dirty="0" err="1">
                <a:solidFill>
                  <a:schemeClr val="tx2"/>
                </a:solidFill>
                <a:latin typeface="Libre Franklin"/>
                <a:ea typeface="Libre Franklin Bold"/>
                <a:cs typeface="Libre Franklin Bold"/>
                <a:sym typeface="Libre Franklin"/>
              </a:rPr>
              <a:t>Feriado</a:t>
            </a:r>
            <a:r>
              <a:rPr lang="en-US" sz="2000" b="1" dirty="0">
                <a:solidFill>
                  <a:schemeClr val="tx2"/>
                </a:solidFill>
                <a:latin typeface="Libre Franklin"/>
                <a:ea typeface="Libre Franklin Bold"/>
                <a:cs typeface="Libre Franklin Bold"/>
                <a:sym typeface="Libre Franklin"/>
              </a:rPr>
              <a:t> (Corpus Christi)</a:t>
            </a:r>
            <a:r>
              <a:rPr lang="en-US" sz="2000" b="1" dirty="0">
                <a:solidFill>
                  <a:schemeClr val="tx2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;</a:t>
            </a:r>
          </a:p>
          <a:p>
            <a:pPr algn="l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11/06 -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Encontro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19 -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Avaliação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UP2;</a:t>
            </a: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FF313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18/06 -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Encontro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20 - Segunda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Chamada</a:t>
            </a:r>
            <a:endParaRPr lang="en-US" sz="2000" b="1" dirty="0">
              <a:solidFill>
                <a:srgbClr val="FF313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endParaRPr lang="en-US" sz="2000" b="1" dirty="0">
              <a:solidFill>
                <a:srgbClr val="FF3131"/>
              </a:solidFill>
              <a:latin typeface="Libre Franklin Bold"/>
              <a:ea typeface="Libre Franklin Bold"/>
              <a:cs typeface="Libre Franklin Bold"/>
              <a:sym typeface="Libre Franklin Bold"/>
            </a:endParaRPr>
          </a:p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22/06 (Segunda-Feira) –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Encontro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21 - </a:t>
            </a:r>
            <a:r>
              <a:rPr lang="en-US" sz="2000" b="1" dirty="0" err="1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Avaliação</a:t>
            </a:r>
            <a:r>
              <a:rPr lang="en-US" sz="2000" b="1" dirty="0">
                <a:solidFill>
                  <a:srgbClr val="FF3131"/>
                </a:solidFill>
                <a:latin typeface="Libre Franklin Bold"/>
                <a:ea typeface="Libre Franklin Bold"/>
                <a:cs typeface="Libre Franklin Bold"/>
                <a:sym typeface="Libre Franklin Bold"/>
              </a:rPr>
              <a:t> Final.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1552" y="452021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53192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(1ª Unidade)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5D1991-5C00-41E2-90BB-C9C1DAD62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74" y="2582651"/>
            <a:ext cx="16719330" cy="6951875"/>
          </a:xfrm>
        </p:spPr>
        <p:txBody>
          <a:bodyPr>
            <a:normAutofit fontScale="85000" lnSpcReduction="20000"/>
          </a:bodyPr>
          <a:lstStyle/>
          <a:p>
            <a:pPr marL="0" indent="0">
              <a:buClr>
                <a:srgbClr val="2C3E50"/>
              </a:buClr>
              <a:buSzPct val="45000"/>
              <a:buNone/>
            </a:pPr>
            <a:r>
              <a:rPr lang="pt-BR" sz="4800" b="1" u="sng" dirty="0"/>
              <a:t>1ª Unidade</a:t>
            </a:r>
          </a:p>
          <a:p>
            <a:r>
              <a:rPr lang="pt-BR" b="1" dirty="0"/>
              <a:t>12/02 - </a:t>
            </a:r>
            <a:r>
              <a:rPr lang="pt-BR" dirty="0"/>
              <a:t>Apresentação da Disciplina; </a:t>
            </a:r>
          </a:p>
          <a:p>
            <a:r>
              <a:rPr lang="pt-BR" b="1" dirty="0"/>
              <a:t>19/02 - </a:t>
            </a:r>
            <a:r>
              <a:rPr lang="pt-BR" dirty="0"/>
              <a:t>Conceitos Básicos de Grafos;</a:t>
            </a:r>
            <a:endParaRPr lang="pt-BR" b="1" dirty="0"/>
          </a:p>
          <a:p>
            <a:r>
              <a:rPr lang="pt-BR" b="1" dirty="0"/>
              <a:t>21/02 - </a:t>
            </a:r>
            <a:r>
              <a:rPr lang="pt-BR" dirty="0"/>
              <a:t>Exercícios</a:t>
            </a:r>
            <a:r>
              <a:rPr lang="pt-BR" b="1" dirty="0"/>
              <a:t> (Reposição - Sábado)</a:t>
            </a:r>
            <a:r>
              <a:rPr lang="pt-BR" dirty="0"/>
              <a:t>; </a:t>
            </a:r>
          </a:p>
          <a:p>
            <a:r>
              <a:rPr lang="pt-BR" b="1" dirty="0"/>
              <a:t>26/02 - </a:t>
            </a:r>
            <a:r>
              <a:rPr lang="pt-BR" dirty="0"/>
              <a:t>Caminho </a:t>
            </a:r>
            <a:r>
              <a:rPr lang="pt-BR" dirty="0" err="1"/>
              <a:t>Euleriano</a:t>
            </a:r>
            <a:r>
              <a:rPr lang="pt-BR" dirty="0"/>
              <a:t> e Hamiltoniano;</a:t>
            </a:r>
          </a:p>
          <a:p>
            <a:r>
              <a:rPr lang="pt-BR" b="1" dirty="0"/>
              <a:t>28/02 - </a:t>
            </a:r>
            <a:r>
              <a:rPr lang="pt-BR" dirty="0"/>
              <a:t>Exercícios </a:t>
            </a:r>
            <a:r>
              <a:rPr lang="pt-BR" b="1" dirty="0"/>
              <a:t>(Reposição - Sábado)</a:t>
            </a:r>
            <a:r>
              <a:rPr lang="pt-BR" dirty="0"/>
              <a:t>;</a:t>
            </a:r>
          </a:p>
          <a:p>
            <a:r>
              <a:rPr lang="pt-BR" b="1" dirty="0"/>
              <a:t>05/03 - </a:t>
            </a:r>
            <a:r>
              <a:rPr lang="pt-BR" dirty="0"/>
              <a:t>Caminho Mínimo: Algoritmo de </a:t>
            </a:r>
            <a:r>
              <a:rPr lang="pt-BR" dirty="0" err="1"/>
              <a:t>Dijkstra</a:t>
            </a:r>
            <a:r>
              <a:rPr lang="pt-BR" dirty="0"/>
              <a:t>;</a:t>
            </a:r>
          </a:p>
          <a:p>
            <a:r>
              <a:rPr lang="pt-BR" b="1" dirty="0"/>
              <a:t>12/03 - </a:t>
            </a:r>
            <a:r>
              <a:rPr lang="pt-BR" dirty="0"/>
              <a:t>Algoritmos de Busca: Busca Não Informada - Largura e Profundidade;</a:t>
            </a:r>
          </a:p>
          <a:p>
            <a:r>
              <a:rPr lang="pt-BR" b="1" dirty="0"/>
              <a:t>19/03 - </a:t>
            </a:r>
            <a:r>
              <a:rPr lang="pt-BR" dirty="0"/>
              <a:t>Algoritmos de Busca: Outros Tipos de Busca - Busca Informada e Busca Local;</a:t>
            </a:r>
          </a:p>
          <a:p>
            <a:r>
              <a:rPr lang="pt-BR" b="1" dirty="0"/>
              <a:t>26/03 - </a:t>
            </a:r>
            <a:r>
              <a:rPr lang="pt-BR" dirty="0"/>
              <a:t>Implementação de Algoritmos de Grafos: Algoritmo de </a:t>
            </a:r>
            <a:r>
              <a:rPr lang="pt-BR" dirty="0" err="1"/>
              <a:t>Dijkstra</a:t>
            </a:r>
            <a:r>
              <a:rPr lang="pt-BR" dirty="0"/>
              <a:t> e Algoritmos de Busca;</a:t>
            </a:r>
          </a:p>
          <a:p>
            <a:r>
              <a:rPr lang="pt-BR" b="1" dirty="0">
                <a:solidFill>
                  <a:srgbClr val="FF0000"/>
                </a:solidFill>
              </a:rPr>
              <a:t>09/04 - Avaliação UP1 (Prova).</a:t>
            </a:r>
            <a:endParaRPr lang="pt-BR" sz="4800" b="1" dirty="0">
              <a:solidFill>
                <a:srgbClr val="FF0000"/>
              </a:solidFill>
            </a:endParaRPr>
          </a:p>
          <a:p>
            <a:pPr marL="685800" lvl="1" indent="0">
              <a:buClr>
                <a:srgbClr val="2C3E50"/>
              </a:buClr>
              <a:buSzPct val="45000"/>
              <a:buNone/>
            </a:pPr>
            <a:endParaRPr lang="pt-BR" sz="4200" dirty="0"/>
          </a:p>
          <a:p>
            <a:pPr marL="0" indent="0">
              <a:buNone/>
            </a:pPr>
            <a:endParaRPr lang="pt-BR" sz="48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71600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/>
              <a:t>17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9826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37138" tIns="68550" rIns="137138" bIns="68550" rtlCol="0" anchor="ctr" anchorCtr="0">
            <a:noAutofit/>
          </a:bodyPr>
          <a:lstStyle/>
          <a:p>
            <a:pPr lvl="0" algn="ctr">
              <a:buClr>
                <a:schemeClr val="dk1"/>
              </a:buClr>
              <a:buSzPts val="4400"/>
            </a:pPr>
            <a:r>
              <a:rPr lang="pt-B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(2ª Unidade)</a:t>
            </a: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5D1991-5C00-41E2-90BB-C9C1DAD62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536031"/>
            <a:ext cx="15087600" cy="7203282"/>
          </a:xfrm>
        </p:spPr>
        <p:txBody>
          <a:bodyPr>
            <a:normAutofit fontScale="62500" lnSpcReduction="20000"/>
          </a:bodyPr>
          <a:lstStyle/>
          <a:p>
            <a:pPr marL="0" indent="0">
              <a:buClr>
                <a:srgbClr val="2C3E50"/>
              </a:buClr>
              <a:buSzPct val="45000"/>
              <a:buNone/>
            </a:pPr>
            <a:r>
              <a:rPr lang="pt-BR" sz="5100" b="1" u="sng" dirty="0"/>
              <a:t>2ª Unidade</a:t>
            </a:r>
          </a:p>
          <a:p>
            <a:r>
              <a:rPr lang="pt-BR" sz="5100" b="1" dirty="0"/>
              <a:t>16/04 - </a:t>
            </a:r>
            <a:r>
              <a:rPr lang="pt-BR" sz="5100" dirty="0"/>
              <a:t>Entrega e Correção das Avaliações UP1;</a:t>
            </a:r>
          </a:p>
          <a:p>
            <a:r>
              <a:rPr lang="pt-BR" sz="5100" b="1" dirty="0"/>
              <a:t>23/04 - </a:t>
            </a:r>
            <a:r>
              <a:rPr lang="pt-BR" sz="5100" dirty="0"/>
              <a:t>Classe de Problemas;</a:t>
            </a:r>
          </a:p>
          <a:p>
            <a:r>
              <a:rPr lang="pt-BR" sz="5100" b="1" dirty="0"/>
              <a:t>30/04 - </a:t>
            </a:r>
            <a:r>
              <a:rPr lang="pt-BR" sz="5400" dirty="0"/>
              <a:t>Coloração de Vértices e Arestas;</a:t>
            </a:r>
          </a:p>
          <a:p>
            <a:r>
              <a:rPr lang="pt-BR" sz="5100" b="1" dirty="0"/>
              <a:t>07/05 - </a:t>
            </a:r>
            <a:r>
              <a:rPr lang="pt-BR" sz="5400" dirty="0"/>
              <a:t>Ordenação Topológica;</a:t>
            </a:r>
          </a:p>
          <a:p>
            <a:r>
              <a:rPr lang="pt-BR" sz="5100" b="1" dirty="0"/>
              <a:t>09/05 - </a:t>
            </a:r>
            <a:r>
              <a:rPr lang="pt-BR" sz="5400" dirty="0"/>
              <a:t>Exercícios </a:t>
            </a:r>
            <a:r>
              <a:rPr lang="pt-BR" sz="5400" b="1" dirty="0">
                <a:sym typeface="Wingdings" panose="05000000000000000000" pitchFamily="2" charset="2"/>
              </a:rPr>
              <a:t>(Reposição - Sábado)</a:t>
            </a:r>
            <a:r>
              <a:rPr lang="pt-BR" sz="5400" b="1" dirty="0"/>
              <a:t>;</a:t>
            </a:r>
            <a:endParaRPr lang="pt-BR" sz="5400" dirty="0"/>
          </a:p>
          <a:p>
            <a:r>
              <a:rPr lang="pt-BR" sz="5100" b="1" dirty="0"/>
              <a:t>14/05 - </a:t>
            </a:r>
            <a:r>
              <a:rPr lang="pt-BR" sz="5400" dirty="0"/>
              <a:t>Fluxo Máximo em Redes;</a:t>
            </a:r>
          </a:p>
          <a:p>
            <a:r>
              <a:rPr lang="pt-BR" sz="5100" b="1" dirty="0"/>
              <a:t>21/05 - </a:t>
            </a:r>
            <a:r>
              <a:rPr lang="pt-BR" sz="5400" dirty="0"/>
              <a:t>Árvores Geradoras para Grafos;</a:t>
            </a:r>
          </a:p>
          <a:p>
            <a:r>
              <a:rPr lang="pt-BR" sz="5250" b="1" dirty="0"/>
              <a:t>28/05</a:t>
            </a:r>
            <a:r>
              <a:rPr lang="pt-BR" sz="5400" b="1" dirty="0"/>
              <a:t> - </a:t>
            </a:r>
            <a:r>
              <a:rPr lang="pt-BR" sz="5400" dirty="0"/>
              <a:t>Implementação de Algoritmos de Árvores Geradoras Mínimas: Algoritmo de </a:t>
            </a:r>
            <a:r>
              <a:rPr lang="pt-BR" sz="5400" dirty="0" err="1"/>
              <a:t>Prim</a:t>
            </a:r>
            <a:r>
              <a:rPr lang="pt-BR" sz="5400" dirty="0"/>
              <a:t> e Algoritmo de Kruskal;</a:t>
            </a:r>
          </a:p>
          <a:p>
            <a:r>
              <a:rPr lang="pt-BR" sz="5100" b="1" dirty="0">
                <a:solidFill>
                  <a:srgbClr val="FF0000"/>
                </a:solidFill>
              </a:rPr>
              <a:t>11/06 - Avaliação UP2 (Prova);</a:t>
            </a:r>
          </a:p>
          <a:p>
            <a:r>
              <a:rPr lang="pt-BR" sz="5100" b="1" dirty="0">
                <a:solidFill>
                  <a:srgbClr val="FF0000"/>
                </a:solidFill>
              </a:rPr>
              <a:t>18/06 - Segunda Chamada (Prova);</a:t>
            </a:r>
          </a:p>
          <a:p>
            <a:r>
              <a:rPr lang="pt-BR" sz="5100" b="1" dirty="0">
                <a:solidFill>
                  <a:srgbClr val="FF0000"/>
                </a:solidFill>
              </a:rPr>
              <a:t>22/06 (Segunda-Feira) - Avaliação Final (Prova).</a:t>
            </a:r>
          </a:p>
          <a:p>
            <a:pPr marL="685800" lvl="1" indent="0">
              <a:buClr>
                <a:srgbClr val="2C3E50"/>
              </a:buClr>
              <a:buSzPct val="45000"/>
              <a:buNone/>
            </a:pPr>
            <a:endParaRPr lang="pt-BR" sz="4200" dirty="0"/>
          </a:p>
          <a:p>
            <a:endParaRPr lang="pt-BR" sz="4800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1371600"/>
            <a:fld id="{43A91214-D368-4B4F-B4B3-73A619B7B876}" type="slidenum">
              <a:rPr lang="pt-BR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1371600"/>
              <a:t>18</a:t>
            </a:fld>
            <a:endParaRPr lang="pt-BR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969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133263" y="2492477"/>
            <a:ext cx="8010737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Regras Avaliativas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981001" y="4660113"/>
            <a:ext cx="6315261" cy="2027787"/>
            <a:chOff x="0" y="0"/>
            <a:chExt cx="8420349" cy="2703716"/>
          </a:xfrm>
        </p:grpSpPr>
        <p:sp>
          <p:nvSpPr>
            <p:cNvPr id="6" name="TextBox 6"/>
            <p:cNvSpPr txBox="1"/>
            <p:nvPr/>
          </p:nvSpPr>
          <p:spPr>
            <a:xfrm>
              <a:off x="0" y="746646"/>
              <a:ext cx="8420349" cy="1961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 estudantes devem ter no mínimo 75% de frequência na disciplina. Uma frequência abaixo deste percentual causa reprovação por falta.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420349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Frequência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17746" y="4600582"/>
            <a:ext cx="6315261" cy="2847750"/>
            <a:chOff x="0" y="-28575"/>
            <a:chExt cx="8420349" cy="3796997"/>
          </a:xfrm>
        </p:grpSpPr>
        <p:sp>
          <p:nvSpPr>
            <p:cNvPr id="9" name="TextBox 9"/>
            <p:cNvSpPr txBox="1"/>
            <p:nvPr/>
          </p:nvSpPr>
          <p:spPr>
            <a:xfrm>
              <a:off x="0" y="1320404"/>
              <a:ext cx="8420349" cy="24480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892"/>
                </a:lnSpc>
              </a:pP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Todas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as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atividades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têm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um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prazo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associado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exercícios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fazem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parte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uma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avaliação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aprendizagem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continuada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complementar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que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poderão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bonificar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o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estudante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em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caso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2225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necessidade</a:t>
              </a:r>
              <a:r>
                <a:rPr lang="en-US" sz="2225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8420349" cy="116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 dirty="0" err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Exercícios</a:t>
              </a:r>
              <a:r>
                <a:rPr lang="en-US" sz="2724" b="1" dirty="0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</a:t>
              </a:r>
              <a:r>
                <a:rPr lang="en-US" sz="2724" b="1" dirty="0" err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em</a:t>
              </a:r>
              <a:r>
                <a:rPr lang="en-US" sz="2724" b="1" dirty="0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sala e </a:t>
              </a:r>
              <a:r>
                <a:rPr lang="en-US" sz="2724" b="1" dirty="0" err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Entregas</a:t>
              </a:r>
              <a:r>
                <a:rPr lang="en-US" sz="2724" b="1" dirty="0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 no Classroom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551657" y="1028700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5551657" y="2013492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4872813" cy="10287000"/>
          </a:xfrm>
          <a:custGeom>
            <a:avLst/>
            <a:gdLst/>
            <a:ahLst/>
            <a:cxnLst/>
            <a:rect l="l" t="t" r="r" b="b"/>
            <a:pathLst>
              <a:path w="4872813" h="10287000">
                <a:moveTo>
                  <a:pt x="0" y="0"/>
                </a:moveTo>
                <a:lnTo>
                  <a:pt x="4872813" y="0"/>
                </a:lnTo>
                <a:lnTo>
                  <a:pt x="48728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2828" r="-73836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5447094" y="2482952"/>
            <a:ext cx="11812206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Processo Avaliativo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475377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51657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271989" y="4673702"/>
            <a:ext cx="6777434" cy="1431440"/>
            <a:chOff x="0" y="0"/>
            <a:chExt cx="9036579" cy="1908587"/>
          </a:xfrm>
        </p:grpSpPr>
        <p:sp>
          <p:nvSpPr>
            <p:cNvPr id="9" name="TextBox 9"/>
            <p:cNvSpPr txBox="1"/>
            <p:nvPr/>
          </p:nvSpPr>
          <p:spPr>
            <a:xfrm>
              <a:off x="0" y="940705"/>
              <a:ext cx="9036579" cy="9465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2"/>
                </a:lnSpc>
              </a:pPr>
              <a:r>
                <a:rPr lang="en-US" sz="2225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Avaliação UP1 (Prova) - 80%.</a:t>
              </a:r>
            </a:p>
            <a:p>
              <a:pPr algn="l">
                <a:lnSpc>
                  <a:spcPts val="2892"/>
                </a:lnSpc>
              </a:pPr>
              <a:r>
                <a:rPr lang="en-US" sz="2225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ME - Medida de eficiência (AVA) - 20%.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9036579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4F8420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1ª Unidade (Nota Disciplina + Nota AVA)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271989" y="6759814"/>
            <a:ext cx="8018987" cy="1472100"/>
            <a:chOff x="0" y="-28575"/>
            <a:chExt cx="10691983" cy="19628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940705"/>
              <a:ext cx="10691983" cy="9935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Avaliação</a:t>
              </a:r>
              <a:r>
                <a:rPr lang="en-US" sz="2300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UP2 (</a:t>
              </a:r>
              <a:r>
                <a:rPr lang="en-US" sz="2300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Prova</a:t>
              </a:r>
              <a:r>
                <a:rPr lang="en-US" sz="2300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) - 80%.</a:t>
              </a:r>
            </a:p>
            <a:p>
              <a:pPr algn="l">
                <a:lnSpc>
                  <a:spcPts val="2990"/>
                </a:lnSpc>
              </a:pPr>
              <a:r>
                <a:rPr lang="en-US" sz="2300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ME - </a:t>
              </a:r>
              <a:r>
                <a:rPr lang="en-US" sz="2300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Medida</a:t>
              </a:r>
              <a:r>
                <a:rPr lang="en-US" sz="2300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2300" dirty="0" err="1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Eficiência</a:t>
              </a:r>
              <a:r>
                <a:rPr lang="en-US" sz="2300" dirty="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 (AVA) - 20%.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0691983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4F8420"/>
                  </a:solidFill>
                  <a:latin typeface="Libre Franklin Bold"/>
                  <a:ea typeface="Libre Franklin Bold"/>
                  <a:cs typeface="Libre Franklin Bold"/>
                  <a:sym typeface="Libre Franklin Bold"/>
                </a:rPr>
                <a:t>2ª Unidade (Nota Disciplina + Nota AVA)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1028700" y="2013492"/>
            <a:ext cx="11707643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Box 4"/>
          <p:cNvSpPr txBox="1"/>
          <p:nvPr/>
        </p:nvSpPr>
        <p:spPr>
          <a:xfrm>
            <a:off x="1028700" y="2639647"/>
            <a:ext cx="7556127" cy="1024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>
                <a:solidFill>
                  <a:srgbClr val="000000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Entre em contato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952421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64953" y="4357835"/>
            <a:ext cx="5003311" cy="962782"/>
            <a:chOff x="0" y="0"/>
            <a:chExt cx="6671081" cy="1283710"/>
          </a:xfrm>
        </p:grpSpPr>
        <p:sp>
          <p:nvSpPr>
            <p:cNvPr id="8" name="TextBox 8"/>
            <p:cNvSpPr txBox="1"/>
            <p:nvPr/>
          </p:nvSpPr>
          <p:spPr>
            <a:xfrm>
              <a:off x="0" y="808306"/>
              <a:ext cx="6671081" cy="475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90"/>
                </a:lnSpc>
              </a:pPr>
              <a:r>
                <a:rPr lang="en-US" sz="2300">
                  <a:solidFill>
                    <a:srgbClr val="000000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jonathan.bandeira@souunit.com.br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967"/>
              <a:ext cx="6671081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4F8420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E-mail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3374319" y="0"/>
            <a:ext cx="4913681" cy="10287000"/>
          </a:xfrm>
          <a:custGeom>
            <a:avLst/>
            <a:gdLst/>
            <a:ahLst/>
            <a:cxnLst/>
            <a:rect l="l" t="t" r="r" b="b"/>
            <a:pathLst>
              <a:path w="4913681" h="10287000">
                <a:moveTo>
                  <a:pt x="0" y="0"/>
                </a:moveTo>
                <a:lnTo>
                  <a:pt x="4913681" y="0"/>
                </a:lnTo>
                <a:lnTo>
                  <a:pt x="491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84" r="-19784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7695" y="1028700"/>
            <a:ext cx="392597" cy="39259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279947" y="1026319"/>
            <a:ext cx="11749306" cy="4762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279876" y="2027084"/>
            <a:ext cx="11749377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5353032" y="0"/>
            <a:ext cx="2934968" cy="10287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279947" y="4448175"/>
            <a:ext cx="7030663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45331" y="1330173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4151" y="1330173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36004" y="3001016"/>
            <a:ext cx="8059175" cy="4050562"/>
            <a:chOff x="0" y="-28575"/>
            <a:chExt cx="10745567" cy="5400750"/>
          </a:xfrm>
        </p:grpSpPr>
        <p:sp>
          <p:nvSpPr>
            <p:cNvPr id="11" name="TextBox 11"/>
            <p:cNvSpPr txBox="1"/>
            <p:nvPr/>
          </p:nvSpPr>
          <p:spPr>
            <a:xfrm>
              <a:off x="0" y="940705"/>
              <a:ext cx="10745567" cy="4431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GOLDBARG, Marco; GOLDBARG, Elizabeth.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Conceitos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e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Aplicações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Elsevier, 2012.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SZWARCFITER, Jayme Luiz. Teoria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Computacional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de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Série SBC. Elsevier. 2018.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NICOLETTI, Maria do Carmo; HRUSCHKA JR, E. R.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Fundamentos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da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teoria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dos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para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computação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LTC, 2018.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0745567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Principal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97695" y="1028700"/>
            <a:ext cx="392597" cy="392597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279945" y="419100"/>
            <a:ext cx="11749306" cy="4762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AutoShape 5"/>
          <p:cNvSpPr/>
          <p:nvPr/>
        </p:nvSpPr>
        <p:spPr>
          <a:xfrm>
            <a:off x="279945" y="1203249"/>
            <a:ext cx="11749377" cy="0"/>
          </a:xfrm>
          <a:prstGeom prst="line">
            <a:avLst/>
          </a:prstGeom>
          <a:ln w="9525" cap="flat">
            <a:solidFill>
              <a:srgbClr val="BFBFB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06609" y="4189622"/>
            <a:ext cx="6108709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6F6F6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Bibliografia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5733" y="679450"/>
            <a:ext cx="3783923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483" y="679450"/>
            <a:ext cx="3795382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Unit/PE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077710" y="1999941"/>
            <a:ext cx="8059175" cy="6653839"/>
            <a:chOff x="0" y="-28575"/>
            <a:chExt cx="10745567" cy="8871786"/>
          </a:xfrm>
        </p:grpSpPr>
        <p:sp>
          <p:nvSpPr>
            <p:cNvPr id="10" name="TextBox 10"/>
            <p:cNvSpPr txBox="1"/>
            <p:nvPr/>
          </p:nvSpPr>
          <p:spPr>
            <a:xfrm>
              <a:off x="0" y="940705"/>
              <a:ext cx="10745567" cy="7902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BOAVENTURA NETTO, Paulo Oswaldo. NETTO, Boaventura, OSWALDIO, Paulo.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Teoria,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Modelos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,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45ª ed. São Paulo: Edgard Blucher.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CORMEN, Thomas H. et al.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Algoritmos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Teoria e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Prática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3. ed. Elsevier, 2012.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FEOFILOFF, Paulo; KOHAYAKAWA,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Yoshiahuro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; WAKABAYASHI, Yoshiro. Teoria dos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Grafos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: Uma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Introdução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 </a:t>
              </a:r>
              <a:r>
                <a:rPr lang="en-US" sz="2225" dirty="0" err="1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Sucinta</a:t>
              </a: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. São Paulo: USP, 2011.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TRUDEAU, Richard J. Introduction to graph theory. Courier Corporation, 2013.</a:t>
              </a:r>
            </a:p>
            <a:p>
              <a:pPr algn="l">
                <a:lnSpc>
                  <a:spcPts val="2892"/>
                </a:lnSpc>
              </a:pPr>
              <a:endParaRPr lang="en-US" sz="2225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endParaRPr>
            </a:p>
            <a:p>
              <a:pPr algn="l">
                <a:lnSpc>
                  <a:spcPts val="2892"/>
                </a:lnSpc>
              </a:pPr>
              <a:r>
                <a:rPr lang="en-US" sz="2225" dirty="0">
                  <a:solidFill>
                    <a:srgbClr val="F6F6F6"/>
                  </a:solidFill>
                  <a:latin typeface="Libre Franklin Light"/>
                  <a:ea typeface="Libre Franklin Light"/>
                  <a:cs typeface="Libre Franklin Light"/>
                  <a:sym typeface="Libre Franklin Light"/>
                </a:rPr>
                <a:t>WILSON, Robin J. Introduction to Graph Theory. 5. ed. Prentice Hall, 2015.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0745567" cy="57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2"/>
                </a:lnSpc>
              </a:pPr>
              <a:r>
                <a:rPr lang="en-US" sz="2724" b="1">
                  <a:solidFill>
                    <a:srgbClr val="FFFFFF"/>
                  </a:solidFill>
                  <a:latin typeface="Libre Franklin Semi-Bold"/>
                  <a:ea typeface="Libre Franklin Semi-Bold"/>
                  <a:cs typeface="Libre Franklin Semi-Bold"/>
                  <a:sym typeface="Libre Franklin Semi-Bold"/>
                </a:rPr>
                <a:t>Complementar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5353032" y="0"/>
            <a:ext cx="2934968" cy="10287000"/>
          </a:xfrm>
          <a:custGeom>
            <a:avLst/>
            <a:gdLst/>
            <a:ahLst/>
            <a:cxnLst/>
            <a:rect l="l" t="t" r="r" b="b"/>
            <a:pathLst>
              <a:path w="2934968" h="10287000">
                <a:moveTo>
                  <a:pt x="0" y="0"/>
                </a:moveTo>
                <a:lnTo>
                  <a:pt x="2934968" y="0"/>
                </a:lnTo>
                <a:lnTo>
                  <a:pt x="29349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651" r="-105845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41805-F623-41AB-B29A-D374D78B2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5937" y="415089"/>
            <a:ext cx="9706779" cy="1143000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>
                <a:ln w="0"/>
                <a:latin typeface="+mn-lt"/>
                <a:ea typeface="+mn-ea"/>
                <a:cs typeface="+mn-cs"/>
              </a:rPr>
              <a:t>Muito obrigado e até a Próxima!</a:t>
            </a:r>
            <a:endParaRPr lang="pt-BR" b="1" dirty="0">
              <a:ln w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BD879-6317-CE97-0A36-E66775D3E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521" y="2037605"/>
            <a:ext cx="11036595" cy="783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333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AA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68FD65-F19F-957D-FE79-3A76431A0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ABC1FAC-2DF3-7756-5C28-D722D2849AC3}"/>
              </a:ext>
            </a:extLst>
          </p:cNvPr>
          <p:cNvSpPr/>
          <p:nvPr/>
        </p:nvSpPr>
        <p:spPr>
          <a:xfrm>
            <a:off x="1514296" y="7482808"/>
            <a:ext cx="6015932" cy="0"/>
          </a:xfrm>
          <a:prstGeom prst="line">
            <a:avLst/>
          </a:prstGeom>
          <a:ln w="9525" cap="flat">
            <a:solidFill>
              <a:srgbClr val="F6F6F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C94F95F-5DAC-70D5-BFBB-BEFF293B5F39}"/>
              </a:ext>
            </a:extLst>
          </p:cNvPr>
          <p:cNvSpPr/>
          <p:nvPr/>
        </p:nvSpPr>
        <p:spPr>
          <a:xfrm>
            <a:off x="1514296" y="4584997"/>
            <a:ext cx="3069545" cy="1639520"/>
          </a:xfrm>
          <a:custGeom>
            <a:avLst/>
            <a:gdLst/>
            <a:ahLst/>
            <a:cxnLst/>
            <a:rect l="l" t="t" r="r" b="b"/>
            <a:pathLst>
              <a:path w="3069545" h="1639520">
                <a:moveTo>
                  <a:pt x="0" y="0"/>
                </a:moveTo>
                <a:lnTo>
                  <a:pt x="3069545" y="0"/>
                </a:lnTo>
                <a:lnTo>
                  <a:pt x="3069545" y="1639520"/>
                </a:lnTo>
                <a:lnTo>
                  <a:pt x="0" y="1639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23A0A11-A75E-AC80-43DF-65E920680E6A}"/>
              </a:ext>
            </a:extLst>
          </p:cNvPr>
          <p:cNvSpPr/>
          <p:nvPr/>
        </p:nvSpPr>
        <p:spPr>
          <a:xfrm>
            <a:off x="8954009" y="8079446"/>
            <a:ext cx="2207554" cy="2207554"/>
          </a:xfrm>
          <a:custGeom>
            <a:avLst/>
            <a:gdLst/>
            <a:ahLst/>
            <a:cxnLst/>
            <a:rect l="l" t="t" r="r" b="b"/>
            <a:pathLst>
              <a:path w="2207554" h="2207554">
                <a:moveTo>
                  <a:pt x="0" y="0"/>
                </a:moveTo>
                <a:lnTo>
                  <a:pt x="2207554" y="0"/>
                </a:lnTo>
                <a:lnTo>
                  <a:pt x="2207554" y="2207554"/>
                </a:lnTo>
                <a:lnTo>
                  <a:pt x="0" y="2207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BD6C36D-E52B-EDE5-799C-8B6507D47987}"/>
              </a:ext>
            </a:extLst>
          </p:cNvPr>
          <p:cNvSpPr txBox="1"/>
          <p:nvPr/>
        </p:nvSpPr>
        <p:spPr>
          <a:xfrm>
            <a:off x="557971" y="1104900"/>
            <a:ext cx="10262429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dirty="0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Teoria dos </a:t>
            </a:r>
            <a:r>
              <a:rPr lang="en-US" sz="9000" dirty="0" err="1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Grafos</a:t>
            </a:r>
            <a:endParaRPr lang="en-US" sz="9000" dirty="0">
              <a:solidFill>
                <a:srgbClr val="F6F6F6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914C61E-00A9-BDBF-B7FD-4F27D1F1E688}"/>
              </a:ext>
            </a:extLst>
          </p:cNvPr>
          <p:cNvSpPr txBox="1"/>
          <p:nvPr/>
        </p:nvSpPr>
        <p:spPr>
          <a:xfrm>
            <a:off x="1514296" y="6830966"/>
            <a:ext cx="5402793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Professor Jonathan Bandeira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BE4907A-B3C5-D0BC-A241-D8AB806FA9B5}"/>
              </a:ext>
            </a:extLst>
          </p:cNvPr>
          <p:cNvSpPr txBox="1"/>
          <p:nvPr/>
        </p:nvSpPr>
        <p:spPr>
          <a:xfrm>
            <a:off x="1514296" y="6463936"/>
            <a:ext cx="6015932" cy="41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424">
                <a:solidFill>
                  <a:srgbClr val="F6F6F6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Centro Universitário Tiradentes - UNIT/PE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B3C6F15-8A47-4724-6A70-89B454A34F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5535" y="1"/>
            <a:ext cx="7152465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70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6126</TotalTime>
  <Words>1420</Words>
  <Application>Microsoft Office PowerPoint</Application>
  <PresentationFormat>Personalizar</PresentationFormat>
  <Paragraphs>252</Paragraphs>
  <Slides>25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25</vt:i4>
      </vt:variant>
    </vt:vector>
  </HeadingPairs>
  <TitlesOfParts>
    <vt:vector size="38" baseType="lpstr">
      <vt:lpstr>Libre Franklin Bold</vt:lpstr>
      <vt:lpstr>Arial</vt:lpstr>
      <vt:lpstr>Libre Franklin Thin</vt:lpstr>
      <vt:lpstr>Libre Franklin Semi-Bold</vt:lpstr>
      <vt:lpstr>Calibri</vt:lpstr>
      <vt:lpstr>Libre Franklin</vt:lpstr>
      <vt:lpstr>Wingdings</vt:lpstr>
      <vt:lpstr>Libre Franklin Light</vt:lpstr>
      <vt:lpstr>Calibri Light</vt:lpstr>
      <vt:lpstr>Libre Franklin Medium</vt:lpstr>
      <vt:lpstr>Office Theme</vt:lpstr>
      <vt:lpstr>Tema do Office</vt:lpstr>
      <vt:lpstr>1_Tema do Office</vt:lpstr>
      <vt:lpstr>Apresentação do PowerPoint</vt:lpstr>
      <vt:lpstr>Apresentação do PowerPoint</vt:lpstr>
      <vt:lpstr>Roteiro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Cronograma (1ª Unidade)</vt:lpstr>
      <vt:lpstr>Cronograma (2ª Unidade)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 e até a Próxima!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Apresentacao BD</dc:title>
  <cp:lastModifiedBy>Jonathan da Silva Bandeira</cp:lastModifiedBy>
  <cp:revision>37</cp:revision>
  <dcterms:created xsi:type="dcterms:W3CDTF">2006-08-16T00:00:00Z</dcterms:created>
  <dcterms:modified xsi:type="dcterms:W3CDTF">2026-02-12T12:32:19Z</dcterms:modified>
  <dc:identifier>DAGdZZHkbdE</dc:identifier>
</cp:coreProperties>
</file>