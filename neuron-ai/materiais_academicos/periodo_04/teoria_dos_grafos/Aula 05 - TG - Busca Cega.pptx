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82"/>
  </p:notesMasterIdLst>
  <p:sldIdLst>
    <p:sldId id="256" r:id="rId4"/>
    <p:sldId id="324" r:id="rId5"/>
    <p:sldId id="275" r:id="rId6"/>
    <p:sldId id="302" r:id="rId7"/>
    <p:sldId id="317" r:id="rId8"/>
    <p:sldId id="318" r:id="rId9"/>
    <p:sldId id="259" r:id="rId10"/>
    <p:sldId id="361" r:id="rId11"/>
    <p:sldId id="261" r:id="rId12"/>
    <p:sldId id="362" r:id="rId13"/>
    <p:sldId id="263" r:id="rId14"/>
    <p:sldId id="264" r:id="rId15"/>
    <p:sldId id="265" r:id="rId16"/>
    <p:sldId id="267" r:id="rId17"/>
    <p:sldId id="269" r:id="rId18"/>
    <p:sldId id="270" r:id="rId19"/>
    <p:sldId id="271" r:id="rId20"/>
    <p:sldId id="272" r:id="rId21"/>
    <p:sldId id="497" r:id="rId22"/>
    <p:sldId id="498" r:id="rId23"/>
    <p:sldId id="363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320" r:id="rId33"/>
    <p:sldId id="303" r:id="rId34"/>
    <p:sldId id="321" r:id="rId35"/>
    <p:sldId id="338" r:id="rId36"/>
    <p:sldId id="499" r:id="rId37"/>
    <p:sldId id="325" r:id="rId38"/>
    <p:sldId id="326" r:id="rId39"/>
    <p:sldId id="337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36" r:id="rId49"/>
    <p:sldId id="386" r:id="rId50"/>
    <p:sldId id="500" r:id="rId51"/>
    <p:sldId id="355" r:id="rId52"/>
    <p:sldId id="304" r:id="rId53"/>
    <p:sldId id="339" r:id="rId54"/>
    <p:sldId id="364" r:id="rId55"/>
    <p:sldId id="305" r:id="rId56"/>
    <p:sldId id="340" r:id="rId57"/>
    <p:sldId id="306" r:id="rId58"/>
    <p:sldId id="341" r:id="rId59"/>
    <p:sldId id="347" r:id="rId60"/>
    <p:sldId id="343" r:id="rId61"/>
    <p:sldId id="342" r:id="rId62"/>
    <p:sldId id="344" r:id="rId63"/>
    <p:sldId id="348" r:id="rId64"/>
    <p:sldId id="346" r:id="rId65"/>
    <p:sldId id="349" r:id="rId66"/>
    <p:sldId id="350" r:id="rId67"/>
    <p:sldId id="351" r:id="rId68"/>
    <p:sldId id="353" r:id="rId69"/>
    <p:sldId id="307" r:id="rId70"/>
    <p:sldId id="308" r:id="rId71"/>
    <p:sldId id="309" r:id="rId72"/>
    <p:sldId id="356" r:id="rId73"/>
    <p:sldId id="357" r:id="rId74"/>
    <p:sldId id="358" r:id="rId75"/>
    <p:sldId id="359" r:id="rId76"/>
    <p:sldId id="360" r:id="rId77"/>
    <p:sldId id="273" r:id="rId78"/>
    <p:sldId id="274" r:id="rId79"/>
    <p:sldId id="495" r:id="rId80"/>
    <p:sldId id="496" r:id="rId8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01" autoAdjust="0"/>
  </p:normalViewPr>
  <p:slideViewPr>
    <p:cSldViewPr snapToGrid="0">
      <p:cViewPr varScale="1">
        <p:scale>
          <a:sx n="72" d="100"/>
          <a:sy n="72" d="100"/>
        </p:scale>
        <p:origin x="107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61" Type="http://schemas.openxmlformats.org/officeDocument/2006/relationships/slide" Target="slides/slide58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74A2D-C15E-45C6-8A02-FCE81FFE4094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810EE-DF2A-4EEC-BA0D-5226B6602E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50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60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797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54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514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007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A78B3329-C403-4C79-96DA-DB7E642A327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B936AC-EB7A-46F8-A210-AEA32C9AB096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273" name="Rectangle 1">
            <a:extLst>
              <a:ext uri="{FF2B5EF4-FFF2-40B4-BE49-F238E27FC236}">
                <a16:creationId xmlns:a16="http://schemas.microsoft.com/office/drawing/2014/main" id="{EF8A2F03-49B9-496B-9716-6427F2A828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F99C287-EE33-4FCE-A982-E535EA62045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D5AAE9C3-458C-4416-B968-B9886B930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79E2E63-468D-4F53-9848-D96E7F4BCB70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7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07282DF-DACD-464E-9DA4-EA4CA66FD79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9EE4B5E-0B13-4B8C-9542-19B04D57BEED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5297" name="Rectangle 1">
            <a:extLst>
              <a:ext uri="{FF2B5EF4-FFF2-40B4-BE49-F238E27FC236}">
                <a16:creationId xmlns:a16="http://schemas.microsoft.com/office/drawing/2014/main" id="{102EF017-B7CB-4BFA-B300-95737D010DB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9A1BBE5D-0700-471D-A382-63B2EB5D41B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81AD5D2D-0560-40D0-9761-749068A831B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109611F-EE17-4123-990D-335DAF386EF0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6321" name="Rectangle 1">
            <a:extLst>
              <a:ext uri="{FF2B5EF4-FFF2-40B4-BE49-F238E27FC236}">
                <a16:creationId xmlns:a16="http://schemas.microsoft.com/office/drawing/2014/main" id="{471CDAC0-D7E5-471F-9599-2E116236D78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807954E2-743C-4120-AB4A-97A3BD53C11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7EF4CDD0-B435-4C07-AB7E-BB6E61737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B41E6FC-D2D1-4C83-BA66-1F92957FA339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D9F2F4-8922-4F49-9C6F-FC1EAC0332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048530-80A1-4E61-A648-C3636142D7F7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345" name="Rectangle 1">
            <a:extLst>
              <a:ext uri="{FF2B5EF4-FFF2-40B4-BE49-F238E27FC236}">
                <a16:creationId xmlns:a16="http://schemas.microsoft.com/office/drawing/2014/main" id="{05049727-B1D4-4823-A032-C1300FFB7F5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EF26E21B-5085-412E-A7D0-7486B5EC061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95C11C6-1D11-4F2D-B164-2FC23811E55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4200CE0-95A3-4C32-A42E-91B4FB35355B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8369" name="Rectangle 1">
            <a:extLst>
              <a:ext uri="{FF2B5EF4-FFF2-40B4-BE49-F238E27FC236}">
                <a16:creationId xmlns:a16="http://schemas.microsoft.com/office/drawing/2014/main" id="{C40E6E91-4EE8-4669-9A28-CD13B4B2C0A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B265D4A0-ADAE-4336-B498-AE8ED699A10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042B82F-0F83-478B-BA59-5280FA5F2BC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6832F84-1523-4C15-AD41-BB802D7D41FC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9393" name="Rectangle 1">
            <a:extLst>
              <a:ext uri="{FF2B5EF4-FFF2-40B4-BE49-F238E27FC236}">
                <a16:creationId xmlns:a16="http://schemas.microsoft.com/office/drawing/2014/main" id="{9E46EE08-3296-4BA6-AE71-BA4787F68EC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1AB6C280-8693-4525-AC0B-383939916C6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4CB12342-6736-486E-8E92-5E6C46FDA95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BF91926-BF92-4E1D-A895-4D330839BC53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417" name="Rectangle 1">
            <a:extLst>
              <a:ext uri="{FF2B5EF4-FFF2-40B4-BE49-F238E27FC236}">
                <a16:creationId xmlns:a16="http://schemas.microsoft.com/office/drawing/2014/main" id="{BC525F61-568F-44B3-B6AB-69C459D7A26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D7FD0420-04F3-491B-927D-A4300CE6E3B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15C8BA3D-9073-4D90-9135-524233E54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1355140-AB4A-47D3-8699-97CD5A268E26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2191F7-8A6F-48B3-A446-1CAB23B1C61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B240722-D5F9-4282-B9A9-5090CB8F86B2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2465" name="Rectangle 1">
            <a:extLst>
              <a:ext uri="{FF2B5EF4-FFF2-40B4-BE49-F238E27FC236}">
                <a16:creationId xmlns:a16="http://schemas.microsoft.com/office/drawing/2014/main" id="{E2BE2138-B82E-4374-A999-DE5F88C0FB7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C2794D8F-E0D1-460F-AE6E-6FAFEB43DCB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C4BFF6E-6FCC-4CD2-ACF9-F6A8B016B7C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FE39DD4-C0E5-404F-9B9A-831FE418EA56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4513" name="Rectangle 1">
            <a:extLst>
              <a:ext uri="{FF2B5EF4-FFF2-40B4-BE49-F238E27FC236}">
                <a16:creationId xmlns:a16="http://schemas.microsoft.com/office/drawing/2014/main" id="{AD9AEA15-0C68-465B-A008-9B0970B0956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53839C8-B9DC-4126-B833-D40BCB77F1D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A6D3C8CC-39A7-45C0-9BDB-0E3311CEC15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405434E6-31C2-4396-BBDA-4D29D86640EC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5537" name="Rectangle 1">
            <a:extLst>
              <a:ext uri="{FF2B5EF4-FFF2-40B4-BE49-F238E27FC236}">
                <a16:creationId xmlns:a16="http://schemas.microsoft.com/office/drawing/2014/main" id="{03D8439D-A77E-42B9-9F5A-59F435380FB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5538" name="Text Box 2">
            <a:extLst>
              <a:ext uri="{FF2B5EF4-FFF2-40B4-BE49-F238E27FC236}">
                <a16:creationId xmlns:a16="http://schemas.microsoft.com/office/drawing/2014/main" id="{8628D504-16A7-4B6B-9404-50813533F5E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914400" lvl="1" indent="0" eaLnBrk="1" hangingPunct="1">
              <a:spcBef>
                <a:spcPct val="0"/>
              </a:spcBef>
              <a:buFont typeface="Calibri" panose="020F0502020204030204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pt-BR" altLang="pt-BR">
                <a:latin typeface="Calibri" panose="020F0502020204030204" pitchFamily="34" charset="0"/>
                <a:ea typeface="Microsoft YaHei" panose="020B0503020204020204" pitchFamily="34" charset="-122"/>
              </a:rPr>
              <a:t>Sucessor(Em(arad)) -&gt;</a:t>
            </a:r>
          </a:p>
          <a:p>
            <a:pPr marL="914400" lvl="1" indent="0" eaLnBrk="1" hangingPunct="1">
              <a:spcBef>
                <a:spcPct val="0"/>
              </a:spcBef>
              <a:buFont typeface="Calibri" panose="020F0502020204030204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r>
              <a:rPr lang="pt-BR" altLang="pt-BR">
                <a:latin typeface="Calibri" panose="020F0502020204030204" pitchFamily="34" charset="0"/>
                <a:ea typeface="Microsoft YaHei" panose="020B0503020204020204" pitchFamily="34" charset="-122"/>
              </a:rPr>
              <a:t> {&lt;Ir(sibiu), Em(sibiu)&gt;, &lt;Ir(timisoara), Em(timisoara)&gt;, &lt;Ir(zerind), Em(zerind)&gt;}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</a:pPr>
            <a:endParaRPr lang="pt-BR" altLang="pt-BR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D787696E-819D-4D66-BB07-F4DAA7FBD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BBE816B-E7A5-42E9-A9E7-731E2C7E8405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9A0FCD44-6E94-4C1F-BE95-A6EBDC5F53D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A32DCCB-61B4-4578-9F7D-7D5DC2AD3A17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561" name="Rectangle 1">
            <a:extLst>
              <a:ext uri="{FF2B5EF4-FFF2-40B4-BE49-F238E27FC236}">
                <a16:creationId xmlns:a16="http://schemas.microsoft.com/office/drawing/2014/main" id="{EE216789-2A19-4BF6-9549-1B979125663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B38E5CEA-9203-4BA4-BF8A-03ADA3BFB6A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B2B7E4A7-59DB-4469-8B70-A04862B77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E8DB30B-63C6-484A-A9EE-6D4F72A96810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0491A44B-A28D-4F3B-842B-979047F13AD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5142E7E-3947-4DE8-B56D-A344D646C5C4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585" name="Rectangle 1">
            <a:extLst>
              <a:ext uri="{FF2B5EF4-FFF2-40B4-BE49-F238E27FC236}">
                <a16:creationId xmlns:a16="http://schemas.microsoft.com/office/drawing/2014/main" id="{206266C7-096A-495A-A13C-55F85CE3CDF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9B8E167C-78EB-42B5-B284-0BCD39BB56B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59EB973A-D2BD-41B7-B0BD-32E8D3ACF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806DBFB-58F9-4251-B807-73FA5B587DB1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B229F03A-65EB-4843-B103-DED8C157570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18DB64C-E894-4D83-94DD-6632B1A817C0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609" name="Rectangle 1">
            <a:extLst>
              <a:ext uri="{FF2B5EF4-FFF2-40B4-BE49-F238E27FC236}">
                <a16:creationId xmlns:a16="http://schemas.microsoft.com/office/drawing/2014/main" id="{D09231AC-B5FA-46F4-9621-9B492814D3F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906769EB-3D32-4FF4-BB43-BDF7BC34AFA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49814FF2-DC8D-405E-AE4C-1738DB0EA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2327310-8E53-472D-B761-41CF86C53306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C165268-A05E-4487-844F-6AB84770E76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294773-5EB4-43F5-9F9A-7B3FDC1BB806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9633" name="Rectangle 1">
            <a:extLst>
              <a:ext uri="{FF2B5EF4-FFF2-40B4-BE49-F238E27FC236}">
                <a16:creationId xmlns:a16="http://schemas.microsoft.com/office/drawing/2014/main" id="{51DE515C-A9E9-42C3-8D38-943E4F0E972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134A0ABA-FFEB-4FA7-963F-0B610B7A3DE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0147EC-C9F1-42B9-9A6A-DC2B35190D2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86F6FEE-1BF9-48C5-8838-18D5C4FA5747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0657" name="Rectangle 1">
            <a:extLst>
              <a:ext uri="{FF2B5EF4-FFF2-40B4-BE49-F238E27FC236}">
                <a16:creationId xmlns:a16="http://schemas.microsoft.com/office/drawing/2014/main" id="{AC8CD303-D82E-4236-94B1-50CD034FC2C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3CD7A1E8-15F5-4B4D-B11F-59254401DC1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D53C9A-77A9-4BF7-B34C-284D25DD0B6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BD38F1-BAED-4870-9995-D31038D9FCBA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1681" name="Rectangle 1">
            <a:extLst>
              <a:ext uri="{FF2B5EF4-FFF2-40B4-BE49-F238E27FC236}">
                <a16:creationId xmlns:a16="http://schemas.microsoft.com/office/drawing/2014/main" id="{BACCF457-6289-49BF-9889-EE9955FF2D3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36104B14-AFFA-4A78-B673-55D382F9903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1A2D47E-1499-4520-8DA3-651BB136635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347B1894-C454-48A1-A3A7-52FD17EB23B1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2705" name="Rectangle 1">
            <a:extLst>
              <a:ext uri="{FF2B5EF4-FFF2-40B4-BE49-F238E27FC236}">
                <a16:creationId xmlns:a16="http://schemas.microsoft.com/office/drawing/2014/main" id="{91190271-1464-4D49-A9D4-8914D44380E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C9B11914-4737-4D0A-9FEC-681ACEAD8AC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816EDD8-75D2-4F1C-AE0F-CC7224E9D93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F6C01C5-871C-45BA-B457-7F9628B52A4F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3729" name="Rectangle 1">
            <a:extLst>
              <a:ext uri="{FF2B5EF4-FFF2-40B4-BE49-F238E27FC236}">
                <a16:creationId xmlns:a16="http://schemas.microsoft.com/office/drawing/2014/main" id="{0078A298-9F1B-4B8B-9345-F323C8C674A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4D629348-CAB8-4316-B3BB-80D45B1C2CD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9711469-9AA4-4F63-B811-74B81C07B6A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BE1DEFE-AE03-4C92-B868-FF870D216A70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4753" name="Rectangle 1">
            <a:extLst>
              <a:ext uri="{FF2B5EF4-FFF2-40B4-BE49-F238E27FC236}">
                <a16:creationId xmlns:a16="http://schemas.microsoft.com/office/drawing/2014/main" id="{81778B35-0DE8-4724-9A0C-F5813C661F1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C96888A6-C7F5-4F48-94C9-F72EBC940B4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C2E03A6-29F1-456B-A16F-8E6BECE4C27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C06E353-3010-4D29-9454-A750CE5AC1A3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5777" name="Rectangle 1">
            <a:extLst>
              <a:ext uri="{FF2B5EF4-FFF2-40B4-BE49-F238E27FC236}">
                <a16:creationId xmlns:a16="http://schemas.microsoft.com/office/drawing/2014/main" id="{950061FA-DF57-4837-A98F-4A3C81E1F05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A11BD163-F7D3-4284-884F-B7DE5F52DBD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F35C986A-4F57-4B78-BA6F-081F9FC3561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CF61F0D-2B51-4751-81EF-7B0C7DE1D048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6801" name="Rectangle 1">
            <a:extLst>
              <a:ext uri="{FF2B5EF4-FFF2-40B4-BE49-F238E27FC236}">
                <a16:creationId xmlns:a16="http://schemas.microsoft.com/office/drawing/2014/main" id="{7E9EC1D1-618C-496A-9DAE-6DAB15359FA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5B5F31ED-9FA4-41CB-BEEE-3D5F4815D5F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76803" name="Text Box 3">
            <a:extLst>
              <a:ext uri="{FF2B5EF4-FFF2-40B4-BE49-F238E27FC236}">
                <a16:creationId xmlns:a16="http://schemas.microsoft.com/office/drawing/2014/main" id="{CA578E78-7293-425C-96CD-311806FF6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9EF3CAA-8C85-4575-84B9-682B7D3AE4DA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27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43F0AEB6-0ADD-4FC7-9488-ED0EC1008D7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CA2A2BE-56A4-40BF-AC3E-5904F2B20931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28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7825" name="Rectangle 1">
            <a:extLst>
              <a:ext uri="{FF2B5EF4-FFF2-40B4-BE49-F238E27FC236}">
                <a16:creationId xmlns:a16="http://schemas.microsoft.com/office/drawing/2014/main" id="{6533EB48-6C05-4E97-BCC3-0A3FB8A56DC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466C4D38-8355-403E-8BB0-7CA3DFB4A3A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  <p:sp>
        <p:nvSpPr>
          <p:cNvPr id="77827" name="Text Box 3">
            <a:extLst>
              <a:ext uri="{FF2B5EF4-FFF2-40B4-BE49-F238E27FC236}">
                <a16:creationId xmlns:a16="http://schemas.microsoft.com/office/drawing/2014/main" id="{855B7442-D09C-4CBC-A533-46CE8131E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7252304-8A0F-4244-B5D1-F46CDB6079B4}" type="slidenum">
              <a:rPr kumimoji="0" lang="pt-BR" alt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28</a:t>
            </a:fld>
            <a:endParaRPr kumimoji="0" lang="pt-BR" alt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BEE256F-0CE6-4945-BCBE-B41BEF77E18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7706D89-BE30-4D74-8475-CC6EE75D0B75}" type="slidenum"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29</a:t>
            </a:fld>
            <a:endParaRPr kumimoji="0" lang="pt-BR" alt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8849" name="Rectangle 1">
            <a:extLst>
              <a:ext uri="{FF2B5EF4-FFF2-40B4-BE49-F238E27FC236}">
                <a16:creationId xmlns:a16="http://schemas.microsoft.com/office/drawing/2014/main" id="{4214C727-D11B-49E6-9B3F-79BA439E180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EB2240F2-96B5-47A4-BAAF-884B2548F78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6226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9769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191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3588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2331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1234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34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7169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5967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46499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5875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5161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4464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0233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3222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6264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4752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6067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9400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59779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6384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6332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0673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0824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7573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94803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4971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63949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1903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90728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5403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8682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4834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51503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3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1040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47529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44181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89595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46215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90047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11880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2784808c7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2784808c7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63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E698-340F-4EBF-8F30-50453018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3148B-081B-4AAA-A608-7C7248C86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61F22-6C42-4B66-95B6-11D31254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95534-CCD6-491F-A2E1-73E332F4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2B9C3-B338-421F-97FF-D83A38E1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3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B48-7FAE-4D90-A750-F67CA7D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795F3-C7D4-4453-8EF9-EF2AD65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FD1F5-C29A-4D4D-AEFD-CEAC58A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B0816-DD1A-4889-8D4B-FEACBD91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DFF90-7FA0-4AF1-8FB3-17268578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4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219B9-C203-4DDB-9622-439B05E8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070E03-BE51-4677-897D-A0FBB7BB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B72A9-AE11-4C2C-96FA-E5412F97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9E67E6-F866-44DA-95E5-3C586795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EFE0C1-F50E-4535-A077-E85F2666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59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307CC-1EE9-4E03-A8E4-A188391F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40398-DF18-428D-8BD6-A81755299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4F92D6-2AA9-476A-9428-74BB2155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3D60A-99C0-43D8-A538-032756C6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A64066-069D-4832-9E95-87DFF30E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A151F2-785F-48FC-A706-B3B6CEEA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86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4693D-5F3B-4CFD-8A7E-0661B4EC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396E33-A9FA-4134-9F74-F9D43767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F8C7B-A663-44AD-8D10-14F2C930E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6EBEE3-CA07-4782-A360-635B2120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918A83-2868-4683-8EEC-E911D02AE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54105-C3CE-40D9-9F51-066AC34C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0CC430-9377-457F-87BC-4325C1B4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52A023-5E54-45CF-A288-75AAC3A9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32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64EE1-7D51-4138-8413-1DB8E29F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1B466E-6465-432B-BF93-A670E7A9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9E9D2F-30CA-41C1-9878-03445A92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A8759-97ED-4356-8F07-F67B3CF2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86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2641B1-C909-4EF1-BF0C-5B3B01B5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D9BBBB-43C7-48A3-A705-96F0A365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98FEE4-F7DE-4CBB-B498-A904FF32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67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773E6-1F86-48B3-B617-62BA8F4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73076-EBF9-4E18-B856-EEF4B299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AB3B9D-23F1-4980-9A8B-4EE72F5A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0468B-BDA6-4BF0-A2B9-97923EAA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45E7B-CFB3-4806-A8E5-64E2B710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F8A86-EA15-4FCE-AD77-5C42440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4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B41D0-1716-4F0A-89E3-B7F24280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61BD11-CA16-472C-A2E4-13BA64C4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A3AF83-743F-4AB8-BD33-8B1B86873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B877D6-E487-4A25-A13D-B193F3D2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99429D-CDCA-4E9C-BCCE-7CC6466B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B507C-82C3-4DEB-8CE5-D4444D2D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27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1B732-27AE-438A-8BFF-862D6A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01D6B1-9A93-4213-8E10-574E11F3D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6302D-DC45-4A1A-995E-B976A6B9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9D52E-42B7-496A-9698-ECC761DD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73E8CC-B11F-40DA-A0D6-F03C115F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41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6A2BCF-45B9-4EA2-AFEA-551F296F6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7FC913-1466-4466-93FC-3B186E5F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DB044-85AF-401E-A0A1-A087317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EAAF9-5F5C-48BF-B1DB-37067F2F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DFBD-9EB4-4D00-94D0-C67DF97A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28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72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7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6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49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87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66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49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35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0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2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139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0534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378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3124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0304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369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50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7049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5714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299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0097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B48-7FAE-4D90-A750-F67CA7D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795F3-C7D4-4453-8EF9-EF2AD65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FD1F5-C29A-4D4D-AEFD-CEAC58A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4C0C-B321-473C-8313-CAB523075A27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B0816-DD1A-4889-8D4B-FEACBD91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DFF90-7FA0-4AF1-8FB3-17268578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29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1A4B0C-CEB8-4239-B7CB-D30F63DB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FDA91-4622-4472-BA27-C1B09036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3F8B6-BF5F-4566-A90D-925F57210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B83AC9-2DF1-4775-B7F8-DCE61C444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6475A-9735-477F-BA89-044917D79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16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6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2674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onathan.bandeira@souunit.com.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7.png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7.png"/><Relationship Id="rId4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0.png"/><Relationship Id="rId4" Type="http://schemas.openxmlformats.org/officeDocument/2006/relationships/image" Target="../media/image1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1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3.png"/><Relationship Id="rId5" Type="http://schemas.openxmlformats.org/officeDocument/2006/relationships/image" Target="../media/image61.png"/><Relationship Id="rId4" Type="http://schemas.openxmlformats.org/officeDocument/2006/relationships/image" Target="../media/image1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onathan.bandeira@souunit.com.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2257994-BD97-4691-8B89-198A6D2BA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C3EE67-EB9B-4CDC-90C2-8819DDDCA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2849909"/>
            <a:ext cx="11344275" cy="1637503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Teoria dos Grafos                    </a:t>
            </a:r>
            <a:r>
              <a:rPr lang="pt-BR" sz="5600" dirty="0"/>
              <a:t>Busca em Largura e Profundidade</a:t>
            </a:r>
            <a:endParaRPr lang="pt-BR" sz="5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9F6184-63F4-4F05-8CE5-111C47729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66" y="5041078"/>
            <a:ext cx="8519882" cy="847176"/>
          </a:xfrm>
        </p:spPr>
        <p:txBody>
          <a:bodyPr>
            <a:normAutofit/>
          </a:bodyPr>
          <a:lstStyle/>
          <a:p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Bandeira: 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2"/>
              </a:rPr>
              <a:t>jonathan.bandeira@souunit.com.br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endParaRPr lang="pt-BR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CFCA72-CEF0-4B59-9249-2FF30437C0E2}"/>
              </a:ext>
            </a:extLst>
          </p:cNvPr>
          <p:cNvSpPr/>
          <p:nvPr/>
        </p:nvSpPr>
        <p:spPr>
          <a:xfrm>
            <a:off x="3979097" y="6319351"/>
            <a:ext cx="36070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da Computação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3" y="140903"/>
            <a:ext cx="4110038" cy="2195590"/>
          </a:xfrm>
          <a:prstGeom prst="rect">
            <a:avLst/>
          </a:prstGeom>
        </p:spPr>
      </p:pic>
      <p:pic>
        <p:nvPicPr>
          <p:cNvPr id="2052" name="Picture 4" descr="Porto Digital | Linked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2910" cy="281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29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 de problemas por espaços de estados;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 de problemas por meio de busca;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Cega ou Não Informada;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de Busca Cega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Largura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 Limitada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com Aprofundamento Iterativo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46"/>
            <a:fld id="{43A91214-D368-4B4F-B4B3-73A619B7B87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46"/>
              <a:t>2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027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 Representação de problemas por espaço de estados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4811123"/>
          </a:xfrm>
        </p:spPr>
        <p:txBody>
          <a:bodyPr>
            <a:normAutofit/>
          </a:bodyPr>
          <a:lstStyle/>
          <a:p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Na </a:t>
            </a:r>
            <a:r>
              <a:rPr lang="pt-BR" b="0" i="1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representação </a:t>
            </a:r>
            <a:r>
              <a:rPr lang="pt-BR" b="0" i="1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por espaço de estados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de um problema, os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nós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de um grafo correspondem a </a:t>
            </a:r>
            <a:r>
              <a:rPr lang="pt-BR" b="0" i="1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estados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 de soluções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parciais do problema, e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os arcos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correspondem a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passos de um processo de solução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de um problema. </a:t>
            </a:r>
          </a:p>
          <a:p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Um ou mais </a:t>
            </a:r>
            <a:r>
              <a:rPr lang="pt-BR" b="0" i="1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estados iniciais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, que correspondem à informação fornecida em uma instância do problema, formam a raiz do grafo. </a:t>
            </a:r>
          </a:p>
          <a:p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grafo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define também uma ou mais condições relativas aos </a:t>
            </a:r>
            <a:r>
              <a:rPr lang="pt-BR" b="0" i="1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objetivos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, que são soluções para uma instância do problema.</a:t>
            </a: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A </a:t>
            </a:r>
            <a:r>
              <a:rPr lang="pt-BR" dirty="0">
                <a:solidFill>
                  <a:schemeClr val="accent6"/>
                </a:solidFill>
                <a:latin typeface="Open Sans" panose="020B0606030504020204" pitchFamily="34" charset="0"/>
              </a:rPr>
              <a:t>busca em espaço de estados 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caracteriza a solução de um problema como o processo de </a:t>
            </a:r>
            <a:r>
              <a:rPr lang="pt-BR" dirty="0">
                <a:solidFill>
                  <a:schemeClr val="accent6"/>
                </a:solidFill>
                <a:latin typeface="Open Sans" panose="020B0606030504020204" pitchFamily="34" charset="0"/>
              </a:rPr>
              <a:t>procurar um caminho de solução 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partindo do </a:t>
            </a:r>
            <a:r>
              <a:rPr lang="pt-BR" dirty="0">
                <a:solidFill>
                  <a:schemeClr val="accent6"/>
                </a:solidFill>
                <a:latin typeface="Open Sans" panose="020B0606030504020204" pitchFamily="34" charset="0"/>
              </a:rPr>
              <a:t>estado inicial até um objetivo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.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2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 Representação de problemas por espaço de estados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074443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Arcos do espaço de estados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correspondem às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etapas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em um processo de solução, e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caminhos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pelo espaço representam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soluções em diversos estágios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de conclusão.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Os caminhos são buscados, começando no estado inicial e continuando pelo grafo, até que a descrição do objetivo seja satisfeita ou eles sejam abandonados.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criação real de novos estados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ao longo do caminho é feita pela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aplicação de operadores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, como “movimentos válidos”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Exemplos: </a:t>
            </a:r>
          </a:p>
          <a:p>
            <a:pPr lvl="1" algn="just"/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J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ogos determinísticos;</a:t>
            </a:r>
          </a:p>
          <a:p>
            <a:pPr lvl="1" algn="just"/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R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egras de inferência em um problema lógico;</a:t>
            </a:r>
          </a:p>
          <a:p>
            <a:pPr lvl="1" algn="just"/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S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istemas especialistas.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tarefa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de um algoritmo de busca é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encontrar um caminho de solução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por esse espaço de problemas.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Os algoritmos de busca devem acompanhar os caminhos de um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nó inicial até um nó objetivo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, pois esses caminhos contêm uma série de operações que levam à solução do problema.</a:t>
            </a: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3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 Representação de problemas por espaço de estados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7673968" cy="5074443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Exemplo: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Caixeiro Viajante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Suponha que um caixeiro-viajante tenha que visitar </a:t>
            </a:r>
            <a:r>
              <a:rPr lang="pt-BR" b="0" i="0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cinco cidades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 depois retornar para casa.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 objetivo do problema é encontrar o caminho mais curto para o caixeiro-viajante percorrer, visitando cada cidade e, depois, retornando à cidade inicial.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 caminho = A,D,C,B,E,A, 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possui um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custo associado de 450 quilômetros. </a:t>
            </a:r>
          </a:p>
          <a:p>
            <a:pPr algn="just"/>
            <a:r>
              <a:rPr lang="pt-BR" b="0" i="0" u="sng" dirty="0">
                <a:solidFill>
                  <a:schemeClr val="accent6"/>
                </a:solidFill>
                <a:effectLst/>
                <a:latin typeface="Open Sans" panose="020B0606030504020204" pitchFamily="34" charset="0"/>
              </a:rPr>
              <a:t>A descrição do objetivo requer um circuito completo com custo mínimo. </a:t>
            </a:r>
            <a:endParaRPr lang="pt-BR" u="sng" dirty="0">
              <a:solidFill>
                <a:schemeClr val="accent6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0A51F5-5347-4F25-8F10-7C6B1BCF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568" y="2092526"/>
            <a:ext cx="3984597" cy="278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0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 Representação de problemas por espaço de estados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431637"/>
            <a:ext cx="11360799" cy="5074443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Um problema pode ser considerado como um objetivo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Um conjunto de ações podem ser praticadas para alcançar esse objetivo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Ao buscar um objetivo, estamos em um determinado estado</a:t>
            </a:r>
          </a:p>
          <a:p>
            <a:pPr lvl="1"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 estado inicial é quando iniciamos a busca</a:t>
            </a:r>
          </a:p>
          <a:p>
            <a:pPr lvl="1"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 estado que satisfaz a meta é o estado objetivo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Busca</a:t>
            </a:r>
          </a:p>
          <a:p>
            <a:pPr lvl="1"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Método que examina o espaço de um problema, buscando um objetivo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32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>
            <a:extLst>
              <a:ext uri="{FF2B5EF4-FFF2-40B4-BE49-F238E27FC236}">
                <a16:creationId xmlns:a16="http://schemas.microsoft.com/office/drawing/2014/main" id="{F6D88774-5100-469C-AA65-822AE4F97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5945"/>
            <a:ext cx="8229600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3200" b="1" kern="0" dirty="0">
                <a:solidFill>
                  <a:srgbClr val="FFFF00"/>
                </a:solidFill>
                <a:latin typeface="Montserrat SemiBold" panose="00000700000000000000" pitchFamily="50" charset="0"/>
                <a:cs typeface="Arial"/>
                <a:sym typeface="Arial"/>
              </a:rPr>
              <a:t>Agentes de resolução de problemas</a:t>
            </a:r>
          </a:p>
        </p:txBody>
      </p:sp>
      <p:sp>
        <p:nvSpPr>
          <p:cNvPr id="6146" name="Text Box 2">
            <a:extLst>
              <a:ext uri="{FF2B5EF4-FFF2-40B4-BE49-F238E27FC236}">
                <a16:creationId xmlns:a16="http://schemas.microsoft.com/office/drawing/2014/main" id="{95110C40-F2A3-4BA8-9423-802F214B8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66" y="1125539"/>
            <a:ext cx="10263961" cy="5268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Suponha um agente em férias na cidade de Arad na Romênia. Suas medidas de desempenho são: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Melhorar o bronzeado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Melhorar seu conhecimento no idioma Romeno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Ver as paisagens, apreciar a vida noturna (ver como  ela é)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Evitar ressacas, etc.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Suponha ainda que o agente tenha uma passagem aérea não-reembolsável para partir de Bucareste no dia seguinte.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Faz sentido adotar o objetivo de chegar a Bucareste. 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Os demais cursos podem ser rejeitados sem nenhuma consideração adicional.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A55E39EC-5509-4F1C-9F81-2BA3E9FCE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>
              <a:buClr>
                <a:srgbClr val="000000"/>
              </a:buClr>
            </a:pPr>
            <a:endParaRPr lang="pt-BR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170" name="Text Box 2">
            <a:extLst>
              <a:ext uri="{FF2B5EF4-FFF2-40B4-BE49-F238E27FC236}">
                <a16:creationId xmlns:a16="http://schemas.microsoft.com/office/drawing/2014/main" id="{F8F52843-B1DF-4EB4-B56D-A5AC08A7D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>
              <a:buClr>
                <a:srgbClr val="000000"/>
              </a:buClr>
            </a:pPr>
            <a:endParaRPr lang="pt-BR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678B6416-E1DE-4AB0-8AC3-2B104503C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>
            <a:extLst>
              <a:ext uri="{FF2B5EF4-FFF2-40B4-BE49-F238E27FC236}">
                <a16:creationId xmlns:a16="http://schemas.microsoft.com/office/drawing/2014/main" id="{F3F36686-F7DE-4EF6-A25C-2349F2D60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25" y="47624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0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Resolução de Problemas por meio de Busca</a:t>
            </a:r>
          </a:p>
        </p:txBody>
      </p:sp>
      <p:sp>
        <p:nvSpPr>
          <p:cNvPr id="8194" name="Text Box 2">
            <a:extLst>
              <a:ext uri="{FF2B5EF4-FFF2-40B4-BE49-F238E27FC236}">
                <a16:creationId xmlns:a16="http://schemas.microsoft.com/office/drawing/2014/main" id="{2C5651C1-2970-406D-96EF-AB94A8922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78" y="2296633"/>
            <a:ext cx="10547500" cy="4085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lnSpc>
                <a:spcPct val="80000"/>
              </a:lnSpc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objetivo vai ser representado por um conjunto de estados</a:t>
            </a:r>
          </a:p>
          <a:p>
            <a:pPr marL="455073" indent="-455073" defTabSz="1219170">
              <a:lnSpc>
                <a:spcPct val="80000"/>
              </a:lnSpc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lnSpc>
                <a:spcPct val="80000"/>
              </a:lnSpc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Ações fazem o agente mudar de um estado para outro</a:t>
            </a:r>
          </a:p>
          <a:p>
            <a:pPr marL="455073" indent="-455073" defTabSz="1219170">
              <a:lnSpc>
                <a:spcPct val="80000"/>
              </a:lnSpc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lnSpc>
                <a:spcPct val="80000"/>
              </a:lnSpc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agente deve encontrar um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conjunto de ações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(de preferência o melhor) que o levem do estado inicial ao estado final</a:t>
            </a:r>
          </a:p>
          <a:p>
            <a:pPr marL="455073" indent="-455073" defTabSz="1219170">
              <a:lnSpc>
                <a:spcPct val="80000"/>
              </a:lnSpc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>
            <a:extLst>
              <a:ext uri="{FF2B5EF4-FFF2-40B4-BE49-F238E27FC236}">
                <a16:creationId xmlns:a16="http://schemas.microsoft.com/office/drawing/2014/main" id="{323475EF-4ADB-487F-9EE2-E5119D504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186" y="457201"/>
            <a:ext cx="933184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0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Representação</a:t>
            </a:r>
            <a:r>
              <a:rPr lang="pt-BR" altLang="pt-BR" sz="44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40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da solução de problemas</a:t>
            </a:r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9C764743-3F5E-45DF-B555-17E72F6FF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60" y="2169041"/>
            <a:ext cx="10816856" cy="3957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Podemos representar a </a:t>
            </a:r>
            <a:r>
              <a:rPr lang="pt-BR" altLang="pt-BR" sz="3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solução de problemas 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como uma </a:t>
            </a:r>
            <a:r>
              <a:rPr lang="pt-BR" altLang="pt-BR" sz="3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sequencia de estados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 que leva de um </a:t>
            </a:r>
            <a:r>
              <a:rPr lang="pt-BR" altLang="pt-BR" sz="3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inicial até um estado final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onde cada estado é um estado</a:t>
            </a:r>
            <a:r>
              <a:rPr lang="pt-BR" altLang="pt-BR" sz="32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3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admissível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</a:t>
            </a:r>
            <a:r>
              <a:rPr lang="pt-BR" altLang="pt-BR" sz="32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isto é, produzido a partir de um estado anterior através de uma ação.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>
            <a:extLst>
              <a:ext uri="{FF2B5EF4-FFF2-40B4-BE49-F238E27FC236}">
                <a16:creationId xmlns:a16="http://schemas.microsoft.com/office/drawing/2014/main" id="{FDBA3CCC-A660-4CE4-B47D-A206A33CA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Formulação de objetivos</a:t>
            </a:r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B4B68798-265D-410D-A0B0-67CF77F9E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141" y="1600201"/>
            <a:ext cx="1022143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Baseada na situação atual e na medida de desempenho do agente. </a:t>
            </a:r>
          </a:p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32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Os objetivos ajudam a </a:t>
            </a:r>
            <a:r>
              <a:rPr lang="pt-BR" altLang="pt-BR" sz="3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organizar (direciona) 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comportamento, limitando os objetivos que o agente está tentando alcançar.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:a16="http://schemas.microsoft.com/office/drawing/2014/main" id="{BEEC22C6-D3FD-4465-B412-242587278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Formulação de problemas</a:t>
            </a:r>
          </a:p>
        </p:txBody>
      </p:sp>
      <p:sp>
        <p:nvSpPr>
          <p:cNvPr id="11266" name="Text Box 2">
            <a:extLst>
              <a:ext uri="{FF2B5EF4-FFF2-40B4-BE49-F238E27FC236}">
                <a16:creationId xmlns:a16="http://schemas.microsoft.com/office/drawing/2014/main" id="{235E6C87-0866-4F9B-845E-2B8AC2573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370" y="1600201"/>
            <a:ext cx="109586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o processo de </a:t>
            </a:r>
            <a:r>
              <a:rPr lang="pt-BR" altLang="pt-BR" sz="3200" b="1" i="1" u="sng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decidir que ações e estados devem ser considerados</a:t>
            </a: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</a:t>
            </a:r>
            <a:r>
              <a:rPr lang="pt-BR" altLang="pt-BR" sz="3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em função de um objetivo. </a:t>
            </a:r>
          </a:p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32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Considera-se a possibilidade de se atingir um mesmo objetivo através de caminhos (ações e estados) diferentes.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>
            <a:extLst>
              <a:ext uri="{FF2B5EF4-FFF2-40B4-BE49-F238E27FC236}">
                <a16:creationId xmlns:a16="http://schemas.microsoft.com/office/drawing/2014/main" id="{46A66546-132B-4F6B-A3ED-C64783CBC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solução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62CF3126-E4A1-484D-BBCC-51F204AC8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66" y="1600201"/>
            <a:ext cx="1091609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lvl="1" indent="-455073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Um agente com várias opções imediatas, de valor desconhecido, pode decidir o que fazer primeiro examinando várias sequencias possíveis de ações que levem a estados de valor conhecido, e escolher a melhor.</a:t>
            </a:r>
          </a:p>
          <a:p>
            <a:pPr marL="455073" lvl="1" indent="-455073" defTabSz="1219170">
              <a:spcBef>
                <a:spcPts val="5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2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lvl="1" indent="-455073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Um algoritmo de </a:t>
            </a:r>
            <a:r>
              <a:rPr lang="pt-BR" altLang="pt-BR" sz="2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</a:t>
            </a:r>
            <a:r>
              <a:rPr lang="pt-BR" altLang="pt-BR" sz="22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recebe um problema como </a:t>
            </a:r>
            <a:r>
              <a:rPr lang="pt-BR" altLang="pt-BR" sz="2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entrada</a:t>
            </a:r>
            <a:r>
              <a:rPr lang="pt-BR" altLang="pt-BR" sz="22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(</a:t>
            </a:r>
            <a:r>
              <a:rPr lang="pt-BR" altLang="pt-BR" sz="2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percepção</a:t>
            </a: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) e retorna uma</a:t>
            </a:r>
            <a:r>
              <a:rPr lang="pt-BR" altLang="pt-BR" sz="22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solução</a:t>
            </a:r>
            <a:r>
              <a:rPr lang="pt-BR" altLang="pt-BR" sz="22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(</a:t>
            </a:r>
            <a:r>
              <a:rPr lang="pt-BR" altLang="pt-BR" sz="2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ação</a:t>
            </a: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) sob a forma de uma sequencia de ações. </a:t>
            </a:r>
          </a:p>
          <a:p>
            <a:pPr marL="455073" lvl="1" indent="-455073" defTabSz="1219170">
              <a:spcBef>
                <a:spcPts val="5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2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lvl="1" indent="-455073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Depois que uma solução é encontrada, as ações que ela recomenda podem ser executadas. </a:t>
            </a:r>
          </a:p>
          <a:p>
            <a:pPr marL="455073" indent="-455073" defTabSz="1219170">
              <a:spcBef>
                <a:spcPts val="5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2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1">
            <a:extLst>
              <a:ext uri="{FF2B5EF4-FFF2-40B4-BE49-F238E27FC236}">
                <a16:creationId xmlns:a16="http://schemas.microsoft.com/office/drawing/2014/main" id="{B13A61F9-1A48-4C93-A196-F9C17CBF1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8229600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36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Viagem na Romênia</a:t>
            </a:r>
          </a:p>
        </p:txBody>
      </p:sp>
      <p:sp>
        <p:nvSpPr>
          <p:cNvPr id="14338" name="Text Box 2">
            <a:extLst>
              <a:ext uri="{FF2B5EF4-FFF2-40B4-BE49-F238E27FC236}">
                <a16:creationId xmlns:a16="http://schemas.microsoft.com/office/drawing/2014/main" id="{3D6D046F-0D95-4B5A-BCF2-9291E1B0F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35" y="692151"/>
            <a:ext cx="10060616" cy="280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Estamos em Arad, com uma passagem de volta para </a:t>
            </a:r>
            <a:r>
              <a:rPr lang="pt-BR" altLang="pt-BR" sz="2000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Bucharest</a:t>
            </a:r>
            <a:endParaRPr lang="pt-BR" altLang="pt-BR" sz="20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988459" lvl="1" indent="-378875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objetivo é chegar em </a:t>
            </a:r>
            <a:r>
              <a:rPr lang="pt-BR" altLang="pt-BR" sz="2000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Bucharest</a:t>
            </a:r>
            <a:endParaRPr lang="pt-BR" altLang="pt-BR" sz="20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Estados (Formulação do problema)</a:t>
            </a:r>
          </a:p>
          <a:p>
            <a:pPr marL="988459" lvl="1" indent="-378875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Conjunto de cidades</a:t>
            </a:r>
          </a:p>
          <a:p>
            <a:pPr marL="988459" lvl="1" indent="-378875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Ações</a:t>
            </a:r>
          </a:p>
          <a:p>
            <a:pPr marL="988459" lvl="1" indent="-378875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Dirigir de uma cidade para outra</a:t>
            </a:r>
          </a:p>
          <a:p>
            <a:pPr marL="455073" indent="-455073" defTabSz="1219170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Solução</a:t>
            </a:r>
          </a:p>
          <a:p>
            <a:pPr marL="988459" lvl="1" indent="-378875" defTabSz="121917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Sequencia de cidades</a:t>
            </a: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926BA3E9-3362-4F57-8A3A-EA3EC55FD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3429000"/>
            <a:ext cx="8459787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>
            <a:extLst>
              <a:ext uri="{FF2B5EF4-FFF2-40B4-BE49-F238E27FC236}">
                <a16:creationId xmlns:a16="http://schemas.microsoft.com/office/drawing/2014/main" id="{D6CB2394-59BC-4843-BB3F-0AEAC2E5A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3376"/>
            <a:ext cx="82296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e soluções bem definidos</a:t>
            </a:r>
          </a:p>
        </p:txBody>
      </p:sp>
      <p:sp>
        <p:nvSpPr>
          <p:cNvPr id="16386" name="Text Box 2">
            <a:extLst>
              <a:ext uri="{FF2B5EF4-FFF2-40B4-BE49-F238E27FC236}">
                <a16:creationId xmlns:a16="http://schemas.microsoft.com/office/drawing/2014/main" id="{6968B411-EAF8-4C1D-9233-82CA4A980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3" y="1304132"/>
            <a:ext cx="1000605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69963" indent="-5127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Um problema pode ser definido formalmente por quatro componentes:</a:t>
            </a:r>
          </a:p>
          <a:p>
            <a:pPr marL="1293252" lvl="1" indent="-683667" defTabSz="1219170">
              <a:spcBef>
                <a:spcPts val="551"/>
              </a:spcBef>
              <a:buClr>
                <a:srgbClr val="FF0000"/>
              </a:buClr>
              <a:buFont typeface="Calibri" panose="020F0502020204030204" pitchFamily="34" charset="0"/>
              <a:buAutoNum type="arabicPeriod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inicial: </a:t>
            </a: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o estado inicial dado. Por exemplo: Em(Arad)</a:t>
            </a:r>
          </a:p>
          <a:p>
            <a:pPr marL="342891" indent="-455073" defTabSz="1219170">
              <a:spcBef>
                <a:spcPts val="600"/>
              </a:spcBef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• Uma descrição das</a:t>
            </a:r>
            <a:r>
              <a:rPr lang="pt-BR" altLang="pt-BR" sz="24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ações possíveis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estão disponíveis para o agente. A formulação mais comum utiliza uma 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função sucessor</a:t>
            </a:r>
            <a:r>
              <a:rPr lang="pt-BR" altLang="pt-BR" sz="2400" kern="0" dirty="0">
                <a:solidFill>
                  <a:srgbClr val="FF0000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.</a:t>
            </a:r>
          </a:p>
          <a:p>
            <a:pPr marL="971526" lvl="1" indent="-683667" defTabSz="1219170">
              <a:spcBef>
                <a:spcPts val="600"/>
              </a:spcBef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Dado um estado particular </a:t>
            </a:r>
            <a:r>
              <a:rPr lang="pt-BR" altLang="pt-BR" sz="2400" i="1" kern="0" dirty="0">
                <a:solidFill>
                  <a:srgbClr val="EEFF41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x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SUCESSOR(x)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retorna um conjunto de pares ordenados </a:t>
            </a:r>
            <a:r>
              <a:rPr lang="pt-BR" altLang="pt-BR" sz="2400" i="1" kern="0" dirty="0">
                <a:solidFill>
                  <a:srgbClr val="EEFF41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&lt;ação, sucessor&gt;,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em que cada ação é uma ação válida no estado</a:t>
            </a:r>
            <a:r>
              <a:rPr lang="pt-BR" altLang="pt-BR" sz="24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400" i="1" kern="0" dirty="0">
                <a:solidFill>
                  <a:srgbClr val="EEFF41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x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 cada sucessor é um estado que pode ser alcançado a partir de 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x</a:t>
            </a:r>
            <a:r>
              <a:rPr lang="pt-BR" altLang="pt-BR" sz="24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aplicando-se a ação. </a:t>
            </a:r>
          </a:p>
          <a:p>
            <a:pPr marL="342891" indent="-455073" defTabSz="1219170">
              <a:spcBef>
                <a:spcPts val="600"/>
              </a:spcBef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•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Ex.: Em(Arad) a função sucessor retornaria:</a:t>
            </a:r>
          </a:p>
        </p:txBody>
      </p:sp>
      <p:pic>
        <p:nvPicPr>
          <p:cNvPr id="16387" name="Picture 3">
            <a:extLst>
              <a:ext uri="{FF2B5EF4-FFF2-40B4-BE49-F238E27FC236}">
                <a16:creationId xmlns:a16="http://schemas.microsoft.com/office/drawing/2014/main" id="{D621DE90-759E-4268-BFF1-93608F72E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4" y="5578476"/>
            <a:ext cx="882173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>
            <a:extLst>
              <a:ext uri="{FF2B5EF4-FFF2-40B4-BE49-F238E27FC236}">
                <a16:creationId xmlns:a16="http://schemas.microsoft.com/office/drawing/2014/main" id="{4A5B51FF-D81A-43E3-BF5B-93D910F04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viajar pela Romênia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B94FDBAA-285D-4F33-B2E1-B02A69DAD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41437"/>
            <a:ext cx="9144000" cy="551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411" name="Text Box 3">
            <a:extLst>
              <a:ext uri="{FF2B5EF4-FFF2-40B4-BE49-F238E27FC236}">
                <a16:creationId xmlns:a16="http://schemas.microsoft.com/office/drawing/2014/main" id="{0614C894-A1E2-43A7-A03F-F5FF85C12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356351"/>
            <a:ext cx="289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fld id="{D67E5101-2B4A-4221-AEBD-26578F541F39}" type="slidenum">
              <a:rPr lang="pt-BR" altLang="pt-BR" sz="1200" kern="0">
                <a:solidFill>
                  <a:srgbClr val="898989"/>
                </a:solidFill>
                <a:latin typeface="Calibri" panose="020F0502020204030204" pitchFamily="34" charset="0"/>
                <a:sym typeface="Arial"/>
              </a:rPr>
              <a:pPr algn="ctr" defTabSz="1219170">
                <a:tabLst>
                  <a:tab pos="0" algn="l"/>
                  <a:tab pos="1219170" algn="l"/>
                  <a:tab pos="2438339" algn="l"/>
                  <a:tab pos="3657509" algn="l"/>
                  <a:tab pos="4876678" algn="l"/>
                  <a:tab pos="6095848" algn="l"/>
                  <a:tab pos="7315017" algn="l"/>
                  <a:tab pos="8534187" algn="l"/>
                  <a:tab pos="9753356" algn="l"/>
                  <a:tab pos="10972526" algn="l"/>
                  <a:tab pos="12191695" algn="l"/>
                  <a:tab pos="13410865" algn="l"/>
                </a:tabLst>
              </a:pPr>
              <a:t>16</a:t>
            </a:fld>
            <a:endParaRPr lang="pt-BR" altLang="pt-BR" sz="1200" kern="0">
              <a:solidFill>
                <a:srgbClr val="898989"/>
              </a:solidFill>
              <a:latin typeface="Calibri" panose="020F0502020204030204" pitchFamily="34" charset="0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>
            <a:extLst>
              <a:ext uri="{FF2B5EF4-FFF2-40B4-BE49-F238E27FC236}">
                <a16:creationId xmlns:a16="http://schemas.microsoft.com/office/drawing/2014/main" id="{8CE8FC55-4FB2-4191-BAB5-9C0B60915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e soluções bem definidos</a:t>
            </a:r>
            <a:b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</a:br>
            <a:endParaRPr lang="pt-BR" altLang="pt-BR" sz="3600" kern="0" dirty="0">
              <a:solidFill>
                <a:srgbClr val="EEFF41">
                  <a:lumMod val="75000"/>
                </a:srgbClr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  <p:sp>
        <p:nvSpPr>
          <p:cNvPr id="18434" name="Text Box 2">
            <a:extLst>
              <a:ext uri="{FF2B5EF4-FFF2-40B4-BE49-F238E27FC236}">
                <a16:creationId xmlns:a16="http://schemas.microsoft.com/office/drawing/2014/main" id="{73BFD1A4-21DA-4FDE-952E-CDC835B66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98" y="1268414"/>
            <a:ext cx="10405729" cy="4857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Espaço de Estados: </a:t>
            </a: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a conjunção do estado inicial e a função sucessor do problema. 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Trata-se  do conjunto de todos os estados </a:t>
            </a:r>
            <a:r>
              <a:rPr lang="pt-BR" altLang="pt-BR" sz="2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acessíveis</a:t>
            </a:r>
            <a:r>
              <a:rPr lang="pt-BR" altLang="pt-BR" sz="24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</a:t>
            </a:r>
            <a:r>
              <a:rPr lang="pt-BR" altLang="pt-BR" sz="24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partir do estado inicial. 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Forma um grafo em que os  nós são  estados e os arcos entre os nós são ações.</a:t>
            </a:r>
          </a:p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800" kern="0" dirty="0">
              <a:solidFill>
                <a:srgbClr val="FF0000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Caminho</a:t>
            </a:r>
            <a:r>
              <a:rPr lang="pt-BR" altLang="pt-BR" sz="28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: </a:t>
            </a: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Trata-se de uma sequencia de estados conectados por uma sequencia de ações.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>
            <a:extLst>
              <a:ext uri="{FF2B5EF4-FFF2-40B4-BE49-F238E27FC236}">
                <a16:creationId xmlns:a16="http://schemas.microsoft.com/office/drawing/2014/main" id="{42A3BAE0-6A89-4A93-80A0-308BF6E49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e soluções bem definidos</a:t>
            </a:r>
            <a:b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</a:br>
            <a:endParaRPr lang="pt-BR" altLang="pt-BR" sz="3600" kern="0" dirty="0">
              <a:solidFill>
                <a:srgbClr val="EEFF41">
                  <a:lumMod val="75000"/>
                </a:srgbClr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  <p:sp>
        <p:nvSpPr>
          <p:cNvPr id="19458" name="Text Box 2">
            <a:extLst>
              <a:ext uri="{FF2B5EF4-FFF2-40B4-BE49-F238E27FC236}">
                <a16:creationId xmlns:a16="http://schemas.microsoft.com/office/drawing/2014/main" id="{9AB29A3B-F2C1-43C7-ACF5-57B309131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197" y="1268414"/>
            <a:ext cx="10660911" cy="4857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651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Teste de Objetivo: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um teste que determina se um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dado estado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um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objetivo.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possível a existência de um conjunto de estados objetivos possíveis e o teste simplesmente verifica se o estado dado é um deles.</a:t>
            </a:r>
          </a:p>
          <a:p>
            <a:pPr marL="455073" indent="-455073" defTabSz="1219170">
              <a:spcBef>
                <a:spcPts val="651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Custo de caminho: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uma função que atribui um custo (valor) numérico a cada caminho.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agente de resolução de problemas escolhe uma função de custo que reflete sua própria medida de desempenho. 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No exemplo do agente de Arad, o tempo é essencial e, portanto, considera-se o caminho mais rápido aquele com a menor distância percorrida.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>
            <a:extLst>
              <a:ext uri="{FF2B5EF4-FFF2-40B4-BE49-F238E27FC236}">
                <a16:creationId xmlns:a16="http://schemas.microsoft.com/office/drawing/2014/main" id="{67027BA3-EB39-4AF5-AD12-DD95EA30A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e soluções bem definidos</a:t>
            </a:r>
            <a:br>
              <a:rPr lang="pt-BR" altLang="pt-BR" sz="3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</a:br>
            <a:endParaRPr lang="pt-BR" altLang="pt-BR" sz="3600" kern="0" dirty="0">
              <a:solidFill>
                <a:srgbClr val="EEFF41">
                  <a:lumMod val="75000"/>
                </a:srgbClr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  <p:sp>
        <p:nvSpPr>
          <p:cNvPr id="20482" name="Text Box 2">
            <a:extLst>
              <a:ext uri="{FF2B5EF4-FFF2-40B4-BE49-F238E27FC236}">
                <a16:creationId xmlns:a16="http://schemas.microsoft.com/office/drawing/2014/main" id="{ECA0BF79-CAFD-42F5-8C75-AD972F540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670" y="2060575"/>
            <a:ext cx="9696893" cy="406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651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Custo de passo: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o custo por se adotar a ação </a:t>
            </a:r>
            <a:r>
              <a:rPr lang="pt-BR" altLang="pt-BR" sz="2600" i="1" kern="0" dirty="0">
                <a:solidFill>
                  <a:srgbClr val="EEFF41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</a:t>
            </a:r>
            <a:r>
              <a:rPr lang="pt-BR" altLang="pt-BR" sz="26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para ir do estado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x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ao estado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y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ou seja, denota-se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c(</a:t>
            </a:r>
            <a:r>
              <a:rPr lang="pt-BR" altLang="pt-BR" sz="2600" kern="0" dirty="0" err="1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x,a,y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).</a:t>
            </a:r>
          </a:p>
          <a:p>
            <a:pPr marL="455073" indent="-455073" defTabSz="1219170">
              <a:spcBef>
                <a:spcPts val="651"/>
              </a:spcBef>
              <a:buClr>
                <a:srgbClr val="FF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solidFill>
                <a:srgbClr val="FF0000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Para o caso do agente que se desloca de  Arad à </a:t>
            </a:r>
            <a:r>
              <a:rPr lang="pt-BR" altLang="pt-BR" sz="2600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Bucharest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trata-se das  distância das rotas entre os diversos municípios interligados entre as duas cidades</a:t>
            </a:r>
            <a:r>
              <a:rPr lang="pt-BR" altLang="pt-BR" sz="26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>
            <a:extLst>
              <a:ext uri="{FF2B5EF4-FFF2-40B4-BE49-F238E27FC236}">
                <a16:creationId xmlns:a16="http://schemas.microsoft.com/office/drawing/2014/main" id="{B3A26352-07C2-4BA8-87D2-D8EDD71D8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Viagem na Romênia</a:t>
            </a:r>
          </a:p>
        </p:txBody>
      </p:sp>
      <p:sp>
        <p:nvSpPr>
          <p:cNvPr id="21506" name="Text Box 2">
            <a:extLst>
              <a:ext uri="{FF2B5EF4-FFF2-40B4-BE49-F238E27FC236}">
                <a16:creationId xmlns:a16="http://schemas.microsoft.com/office/drawing/2014/main" id="{98A57D05-B006-4895-9D70-D3F8775B2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908052"/>
            <a:ext cx="8997359" cy="244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Estados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3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Conjunto de cidades</a:t>
            </a:r>
          </a:p>
          <a:p>
            <a:pPr marL="455073" indent="-455073" defTabSz="121917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Inicial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3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Arad</a:t>
            </a:r>
          </a:p>
          <a:p>
            <a:pPr marL="455073" indent="-455073" defTabSz="121917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Ações (Função Sucessor)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3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Dirigir de uma cidade para outra</a:t>
            </a:r>
          </a:p>
          <a:p>
            <a:pPr marL="455073" indent="-455073" defTabSz="121917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Teste do Objetivo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3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Estar em </a:t>
            </a:r>
            <a:r>
              <a:rPr lang="pt-BR" altLang="pt-BR" sz="1400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Bucharest</a:t>
            </a:r>
            <a:endParaRPr lang="pt-BR" altLang="pt-BR" sz="14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Custo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3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1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Distância entre as cidades</a:t>
            </a:r>
          </a:p>
        </p:txBody>
      </p:sp>
      <p:pic>
        <p:nvPicPr>
          <p:cNvPr id="21507" name="Picture 3">
            <a:extLst>
              <a:ext uri="{FF2B5EF4-FFF2-40B4-BE49-F238E27FC236}">
                <a16:creationId xmlns:a16="http://schemas.microsoft.com/office/drawing/2014/main" id="{34B15A40-561C-4C41-9BE4-31341CE31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90" y="3284538"/>
            <a:ext cx="8675687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>
            <a:extLst>
              <a:ext uri="{FF2B5EF4-FFF2-40B4-BE49-F238E27FC236}">
                <a16:creationId xmlns:a16="http://schemas.microsoft.com/office/drawing/2014/main" id="{61E47B40-E750-4BF3-9833-D379D44B5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Aspirador de Pó</a:t>
            </a:r>
          </a:p>
        </p:txBody>
      </p:sp>
      <p:sp>
        <p:nvSpPr>
          <p:cNvPr id="22530" name="Text Box 2">
            <a:extLst>
              <a:ext uri="{FF2B5EF4-FFF2-40B4-BE49-F238E27FC236}">
                <a16:creationId xmlns:a16="http://schemas.microsoft.com/office/drawing/2014/main" id="{B9571DAC-3ACA-460A-8518-8DA133A36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549" y="908051"/>
            <a:ext cx="914233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Estados: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agente pode estar em 1 de 2 locais possíveis, que podem estar sujos ou limpos (8 estados)</a:t>
            </a:r>
          </a:p>
          <a:p>
            <a:pPr marL="455073" indent="-455073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inicial: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qualquer um</a:t>
            </a:r>
          </a:p>
          <a:p>
            <a:pPr marL="455073" indent="-455073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Sequencia de ações </a:t>
            </a:r>
          </a:p>
          <a:p>
            <a:pPr marL="342891" indent="-455073" defTabSz="1219170">
              <a:lnSpc>
                <a:spcPct val="80000"/>
              </a:lnSpc>
              <a:spcBef>
                <a:spcPts val="500"/>
              </a:spcBef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      (Função Sucessor)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i="1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esq</a:t>
            </a:r>
            <a:r>
              <a:rPr lang="pt-BR" altLang="pt-BR" sz="2000" i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</a:t>
            </a:r>
            <a:r>
              <a:rPr lang="pt-BR" altLang="pt-BR" sz="2000" i="1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dir</a:t>
            </a:r>
            <a:r>
              <a:rPr lang="pt-BR" altLang="pt-BR" sz="2000" i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aspira</a:t>
            </a:r>
          </a:p>
          <a:p>
            <a:pPr marL="455073" indent="-455073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Teste de objetivo: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todos os locais limpos</a:t>
            </a:r>
          </a:p>
          <a:p>
            <a:pPr marL="455073" indent="-455073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Custo: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0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cada ação tem custo 1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5DF25A4A-5AF5-4FB0-81ED-7739851D9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916" y="2051052"/>
            <a:ext cx="5364163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>
            <a:extLst>
              <a:ext uri="{FF2B5EF4-FFF2-40B4-BE49-F238E27FC236}">
                <a16:creationId xmlns:a16="http://schemas.microsoft.com/office/drawing/2014/main" id="{58E37949-712C-4C6D-8F2D-010B6CB5B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463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b="1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8-Puzzle</a:t>
            </a:r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51FFD848-5755-4167-AD4C-577BDF8B9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29" y="1600201"/>
            <a:ext cx="937437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Estados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Posição de cada uma das peças e do espaço no tabuleiro</a:t>
            </a:r>
          </a:p>
          <a:p>
            <a:pPr marL="455073" indent="-455073" defTabSz="121917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Inicial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Qualquer um</a:t>
            </a:r>
          </a:p>
          <a:p>
            <a:pPr marL="455073" indent="-455073" defTabSz="121917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Ações (Função Sucessor)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Cima, Baixo, </a:t>
            </a:r>
            <a:r>
              <a:rPr lang="pt-BR" altLang="pt-BR" sz="2400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Dir</a:t>
            </a: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, </a:t>
            </a:r>
            <a:r>
              <a:rPr lang="pt-BR" altLang="pt-BR" sz="2400" kern="0" dirty="0" err="1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Esq</a:t>
            </a:r>
            <a:endParaRPr lang="pt-BR" altLang="pt-BR" sz="24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Teste do objetivo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Checar se a configuração foi atingida</a:t>
            </a:r>
          </a:p>
          <a:p>
            <a:pPr marL="455073" indent="-455073" defTabSz="121917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Custo</a:t>
            </a:r>
          </a:p>
          <a:p>
            <a:pPr marL="988459" lvl="1" indent="-378875" defTabSz="1219170">
              <a:lnSpc>
                <a:spcPct val="8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Cada ação tem custo 1</a:t>
            </a:r>
          </a:p>
        </p:txBody>
      </p:sp>
      <p:pic>
        <p:nvPicPr>
          <p:cNvPr id="23555" name="Picture 3">
            <a:extLst>
              <a:ext uri="{FF2B5EF4-FFF2-40B4-BE49-F238E27FC236}">
                <a16:creationId xmlns:a16="http://schemas.microsoft.com/office/drawing/2014/main" id="{67634FEC-07C7-4DFC-92C9-ABFE4FB85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543" y="2795405"/>
            <a:ext cx="3600451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>
            <a:extLst>
              <a:ext uri="{FF2B5EF4-FFF2-40B4-BE49-F238E27FC236}">
                <a16:creationId xmlns:a16="http://schemas.microsoft.com/office/drawing/2014/main" id="{71C83E12-A734-4641-8A9A-C529B314A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765177"/>
            <a:ext cx="82296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do mundo real</a:t>
            </a:r>
            <a:b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</a:br>
            <a:endParaRPr lang="pt-BR" altLang="pt-BR" sz="4400" kern="0" dirty="0">
              <a:solidFill>
                <a:srgbClr val="EEFF41">
                  <a:lumMod val="75000"/>
                </a:srgbClr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27B977ED-21F7-4D09-AA5B-DD1E5B5C3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197" y="1557340"/>
            <a:ext cx="9232604" cy="456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 de roteamento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Encontrar a melhor rota de um ponto a outro  (aplicações: redes de computadores, planejamento militar, planejamento de viagens aéreas)</a:t>
            </a:r>
          </a:p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de tour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Visitar cada ponto pelo menos uma vez</a:t>
            </a:r>
          </a:p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Caixeiro viajante</a:t>
            </a:r>
          </a:p>
          <a:p>
            <a:pPr marL="988459" lvl="1" indent="-378875" defTabSz="1219170"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Visitar cada cidade exatamente uma vez</a:t>
            </a:r>
          </a:p>
          <a:p>
            <a:pPr marL="988459" lvl="1" indent="-378875" defTabSz="1219170"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Encontrar o caminho mais curto</a:t>
            </a:r>
          </a:p>
          <a:p>
            <a:pPr marL="342891" indent="-455073" defTabSz="1219170">
              <a:spcBef>
                <a:spcPts val="800"/>
              </a:spcBef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32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>
            <a:extLst>
              <a:ext uri="{FF2B5EF4-FFF2-40B4-BE49-F238E27FC236}">
                <a16:creationId xmlns:a16="http://schemas.microsoft.com/office/drawing/2014/main" id="{BDBFA048-66EC-4071-BBAA-8E1ABD782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549277"/>
            <a:ext cx="82296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Problemas do mundo real</a:t>
            </a:r>
            <a:b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</a:br>
            <a:endParaRPr lang="pt-BR" altLang="pt-BR" sz="4400" kern="0" dirty="0">
              <a:solidFill>
                <a:srgbClr val="EEFF41">
                  <a:lumMod val="75000"/>
                </a:srgbClr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ED5413DB-4572-43BF-8640-F3D187FF1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25" y="1268414"/>
            <a:ext cx="10093843" cy="4857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Projeto de proteínas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Encontrar uma sequência de aminoácidos que serão incorporados em uma proteína tridimensional para curar alguma doença.</a:t>
            </a:r>
          </a:p>
          <a:p>
            <a:pPr marL="455073" indent="-455073" defTabSz="1219170">
              <a:spcBef>
                <a:spcPts val="700"/>
              </a:spcBef>
              <a:buClr>
                <a:srgbClr val="000000"/>
              </a:buClr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endParaRPr lang="pt-BR" altLang="pt-BR" sz="28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700"/>
              </a:spcBef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Pesquisas na Web</a:t>
            </a:r>
          </a:p>
          <a:p>
            <a:pPr marL="988459" lvl="1" indent="-378875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fácil pensar na Web como um grafo de nós conectados por links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>
            <a:extLst>
              <a:ext uri="{FF2B5EF4-FFF2-40B4-BE49-F238E27FC236}">
                <a16:creationId xmlns:a16="http://schemas.microsoft.com/office/drawing/2014/main" id="{9FF052D4-CEA3-434E-8CE0-AC52FCCB7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824" y="347663"/>
            <a:ext cx="82296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Em busca de soluções</a:t>
            </a:r>
          </a:p>
        </p:txBody>
      </p:sp>
      <p:sp>
        <p:nvSpPr>
          <p:cNvPr id="26626" name="Text Box 2">
            <a:extLst>
              <a:ext uri="{FF2B5EF4-FFF2-40B4-BE49-F238E27FC236}">
                <a16:creationId xmlns:a16="http://schemas.microsoft.com/office/drawing/2014/main" id="{A6D56F4E-1A90-4697-915B-82B480A73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312" y="1448908"/>
            <a:ext cx="1037737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Depois de formular alguns problemas, agora precisamos resolvê-los.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feito por meio de uma busca em todo espaço de estados. 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</a:t>
            </a:r>
            <a:r>
              <a:rPr lang="pt-BR" altLang="pt-BR" sz="26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arvore de busca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gerada pelo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estado inicial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 pela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função sucessor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que, juntos definem o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espaço de estados</a:t>
            </a:r>
            <a:r>
              <a:rPr lang="pt-BR" altLang="pt-BR" sz="26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. 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Em geral, podemos ter um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grafo de busca </a:t>
            </a: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em lugar de uma árvore de busca, quando o mesmo estado pode ser alcançado a partir de </a:t>
            </a:r>
            <a:r>
              <a:rPr lang="pt-BR" altLang="pt-BR" sz="2600" kern="0" dirty="0">
                <a:solidFill>
                  <a:srgbClr val="EEFF41">
                    <a:lumMod val="75000"/>
                  </a:srgbClr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vários caminhos</a:t>
            </a:r>
            <a:r>
              <a:rPr lang="pt-BR" altLang="pt-BR" sz="2600" kern="0" dirty="0"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. 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>
            <a:extLst>
              <a:ext uri="{FF2B5EF4-FFF2-40B4-BE49-F238E27FC236}">
                <a16:creationId xmlns:a16="http://schemas.microsoft.com/office/drawing/2014/main" id="{3FAC0590-C537-441A-BDBC-C1EEF1A89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17548"/>
            <a:ext cx="8229600" cy="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Em busca de soluções</a:t>
            </a:r>
          </a:p>
        </p:txBody>
      </p:sp>
      <p:sp>
        <p:nvSpPr>
          <p:cNvPr id="27650" name="Text Box 2">
            <a:extLst>
              <a:ext uri="{FF2B5EF4-FFF2-40B4-BE49-F238E27FC236}">
                <a16:creationId xmlns:a16="http://schemas.microsoft.com/office/drawing/2014/main" id="{1257364C-D4AC-4A35-ACA0-2B7F1C9A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90" y="2154866"/>
            <a:ext cx="8497887" cy="3352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 raiz da árvore de busca é um nó de busca correspondente ao estado inicial </a:t>
            </a:r>
          </a:p>
          <a:p>
            <a:pPr marL="988459" lvl="1" indent="-378875" defTabSz="1219170">
              <a:spcBef>
                <a:spcPts val="551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exemplo: Em (Arad)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solidFill>
                <a:srgbClr val="FFFFFF"/>
              </a:solidFill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r>
              <a:rPr lang="pt-BR" altLang="pt-BR" sz="26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O primeiro passo é testar se esse é um estado objetivo.</a:t>
            </a:r>
          </a:p>
          <a:p>
            <a:pPr marL="455073" indent="-455073" defTabSz="1219170">
              <a:spcBef>
                <a:spcPts val="651"/>
              </a:spcBef>
              <a:buClr>
                <a:srgbClr val="000000"/>
              </a:buClr>
              <a:tabLst>
                <a:tab pos="1214936" algn="l"/>
                <a:tab pos="2434106" algn="l"/>
                <a:tab pos="3653275" algn="l"/>
                <a:tab pos="4872445" algn="l"/>
                <a:tab pos="6091614" algn="l"/>
                <a:tab pos="7310784" algn="l"/>
                <a:tab pos="8529953" algn="l"/>
                <a:tab pos="9749123" algn="l"/>
                <a:tab pos="10968292" algn="l"/>
                <a:tab pos="12187462" algn="l"/>
                <a:tab pos="13406631" algn="l"/>
              </a:tabLst>
            </a:pPr>
            <a:endParaRPr lang="pt-BR" altLang="pt-BR" sz="2600" kern="0" dirty="0">
              <a:latin typeface="Calibri" panose="020F0502020204030204" pitchFamily="34" charset="0"/>
              <a:ea typeface="Microsoft YaHei" panose="020B0503020204020204" pitchFamily="34" charset="-122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1">
            <a:extLst>
              <a:ext uri="{FF2B5EF4-FFF2-40B4-BE49-F238E27FC236}">
                <a16:creationId xmlns:a16="http://schemas.microsoft.com/office/drawing/2014/main" id="{CC06E4F5-3400-41B4-83B4-553FE9E5C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74" name="Text Box 2">
            <a:extLst>
              <a:ext uri="{FF2B5EF4-FFF2-40B4-BE49-F238E27FC236}">
                <a16:creationId xmlns:a16="http://schemas.microsoft.com/office/drawing/2014/main" id="{0F42B4FA-4B8C-42A8-9A17-A09324F14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588" y="5734051"/>
            <a:ext cx="6096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fld id="{E81CDD78-DB9A-428A-AA6B-996C8AC0FD15}" type="slidenum">
              <a:rPr lang="pt-BR" altLang="pt-BR" sz="1200" kern="0">
                <a:solidFill>
                  <a:srgbClr val="898989"/>
                </a:solidFill>
                <a:latin typeface="Calibri" panose="020F0502020204030204" pitchFamily="34" charset="0"/>
                <a:sym typeface="Arial"/>
              </a:rPr>
              <a:pPr algn="r" defTabSz="1219170">
                <a:tabLst>
                  <a:tab pos="0" algn="l"/>
                  <a:tab pos="1219170" algn="l"/>
                  <a:tab pos="2438339" algn="l"/>
                  <a:tab pos="3657509" algn="l"/>
                  <a:tab pos="4876678" algn="l"/>
                  <a:tab pos="6095848" algn="l"/>
                  <a:tab pos="7315017" algn="l"/>
                  <a:tab pos="8534187" algn="l"/>
                  <a:tab pos="9753356" algn="l"/>
                  <a:tab pos="10972526" algn="l"/>
                  <a:tab pos="12191695" algn="l"/>
                  <a:tab pos="13410865" algn="l"/>
                </a:tabLst>
              </a:pPr>
              <a:t>27</a:t>
            </a:fld>
            <a:endParaRPr lang="pt-BR" altLang="pt-BR" sz="1200" kern="0">
              <a:solidFill>
                <a:srgbClr val="898989"/>
              </a:solidFill>
              <a:latin typeface="Calibri" panose="020F0502020204030204" pitchFamily="34" charset="0"/>
              <a:sym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>
            <a:extLst>
              <a:ext uri="{FF2B5EF4-FFF2-40B4-BE49-F238E27FC236}">
                <a16:creationId xmlns:a16="http://schemas.microsoft.com/office/drawing/2014/main" id="{AEB3D0C7-5F1B-43F4-B2AE-B63B5FB63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27" y="457201"/>
            <a:ext cx="1080622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Buscas sem informação ou busca cega	</a:t>
            </a:r>
          </a:p>
        </p:txBody>
      </p:sp>
      <p:sp>
        <p:nvSpPr>
          <p:cNvPr id="29698" name="Text Box 2">
            <a:extLst>
              <a:ext uri="{FF2B5EF4-FFF2-40B4-BE49-F238E27FC236}">
                <a16:creationId xmlns:a16="http://schemas.microsoft.com/office/drawing/2014/main" id="{22277BC7-C69B-4F0A-8761-960579F3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013" y="1600201"/>
            <a:ext cx="948778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algn="just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Algoritmos que não recebem nenhuma informação sobre o problema além de sua formulação.</a:t>
            </a:r>
          </a:p>
          <a:p>
            <a:pPr marL="455073" indent="-455073" algn="just" defTabSz="1219170">
              <a:spcBef>
                <a:spcPts val="8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32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É preciso definir</a:t>
            </a:r>
          </a:p>
          <a:p>
            <a:pPr marL="988459" lvl="1" indent="-378875" algn="just" defTabSz="1219170"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problema</a:t>
            </a:r>
          </a:p>
          <a:p>
            <a:pPr marL="988459" lvl="1" indent="-378875" algn="just" defTabSz="1219170"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8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solução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>
            <a:extLst>
              <a:ext uri="{FF2B5EF4-FFF2-40B4-BE49-F238E27FC236}">
                <a16:creationId xmlns:a16="http://schemas.microsoft.com/office/drawing/2014/main" id="{787888EB-7ED7-4A93-B16D-B308C3B7F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1219170">
              <a:tabLst>
                <a:tab pos="0" algn="l"/>
                <a:tab pos="1219170" algn="l"/>
                <a:tab pos="2438339" algn="l"/>
                <a:tab pos="3657509" algn="l"/>
                <a:tab pos="4876678" algn="l"/>
                <a:tab pos="6095848" algn="l"/>
                <a:tab pos="7315017" algn="l"/>
                <a:tab pos="8534187" algn="l"/>
                <a:tab pos="9753356" algn="l"/>
                <a:tab pos="10972526" algn="l"/>
                <a:tab pos="12191695" algn="l"/>
                <a:tab pos="13410865" algn="l"/>
              </a:tabLst>
            </a:pPr>
            <a:r>
              <a:rPr lang="pt-BR" altLang="pt-BR" sz="4400" kern="0" dirty="0">
                <a:solidFill>
                  <a:srgbClr val="EEFF41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Cega</a:t>
            </a:r>
          </a:p>
        </p:txBody>
      </p:sp>
      <p:sp>
        <p:nvSpPr>
          <p:cNvPr id="30722" name="Text Box 2">
            <a:extLst>
              <a:ext uri="{FF2B5EF4-FFF2-40B4-BE49-F238E27FC236}">
                <a16:creationId xmlns:a16="http://schemas.microsoft.com/office/drawing/2014/main" id="{2FEBD59E-E42E-4107-89DE-82A078C17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191" y="1268413"/>
            <a:ext cx="1049079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11175" algn="l"/>
                <a:tab pos="1425575" algn="l"/>
                <a:tab pos="2339975" algn="l"/>
                <a:tab pos="3254375" algn="l"/>
                <a:tab pos="4168775" algn="l"/>
                <a:tab pos="5083175" algn="l"/>
                <a:tab pos="5997575" algn="l"/>
                <a:tab pos="6911975" algn="l"/>
                <a:tab pos="7826375" algn="l"/>
                <a:tab pos="8740775" algn="l"/>
                <a:tab pos="9655175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5073" indent="-455073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Também conhecida como busca exaustiva.</a:t>
            </a:r>
          </a:p>
          <a:p>
            <a:pPr marL="455073" indent="-455073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Não sabe qual o melhor nó na fronteira a ser expandido, isto é, não conhece o menor custo de caminho desse nó até um nó final (objetivo)</a:t>
            </a:r>
          </a:p>
          <a:p>
            <a:pPr marL="455073" indent="-455073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Estratégias de busca (ordem de expansão dos nós)</a:t>
            </a:r>
          </a:p>
          <a:p>
            <a:pPr marL="988459" lvl="1" indent="-378875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b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em Largura</a:t>
            </a:r>
          </a:p>
          <a:p>
            <a:pPr marL="988459" lvl="1" indent="-378875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b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em Profundidade</a:t>
            </a:r>
          </a:p>
          <a:p>
            <a:pPr marL="988459" lvl="1" indent="-378875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b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em Profundidade Limitada</a:t>
            </a:r>
          </a:p>
          <a:p>
            <a:pPr marL="988459" lvl="1" indent="-378875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b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com Aprofundamento Iterativo</a:t>
            </a:r>
          </a:p>
          <a:p>
            <a:pPr marL="988459" lvl="1" indent="-378875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b="1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de Custo Uniforme</a:t>
            </a:r>
          </a:p>
          <a:p>
            <a:pPr marL="988459" lvl="1" indent="-378875" algn="just" defTabSz="121917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–"/>
              <a:tabLst>
                <a:tab pos="681550" algn="l"/>
                <a:tab pos="1900719" algn="l"/>
                <a:tab pos="3119889" algn="l"/>
                <a:tab pos="4339058" algn="l"/>
                <a:tab pos="5558228" algn="l"/>
                <a:tab pos="6777397" algn="l"/>
                <a:tab pos="7996567" algn="l"/>
                <a:tab pos="9215736" algn="l"/>
                <a:tab pos="10434906" algn="l"/>
                <a:tab pos="11654075" algn="l"/>
                <a:tab pos="12873245" algn="l"/>
              </a:tabLst>
            </a:pPr>
            <a:r>
              <a:rPr lang="pt-BR" altLang="pt-BR" sz="2400" kern="0" dirty="0">
                <a:solidFill>
                  <a:srgbClr val="FFFFFF"/>
                </a:solidFill>
                <a:latin typeface="Calibri" panose="020F0502020204030204" pitchFamily="34" charset="0"/>
                <a:ea typeface="Microsoft YaHei" panose="020B0503020204020204" pitchFamily="34" charset="-122"/>
                <a:sym typeface="Arial"/>
              </a:rPr>
              <a:t>Busca Bidirecional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CD2D351-5D45-4009-BB26-804FED43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accent6"/>
                </a:solidFill>
              </a:rPr>
              <a:t>Estratégias de busca sem informação ou busca cega</a:t>
            </a:r>
          </a:p>
        </p:txBody>
      </p:sp>
    </p:spTree>
    <p:extLst>
      <p:ext uri="{BB962C8B-B14F-4D97-AF65-F5344CB8AC3E}">
        <p14:creationId xmlns:p14="http://schemas.microsoft.com/office/powerpoint/2010/main" val="4245759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É uma estratégia simples em que o nó raiz é expandido primeiro, em seguida todos os sucessores do nó raiz são expandidos, depois os sucessores desses nós e assim por diante. 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E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xplora o espaço nível por nível. </a:t>
            </a:r>
          </a:p>
          <a:p>
            <a:endParaRPr lang="pt-BR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Apenas quando não houver mais estados a serem explorados em um determinado nível é que o algoritmo se moverá para o próximo mais profundo</a:t>
            </a:r>
            <a:r>
              <a:rPr lang="pt-BR" b="0" i="0" dirty="0">
                <a:solidFill>
                  <a:schemeClr val="bg1"/>
                </a:solidFill>
                <a:effectLst/>
                <a:latin typeface="Montserrat Medium" panose="00000600000000000000" pitchFamily="50" charset="0"/>
              </a:rPr>
              <a:t>.</a:t>
            </a: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502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111" y="1593291"/>
            <a:ext cx="11517779" cy="464946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A busca em largura pode ser implementada como </a:t>
            </a:r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Busca em Árvore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. 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Utilizamos </a:t>
            </a:r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FILA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 (FIFO), assegurando-se que os nós visitados primeiro serão expandidos primeiro. 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A FILA coloca todos os </a:t>
            </a:r>
            <a:r>
              <a:rPr lang="pt-BR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sucessores recém -gerados no final da fila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.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897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Algoritmo:</a:t>
            </a:r>
          </a:p>
          <a:p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Para controlar a busca, o algoritmo da Busca em Largura "pinta" cada vértice na cor </a:t>
            </a:r>
            <a:r>
              <a:rPr lang="pt-BR" b="1" i="1" dirty="0">
                <a:solidFill>
                  <a:schemeClr val="accent6"/>
                </a:solidFill>
                <a:latin typeface="Montserrat Medium" panose="00000600000000000000" pitchFamily="50" charset="0"/>
              </a:rPr>
              <a:t>branca, cinza ou preto</a:t>
            </a:r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. </a:t>
            </a:r>
          </a:p>
          <a:p>
            <a:endParaRPr lang="pt-BR" b="1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Todos os vértices iniciam com a cor branca e podem, mais tarde, se tornar cinza e depois preto.</a:t>
            </a:r>
          </a:p>
          <a:p>
            <a:endParaRPr lang="pt-BR" b="1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Branca: não visitado</a:t>
            </a: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Cinza: Visitado</a:t>
            </a: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Preto: Visitado e seus nós adjacentes visitados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325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Origem: nó 10</a:t>
            </a: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Objetivo: nó 08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2DBD1C-6E4A-4004-92F5-7889AF3DD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728" y="1531057"/>
            <a:ext cx="6813856" cy="466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39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ED499BE-FD3C-4559-A06F-2F94F9E8D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2012415"/>
            <a:ext cx="8201445" cy="409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25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D8D76B8D-32F4-4A67-8AF8-D0C5032F9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477" y="1307336"/>
            <a:ext cx="6905903" cy="536936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C90FA48-321C-4F48-8501-23AB635A3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80" y="2315655"/>
            <a:ext cx="4838777" cy="347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02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1A0EE08E-A9E7-4F48-960E-458CA9BC9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231" y="1292646"/>
            <a:ext cx="7354424" cy="54534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B442FB2-287A-4249-91EF-605EFC4A3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25" y="2423712"/>
            <a:ext cx="4572196" cy="365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36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B15E3DD3-8787-4132-AE51-AD30BD46F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476" y="1431635"/>
            <a:ext cx="7091077" cy="524506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1C38D31-EB09-49B2-8497-7C89E413D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7" y="2100550"/>
            <a:ext cx="4797263" cy="359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55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786F83B0-53F7-4D38-9542-E71AD3D2D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111" y="1431635"/>
            <a:ext cx="7256443" cy="524506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36C71B0-45DE-4912-8F4F-197819A5EB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8" y="2203373"/>
            <a:ext cx="4603488" cy="37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5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A99421A4-B47D-4033-9FA3-F9217291B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233890"/>
            <a:ext cx="7229851" cy="562411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F437973-F789-4AEB-B62A-94E53B4AE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0" y="2218062"/>
            <a:ext cx="4611685" cy="386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54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EDB5F8E3-2776-471F-9CB7-53A3E2E24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89" y="1066247"/>
            <a:ext cx="7227064" cy="561045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E8C8ABC-F975-447E-8C4A-FD4AC4AD0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36" y="2433347"/>
            <a:ext cx="4562624" cy="34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760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426DE659-AEDB-449A-A072-E3C2CFE35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273522"/>
            <a:ext cx="7241753" cy="55844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BC14FFB-AD23-44FA-B07F-DF6C1C2A9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8" y="2614670"/>
            <a:ext cx="4656824" cy="310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01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2553AACC-F318-4DC8-9D04-B9B6FEF7B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1" y="1066245"/>
            <a:ext cx="7210801" cy="561045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6620D6E-8643-47E7-A272-11B621579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00" y="2511846"/>
            <a:ext cx="4668325" cy="37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05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25EDDD7A-25B9-4BC5-AECA-12B0EE3C1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422" y="1066247"/>
            <a:ext cx="7085957" cy="56104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BFA495-5CA3-4675-9FD3-992BA5BEB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2379645"/>
            <a:ext cx="4729400" cy="3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67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6770511-FA95-4B7F-ACAB-A14520C14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89" y="1377880"/>
            <a:ext cx="7227064" cy="529881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41E9049-5CC1-43A5-96D4-10F8E52F6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25" y="2453090"/>
            <a:ext cx="4661064" cy="362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12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Largura ou Extensão ou Amplitude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A98F7B4B-E88E-43A7-B620-26A0DB6CE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664" y="1292645"/>
            <a:ext cx="7144715" cy="556535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2D2CF99-AACE-4C49-A95B-DE0C7BAD6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04" y="2525027"/>
            <a:ext cx="4392057" cy="372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62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9078D-FD24-455A-BD98-2034A739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Avaliação da Complexidade das Estratégias de Busca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86467-20BF-4576-8294-7AFB69859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Análises em função de: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b: fator de ramificação da árvore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d: profundidade da solução mais rasa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m: profundidade máxima da árvore de busca</a:t>
            </a:r>
          </a:p>
          <a:p>
            <a:pPr lvl="1"/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Exemplo: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b: fator de ramificação da árvore = 2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d: profundidade da solução mais rasa = 1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m: profundidade máxima da árvore de busca = 2</a:t>
            </a:r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3C20B1-A872-0494-5ACB-D42F98478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892" y="3943551"/>
            <a:ext cx="5377138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358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Análise da Busca em Largura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Texto 4">
                <a:extLst>
                  <a:ext uri="{FF2B5EF4-FFF2-40B4-BE49-F238E27FC236}">
                    <a16:creationId xmlns:a16="http://schemas.microsoft.com/office/drawing/2014/main" id="{4DFFC719-4740-41D4-A8C3-6CE2D454AB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1431638"/>
                <a:ext cx="11517779" cy="464946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Características:</a:t>
                </a:r>
              </a:p>
              <a:p>
                <a:endParaRPr lang="pt-BR" dirty="0">
                  <a:solidFill>
                    <a:schemeClr val="bg1"/>
                  </a:solidFill>
                  <a:latin typeface="Montserrat Medium" panose="00000600000000000000" pitchFamily="50" charset="0"/>
                </a:endParaRP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Completa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Visita todos os vértices acessíveis a partir do vértice inicial.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Não informada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Não utiliza nenhuma informação adicional sobre o grafo para guiar a busca.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Ótima (Custos Iguais)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Encontra o melhor caminho entre o vértice inicial e qualquer outro vértice acessível, mas somente quando os custos das ações são iguais.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Utiliza uma fila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A estrutura de dados fila é essencial para garantir que a busca se expanda.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Complexidade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</a:t>
                </a:r>
              </a:p>
              <a:p>
                <a:pPr lvl="1"/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Memória: </a:t>
                </a:r>
              </a:p>
              <a:p>
                <a:pPr lvl="2"/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Exponencial, </a:t>
                </a:r>
                <a:r>
                  <a:rPr lang="pt-BR" sz="1800" dirty="0">
                    <a:solidFill>
                      <a:schemeClr val="bg1"/>
                    </a:solidFill>
                  </a:rPr>
                  <a:t>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chemeClr val="bg1"/>
                    </a:solidFill>
                  </a:rPr>
                  <a:t>), se teste de objetivo após a geração do nó filho.</a:t>
                </a:r>
              </a:p>
              <a:p>
                <a:pPr lvl="2"/>
                <a:r>
                  <a:rPr lang="pt-BR" sz="1800" dirty="0">
                    <a:solidFill>
                      <a:schemeClr val="bg1"/>
                    </a:solidFill>
                  </a:rPr>
                  <a:t>Exponencial, 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chemeClr val="bg1"/>
                    </a:solidFill>
                  </a:rPr>
                  <a:t>), se teste de objetivo após a seleção de nó a expandir.</a:t>
                </a:r>
              </a:p>
              <a:p>
                <a:pPr lvl="1"/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Tempo de Execução: </a:t>
                </a:r>
              </a:p>
              <a:p>
                <a:pPr lvl="2"/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Exponencial, </a:t>
                </a:r>
                <a:r>
                  <a:rPr lang="pt-BR" sz="2000" dirty="0">
                    <a:solidFill>
                      <a:schemeClr val="bg1"/>
                    </a:solidFill>
                  </a:rPr>
                  <a:t>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), se teste de objetivo após a geração do nó filho.</a:t>
                </a:r>
              </a:p>
              <a:p>
                <a:pPr lvl="2"/>
                <a:r>
                  <a:rPr lang="pt-BR" sz="2000" dirty="0">
                    <a:solidFill>
                      <a:schemeClr val="bg1"/>
                    </a:solidFill>
                  </a:rPr>
                  <a:t>Exponencial, 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sz="2000" dirty="0">
                    <a:solidFill>
                      <a:schemeClr val="bg1"/>
                    </a:solidFill>
                  </a:rPr>
                  <a:t>), se teste de objetivo após a seleção de nó a expandir.</a:t>
                </a:r>
              </a:p>
            </p:txBody>
          </p:sp>
        </mc:Choice>
        <mc:Fallback xmlns="">
          <p:sp>
            <p:nvSpPr>
              <p:cNvPr id="6" name="Espaço Reservado para Texto 4">
                <a:extLst>
                  <a:ext uri="{FF2B5EF4-FFF2-40B4-BE49-F238E27FC236}">
                    <a16:creationId xmlns:a16="http://schemas.microsoft.com/office/drawing/2014/main" id="{4DFFC719-4740-41D4-A8C3-6CE2D454A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1431638"/>
                <a:ext cx="11517779" cy="464946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1013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4564024" cy="464946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Solução:</a:t>
            </a:r>
          </a:p>
          <a:p>
            <a:pPr lvl="1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Estado inicial: nó 10</a:t>
            </a:r>
          </a:p>
          <a:p>
            <a:pPr lvl="1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Estado Objetivo: nó 08</a:t>
            </a:r>
          </a:p>
          <a:p>
            <a:pPr lvl="1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Nós visitados na ordem: 10, 05, 20, 04, 06, 15, 30, 00, 07, 13, 08</a:t>
            </a:r>
          </a:p>
          <a:p>
            <a:pPr lvl="1"/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lvl="1"/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Solução: 10, 05, 06, 07, 08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FB16DCC9-9B00-4411-A29D-9E3402027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435" y="1329567"/>
            <a:ext cx="6616700" cy="534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162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Na busca em profundidade, quando um estado é examinado, todos os seus filhos e os descendentes deles são examinados antes de qualquer um de seus irmãos. 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busca em profundidade avança se aprofundando no espaço de estados sempre que possível. 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Apenas quando não forem encontrados mais descendentes de um estado é que seus irmãos serão considerados.</a:t>
            </a:r>
          </a:p>
          <a:p>
            <a:pPr algn="just"/>
            <a:endParaRPr lang="pt-BR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A </a:t>
            </a:r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busca em profundidade 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é implementada por Busca em Árvore como uma </a:t>
            </a:r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pilha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. 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536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Algoritmo:</a:t>
            </a:r>
          </a:p>
          <a:p>
            <a:endParaRPr lang="pt-BR" b="1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Para controlar a busca, o algoritmo da Busca em Profundidade "pinta" cada vértice na cor </a:t>
            </a:r>
            <a:r>
              <a:rPr lang="pt-BR" b="1" i="1" dirty="0">
                <a:solidFill>
                  <a:schemeClr val="accent6"/>
                </a:solidFill>
                <a:latin typeface="Montserrat Medium" panose="00000600000000000000" pitchFamily="50" charset="0"/>
              </a:rPr>
              <a:t>branca, cinza ou preto</a:t>
            </a:r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. </a:t>
            </a:r>
          </a:p>
          <a:p>
            <a:endParaRPr lang="pt-BR" b="1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Todos os vértices iniciam com a cor branca e podem, mais tarde, se tornar cinza e depois preto.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Branca: não visitado</a:t>
            </a: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Cinza: Visitado</a:t>
            </a:r>
          </a:p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Preto: Visitado e seus nós adjacentes visitados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76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4811123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Características:</a:t>
            </a:r>
          </a:p>
          <a:p>
            <a:endParaRPr lang="pt-BR" b="1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Como funciona?</a:t>
            </a:r>
          </a:p>
          <a:p>
            <a:endParaRPr lang="pt-BR" b="1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b="1" i="1" dirty="0">
                <a:solidFill>
                  <a:schemeClr val="accent6"/>
                </a:solidFill>
                <a:latin typeface="Montserrat Medium" panose="00000600000000000000" pitchFamily="50" charset="0"/>
              </a:rPr>
              <a:t>Início</a:t>
            </a:r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: Escolhe-se um vértice inicial como ponto de partida.</a:t>
            </a:r>
          </a:p>
          <a:p>
            <a:r>
              <a:rPr lang="pt-BR" b="1" i="1" dirty="0">
                <a:solidFill>
                  <a:schemeClr val="accent6"/>
                </a:solidFill>
                <a:latin typeface="Montserrat Medium" panose="00000600000000000000" pitchFamily="50" charset="0"/>
              </a:rPr>
              <a:t>Pilha</a:t>
            </a:r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: Todos os vértices visitados são adicionados a uma pilha.</a:t>
            </a:r>
          </a:p>
          <a:p>
            <a:r>
              <a:rPr lang="pt-BR" b="1" i="1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Exploração</a:t>
            </a:r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: A cada iteração, o vértice no topo da pilha é removido e seus vizinhos não visitados são adicionados à pilha.</a:t>
            </a:r>
          </a:p>
          <a:p>
            <a:r>
              <a:rPr lang="pt-BR" b="1" i="1" dirty="0">
                <a:solidFill>
                  <a:schemeClr val="accent6"/>
                </a:solidFill>
                <a:latin typeface="Montserrat Medium" panose="00000600000000000000" pitchFamily="50" charset="0"/>
              </a:rPr>
              <a:t>Repetição</a:t>
            </a:r>
            <a:r>
              <a:rPr lang="pt-BR" b="1" i="1" dirty="0">
                <a:solidFill>
                  <a:schemeClr val="bg1"/>
                </a:solidFill>
                <a:latin typeface="Montserrat Medium" panose="00000600000000000000" pitchFamily="50" charset="0"/>
              </a:rPr>
              <a:t>: Os passos 3 e 4 são repetidos até que a pilha esteja vazia ou até que o vértice desejado seja encontrado.</a:t>
            </a: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653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063CAB27-5DFE-43C9-9CE5-38A1E0CB49AD}"/>
              </a:ext>
            </a:extLst>
          </p:cNvPr>
          <p:cNvSpPr txBox="1">
            <a:spLocks/>
          </p:cNvSpPr>
          <p:nvPr/>
        </p:nvSpPr>
        <p:spPr>
          <a:xfrm>
            <a:off x="258621" y="1612941"/>
            <a:ext cx="11517779" cy="524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indent="-457189" defTabSz="1219170">
              <a:buClr>
                <a:srgbClr val="595959"/>
              </a:buClr>
            </a:pPr>
            <a:r>
              <a:rPr lang="pt-BR" sz="2400" b="1" i="1" u="sng" kern="0" dirty="0">
                <a:solidFill>
                  <a:srgbClr val="EEFF41"/>
                </a:solidFill>
                <a:latin typeface="Montserrat Medium" panose="00000600000000000000" pitchFamily="50" charset="0"/>
              </a:rPr>
              <a:t>Exemplo</a:t>
            </a:r>
          </a:p>
          <a:p>
            <a:pPr marL="609585" indent="-457189" defTabSz="1219170">
              <a:buClr>
                <a:srgbClr val="595959"/>
              </a:buClr>
            </a:pPr>
            <a:r>
              <a:rPr lang="pt-BR" sz="2400" kern="0" dirty="0">
                <a:solidFill>
                  <a:srgbClr val="FFFFFF"/>
                </a:solidFill>
                <a:latin typeface="Montserrat Medium" panose="00000600000000000000" pitchFamily="50" charset="0"/>
              </a:rPr>
              <a:t>Origem: nó 10</a:t>
            </a:r>
          </a:p>
          <a:p>
            <a:pPr marL="609585" indent="-457189" defTabSz="1219170">
              <a:buClr>
                <a:srgbClr val="595959"/>
              </a:buClr>
            </a:pPr>
            <a:r>
              <a:rPr lang="pt-BR" sz="2400" kern="0" dirty="0">
                <a:solidFill>
                  <a:srgbClr val="FFFFFF"/>
                </a:solidFill>
                <a:latin typeface="Montserrat Medium" panose="00000600000000000000" pitchFamily="50" charset="0"/>
              </a:rPr>
              <a:t>Objetivo: nó 08</a:t>
            </a:r>
          </a:p>
          <a:p>
            <a:pPr marL="609585" indent="-457189" defTabSz="1219170">
              <a:buClr>
                <a:srgbClr val="595959"/>
              </a:buClr>
            </a:pPr>
            <a:endParaRPr lang="pt-BR" sz="2400" kern="0" dirty="0">
              <a:solidFill>
                <a:srgbClr val="FFFFFF"/>
              </a:solidFill>
              <a:latin typeface="Montserrat Medium" panose="00000600000000000000" pitchFamily="50" charset="0"/>
            </a:endParaRPr>
          </a:p>
          <a:p>
            <a:pPr marL="152396" indent="0" defTabSz="1219170">
              <a:buClr>
                <a:srgbClr val="595959"/>
              </a:buClr>
              <a:buNone/>
            </a:pPr>
            <a:endParaRPr lang="pt-BR" sz="2400" kern="0" dirty="0">
              <a:solidFill>
                <a:srgbClr val="FFFFFF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FF251B7-776F-4B4C-A3FB-4062DFEE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669" y="1420984"/>
            <a:ext cx="6813856" cy="466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12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ED499BE-FD3C-4559-A06F-2F94F9E8D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2012415"/>
            <a:ext cx="8201445" cy="409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852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9F7EC4D8-A8A2-42E9-8D93-5FD4E7070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719" y="1431639"/>
            <a:ext cx="6674660" cy="524505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7F8746F-6109-4ABC-B699-6501DEA4A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69" y="2218632"/>
            <a:ext cx="4934484" cy="367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592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23FAACF-4444-49DF-95C7-E78FFEF7E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09" y="2149523"/>
            <a:ext cx="4907553" cy="380929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48B2ECA-F834-48C4-A31A-89C28A09C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591" y="1431638"/>
            <a:ext cx="6786301" cy="524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777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23FAACF-4444-49DF-95C7-E78FFEF7E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09" y="2149523"/>
            <a:ext cx="4907553" cy="380929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25737EC-9C1D-4029-847A-2419542FD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3153" y="1705323"/>
            <a:ext cx="6727740" cy="49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511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55F2A48F-8327-494D-9A33-115BF207D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43" y="2131496"/>
            <a:ext cx="5024983" cy="424740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D615770-5E2D-431E-8AC0-A87313908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583" y="1431638"/>
            <a:ext cx="6608053" cy="542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838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96492748-70BA-4A6F-AD73-53DE6C5D2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2" y="2429292"/>
            <a:ext cx="5024983" cy="424740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3DB436F-1084-423C-9115-39FA0E1F6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3406" y="1667222"/>
            <a:ext cx="6688196" cy="500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164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C8BFC418-82B0-46B1-8029-314A37731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91" y="2144617"/>
            <a:ext cx="5071999" cy="345694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A609EF6-831D-48E6-A911-4DAA480D2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231" y="1329566"/>
            <a:ext cx="6701079" cy="53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60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6ED0ACE8-B45E-4398-AF2F-E1B2DB7E6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00" y="1910203"/>
            <a:ext cx="5105400" cy="37745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CF29E2D-0F3F-4BCD-B5DC-0FACD2E04D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000" y="1329566"/>
            <a:ext cx="6649589" cy="53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703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CDC3C3E3-8715-4BA6-8EFC-B09FEFE71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93" y="1729434"/>
            <a:ext cx="5077899" cy="464946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477A8F3-2313-48AD-86CA-4FA618935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7475" y="1329566"/>
            <a:ext cx="6615904" cy="53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03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100AF795-A285-4119-A9C0-D48029359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21" y="1598007"/>
            <a:ext cx="5207000" cy="44831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1B1848B-4A84-4CAF-A2A9-FE3C53B34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2600" y="1329565"/>
            <a:ext cx="6467757" cy="552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581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BF656018-E849-4D84-9168-DC76797A6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600" y="1329566"/>
            <a:ext cx="6311797" cy="534713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A3E242C-9E5C-42B5-BCB2-B1C4DB9D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446079"/>
            <a:ext cx="5384800" cy="46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923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6A3E242C-9E5C-42B5-BCB2-B1C4DB9DD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46079"/>
            <a:ext cx="5384800" cy="463502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E442229-E3A1-459A-B824-83B68DDBD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569" y="1329566"/>
            <a:ext cx="6350528" cy="53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304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 – Continuar empilhando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07969ED5-BF5A-4576-AF5D-B41EE3B5C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635" y="1204512"/>
            <a:ext cx="6292743" cy="547218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FAC86F-A055-4766-B452-6BDF9D7BF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22" y="1431638"/>
            <a:ext cx="51943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54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4564024" cy="464946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Solução:</a:t>
            </a:r>
          </a:p>
          <a:p>
            <a:pPr lvl="1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Estado inicial: nó 10</a:t>
            </a:r>
          </a:p>
          <a:p>
            <a:pPr lvl="1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Estado Objetivo: nó 08</a:t>
            </a:r>
          </a:p>
          <a:p>
            <a:pPr lvl="1"/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Nós visitados na ordem: 10, 05, 04, 00, 06, 07, 08</a:t>
            </a:r>
          </a:p>
          <a:p>
            <a:pPr lvl="1"/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lvl="1"/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Solução: 10, 05, 06, 07, 08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FB16DCC9-9B00-4411-A29D-9E3402027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435" y="1329567"/>
            <a:ext cx="6616700" cy="534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0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Análise da Busca em profundidade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Texto 4">
                <a:extLst>
                  <a:ext uri="{FF2B5EF4-FFF2-40B4-BE49-F238E27FC236}">
                    <a16:creationId xmlns:a16="http://schemas.microsoft.com/office/drawing/2014/main" id="{4DFFC719-4740-41D4-A8C3-6CE2D454ABF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1431638"/>
                <a:ext cx="11517779" cy="4649469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Características:</a:t>
                </a:r>
              </a:p>
              <a:p>
                <a:endParaRPr lang="pt-BR" dirty="0">
                  <a:solidFill>
                    <a:schemeClr val="bg1"/>
                  </a:solidFill>
                  <a:latin typeface="Montserrat Medium" panose="00000600000000000000" pitchFamily="50" charset="0"/>
                </a:endParaRP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Completa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Visita todos os vértices acessíveis a partir do vértice inicial.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Não informada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Não utiliza nenhuma informação adicional sobre o grafo para guiar a busca.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Não Ótima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Encontra um caminho entre o vértice inicial e qualquer outro vértice acessível, mas não necessariamente o mais curto.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Utiliza uma pilha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 A estrutura de dados pilha é essencial para garantir que a busca se aprofunde.</a:t>
                </a:r>
              </a:p>
              <a:p>
                <a:r>
                  <a:rPr lang="pt-BR" dirty="0">
                    <a:solidFill>
                      <a:schemeClr val="accent6"/>
                    </a:solidFill>
                    <a:latin typeface="Montserrat Medium" panose="00000600000000000000" pitchFamily="50" charset="0"/>
                  </a:rPr>
                  <a:t>Complexidade</a:t>
                </a:r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:</a:t>
                </a:r>
              </a:p>
              <a:p>
                <a:pPr lvl="1"/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Memória: Polinomial, </a:t>
                </a:r>
                <a:r>
                  <a:rPr lang="pt-BR" sz="1800" kern="1200" dirty="0">
                    <a:solidFill>
                      <a:schemeClr val="bg1"/>
                    </a:solidFill>
                    <a:latin typeface="Calibri" panose="020F0502020204030204"/>
                  </a:rPr>
                  <a:t>O (</a:t>
                </a:r>
                <a14:m>
                  <m:oMath xmlns:m="http://schemas.openxmlformats.org/officeDocument/2006/math">
                    <m:r>
                      <a:rPr lang="pt-BR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pt-BR" sz="1800" kern="1200" dirty="0">
                    <a:solidFill>
                      <a:schemeClr val="bg1"/>
                    </a:solidFill>
                    <a:latin typeface="Calibri" panose="020F0502020204030204"/>
                  </a:rPr>
                  <a:t>.m). Ao longo da busca, a memória vai sendo liberada à medida que as subárvores são completamente exploradas.</a:t>
                </a:r>
                <a:endParaRPr lang="pt-BR" dirty="0">
                  <a:solidFill>
                    <a:schemeClr val="bg1"/>
                  </a:solidFill>
                  <a:latin typeface="Montserrat Medium" panose="00000600000000000000" pitchFamily="50" charset="0"/>
                </a:endParaRPr>
              </a:p>
              <a:p>
                <a:pPr lvl="1"/>
                <a:r>
                  <a:rPr lang="pt-BR" dirty="0">
                    <a:solidFill>
                      <a:schemeClr val="bg1"/>
                    </a:solidFill>
                    <a:latin typeface="Montserrat Medium" panose="00000600000000000000" pitchFamily="50" charset="0"/>
                  </a:rPr>
                  <a:t>Tempo de Execução: Exponencial, </a:t>
                </a:r>
                <a:r>
                  <a:rPr lang="pt-BR" sz="1800" kern="1200" dirty="0">
                    <a:solidFill>
                      <a:schemeClr val="bg1"/>
                    </a:solidFill>
                    <a:latin typeface="Calibri" panose="020F0502020204030204"/>
                  </a:rPr>
                  <a:t>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kern="1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 kern="1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sz="1800" i="1" kern="1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pt-BR" sz="1800" kern="1200" dirty="0">
                    <a:solidFill>
                      <a:schemeClr val="bg1"/>
                    </a:solidFill>
                    <a:latin typeface="Calibri" panose="020F0502020204030204"/>
                  </a:rPr>
                  <a:t>).</a:t>
                </a:r>
              </a:p>
              <a:p>
                <a:pPr lvl="1"/>
                <a:endParaRPr lang="pt-BR" dirty="0">
                  <a:solidFill>
                    <a:schemeClr val="bg1"/>
                  </a:solidFill>
                  <a:latin typeface="Montserrat Medium" panose="00000600000000000000" pitchFamily="50" charset="0"/>
                </a:endParaRPr>
              </a:p>
            </p:txBody>
          </p:sp>
        </mc:Choice>
        <mc:Fallback xmlns="">
          <p:sp>
            <p:nvSpPr>
              <p:cNvPr id="6" name="Espaço Reservado para Texto 4">
                <a:extLst>
                  <a:ext uri="{FF2B5EF4-FFF2-40B4-BE49-F238E27FC236}">
                    <a16:creationId xmlns:a16="http://schemas.microsoft.com/office/drawing/2014/main" id="{4DFFC719-4740-41D4-A8C3-6CE2D454AB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1431638"/>
                <a:ext cx="11517779" cy="464946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15234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 limitada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8"/>
            <a:ext cx="11517779" cy="464946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Por que limitar a profundidade?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Evitar loops infinitos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: Em grafos com ciclos, a busca em profundidade pode entrar em um loop infinito, explorando repetidamente os mesmos nós.</a:t>
            </a:r>
          </a:p>
          <a:p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Encontrar soluções mais rapidamente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: Ao limitar a profundidade, a busca pode encontrar soluções mais rapidamente, especialmente em problemas onde a solução ideal está em níveis mais rasos da árvore de busca.</a:t>
            </a:r>
          </a:p>
          <a:p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Gerenciar a memória</a:t>
            </a:r>
            <a:r>
              <a:rPr lang="pt-BR" dirty="0">
                <a:solidFill>
                  <a:schemeClr val="bg1"/>
                </a:solidFill>
                <a:latin typeface="Montserrat Medium" panose="00000600000000000000" pitchFamily="50" charset="0"/>
              </a:rPr>
              <a:t>: Ao limitar a profundidade, a quantidade de memória necessária para a busca é reduzida, pois não é preciso armazenar todos os nós de um ramo infinitamente longo.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5131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 limitada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31637"/>
            <a:ext cx="11517779" cy="5245060"/>
          </a:xfrm>
        </p:spPr>
        <p:txBody>
          <a:bodyPr>
            <a:normAutofit/>
          </a:bodyPr>
          <a:lstStyle/>
          <a:p>
            <a:r>
              <a:rPr lang="pt-BR" b="1" i="1" u="sng" dirty="0">
                <a:solidFill>
                  <a:schemeClr val="accent6"/>
                </a:solidFill>
                <a:latin typeface="Montserrat Medium" panose="00000600000000000000" pitchFamily="50" charset="0"/>
              </a:rPr>
              <a:t>Exemplo:</a:t>
            </a:r>
          </a:p>
          <a:p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6BB6A6AE-7A7A-4137-947A-A71DEE969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85" y="2159307"/>
            <a:ext cx="10963895" cy="451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554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79" y="61524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 com Aprofundamento Iterativo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621" y="1748009"/>
            <a:ext cx="11517779" cy="4928688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solidFill>
                  <a:schemeClr val="accent6"/>
                </a:solidFill>
                <a:latin typeface="Montserrat Medium" panose="00000600000000000000" pitchFamily="50" charset="0"/>
              </a:rPr>
              <a:t>Como funciona?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 </a:t>
            </a:r>
            <a:r>
              <a:rPr lang="pt-BR" b="0" i="1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busca em profundidade com aprofundamento iterativo</a:t>
            </a:r>
            <a:r>
              <a:rPr lang="pt-BR" dirty="0">
                <a:solidFill>
                  <a:schemeClr val="bg1"/>
                </a:solidFill>
                <a:latin typeface="Open Sans" panose="020B0606030504020204" pitchFamily="34" charset="0"/>
              </a:rPr>
              <a:t>, </a:t>
            </a:r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realiza uma busca em profundidade do espaço com uma limitação de profundidade de 1.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Se ela não conseguir encontrar um objetivo, ela realiza outra busca em profundidade com um limite de aprofundamento de 2.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O processo prossegue, aumentando o limite de aprofundamento em um a cada iteração.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A cada iteração, o algoritmo realiza uma busca completa em profundidade, sob o limite de aprofundamento atual. </a:t>
            </a: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Não é armazenada nenhuma informação sobre o espaço de estados entre as iterações.</a:t>
            </a:r>
          </a:p>
          <a:p>
            <a:pPr marL="152396" indent="0">
              <a:buNone/>
            </a:pPr>
            <a:endParaRPr lang="pt-BR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758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>
            <a:extLst>
              <a:ext uri="{FF2B5EF4-FFF2-40B4-BE49-F238E27FC236}">
                <a16:creationId xmlns:a16="http://schemas.microsoft.com/office/drawing/2014/main" id="{8382B169-989C-41E3-92B4-B3B56BAE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51920"/>
            <a:ext cx="11360800" cy="714325"/>
          </a:xfr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Montserrat SemiBold" panose="00000700000000000000" pitchFamily="50" charset="0"/>
              </a:rPr>
              <a:t>Busca em Profundidade com Aprofundamento Iterativo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621" y="1577392"/>
            <a:ext cx="11517779" cy="4928688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Como o algoritmo busca o espaço nível por nível, é garantido que será encontrado o menor caminho até um objetivo. 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Como ele realiza apenas uma busca em profundidade a cada iteração, a utilização de espaço em qualquer nível n é b x n, onde b é o número médio de filhos de um nó.</a:t>
            </a:r>
          </a:p>
          <a:p>
            <a:pPr algn="just"/>
            <a:endParaRPr lang="pt-B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pt-BR" b="0" i="1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É interessante notar que, embora possa parecer que a busca em profundidade com aprofundamento iterativo seja muito menos eficiente em termos de tempo, tanto em relação à busca em profundidade como à busca em amplitude, a sua complexidade de tempo é, na realidade, da mesma ordem de magnitude que ambos os algoritmos: O(</a:t>
            </a:r>
            <a:r>
              <a:rPr lang="pt-BR" i="1" dirty="0" err="1">
                <a:solidFill>
                  <a:schemeClr val="bg1"/>
                </a:solidFill>
                <a:latin typeface="Open Sans" panose="020B0606030504020204" pitchFamily="34" charset="0"/>
              </a:rPr>
              <a:t>b</a:t>
            </a:r>
            <a:r>
              <a:rPr lang="pt-BR" b="0" i="1" dirty="0" err="1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pt-BR" b="0" i="1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). </a:t>
            </a:r>
            <a:endParaRPr lang="pt-BR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4668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621" y="1577392"/>
            <a:ext cx="11517779" cy="4928688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Exemplo:</a:t>
            </a:r>
          </a:p>
          <a:p>
            <a:pPr algn="just"/>
            <a:endParaRPr lang="pt-BR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05CAD4A7-6241-437F-8FD9-8F6CDD9BA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9" y="1577392"/>
            <a:ext cx="3144660" cy="251692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FB323EE-ED86-4D34-8428-F368B49F8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059" y="129748"/>
            <a:ext cx="8852211" cy="667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743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4DFFC719-4740-41D4-A8C3-6CE2D454A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621" y="1577392"/>
            <a:ext cx="11517779" cy="4928688"/>
          </a:xfrm>
        </p:spPr>
        <p:txBody>
          <a:bodyPr>
            <a:normAutofit/>
          </a:bodyPr>
          <a:lstStyle/>
          <a:p>
            <a:pPr algn="just"/>
            <a:r>
              <a:rPr lang="pt-B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Exemplo:</a:t>
            </a:r>
          </a:p>
          <a:p>
            <a:pPr algn="just"/>
            <a:endParaRPr lang="pt-BR" i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D32152C-FEAB-4C38-8ADC-3CB7276A1DAD}"/>
              </a:ext>
            </a:extLst>
          </p:cNvPr>
          <p:cNvGrpSpPr/>
          <p:nvPr/>
        </p:nvGrpSpPr>
        <p:grpSpPr>
          <a:xfrm>
            <a:off x="8327598" y="6081107"/>
            <a:ext cx="3605781" cy="595591"/>
            <a:chOff x="6245698" y="4560830"/>
            <a:chExt cx="2704336" cy="446693"/>
          </a:xfrm>
        </p:grpSpPr>
        <p:pic>
          <p:nvPicPr>
            <p:cNvPr id="3" name="Imagem 2" descr="Logotipo&#10;&#10;Descrição gerada automaticamente">
              <a:extLst>
                <a:ext uri="{FF2B5EF4-FFF2-40B4-BE49-F238E27FC236}">
                  <a16:creationId xmlns:a16="http://schemas.microsoft.com/office/drawing/2014/main" id="{3E3C0BE7-EF20-47E4-B4C8-19F4062FF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5698" y="4560830"/>
              <a:ext cx="1251196" cy="446693"/>
            </a:xfrm>
            <a:prstGeom prst="rect">
              <a:avLst/>
            </a:prstGeom>
          </p:spPr>
        </p:pic>
        <p:pic>
          <p:nvPicPr>
            <p:cNvPr id="7" name="Imagem 6" descr="Logotipo&#10;&#10;Descrição gerada automaticamente">
              <a:extLst>
                <a:ext uri="{FF2B5EF4-FFF2-40B4-BE49-F238E27FC236}">
                  <a16:creationId xmlns:a16="http://schemas.microsoft.com/office/drawing/2014/main" id="{D6674799-1D86-48D1-8CAD-9C5553F4B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416" y="4688792"/>
              <a:ext cx="1274618" cy="190768"/>
            </a:xfrm>
            <a:prstGeom prst="rect">
              <a:avLst/>
            </a:prstGeom>
          </p:spPr>
        </p:pic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05CAD4A7-6241-437F-8FD9-8F6CDD9BA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9" y="1577392"/>
            <a:ext cx="3144660" cy="25169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55E1B90-86E8-4F9E-8E94-3C693923D9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438" y="181304"/>
            <a:ext cx="8880543" cy="667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23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5131" y="685801"/>
            <a:ext cx="261731" cy="2617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defTabSz="609630"/>
              <a:endParaRPr lang="pt-BR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86631" y="684213"/>
            <a:ext cx="7832871" cy="3175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86584" y="1351389"/>
            <a:ext cx="7832918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35355" y="0"/>
            <a:ext cx="1956645" cy="6858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6632" y="2965450"/>
            <a:ext cx="468710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200"/>
              </a:lnSpc>
            </a:pPr>
            <a:r>
              <a:rPr lang="en-US" sz="6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6888" y="886782"/>
            <a:ext cx="252261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767" y="886782"/>
            <a:ext cx="253025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24003" y="2000678"/>
            <a:ext cx="5372783" cy="2662993"/>
            <a:chOff x="0" y="-28575"/>
            <a:chExt cx="10745567" cy="532598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40705"/>
              <a:ext cx="10745567" cy="4356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GOLDBARG, Marco; GOLDBARG, Elizabeth.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Aplicações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Elsevier, 2012.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SZWARCFITER, Jayme Luiz. Teoria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Computacional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Série SBC. Elsevier. 2018.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NICOLETTI, Maria do Carmo; HRUSCHKA JR, E. R.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Fundamentos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teoria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dos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para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computação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LTC, 2018.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745567" cy="5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361"/>
                </a:lnSpc>
              </a:pPr>
              <a:r>
                <a:rPr lang="en-US" sz="1816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Principal</a:t>
              </a: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5131" y="685801"/>
            <a:ext cx="261731" cy="2617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defTabSz="609630"/>
              <a:endParaRPr lang="pt-BR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86630" y="279400"/>
            <a:ext cx="7832871" cy="3175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86630" y="802166"/>
            <a:ext cx="7832918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740" y="2793082"/>
            <a:ext cx="407247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200"/>
              </a:lnSpc>
            </a:pPr>
            <a:r>
              <a:rPr lang="en-US" sz="6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3823" y="452967"/>
            <a:ext cx="252261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322" y="452967"/>
            <a:ext cx="253025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18474" y="1333294"/>
            <a:ext cx="5372783" cy="4368588"/>
            <a:chOff x="0" y="-28575"/>
            <a:chExt cx="10745567" cy="873717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40705"/>
              <a:ext cx="10745567" cy="7767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BOAVENTURA NETTO, Paulo Oswaldo. NETTO, Boaventura, OSWALDIO, Paulo.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Modelos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45ª ed. São Paulo: Edgard Blucher.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CORMEN, Thomas H. et al.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 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Prática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Elsevier, 2012.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FEOFILOFF, Paulo; KOHAYAKAWA,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Yoshiahuro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; WAKABAYASHI, Yoshiro. Teoria dos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Uma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Introdução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Sucinta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São Paulo: USP, 2011.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TRUDEAU, Richard J. Introduction to graph theory. Courier Corporation, 2013.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WILSON, Robin J. Introduction to Graph Theory. 5. ed. Prentice Hall, 2015.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745567" cy="5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361"/>
                </a:lnSpc>
              </a:pPr>
              <a:r>
                <a:rPr lang="en-US" sz="1816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Complementar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35355" y="0"/>
            <a:ext cx="1956645" cy="6858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41805-F623-41AB-B29A-D374D78B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3958" y="276726"/>
            <a:ext cx="6471186" cy="762000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>
                <a:ln w="0"/>
                <a:latin typeface="+mn-lt"/>
                <a:ea typeface="+mn-ea"/>
                <a:cs typeface="+mn-cs"/>
              </a:rPr>
              <a:t>Muito obrigado e até a Próxima!</a:t>
            </a:r>
            <a:endParaRPr lang="pt-BR" b="1" dirty="0">
              <a:ln w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2BD879-6317-CE97-0A36-E66775D3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14" y="1358403"/>
            <a:ext cx="7357730" cy="52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333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ABC41-BDAB-E451-E4AC-D3BD6D6D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BBC728-46BE-1826-8E1E-672CBCC7D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F1915B-5794-95FA-17E0-6C4402D22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2849909"/>
            <a:ext cx="11344275" cy="1637503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Teoria dos Grafos </a:t>
            </a:r>
            <a:b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/>
              <a:t>Busca em Largura e Profundidade</a:t>
            </a:r>
            <a:endParaRPr lang="pt-BR" sz="5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049A5-5042-654C-8CC5-0798E885D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66" y="5041078"/>
            <a:ext cx="8519882" cy="847176"/>
          </a:xfrm>
        </p:spPr>
        <p:txBody>
          <a:bodyPr>
            <a:normAutofit/>
          </a:bodyPr>
          <a:lstStyle/>
          <a:p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Bandeira: 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2"/>
              </a:rPr>
              <a:t>jonathan.bandeira@souunit.com.br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endParaRPr lang="pt-BR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E752C5-3647-6E59-3D82-E3DA5DEF5D14}"/>
              </a:ext>
            </a:extLst>
          </p:cNvPr>
          <p:cNvSpPr/>
          <p:nvPr/>
        </p:nvSpPr>
        <p:spPr>
          <a:xfrm>
            <a:off x="3979097" y="6319351"/>
            <a:ext cx="36070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da Computação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0137A9B-E760-7915-497E-58889B1AB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3" y="140903"/>
            <a:ext cx="4110038" cy="2195590"/>
          </a:xfrm>
          <a:prstGeom prst="rect">
            <a:avLst/>
          </a:prstGeom>
        </p:spPr>
      </p:pic>
      <p:pic>
        <p:nvPicPr>
          <p:cNvPr id="2052" name="Picture 4" descr="Porto Digital | LinkedIn">
            <a:extLst>
              <a:ext uri="{FF2B5EF4-FFF2-40B4-BE49-F238E27FC236}">
                <a16:creationId xmlns:a16="http://schemas.microsoft.com/office/drawing/2014/main" id="{15513F21-CE74-6195-FB18-429CAFF86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2910" cy="281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647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3999</TotalTime>
  <Words>3392</Words>
  <Application>Microsoft Office PowerPoint</Application>
  <PresentationFormat>Widescreen</PresentationFormat>
  <Paragraphs>412</Paragraphs>
  <Slides>78</Slides>
  <Notes>71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78</vt:i4>
      </vt:variant>
    </vt:vector>
  </HeadingPairs>
  <TitlesOfParts>
    <vt:vector size="92" baseType="lpstr">
      <vt:lpstr>Arial</vt:lpstr>
      <vt:lpstr>Calibri</vt:lpstr>
      <vt:lpstr>Calibri Light</vt:lpstr>
      <vt:lpstr>Cambria Math</vt:lpstr>
      <vt:lpstr>Libre Franklin Light</vt:lpstr>
      <vt:lpstr>Libre Franklin Semi-Bold</vt:lpstr>
      <vt:lpstr>Libre Franklin Thin</vt:lpstr>
      <vt:lpstr>Montserrat Medium</vt:lpstr>
      <vt:lpstr>Montserrat SemiBold</vt:lpstr>
      <vt:lpstr>Open Sans</vt:lpstr>
      <vt:lpstr>Times New Roman</vt:lpstr>
      <vt:lpstr>Tema do Office</vt:lpstr>
      <vt:lpstr>Office Theme</vt:lpstr>
      <vt:lpstr>Simple Light</vt:lpstr>
      <vt:lpstr>Teoria dos Grafos                    Busca em Largura e Profundidade</vt:lpstr>
      <vt:lpstr>Roteiro</vt:lpstr>
      <vt:lpstr> Representação de problemas por espaço de estados</vt:lpstr>
      <vt:lpstr> Representação de problemas por espaço de estados</vt:lpstr>
      <vt:lpstr> Representação de problemas por espaço de estados</vt:lpstr>
      <vt:lpstr> Representação de problemas por espaço de estados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Estratégias de busca sem informação ou busca cega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Busca em Largura ou Extensão ou Amplitude</vt:lpstr>
      <vt:lpstr>Avaliação da Complexidade das Estratégias de Busca</vt:lpstr>
      <vt:lpstr>Análise da Busca em Largura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</vt:lpstr>
      <vt:lpstr>Busca em profundidade – Continuar empilhando</vt:lpstr>
      <vt:lpstr>Busca em profundidade</vt:lpstr>
      <vt:lpstr>Análise da Busca em profundidade</vt:lpstr>
      <vt:lpstr>Busca em profundidade limitada</vt:lpstr>
      <vt:lpstr>Busca em profundidade limitada</vt:lpstr>
      <vt:lpstr>Busca em Profundidade com Aprofundamento Iterativo</vt:lpstr>
      <vt:lpstr>Busca em Profundidade com Aprofundamento Iterativo</vt:lpstr>
      <vt:lpstr>Apresentação do PowerPoint</vt:lpstr>
      <vt:lpstr>Apresentação do PowerPoint</vt:lpstr>
      <vt:lpstr>Apresentação do PowerPoint</vt:lpstr>
      <vt:lpstr>Apresentação do PowerPoint</vt:lpstr>
      <vt:lpstr>Muito obrigado e até a Próxima!</vt:lpstr>
      <vt:lpstr>Teoria dos Grafos  Busca em Largura e Profundidade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ORIENTADA A OBJETOS</dc:title>
  <dc:creator>FLAVIO DA SILVA NEVES</dc:creator>
  <cp:lastModifiedBy>Jonathan da Silva Bandeira</cp:lastModifiedBy>
  <cp:revision>158</cp:revision>
  <dcterms:created xsi:type="dcterms:W3CDTF">2020-02-02T23:21:56Z</dcterms:created>
  <dcterms:modified xsi:type="dcterms:W3CDTF">2026-01-25T19:16:16Z</dcterms:modified>
</cp:coreProperties>
</file>