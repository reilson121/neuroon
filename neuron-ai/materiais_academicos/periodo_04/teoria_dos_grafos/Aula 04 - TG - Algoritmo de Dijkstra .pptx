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5"/>
  </p:notesMasterIdLst>
  <p:sldIdLst>
    <p:sldId id="256" r:id="rId3"/>
    <p:sldId id="324" r:id="rId4"/>
    <p:sldId id="368" r:id="rId5"/>
    <p:sldId id="498" r:id="rId6"/>
    <p:sldId id="453" r:id="rId7"/>
    <p:sldId id="374" r:id="rId8"/>
    <p:sldId id="375" r:id="rId9"/>
    <p:sldId id="499" r:id="rId10"/>
    <p:sldId id="501" r:id="rId11"/>
    <p:sldId id="502" r:id="rId12"/>
    <p:sldId id="504" r:id="rId13"/>
    <p:sldId id="505" r:id="rId14"/>
    <p:sldId id="507" r:id="rId15"/>
    <p:sldId id="506" r:id="rId16"/>
    <p:sldId id="508" r:id="rId17"/>
    <p:sldId id="509" r:id="rId18"/>
    <p:sldId id="510" r:id="rId19"/>
    <p:sldId id="511" r:id="rId20"/>
    <p:sldId id="512" r:id="rId21"/>
    <p:sldId id="513" r:id="rId22"/>
    <p:sldId id="514" r:id="rId23"/>
    <p:sldId id="515" r:id="rId24"/>
    <p:sldId id="516" r:id="rId25"/>
    <p:sldId id="500" r:id="rId26"/>
    <p:sldId id="445" r:id="rId27"/>
    <p:sldId id="517" r:id="rId28"/>
    <p:sldId id="519" r:id="rId29"/>
    <p:sldId id="520" r:id="rId30"/>
    <p:sldId id="273" r:id="rId31"/>
    <p:sldId id="274" r:id="rId32"/>
    <p:sldId id="495" r:id="rId33"/>
    <p:sldId id="496" r:id="rId3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201" autoAdjust="0"/>
  </p:normalViewPr>
  <p:slideViewPr>
    <p:cSldViewPr snapToGrid="0">
      <p:cViewPr varScale="1">
        <p:scale>
          <a:sx n="72" d="100"/>
          <a:sy n="72" d="100"/>
        </p:scale>
        <p:origin x="107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574A2D-C15E-45C6-8A02-FCE81FFE4094}" type="datetimeFigureOut">
              <a:rPr lang="pt-BR" smtClean="0"/>
              <a:t>05/03/2026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5810EE-DF2A-4EEC-BA0D-5226B6602E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500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1601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A7E698-340F-4EBF-8F30-504530189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53148B-081B-4AAA-A608-7C7248C86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61F22-6C42-4B66-95B6-11D312543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795534-CCD6-491F-A2E1-73E332F45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52B9C3-B338-421F-97FF-D83A38E1D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038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772B48-7FAE-4D90-A750-F67CA7DE2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C795F3-C7D4-4453-8EF9-EF2AD65DE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5FD1F5-C29A-4D4D-AEFD-CEAC58ACF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9B0816-DD1A-4889-8D4B-FEACBD913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FDFF90-7FA0-4AF1-8FB3-172685785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5405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219B9-C203-4DDB-9622-439B05E82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070E03-BE51-4677-897D-A0FBB7BB4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3B72A9-AE11-4C2C-96FA-E5412F97F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9E67E6-F866-44DA-95E5-3C5867955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EFE0C1-F50E-4535-A077-E85F2666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596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307CC-1EE9-4E03-A8E4-A188391FB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640398-DF18-428D-8BD6-A81755299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4F92D6-2AA9-476A-9428-74BB2155E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A3D60A-99C0-43D8-A538-032756C6B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A64066-069D-4832-9E95-87DFF30E2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A151F2-785F-48FC-A706-B3B6CEEAB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8869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4693D-5F3B-4CFD-8A7E-0661B4EC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396E33-A9FA-4134-9F74-F9D43767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FF8C7B-A663-44AD-8D10-14F2C930E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46EBEE3-CA07-4782-A360-635B212032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E918A83-2868-4683-8EEC-E911D02AE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9454105-C3CE-40D9-9F51-066AC34C9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30CC430-9377-457F-87BC-4325C1B4F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552A023-5E54-45CF-A288-75AAC3A9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832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64EE1-7D51-4138-8413-1DB8E29F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1B466E-6465-432B-BF93-A670E7A92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79E9D2F-30CA-41C1-9878-03445A92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4BA8759-97ED-4356-8F07-F67B3CF20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5869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32641B1-C909-4EF1-BF0C-5B3B01B55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6D9BBBB-43C7-48A3-A705-96F0A365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98FEE4-F7DE-4CBB-B498-A904FF32F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3678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773E6-1F86-48B3-B617-62BA8F41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673076-EBF9-4E18-B856-EEF4B2990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2AB3B9D-23F1-4980-9A8B-4EE72F5AB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10468B-BDA6-4BF0-A2B9-97923EAAC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745E7B-CFB3-4806-A8E5-64E2B710A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0F8A86-EA15-4FCE-AD77-5C424404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8461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4B41D0-1716-4F0A-89E3-B7F242807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361BD11-CA16-472C-A2E4-13BA64C44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A3AF83-743F-4AB8-BD33-8B1B86873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B877D6-E487-4A25-A13D-B193F3D21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99429D-CDCA-4E9C-BCCE-7CC6466B2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6B507C-82C3-4DEB-8CE5-D4444D2DF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3279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1B732-27AE-438A-8BFF-862D6AB24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01D6B1-9A93-4213-8E10-574E11F3D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66302D-DC45-4A1A-995E-B976A6B9D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F9D52E-42B7-496A-9698-ECC761DDD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73E8CC-B11F-40DA-A0D6-F03C115FF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4413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16A2BCF-45B9-4EA2-AFEA-551F296F6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D7FC913-1466-4466-93FC-3B186E5F0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6DB044-85AF-401E-A0A1-A087317E6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1EAAF9-5F5C-48BF-B1DB-37067F2F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56DFBD-9EB4-4D00-94D0-C67DF97A1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6284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272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17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67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49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87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1668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7495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5359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206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90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2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41A4B0C-CEB8-4239-B7CB-D30F63DBC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DFDA91-4622-4472-BA27-C1B09036F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73F8B6-BF5F-4566-A90D-925F57210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B83AC9-2DF1-4775-B7F8-DCE61C444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96475A-9735-477F-BA89-044917D79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7167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88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jonathan.bandeira@souunit.com.br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jonathan.bandeira@souunit.com.br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2257994-BD97-4691-8B89-198A6D2BA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C3EE67-EB9B-4CDC-90C2-8819DDDCA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49" y="2849909"/>
            <a:ext cx="11344275" cy="1637503"/>
          </a:xfrm>
          <a:solidFill>
            <a:srgbClr val="FFFFFF"/>
          </a:solidFill>
          <a:ln w="38100">
            <a:solidFill>
              <a:srgbClr val="404040"/>
            </a:solidFill>
            <a:miter lim="800000"/>
          </a:ln>
        </p:spPr>
        <p:txBody>
          <a:bodyPr anchor="ctr">
            <a:noAutofit/>
          </a:bodyPr>
          <a:lstStyle/>
          <a:p>
            <a:r>
              <a:rPr lang="pt-BR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Teoria dos Grafos                 </a:t>
            </a:r>
            <a:r>
              <a:rPr lang="pt-B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Caminho Mínimo e </a:t>
            </a:r>
            <a:r>
              <a:rPr lang="pt-BR" sz="4800" dirty="0"/>
              <a:t>Algoritmo de </a:t>
            </a:r>
            <a:r>
              <a:rPr lang="pt-BR" sz="4800" dirty="0" err="1"/>
              <a:t>Djikstra</a:t>
            </a:r>
            <a:endParaRPr lang="pt-BR" sz="48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9F6184-63F4-4F05-8CE5-111C47729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7966" y="5041078"/>
            <a:ext cx="8519882" cy="847176"/>
          </a:xfrm>
        </p:spPr>
        <p:txBody>
          <a:bodyPr>
            <a:normAutofit/>
          </a:bodyPr>
          <a:lstStyle/>
          <a:p>
            <a:r>
              <a:rPr lang="pt-BR" sz="29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Jonathan Bandeira: </a:t>
            </a:r>
            <a:r>
              <a:rPr lang="pt-BR" sz="29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  <a:hlinkClick r:id="rId2"/>
              </a:rPr>
              <a:t>jonathan.bandeira@souunit.com.br</a:t>
            </a:r>
            <a:r>
              <a:rPr lang="pt-BR" sz="29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</a:p>
          <a:p>
            <a:endParaRPr lang="pt-BR" sz="16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FCFCA72-CEF0-4B59-9249-2FF30437C0E2}"/>
              </a:ext>
            </a:extLst>
          </p:cNvPr>
          <p:cNvSpPr/>
          <p:nvPr/>
        </p:nvSpPr>
        <p:spPr>
          <a:xfrm>
            <a:off x="3979097" y="6319351"/>
            <a:ext cx="3607078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pt-BR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Ciência da Computação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113" y="140903"/>
            <a:ext cx="4110038" cy="2195590"/>
          </a:xfrm>
          <a:prstGeom prst="rect">
            <a:avLst/>
          </a:prstGeom>
        </p:spPr>
      </p:pic>
      <p:pic>
        <p:nvPicPr>
          <p:cNvPr id="2052" name="Picture 4" descr="Porto Digital | LinkedI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12910" cy="281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7299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Roteiro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Caminho Mínimo;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Caminho Mínimo em Grafos Ponderados;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 de </a:t>
            </a:r>
            <a:r>
              <a:rPr lang="pt-B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Dijkstra</a:t>
            </a: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Bibliografia.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46"/>
            <a:fld id="{43A91214-D368-4B4F-B4B3-73A619B7B876}" type="slidenum">
              <a:rPr lang="pt-BR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914446"/>
              <a:t>2</a:t>
            </a:fld>
            <a:endParaRPr lang="pt-BR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40271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9099D01-5E5B-4355-9893-7FB12BE8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76" y="384177"/>
            <a:ext cx="8229600" cy="1143000"/>
          </a:xfrm>
        </p:spPr>
        <p:txBody>
          <a:bodyPr anchor="t"/>
          <a:lstStyle/>
          <a:p>
            <a:pPr eaLnBrk="1" hangingPunct="1"/>
            <a:r>
              <a:rPr lang="pt-BR" altLang="pt-BR" b="1" dirty="0"/>
              <a:t>Caminho Mínimo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228CF6F2-0D6A-4355-B12D-27935CD51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356" y="1341438"/>
            <a:ext cx="6963555" cy="4525962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pt-BR" altLang="pt-BR" dirty="0"/>
              <a:t>Um caminho C num grafo é </a:t>
            </a:r>
            <a:r>
              <a:rPr lang="pt-BR" altLang="pt-BR" b="1" dirty="0"/>
              <a:t>mínimo</a:t>
            </a:r>
            <a:r>
              <a:rPr lang="pt-BR" altLang="pt-BR" dirty="0"/>
              <a:t> se não existe outro caminho que tenha a mesma </a:t>
            </a:r>
            <a:r>
              <a:rPr lang="pt-BR" altLang="pt-BR" b="1" dirty="0"/>
              <a:t>origem</a:t>
            </a:r>
            <a:r>
              <a:rPr lang="pt-BR" altLang="pt-BR" dirty="0"/>
              <a:t> e o mesmo </a:t>
            </a:r>
            <a:r>
              <a:rPr lang="pt-BR" altLang="pt-BR" b="1" dirty="0"/>
              <a:t>término</a:t>
            </a:r>
            <a:r>
              <a:rPr lang="pt-BR" altLang="pt-BR" dirty="0"/>
              <a:t> que C mas </a:t>
            </a:r>
            <a:r>
              <a:rPr lang="pt-BR" altLang="pt-BR" b="1" dirty="0"/>
              <a:t>comprimento menor </a:t>
            </a:r>
            <a:r>
              <a:rPr lang="pt-BR" altLang="pt-BR" dirty="0"/>
              <a:t>que o de C. </a:t>
            </a:r>
          </a:p>
          <a:p>
            <a:pPr lvl="1">
              <a:lnSpc>
                <a:spcPct val="120000"/>
              </a:lnSpc>
            </a:pPr>
            <a:r>
              <a:rPr lang="pt-BR" altLang="pt-BR" dirty="0"/>
              <a:t>Vale lembrar que o comprimento é o número de arestas do caminho (grafos não ponderados).</a:t>
            </a:r>
          </a:p>
          <a:p>
            <a:pPr lvl="1">
              <a:lnSpc>
                <a:spcPct val="120000"/>
              </a:lnSpc>
            </a:pPr>
            <a:r>
              <a:rPr lang="pt-BR" altLang="pt-BR" dirty="0"/>
              <a:t>Na figura, por exemplo, o caminho  </a:t>
            </a:r>
            <a:r>
              <a:rPr lang="pt-BR" altLang="pt-BR" b="1" dirty="0"/>
              <a:t>0-2-7-5-1-3-6</a:t>
            </a:r>
            <a:r>
              <a:rPr lang="pt-BR" altLang="pt-BR" dirty="0"/>
              <a:t>  </a:t>
            </a:r>
            <a:r>
              <a:rPr lang="pt-BR" altLang="pt-BR" b="1" dirty="0"/>
              <a:t>não é mínimo </a:t>
            </a:r>
            <a:r>
              <a:rPr lang="pt-BR" altLang="pt-BR" dirty="0"/>
              <a:t>porque o caminho  </a:t>
            </a:r>
            <a:r>
              <a:rPr lang="pt-BR" altLang="pt-BR" b="1" dirty="0"/>
              <a:t>0-2-7-3-6</a:t>
            </a:r>
            <a:r>
              <a:rPr lang="pt-BR" altLang="pt-BR" dirty="0"/>
              <a:t>  é mais curto.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1F626B8-392D-6347-A855-A68C56165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576" y="2305050"/>
            <a:ext cx="3943350" cy="2247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3C74B-A618-4ED6-6BB2-32A1EAEE3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320DA8D4-D721-14AA-B2F8-AD25CA19B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76" y="384177"/>
            <a:ext cx="8229600" cy="1143000"/>
          </a:xfrm>
        </p:spPr>
        <p:txBody>
          <a:bodyPr anchor="t"/>
          <a:lstStyle/>
          <a:p>
            <a:pPr eaLnBrk="1" hangingPunct="1"/>
            <a:r>
              <a:rPr lang="pt-BR" altLang="pt-BR" b="1" dirty="0"/>
              <a:t>Caminho Mínimo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C1333209-9A07-E811-AE43-0D7B754BC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356" y="1341438"/>
            <a:ext cx="6963555" cy="4525962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pt-BR" altLang="pt-BR" b="1" dirty="0"/>
              <a:t>Problema do caminho mínimo:  </a:t>
            </a:r>
            <a:r>
              <a:rPr lang="pt-BR" altLang="pt-BR" i="1" dirty="0"/>
              <a:t>Dados vértices s e t de um grafo G, encontrar um caminho mínimo em G que tenha origem s e término t.</a:t>
            </a:r>
          </a:p>
          <a:p>
            <a:pPr eaLnBrk="1" hangingPunct="1">
              <a:lnSpc>
                <a:spcPct val="120000"/>
              </a:lnSpc>
            </a:pPr>
            <a:r>
              <a:rPr lang="pt-BR" altLang="pt-BR" dirty="0"/>
              <a:t>A  </a:t>
            </a:r>
            <a:r>
              <a:rPr lang="pt-BR" altLang="pt-BR" b="1" dirty="0"/>
              <a:t>distância</a:t>
            </a:r>
            <a:r>
              <a:rPr lang="pt-BR" altLang="pt-BR" dirty="0"/>
              <a:t> de s a t é o comprimento de um caminho mínimo com origem s e término t.</a:t>
            </a:r>
          </a:p>
          <a:p>
            <a:pPr eaLnBrk="1" hangingPunct="1">
              <a:lnSpc>
                <a:spcPct val="120000"/>
              </a:lnSpc>
            </a:pPr>
            <a:r>
              <a:rPr lang="pt-BR" altLang="pt-BR" dirty="0"/>
              <a:t> O conceito de distância é dirigido: a distância de s a t é, em geral, diferente da distância de t a s. Por isso, dizemos distância de s a t e não distância entre s e t.</a:t>
            </a:r>
          </a:p>
          <a:p>
            <a:pPr eaLnBrk="1" hangingPunct="1">
              <a:lnSpc>
                <a:spcPct val="120000"/>
              </a:lnSpc>
            </a:pPr>
            <a:r>
              <a:rPr lang="pt-BR" altLang="pt-BR" b="1" dirty="0"/>
              <a:t>Exemplo:  </a:t>
            </a:r>
            <a:r>
              <a:rPr lang="pt-BR" altLang="pt-BR" dirty="0"/>
              <a:t>No grafo da figura, o caminho </a:t>
            </a:r>
            <a:r>
              <a:rPr lang="pt-BR" altLang="pt-BR" b="1" dirty="0"/>
              <a:t>0-2-7-3-6</a:t>
            </a:r>
            <a:r>
              <a:rPr lang="pt-BR" altLang="pt-BR" dirty="0"/>
              <a:t> tem </a:t>
            </a:r>
            <a:r>
              <a:rPr lang="pt-BR" altLang="pt-BR" b="1" dirty="0"/>
              <a:t>comprimento 4</a:t>
            </a:r>
            <a:r>
              <a:rPr lang="pt-BR" altLang="pt-BR" dirty="0"/>
              <a:t>. Nenhum caminho de 0 a 6 tem comprimento menor que 4. Logo, o caminho 0-2-7-3-6 é </a:t>
            </a:r>
            <a:r>
              <a:rPr lang="pt-BR" altLang="pt-BR" b="1" dirty="0"/>
              <a:t>mínimo</a:t>
            </a:r>
            <a:r>
              <a:rPr lang="pt-BR" altLang="pt-BR" dirty="0"/>
              <a:t> e a distância do vértice 0 ao vértice 6 é 4. Agora considere a distância na direção contrária. Verifique que a distância de 6 a 0 é 1.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2DA367E-6834-F225-52BE-A00690AB9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576" y="2305050"/>
            <a:ext cx="394335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524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EBC821A8-0FDF-47B7-A51E-E6FE77775E24}"/>
              </a:ext>
            </a:extLst>
          </p:cNvPr>
          <p:cNvGrpSpPr>
            <a:grpSpLocks/>
          </p:cNvGrpSpPr>
          <p:nvPr/>
        </p:nvGrpSpPr>
        <p:grpSpPr bwMode="auto">
          <a:xfrm>
            <a:off x="5460107" y="2024893"/>
            <a:ext cx="5837237" cy="3810000"/>
            <a:chOff x="1575" y="2112"/>
            <a:chExt cx="3609" cy="2208"/>
          </a:xfrm>
        </p:grpSpPr>
        <p:sp>
          <p:nvSpPr>
            <p:cNvPr id="5" name="Oval 3">
              <a:extLst>
                <a:ext uri="{FF2B5EF4-FFF2-40B4-BE49-F238E27FC236}">
                  <a16:creationId xmlns:a16="http://schemas.microsoft.com/office/drawing/2014/main" id="{73C8C074-ECC5-4A16-8695-F363C8F33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4" y="2532"/>
              <a:ext cx="387" cy="1368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>
                <a:latin typeface="Arial" panose="020B0604020202020204" pitchFamily="34" charset="0"/>
              </a:endParaRPr>
            </a:p>
          </p:txBody>
        </p:sp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2D405C8E-7BDA-47A8-8F60-0965D06C22F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3251" y="2638"/>
              <a:ext cx="1159" cy="115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triangl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35D929F5-5071-40B5-9C68-BBE0C25E08A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094" y="3268"/>
              <a:ext cx="772" cy="52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C704DE4D-A027-4297-B523-8BD9A64CB63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2094" y="2638"/>
              <a:ext cx="772" cy="52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7C96E67D-D8CA-4949-A8D2-937E8FE9FBD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2219" y="3268"/>
              <a:ext cx="2191" cy="52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149EF99C-EAF0-4BC8-9F1D-2B77DF2C66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8" y="2322"/>
              <a:ext cx="51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6494FE28-4163-4E96-97FF-FCB93F676E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0" y="3478"/>
              <a:ext cx="516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A683A585-D9C9-4107-941F-044DAE2A91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4" y="2112"/>
              <a:ext cx="51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5400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i="1"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12B47F90-68E6-4322-AFA9-98FFCD4377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0" y="2638"/>
              <a:ext cx="516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28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CCC43544-C22D-4614-9436-C276A58FD6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5" y="2954"/>
              <a:ext cx="515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i="1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F2B07988-6FEA-4B87-A48D-1BD2FCD75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8" y="3794"/>
              <a:ext cx="51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5B0B0418-5A63-4256-83A0-3BDC0BFDFE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1" y="3058"/>
              <a:ext cx="516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36000" rIns="18000" bIns="3600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2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9CED08C0-563D-40EC-BB3B-F4686CA2AE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9" y="3058"/>
              <a:ext cx="515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8" name="AutoShape 16">
              <a:extLst>
                <a:ext uri="{FF2B5EF4-FFF2-40B4-BE49-F238E27FC236}">
                  <a16:creationId xmlns:a16="http://schemas.microsoft.com/office/drawing/2014/main" id="{46AF3FBA-F010-453E-95D6-A741AED029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906849">
              <a:off x="3132" y="2696"/>
              <a:ext cx="130" cy="105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>
                <a:latin typeface="Arial" panose="020B0604020202020204" pitchFamily="34" charset="0"/>
              </a:endParaRPr>
            </a:p>
          </p:txBody>
        </p:sp>
        <p:sp>
          <p:nvSpPr>
            <p:cNvPr id="19" name="AutoShape 17">
              <a:extLst>
                <a:ext uri="{FF2B5EF4-FFF2-40B4-BE49-F238E27FC236}">
                  <a16:creationId xmlns:a16="http://schemas.microsoft.com/office/drawing/2014/main" id="{AF6EBC7E-94C4-49EB-831E-C89B309E6C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873251" flipV="1">
              <a:off x="2864" y="3584"/>
              <a:ext cx="130" cy="106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>
                <a:latin typeface="Arial" panose="020B0604020202020204" pitchFamily="34" charset="0"/>
              </a:endParaRPr>
            </a:p>
          </p:txBody>
        </p:sp>
        <p:sp>
          <p:nvSpPr>
            <p:cNvPr id="20" name="Oval 18">
              <a:extLst>
                <a:ext uri="{FF2B5EF4-FFF2-40B4-BE49-F238E27FC236}">
                  <a16:creationId xmlns:a16="http://schemas.microsoft.com/office/drawing/2014/main" id="{49EDC8FF-914D-499F-A298-513AE3398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2534"/>
              <a:ext cx="387" cy="1366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>
                <a:latin typeface="Arial" panose="020B0604020202020204" pitchFamily="34" charset="0"/>
              </a:endParaRPr>
            </a:p>
          </p:txBody>
        </p:sp>
        <p:sp>
          <p:nvSpPr>
            <p:cNvPr id="21" name="AutoShape 19">
              <a:extLst>
                <a:ext uri="{FF2B5EF4-FFF2-40B4-BE49-F238E27FC236}">
                  <a16:creationId xmlns:a16="http://schemas.microsoft.com/office/drawing/2014/main" id="{E0E55B9A-8BC5-47B9-A2A9-A4D07425C3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906849">
              <a:off x="4669" y="2696"/>
              <a:ext cx="128" cy="106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>
                <a:latin typeface="Arial" panose="020B0604020202020204" pitchFamily="34" charset="0"/>
              </a:endParaRPr>
            </a:p>
          </p:txBody>
        </p:sp>
        <p:sp>
          <p:nvSpPr>
            <p:cNvPr id="22" name="AutoShape 20">
              <a:extLst>
                <a:ext uri="{FF2B5EF4-FFF2-40B4-BE49-F238E27FC236}">
                  <a16:creationId xmlns:a16="http://schemas.microsoft.com/office/drawing/2014/main" id="{BDEEC5CB-A83D-4644-913E-92635C4CAFB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873251" flipV="1">
              <a:off x="4399" y="3584"/>
              <a:ext cx="129" cy="106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>
                <a:latin typeface="Arial" panose="020B0604020202020204" pitchFamily="34" charset="0"/>
              </a:endParaRPr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A59F40A7-A60F-454C-9C27-1E284CEE8C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1" y="2589"/>
              <a:ext cx="115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D2DF0507-6EBB-4F31-A1A4-BFF58E4F1B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1" y="3852"/>
              <a:ext cx="115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 Box 23">
              <a:extLst>
                <a:ext uri="{FF2B5EF4-FFF2-40B4-BE49-F238E27FC236}">
                  <a16:creationId xmlns:a16="http://schemas.microsoft.com/office/drawing/2014/main" id="{40EBB432-57CC-4363-AF8E-24A7DC3EA8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0" y="2112"/>
              <a:ext cx="51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5400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i="1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26" name="Text Box 24">
              <a:extLst>
                <a:ext uri="{FF2B5EF4-FFF2-40B4-BE49-F238E27FC236}">
                  <a16:creationId xmlns:a16="http://schemas.microsoft.com/office/drawing/2014/main" id="{06F103C4-8B96-439B-B4F7-7046D52CC9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4" y="3900"/>
              <a:ext cx="517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5400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7" name="Text Box 25">
              <a:extLst>
                <a:ext uri="{FF2B5EF4-FFF2-40B4-BE49-F238E27FC236}">
                  <a16:creationId xmlns:a16="http://schemas.microsoft.com/office/drawing/2014/main" id="{0F34B1DD-38B0-439E-8408-1822EEF9B4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0" y="3900"/>
              <a:ext cx="517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5400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8" name="Text Box 26">
              <a:extLst>
                <a:ext uri="{FF2B5EF4-FFF2-40B4-BE49-F238E27FC236}">
                  <a16:creationId xmlns:a16="http://schemas.microsoft.com/office/drawing/2014/main" id="{C1231722-F920-41D3-AB32-530451EF1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8" y="2954"/>
              <a:ext cx="517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36000" rIns="18000" bIns="3600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28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8EE8B800-D795-4D3A-B70C-B2DFF5DCF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" y="3058"/>
              <a:ext cx="51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36000" rIns="18000" bIns="3600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2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0" name="Text Box 28">
              <a:extLst>
                <a:ext uri="{FF2B5EF4-FFF2-40B4-BE49-F238E27FC236}">
                  <a16:creationId xmlns:a16="http://schemas.microsoft.com/office/drawing/2014/main" id="{FA969696-A75C-4A0E-BE6D-7359A8BD05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7" y="3058"/>
              <a:ext cx="51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36000" rIns="18000" bIns="3600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2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1" name="Text Box 29">
              <a:extLst>
                <a:ext uri="{FF2B5EF4-FFF2-40B4-BE49-F238E27FC236}">
                  <a16:creationId xmlns:a16="http://schemas.microsoft.com/office/drawing/2014/main" id="{2F36319C-87BD-43AB-81B1-BF8C4C98DD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8" y="3374"/>
              <a:ext cx="515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36000" rIns="18000" bIns="3600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28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2" name="Oval 30">
              <a:extLst>
                <a:ext uri="{FF2B5EF4-FFF2-40B4-BE49-F238E27FC236}">
                  <a16:creationId xmlns:a16="http://schemas.microsoft.com/office/drawing/2014/main" id="{BF5D3C40-3AC5-4E80-98EB-54F36255E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024"/>
              <a:ext cx="336" cy="384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24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3" name="Oval 31">
              <a:extLst>
                <a:ext uri="{FF2B5EF4-FFF2-40B4-BE49-F238E27FC236}">
                  <a16:creationId xmlns:a16="http://schemas.microsoft.com/office/drawing/2014/main" id="{972C8463-BE7F-49E6-88D6-93C2D17F1B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696"/>
              <a:ext cx="336" cy="384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2400" b="1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4" name="Oval 32">
              <a:extLst>
                <a:ext uri="{FF2B5EF4-FFF2-40B4-BE49-F238E27FC236}">
                  <a16:creationId xmlns:a16="http://schemas.microsoft.com/office/drawing/2014/main" id="{33B2E5E5-CB38-4FF4-AF04-81D9B28E7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352"/>
              <a:ext cx="336" cy="384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24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5" name="Oval 33">
              <a:extLst>
                <a:ext uri="{FF2B5EF4-FFF2-40B4-BE49-F238E27FC236}">
                  <a16:creationId xmlns:a16="http://schemas.microsoft.com/office/drawing/2014/main" id="{4B1A16DC-0535-4E59-9FBC-3126395B6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3648"/>
              <a:ext cx="336" cy="384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2400" b="1">
                  <a:latin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36" name="Oval 34">
              <a:extLst>
                <a:ext uri="{FF2B5EF4-FFF2-40B4-BE49-F238E27FC236}">
                  <a16:creationId xmlns:a16="http://schemas.microsoft.com/office/drawing/2014/main" id="{40FDFE1A-117E-4C37-AF1E-7A01CAFA4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2352"/>
              <a:ext cx="336" cy="384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2400" b="1">
                  <a:latin typeface="Times New Roman" panose="02020603050405020304" pitchFamily="18" charset="0"/>
                </a:rPr>
                <a:t>9</a:t>
              </a:r>
            </a:p>
          </p:txBody>
        </p:sp>
      </p:grpSp>
      <p:sp>
        <p:nvSpPr>
          <p:cNvPr id="37" name="Text Box 35">
            <a:extLst>
              <a:ext uri="{FF2B5EF4-FFF2-40B4-BE49-F238E27FC236}">
                <a16:creationId xmlns:a16="http://schemas.microsoft.com/office/drawing/2014/main" id="{A80726CD-B2B3-40F4-BF94-479A030CD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409" y="1852401"/>
            <a:ext cx="3787335" cy="4154984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b="1" dirty="0">
                <a:solidFill>
                  <a:srgbClr val="003399"/>
                </a:solidFill>
                <a:latin typeface="Arial" panose="020B0604020202020204" pitchFamily="34" charset="0"/>
              </a:rPr>
              <a:t>Grafos com pesos</a:t>
            </a:r>
            <a:r>
              <a:rPr lang="pt-BR" altLang="pt-BR" dirty="0">
                <a:solidFill>
                  <a:srgbClr val="003399"/>
                </a:solidFill>
                <a:latin typeface="Arial" panose="020B0604020202020204" pitchFamily="34" charset="0"/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800" dirty="0">
                <a:solidFill>
                  <a:srgbClr val="003399"/>
                </a:solidFill>
                <a:latin typeface="Arial" panose="020B0604020202020204" pitchFamily="34" charset="0"/>
              </a:rPr>
              <a:t> - Cada aresta  possui um número associado (peso)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dirty="0">
                <a:solidFill>
                  <a:srgbClr val="003399"/>
                </a:solidFill>
                <a:latin typeface="Arial" panose="020B0604020202020204" pitchFamily="34" charset="0"/>
              </a:rPr>
              <a:t> - </a:t>
            </a:r>
            <a:r>
              <a:rPr lang="pt-BR" altLang="pt-BR" sz="2800" dirty="0">
                <a:solidFill>
                  <a:srgbClr val="003399"/>
                </a:solidFill>
                <a:latin typeface="Arial" panose="020B0604020202020204" pitchFamily="34" charset="0"/>
              </a:rPr>
              <a:t>O tamanho do caminho é a soma dos pesos das arestas do caminho</a:t>
            </a:r>
            <a:endParaRPr lang="pt-BR" altLang="pt-BR" dirty="0">
              <a:solidFill>
                <a:srgbClr val="003399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17528C9-D474-DDA2-FD61-B2A741CCB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75" y="384177"/>
            <a:ext cx="8841931" cy="1143000"/>
          </a:xfrm>
        </p:spPr>
        <p:txBody>
          <a:bodyPr anchor="t">
            <a:normAutofit fontScale="90000"/>
          </a:bodyPr>
          <a:lstStyle/>
          <a:p>
            <a:pPr eaLnBrk="1" hangingPunct="1"/>
            <a:r>
              <a:rPr lang="pt-BR" altLang="pt-BR" b="1" dirty="0"/>
              <a:t>Caminho Mínimo em Grafos Ponderados</a:t>
            </a:r>
          </a:p>
        </p:txBody>
      </p:sp>
    </p:spTree>
    <p:extLst>
      <p:ext uri="{BB962C8B-B14F-4D97-AF65-F5344CB8AC3E}">
        <p14:creationId xmlns:p14="http://schemas.microsoft.com/office/powerpoint/2010/main" val="4122737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>
            <a:extLst>
              <a:ext uri="{FF2B5EF4-FFF2-40B4-BE49-F238E27FC236}">
                <a16:creationId xmlns:a16="http://schemas.microsoft.com/office/drawing/2014/main" id="{C38BC802-A6C0-40C7-89C0-7B5B2AC0A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157" y="963801"/>
            <a:ext cx="8820150" cy="1077913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dirty="0">
                <a:solidFill>
                  <a:srgbClr val="003399"/>
                </a:solidFill>
                <a:latin typeface="Arial" panose="020B0604020202020204" pitchFamily="34" charset="0"/>
              </a:rPr>
              <a:t>Como obter um caminho mínimo partindo de s para y?</a:t>
            </a:r>
          </a:p>
        </p:txBody>
      </p:sp>
      <p:sp>
        <p:nvSpPr>
          <p:cNvPr id="54275" name="Oval 3">
            <a:extLst>
              <a:ext uri="{FF2B5EF4-FFF2-40B4-BE49-F238E27FC236}">
                <a16:creationId xmlns:a16="http://schemas.microsoft.com/office/drawing/2014/main" id="{CE3B58D5-01C6-4915-BF9D-BFBBE9C64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2939" y="2859089"/>
            <a:ext cx="625475" cy="2359025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54276" name="Line 4">
            <a:extLst>
              <a:ext uri="{FF2B5EF4-FFF2-40B4-BE49-F238E27FC236}">
                <a16:creationId xmlns:a16="http://schemas.microsoft.com/office/drawing/2014/main" id="{49AE64BC-30AA-4C80-9307-0797BC573779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5078414" y="3041650"/>
            <a:ext cx="1876425" cy="199390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4277" name="Line 5">
            <a:extLst>
              <a:ext uri="{FF2B5EF4-FFF2-40B4-BE49-F238E27FC236}">
                <a16:creationId xmlns:a16="http://schemas.microsoft.com/office/drawing/2014/main" id="{8BB7DCDE-F77F-49D6-AD98-4CB1273832F8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208339" y="4129088"/>
            <a:ext cx="1247775" cy="906462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triangl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4278" name="Line 6">
            <a:extLst>
              <a:ext uri="{FF2B5EF4-FFF2-40B4-BE49-F238E27FC236}">
                <a16:creationId xmlns:a16="http://schemas.microsoft.com/office/drawing/2014/main" id="{D3031DA4-7386-416C-9F94-118629658B06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3208339" y="3041651"/>
            <a:ext cx="1247775" cy="906463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triangl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4279" name="Line 7">
            <a:extLst>
              <a:ext uri="{FF2B5EF4-FFF2-40B4-BE49-F238E27FC236}">
                <a16:creationId xmlns:a16="http://schemas.microsoft.com/office/drawing/2014/main" id="{C9D64EFB-0648-42A5-96D1-700407022FE7}"/>
              </a:ext>
            </a:extLst>
          </p:cNvPr>
          <p:cNvSpPr>
            <a:spLocks noChangeShapeType="1"/>
          </p:cNvSpPr>
          <p:nvPr/>
        </p:nvSpPr>
        <p:spPr bwMode="auto">
          <a:xfrm rot="10800000" flipH="1" flipV="1">
            <a:off x="3409950" y="4129088"/>
            <a:ext cx="3544888" cy="90646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 type="triangl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4280" name="Text Box 8">
            <a:extLst>
              <a:ext uri="{FF2B5EF4-FFF2-40B4-BE49-F238E27FC236}">
                <a16:creationId xmlns:a16="http://schemas.microsoft.com/office/drawing/2014/main" id="{34D338D8-4BE9-4055-A796-EE06C0D05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5926" y="2495550"/>
            <a:ext cx="836613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4281" name="Text Box 9">
            <a:extLst>
              <a:ext uri="{FF2B5EF4-FFF2-40B4-BE49-F238E27FC236}">
                <a16:creationId xmlns:a16="http://schemas.microsoft.com/office/drawing/2014/main" id="{A9B65056-2F6F-4C0E-B09F-A47D7B185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1989" y="4491038"/>
            <a:ext cx="833437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4282" name="Text Box 10">
            <a:extLst>
              <a:ext uri="{FF2B5EF4-FFF2-40B4-BE49-F238E27FC236}">
                <a16:creationId xmlns:a16="http://schemas.microsoft.com/office/drawing/2014/main" id="{2EA07125-94D5-428F-9C6B-EA1A0FBEC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2938" y="2133601"/>
            <a:ext cx="836612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5400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54283" name="Text Box 11">
            <a:extLst>
              <a:ext uri="{FF2B5EF4-FFF2-40B4-BE49-F238E27FC236}">
                <a16:creationId xmlns:a16="http://schemas.microsoft.com/office/drawing/2014/main" id="{AA0B07F8-4990-461F-AECE-9956EA118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1989" y="3041651"/>
            <a:ext cx="833437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4284" name="Text Box 12">
            <a:extLst>
              <a:ext uri="{FF2B5EF4-FFF2-40B4-BE49-F238E27FC236}">
                <a16:creationId xmlns:a16="http://schemas.microsoft.com/office/drawing/2014/main" id="{67D607DF-4A98-4491-B940-2F4ECDF25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8550" y="3586164"/>
            <a:ext cx="833438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54285" name="Text Box 13">
            <a:extLst>
              <a:ext uri="{FF2B5EF4-FFF2-40B4-BE49-F238E27FC236}">
                <a16:creationId xmlns:a16="http://schemas.microsoft.com/office/drawing/2014/main" id="{603EC5AF-D6C0-4063-920F-E26085944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5926" y="5035550"/>
            <a:ext cx="836613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4286" name="Text Box 14">
            <a:extLst>
              <a:ext uri="{FF2B5EF4-FFF2-40B4-BE49-F238E27FC236}">
                <a16:creationId xmlns:a16="http://schemas.microsoft.com/office/drawing/2014/main" id="{4B8FBBA2-1741-4C3C-89B0-1BCA3AD3F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1" y="3765550"/>
            <a:ext cx="835025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36000" rIns="18000" bIns="3600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4287" name="Text Box 15">
            <a:extLst>
              <a:ext uri="{FF2B5EF4-FFF2-40B4-BE49-F238E27FC236}">
                <a16:creationId xmlns:a16="http://schemas.microsoft.com/office/drawing/2014/main" id="{F037BD98-A53F-4A57-8522-D37652231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8569" y="3819875"/>
            <a:ext cx="833438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54288" name="AutoShape 16">
            <a:extLst>
              <a:ext uri="{FF2B5EF4-FFF2-40B4-BE49-F238E27FC236}">
                <a16:creationId xmlns:a16="http://schemas.microsoft.com/office/drawing/2014/main" id="{0B416D64-B79F-4131-B898-C05DE23DED10}"/>
              </a:ext>
            </a:extLst>
          </p:cNvPr>
          <p:cNvSpPr>
            <a:spLocks noChangeArrowheads="1"/>
          </p:cNvSpPr>
          <p:nvPr/>
        </p:nvSpPr>
        <p:spPr bwMode="auto">
          <a:xfrm rot="20693151">
            <a:off x="4886325" y="3141664"/>
            <a:ext cx="209550" cy="180975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54289" name="AutoShape 17">
            <a:extLst>
              <a:ext uri="{FF2B5EF4-FFF2-40B4-BE49-F238E27FC236}">
                <a16:creationId xmlns:a16="http://schemas.microsoft.com/office/drawing/2014/main" id="{851C133A-8FB7-41C6-8B2E-370DCEEE8366}"/>
              </a:ext>
            </a:extLst>
          </p:cNvPr>
          <p:cNvSpPr>
            <a:spLocks noChangeArrowheads="1"/>
          </p:cNvSpPr>
          <p:nvPr/>
        </p:nvSpPr>
        <p:spPr bwMode="auto">
          <a:xfrm rot="12873251" flipV="1">
            <a:off x="4452938" y="4673601"/>
            <a:ext cx="209550" cy="182563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54290" name="Oval 18">
            <a:extLst>
              <a:ext uri="{FF2B5EF4-FFF2-40B4-BE49-F238E27FC236}">
                <a16:creationId xmlns:a16="http://schemas.microsoft.com/office/drawing/2014/main" id="{A59A342E-23D6-41AA-803D-591317FB3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5788" y="2862263"/>
            <a:ext cx="627062" cy="235585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54291" name="AutoShape 19">
            <a:extLst>
              <a:ext uri="{FF2B5EF4-FFF2-40B4-BE49-F238E27FC236}">
                <a16:creationId xmlns:a16="http://schemas.microsoft.com/office/drawing/2014/main" id="{012CA657-94A0-4D5D-8054-8A6557CB4BF5}"/>
              </a:ext>
            </a:extLst>
          </p:cNvPr>
          <p:cNvSpPr>
            <a:spLocks noChangeArrowheads="1"/>
          </p:cNvSpPr>
          <p:nvPr/>
        </p:nvSpPr>
        <p:spPr bwMode="auto">
          <a:xfrm rot="20693151">
            <a:off x="7372351" y="3141663"/>
            <a:ext cx="207963" cy="182562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54292" name="AutoShape 20">
            <a:extLst>
              <a:ext uri="{FF2B5EF4-FFF2-40B4-BE49-F238E27FC236}">
                <a16:creationId xmlns:a16="http://schemas.microsoft.com/office/drawing/2014/main" id="{2282B4A3-FCCA-4AC0-9D36-03CEF00B9754}"/>
              </a:ext>
            </a:extLst>
          </p:cNvPr>
          <p:cNvSpPr>
            <a:spLocks noChangeArrowheads="1"/>
          </p:cNvSpPr>
          <p:nvPr/>
        </p:nvSpPr>
        <p:spPr bwMode="auto">
          <a:xfrm rot="12873251" flipV="1">
            <a:off x="6935788" y="4673601"/>
            <a:ext cx="209550" cy="182563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54293" name="Line 21">
            <a:extLst>
              <a:ext uri="{FF2B5EF4-FFF2-40B4-BE49-F238E27FC236}">
                <a16:creationId xmlns:a16="http://schemas.microsoft.com/office/drawing/2014/main" id="{0E7C3AC6-E414-4981-89BA-318E3FA00D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8414" y="2955925"/>
            <a:ext cx="1876425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4294" name="Line 22">
            <a:extLst>
              <a:ext uri="{FF2B5EF4-FFF2-40B4-BE49-F238E27FC236}">
                <a16:creationId xmlns:a16="http://schemas.microsoft.com/office/drawing/2014/main" id="{4AA1AB4D-0929-4D48-A604-DC2C9D31D2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8414" y="5135563"/>
            <a:ext cx="1876425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4295" name="Text Box 23">
            <a:extLst>
              <a:ext uri="{FF2B5EF4-FFF2-40B4-BE49-F238E27FC236}">
                <a16:creationId xmlns:a16="http://schemas.microsoft.com/office/drawing/2014/main" id="{44CF8150-E484-4900-A678-9C9F5BD83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4839" y="2133601"/>
            <a:ext cx="835025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5400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54296" name="Text Box 24">
            <a:extLst>
              <a:ext uri="{FF2B5EF4-FFF2-40B4-BE49-F238E27FC236}">
                <a16:creationId xmlns:a16="http://schemas.microsoft.com/office/drawing/2014/main" id="{B32B3601-78C2-4D3F-B670-C74C7D498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2938" y="5218114"/>
            <a:ext cx="836612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5400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54297" name="Text Box 25">
            <a:extLst>
              <a:ext uri="{FF2B5EF4-FFF2-40B4-BE49-F238E27FC236}">
                <a16:creationId xmlns:a16="http://schemas.microsoft.com/office/drawing/2014/main" id="{25C221B2-4D8F-4073-BA6F-CE0620116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4839" y="5218114"/>
            <a:ext cx="835025" cy="7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5400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i="1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54298" name="Text Box 26">
            <a:extLst>
              <a:ext uri="{FF2B5EF4-FFF2-40B4-BE49-F238E27FC236}">
                <a16:creationId xmlns:a16="http://schemas.microsoft.com/office/drawing/2014/main" id="{4828E765-DBF8-4E14-8B8E-AD863AA63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5581" y="3536156"/>
            <a:ext cx="836613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36000" rIns="18000" bIns="3600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4299" name="Text Box 27">
            <a:extLst>
              <a:ext uri="{FF2B5EF4-FFF2-40B4-BE49-F238E27FC236}">
                <a16:creationId xmlns:a16="http://schemas.microsoft.com/office/drawing/2014/main" id="{372A68BC-55A9-4D6B-B953-14439A61F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8863" y="3765550"/>
            <a:ext cx="836612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36000" rIns="18000" bIns="3600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4300" name="Text Box 28">
            <a:extLst>
              <a:ext uri="{FF2B5EF4-FFF2-40B4-BE49-F238E27FC236}">
                <a16:creationId xmlns:a16="http://schemas.microsoft.com/office/drawing/2014/main" id="{3BE1E2AB-47A0-40F7-A40A-F438EA5C2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7464" y="3765550"/>
            <a:ext cx="835025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36000" rIns="18000" bIns="3600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4301" name="Text Box 29">
            <a:extLst>
              <a:ext uri="{FF2B5EF4-FFF2-40B4-BE49-F238E27FC236}">
                <a16:creationId xmlns:a16="http://schemas.microsoft.com/office/drawing/2014/main" id="{546B0F8B-92FB-4A8C-A5D4-29A02E003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5475" y="4311651"/>
            <a:ext cx="833438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36000" rIns="18000" bIns="3600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4302" name="Oval 30">
            <a:extLst>
              <a:ext uri="{FF2B5EF4-FFF2-40B4-BE49-F238E27FC236}">
                <a16:creationId xmlns:a16="http://schemas.microsoft.com/office/drawing/2014/main" id="{7FE50B35-49DD-4328-AAB2-08970560D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976" y="3706814"/>
            <a:ext cx="544513" cy="663575"/>
          </a:xfrm>
          <a:prstGeom prst="ellipse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 b="1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4303" name="Oval 31">
            <a:extLst>
              <a:ext uri="{FF2B5EF4-FFF2-40B4-BE49-F238E27FC236}">
                <a16:creationId xmlns:a16="http://schemas.microsoft.com/office/drawing/2014/main" id="{5226E4B7-83D2-41EF-A997-1C5FB059A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6" y="4867275"/>
            <a:ext cx="542925" cy="661988"/>
          </a:xfrm>
          <a:prstGeom prst="ellipse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 b="1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4304" name="Oval 32">
            <a:extLst>
              <a:ext uri="{FF2B5EF4-FFF2-40B4-BE49-F238E27FC236}">
                <a16:creationId xmlns:a16="http://schemas.microsoft.com/office/drawing/2014/main" id="{9BB96DBE-261A-48D1-A23C-05BB571E9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6" y="2547939"/>
            <a:ext cx="542925" cy="661987"/>
          </a:xfrm>
          <a:prstGeom prst="ellipse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 b="1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4305" name="Oval 33">
            <a:extLst>
              <a:ext uri="{FF2B5EF4-FFF2-40B4-BE49-F238E27FC236}">
                <a16:creationId xmlns:a16="http://schemas.microsoft.com/office/drawing/2014/main" id="{2C923F70-08F0-4CB5-A62F-EC3D737FF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0563" y="4784725"/>
            <a:ext cx="544512" cy="661988"/>
          </a:xfrm>
          <a:prstGeom prst="ellipse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 b="1">
                <a:latin typeface="Times New Roman" panose="02020603050405020304" pitchFamily="18" charset="0"/>
              </a:rPr>
              <a:t>11</a:t>
            </a:r>
          </a:p>
        </p:txBody>
      </p:sp>
      <p:sp>
        <p:nvSpPr>
          <p:cNvPr id="54306" name="Oval 34">
            <a:extLst>
              <a:ext uri="{FF2B5EF4-FFF2-40B4-BE49-F238E27FC236}">
                <a16:creationId xmlns:a16="http://schemas.microsoft.com/office/drawing/2014/main" id="{A5658F53-632B-49C2-A941-18082F62D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0563" y="2547939"/>
            <a:ext cx="544512" cy="661987"/>
          </a:xfrm>
          <a:prstGeom prst="ellipse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4307" name="Freeform 35">
            <a:extLst>
              <a:ext uri="{FF2B5EF4-FFF2-40B4-BE49-F238E27FC236}">
                <a16:creationId xmlns:a16="http://schemas.microsoft.com/office/drawing/2014/main" id="{6F44DB0B-9527-4F01-A544-36CF19C8EEBB}"/>
              </a:ext>
            </a:extLst>
          </p:cNvPr>
          <p:cNvSpPr>
            <a:spLocks/>
          </p:cNvSpPr>
          <p:nvPr/>
        </p:nvSpPr>
        <p:spPr bwMode="auto">
          <a:xfrm>
            <a:off x="6940550" y="2971800"/>
            <a:ext cx="139700" cy="2057400"/>
          </a:xfrm>
          <a:custGeom>
            <a:avLst/>
            <a:gdLst>
              <a:gd name="T0" fmla="*/ 2147483646 w 96"/>
              <a:gd name="T1" fmla="*/ 0 h 1296"/>
              <a:gd name="T2" fmla="*/ 0 w 96"/>
              <a:gd name="T3" fmla="*/ 2147483646 h 1296"/>
              <a:gd name="T4" fmla="*/ 2147483646 w 96"/>
              <a:gd name="T5" fmla="*/ 2147483646 h 1296"/>
              <a:gd name="T6" fmla="*/ 0 60000 65536"/>
              <a:gd name="T7" fmla="*/ 0 60000 65536"/>
              <a:gd name="T8" fmla="*/ 0 60000 65536"/>
              <a:gd name="T9" fmla="*/ 0 w 96"/>
              <a:gd name="T10" fmla="*/ 0 h 1296"/>
              <a:gd name="T11" fmla="*/ 96 w 96"/>
              <a:gd name="T12" fmla="*/ 1296 h 12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1296">
                <a:moveTo>
                  <a:pt x="96" y="0"/>
                </a:moveTo>
                <a:cubicBezTo>
                  <a:pt x="48" y="228"/>
                  <a:pt x="0" y="456"/>
                  <a:pt x="0" y="672"/>
                </a:cubicBezTo>
                <a:cubicBezTo>
                  <a:pt x="0" y="888"/>
                  <a:pt x="48" y="1092"/>
                  <a:pt x="96" y="1296"/>
                </a:cubicBezTo>
              </a:path>
            </a:pathLst>
          </a:custGeom>
          <a:noFill/>
          <a:ln w="50800" cap="flat" cmpd="sng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321E397-42CC-E6F0-3EE1-214F28A484B3}"/>
              </a:ext>
            </a:extLst>
          </p:cNvPr>
          <p:cNvSpPr txBox="1">
            <a:spLocks/>
          </p:cNvSpPr>
          <p:nvPr/>
        </p:nvSpPr>
        <p:spPr>
          <a:xfrm>
            <a:off x="657447" y="274432"/>
            <a:ext cx="8841931" cy="530222"/>
          </a:xfrm>
          <a:prstGeom prst="rect">
            <a:avLst/>
          </a:prstGeom>
        </p:spPr>
        <p:txBody>
          <a:bodyPr anchor="t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altLang="pt-BR" b="1" dirty="0"/>
              <a:t>Caminho Mínimo em Grafos Ponderados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>
            <a:extLst>
              <a:ext uri="{FF2B5EF4-FFF2-40B4-BE49-F238E27FC236}">
                <a16:creationId xmlns:a16="http://schemas.microsoft.com/office/drawing/2014/main" id="{D45CF24B-8AFE-4F19-80DC-2E98EB570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264" y="914400"/>
            <a:ext cx="3805237" cy="584200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003399"/>
                </a:solidFill>
                <a:latin typeface="Arial" panose="020B0604020202020204" pitchFamily="34" charset="0"/>
              </a:rPr>
              <a:t>Outra possibilidade:</a:t>
            </a:r>
          </a:p>
        </p:txBody>
      </p:sp>
      <p:sp>
        <p:nvSpPr>
          <p:cNvPr id="55299" name="Oval 3">
            <a:extLst>
              <a:ext uri="{FF2B5EF4-FFF2-40B4-BE49-F238E27FC236}">
                <a16:creationId xmlns:a16="http://schemas.microsoft.com/office/drawing/2014/main" id="{411FBF26-8ABE-4536-8E11-59CA03065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2939" y="2859089"/>
            <a:ext cx="625475" cy="2359025"/>
          </a:xfrm>
          <a:prstGeom prst="ellipse">
            <a:avLst/>
          </a:prstGeom>
          <a:noFill/>
          <a:ln w="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55300" name="Line 4">
            <a:extLst>
              <a:ext uri="{FF2B5EF4-FFF2-40B4-BE49-F238E27FC236}">
                <a16:creationId xmlns:a16="http://schemas.microsoft.com/office/drawing/2014/main" id="{8EB637D6-EE84-4812-8426-71F21FFF0692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5078414" y="3041650"/>
            <a:ext cx="1876425" cy="19939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triangle" w="sm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5301" name="Line 5">
            <a:extLst>
              <a:ext uri="{FF2B5EF4-FFF2-40B4-BE49-F238E27FC236}">
                <a16:creationId xmlns:a16="http://schemas.microsoft.com/office/drawing/2014/main" id="{611E07F9-E761-452F-9661-85FB7F4464AC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208339" y="4129088"/>
            <a:ext cx="1247775" cy="906462"/>
          </a:xfrm>
          <a:prstGeom prst="line">
            <a:avLst/>
          </a:prstGeom>
          <a:noFill/>
          <a:ln w="0">
            <a:solidFill>
              <a:schemeClr val="tx1"/>
            </a:solidFill>
            <a:round/>
            <a:headEnd type="triangl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5302" name="Line 6">
            <a:extLst>
              <a:ext uri="{FF2B5EF4-FFF2-40B4-BE49-F238E27FC236}">
                <a16:creationId xmlns:a16="http://schemas.microsoft.com/office/drawing/2014/main" id="{8C13689A-A818-4279-83A3-0D7EB1F7CF14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3208339" y="3041651"/>
            <a:ext cx="1247775" cy="906463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triangl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5303" name="Line 7">
            <a:extLst>
              <a:ext uri="{FF2B5EF4-FFF2-40B4-BE49-F238E27FC236}">
                <a16:creationId xmlns:a16="http://schemas.microsoft.com/office/drawing/2014/main" id="{7842C935-6D9D-4855-9C2C-0E4AF0527CD9}"/>
              </a:ext>
            </a:extLst>
          </p:cNvPr>
          <p:cNvSpPr>
            <a:spLocks noChangeShapeType="1"/>
          </p:cNvSpPr>
          <p:nvPr/>
        </p:nvSpPr>
        <p:spPr bwMode="auto">
          <a:xfrm rot="10800000" flipH="1" flipV="1">
            <a:off x="3409950" y="4129088"/>
            <a:ext cx="3544888" cy="90646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 type="triangl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5304" name="Text Box 8">
            <a:extLst>
              <a:ext uri="{FF2B5EF4-FFF2-40B4-BE49-F238E27FC236}">
                <a16:creationId xmlns:a16="http://schemas.microsoft.com/office/drawing/2014/main" id="{0EC8E98D-D3F1-4109-BAD9-DBF384D82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5926" y="2495550"/>
            <a:ext cx="836613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5305" name="Text Box 9">
            <a:extLst>
              <a:ext uri="{FF2B5EF4-FFF2-40B4-BE49-F238E27FC236}">
                <a16:creationId xmlns:a16="http://schemas.microsoft.com/office/drawing/2014/main" id="{68F22E19-BF63-469C-9E75-ED15E73CC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1989" y="4491038"/>
            <a:ext cx="833437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5306" name="Text Box 10">
            <a:extLst>
              <a:ext uri="{FF2B5EF4-FFF2-40B4-BE49-F238E27FC236}">
                <a16:creationId xmlns:a16="http://schemas.microsoft.com/office/drawing/2014/main" id="{AE52EBE6-EA64-4B5A-9DC3-34B08D097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2938" y="2133601"/>
            <a:ext cx="836612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5400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55307" name="Text Box 11">
            <a:extLst>
              <a:ext uri="{FF2B5EF4-FFF2-40B4-BE49-F238E27FC236}">
                <a16:creationId xmlns:a16="http://schemas.microsoft.com/office/drawing/2014/main" id="{11E1F62A-2B23-4117-9AE7-F867C7628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1989" y="3041651"/>
            <a:ext cx="833437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5308" name="Text Box 12">
            <a:extLst>
              <a:ext uri="{FF2B5EF4-FFF2-40B4-BE49-F238E27FC236}">
                <a16:creationId xmlns:a16="http://schemas.microsoft.com/office/drawing/2014/main" id="{15CCCAA6-0BCA-4522-85BC-DEFA3FEB8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8550" y="3586164"/>
            <a:ext cx="833438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55309" name="Text Box 13">
            <a:extLst>
              <a:ext uri="{FF2B5EF4-FFF2-40B4-BE49-F238E27FC236}">
                <a16:creationId xmlns:a16="http://schemas.microsoft.com/office/drawing/2014/main" id="{24BFF8F4-A597-4498-A204-4CD80149E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5926" y="5035550"/>
            <a:ext cx="836613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5310" name="Text Box 14">
            <a:extLst>
              <a:ext uri="{FF2B5EF4-FFF2-40B4-BE49-F238E27FC236}">
                <a16:creationId xmlns:a16="http://schemas.microsoft.com/office/drawing/2014/main" id="{6C413FAE-ECD5-4BCA-B805-69EE1525A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1" y="3765550"/>
            <a:ext cx="835025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36000" rIns="18000" bIns="3600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5311" name="Text Box 15">
            <a:extLst>
              <a:ext uri="{FF2B5EF4-FFF2-40B4-BE49-F238E27FC236}">
                <a16:creationId xmlns:a16="http://schemas.microsoft.com/office/drawing/2014/main" id="{97758394-E224-4FC4-B9A8-45F98EC78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2350" y="3765550"/>
            <a:ext cx="833438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55312" name="AutoShape 16">
            <a:extLst>
              <a:ext uri="{FF2B5EF4-FFF2-40B4-BE49-F238E27FC236}">
                <a16:creationId xmlns:a16="http://schemas.microsoft.com/office/drawing/2014/main" id="{286A0A76-567F-4E27-AD71-30C95C3E6FF1}"/>
              </a:ext>
            </a:extLst>
          </p:cNvPr>
          <p:cNvSpPr>
            <a:spLocks noChangeArrowheads="1"/>
          </p:cNvSpPr>
          <p:nvPr/>
        </p:nvSpPr>
        <p:spPr bwMode="auto">
          <a:xfrm rot="20693151">
            <a:off x="4886325" y="3141664"/>
            <a:ext cx="209550" cy="180975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55313" name="AutoShape 17">
            <a:extLst>
              <a:ext uri="{FF2B5EF4-FFF2-40B4-BE49-F238E27FC236}">
                <a16:creationId xmlns:a16="http://schemas.microsoft.com/office/drawing/2014/main" id="{7B4821BF-98F1-424C-B319-FC47F2C9D375}"/>
              </a:ext>
            </a:extLst>
          </p:cNvPr>
          <p:cNvSpPr>
            <a:spLocks noChangeArrowheads="1"/>
          </p:cNvSpPr>
          <p:nvPr/>
        </p:nvSpPr>
        <p:spPr bwMode="auto">
          <a:xfrm rot="12873251" flipV="1">
            <a:off x="4452938" y="4673601"/>
            <a:ext cx="209550" cy="182563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55314" name="Oval 18">
            <a:extLst>
              <a:ext uri="{FF2B5EF4-FFF2-40B4-BE49-F238E27FC236}">
                <a16:creationId xmlns:a16="http://schemas.microsoft.com/office/drawing/2014/main" id="{AA464E48-96F7-463F-9240-5A43BCA4E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5788" y="2862263"/>
            <a:ext cx="627062" cy="2355850"/>
          </a:xfrm>
          <a:prstGeom prst="ellipse">
            <a:avLst/>
          </a:prstGeom>
          <a:noFill/>
          <a:ln w="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55315" name="AutoShape 19">
            <a:extLst>
              <a:ext uri="{FF2B5EF4-FFF2-40B4-BE49-F238E27FC236}">
                <a16:creationId xmlns:a16="http://schemas.microsoft.com/office/drawing/2014/main" id="{838B63E8-3DA6-4E2C-9033-892AD4C16772}"/>
              </a:ext>
            </a:extLst>
          </p:cNvPr>
          <p:cNvSpPr>
            <a:spLocks noChangeArrowheads="1"/>
          </p:cNvSpPr>
          <p:nvPr/>
        </p:nvSpPr>
        <p:spPr bwMode="auto">
          <a:xfrm rot="20693151">
            <a:off x="7372351" y="3141663"/>
            <a:ext cx="207963" cy="182562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55316" name="AutoShape 20">
            <a:extLst>
              <a:ext uri="{FF2B5EF4-FFF2-40B4-BE49-F238E27FC236}">
                <a16:creationId xmlns:a16="http://schemas.microsoft.com/office/drawing/2014/main" id="{7A347C1C-81AD-43AD-A553-63F9124432B8}"/>
              </a:ext>
            </a:extLst>
          </p:cNvPr>
          <p:cNvSpPr>
            <a:spLocks noChangeArrowheads="1"/>
          </p:cNvSpPr>
          <p:nvPr/>
        </p:nvSpPr>
        <p:spPr bwMode="auto">
          <a:xfrm rot="12873251" flipV="1">
            <a:off x="6935788" y="4673601"/>
            <a:ext cx="209550" cy="182563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55317" name="Line 21">
            <a:extLst>
              <a:ext uri="{FF2B5EF4-FFF2-40B4-BE49-F238E27FC236}">
                <a16:creationId xmlns:a16="http://schemas.microsoft.com/office/drawing/2014/main" id="{E401CF2D-A12F-4D2D-AA39-7BBC14B4D6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8414" y="2955925"/>
            <a:ext cx="1876425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5318" name="Line 22">
            <a:extLst>
              <a:ext uri="{FF2B5EF4-FFF2-40B4-BE49-F238E27FC236}">
                <a16:creationId xmlns:a16="http://schemas.microsoft.com/office/drawing/2014/main" id="{6E57C339-F819-4162-81F3-A77F6D89BD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8414" y="5135563"/>
            <a:ext cx="1876425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5319" name="Text Box 23">
            <a:extLst>
              <a:ext uri="{FF2B5EF4-FFF2-40B4-BE49-F238E27FC236}">
                <a16:creationId xmlns:a16="http://schemas.microsoft.com/office/drawing/2014/main" id="{06A46268-1B61-4254-BBF5-EB4A1D30A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4839" y="2133601"/>
            <a:ext cx="835025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5400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55320" name="Text Box 24">
            <a:extLst>
              <a:ext uri="{FF2B5EF4-FFF2-40B4-BE49-F238E27FC236}">
                <a16:creationId xmlns:a16="http://schemas.microsoft.com/office/drawing/2014/main" id="{92BC922B-071B-4512-BEE9-59CCCB687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2938" y="5218114"/>
            <a:ext cx="836612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5400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55321" name="Text Box 25">
            <a:extLst>
              <a:ext uri="{FF2B5EF4-FFF2-40B4-BE49-F238E27FC236}">
                <a16:creationId xmlns:a16="http://schemas.microsoft.com/office/drawing/2014/main" id="{9522CFF1-396F-4DCB-B015-408CC0F23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4839" y="5218114"/>
            <a:ext cx="835025" cy="7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5400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i="1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55322" name="Text Box 26">
            <a:extLst>
              <a:ext uri="{FF2B5EF4-FFF2-40B4-BE49-F238E27FC236}">
                <a16:creationId xmlns:a16="http://schemas.microsoft.com/office/drawing/2014/main" id="{749CCB6A-79C1-4630-8E40-8CB3C422A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5926" y="3586164"/>
            <a:ext cx="836613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36000" rIns="18000" bIns="3600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5323" name="Text Box 27">
            <a:extLst>
              <a:ext uri="{FF2B5EF4-FFF2-40B4-BE49-F238E27FC236}">
                <a16:creationId xmlns:a16="http://schemas.microsoft.com/office/drawing/2014/main" id="{D61DD4A3-1F66-4050-91A0-F33AFFCF6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8863" y="3765550"/>
            <a:ext cx="836612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36000" rIns="18000" bIns="3600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5324" name="Text Box 28">
            <a:extLst>
              <a:ext uri="{FF2B5EF4-FFF2-40B4-BE49-F238E27FC236}">
                <a16:creationId xmlns:a16="http://schemas.microsoft.com/office/drawing/2014/main" id="{F031D9E1-6D7B-487B-8312-8FE556D4E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7464" y="3765550"/>
            <a:ext cx="835025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36000" rIns="18000" bIns="3600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5325" name="Text Box 29">
            <a:extLst>
              <a:ext uri="{FF2B5EF4-FFF2-40B4-BE49-F238E27FC236}">
                <a16:creationId xmlns:a16="http://schemas.microsoft.com/office/drawing/2014/main" id="{2E5E0741-E5AF-4577-A549-3876EE0BE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5475" y="4311651"/>
            <a:ext cx="833438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36000" rIns="18000" bIns="3600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5326" name="Oval 30">
            <a:extLst>
              <a:ext uri="{FF2B5EF4-FFF2-40B4-BE49-F238E27FC236}">
                <a16:creationId xmlns:a16="http://schemas.microsoft.com/office/drawing/2014/main" id="{617E6C4B-2CCC-4AA3-9516-E28359015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976" y="3706814"/>
            <a:ext cx="544513" cy="663575"/>
          </a:xfrm>
          <a:prstGeom prst="ellipse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 b="1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5327" name="Oval 31">
            <a:extLst>
              <a:ext uri="{FF2B5EF4-FFF2-40B4-BE49-F238E27FC236}">
                <a16:creationId xmlns:a16="http://schemas.microsoft.com/office/drawing/2014/main" id="{338FB7B7-19C0-4025-AA59-BF4677E44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6" y="4867275"/>
            <a:ext cx="542925" cy="661988"/>
          </a:xfrm>
          <a:prstGeom prst="ellipse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 b="1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5328" name="Oval 32">
            <a:extLst>
              <a:ext uri="{FF2B5EF4-FFF2-40B4-BE49-F238E27FC236}">
                <a16:creationId xmlns:a16="http://schemas.microsoft.com/office/drawing/2014/main" id="{A250C6D4-D3AF-4CFA-B0E4-95082A9FF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6" y="2547939"/>
            <a:ext cx="542925" cy="661987"/>
          </a:xfrm>
          <a:prstGeom prst="ellipse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 b="1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5329" name="Oval 33">
            <a:extLst>
              <a:ext uri="{FF2B5EF4-FFF2-40B4-BE49-F238E27FC236}">
                <a16:creationId xmlns:a16="http://schemas.microsoft.com/office/drawing/2014/main" id="{B8FB3CB1-1FE5-4C85-B86A-C8506A30D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0563" y="4784725"/>
            <a:ext cx="544512" cy="661988"/>
          </a:xfrm>
          <a:prstGeom prst="ellipse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 b="1">
                <a:latin typeface="Times New Roman" panose="02020603050405020304" pitchFamily="18" charset="0"/>
              </a:rPr>
              <a:t>11</a:t>
            </a:r>
          </a:p>
        </p:txBody>
      </p:sp>
      <p:sp>
        <p:nvSpPr>
          <p:cNvPr id="55330" name="Oval 34">
            <a:extLst>
              <a:ext uri="{FF2B5EF4-FFF2-40B4-BE49-F238E27FC236}">
                <a16:creationId xmlns:a16="http://schemas.microsoft.com/office/drawing/2014/main" id="{A0EFC307-42C0-4B90-8181-4E000D884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0563" y="2547939"/>
            <a:ext cx="544512" cy="661987"/>
          </a:xfrm>
          <a:prstGeom prst="ellipse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5331" name="Freeform 35">
            <a:extLst>
              <a:ext uri="{FF2B5EF4-FFF2-40B4-BE49-F238E27FC236}">
                <a16:creationId xmlns:a16="http://schemas.microsoft.com/office/drawing/2014/main" id="{F205C4E7-ABB9-4F4D-841F-F315FCD855B3}"/>
              </a:ext>
            </a:extLst>
          </p:cNvPr>
          <p:cNvSpPr>
            <a:spLocks/>
          </p:cNvSpPr>
          <p:nvPr/>
        </p:nvSpPr>
        <p:spPr bwMode="auto">
          <a:xfrm>
            <a:off x="4408488" y="3124200"/>
            <a:ext cx="139700" cy="1752600"/>
          </a:xfrm>
          <a:custGeom>
            <a:avLst/>
            <a:gdLst>
              <a:gd name="T0" fmla="*/ 2147483646 w 96"/>
              <a:gd name="T1" fmla="*/ 0 h 1104"/>
              <a:gd name="T2" fmla="*/ 0 w 96"/>
              <a:gd name="T3" fmla="*/ 2147483646 h 1104"/>
              <a:gd name="T4" fmla="*/ 2147483646 w 96"/>
              <a:gd name="T5" fmla="*/ 2147483646 h 1104"/>
              <a:gd name="T6" fmla="*/ 0 60000 65536"/>
              <a:gd name="T7" fmla="*/ 0 60000 65536"/>
              <a:gd name="T8" fmla="*/ 0 60000 65536"/>
              <a:gd name="T9" fmla="*/ 0 w 96"/>
              <a:gd name="T10" fmla="*/ 0 h 1104"/>
              <a:gd name="T11" fmla="*/ 96 w 96"/>
              <a:gd name="T12" fmla="*/ 1104 h 11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1104">
                <a:moveTo>
                  <a:pt x="96" y="0"/>
                </a:moveTo>
                <a:cubicBezTo>
                  <a:pt x="48" y="220"/>
                  <a:pt x="0" y="440"/>
                  <a:pt x="0" y="624"/>
                </a:cubicBezTo>
                <a:cubicBezTo>
                  <a:pt x="0" y="808"/>
                  <a:pt x="48" y="956"/>
                  <a:pt x="96" y="1104"/>
                </a:cubicBezTo>
              </a:path>
            </a:pathLst>
          </a:custGeom>
          <a:noFill/>
          <a:ln w="50800" cap="flat" cmpd="sng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5332" name="Freeform 36">
            <a:extLst>
              <a:ext uri="{FF2B5EF4-FFF2-40B4-BE49-F238E27FC236}">
                <a16:creationId xmlns:a16="http://schemas.microsoft.com/office/drawing/2014/main" id="{35E7155E-DCF2-4492-AF49-A147E17FE7CD}"/>
              </a:ext>
            </a:extLst>
          </p:cNvPr>
          <p:cNvSpPr>
            <a:spLocks/>
          </p:cNvSpPr>
          <p:nvPr/>
        </p:nvSpPr>
        <p:spPr bwMode="auto">
          <a:xfrm>
            <a:off x="6940550" y="2971800"/>
            <a:ext cx="139700" cy="2057400"/>
          </a:xfrm>
          <a:custGeom>
            <a:avLst/>
            <a:gdLst>
              <a:gd name="T0" fmla="*/ 2147483646 w 96"/>
              <a:gd name="T1" fmla="*/ 0 h 1296"/>
              <a:gd name="T2" fmla="*/ 0 w 96"/>
              <a:gd name="T3" fmla="*/ 2147483646 h 1296"/>
              <a:gd name="T4" fmla="*/ 2147483646 w 96"/>
              <a:gd name="T5" fmla="*/ 2147483646 h 1296"/>
              <a:gd name="T6" fmla="*/ 0 60000 65536"/>
              <a:gd name="T7" fmla="*/ 0 60000 65536"/>
              <a:gd name="T8" fmla="*/ 0 60000 65536"/>
              <a:gd name="T9" fmla="*/ 0 w 96"/>
              <a:gd name="T10" fmla="*/ 0 h 1296"/>
              <a:gd name="T11" fmla="*/ 96 w 96"/>
              <a:gd name="T12" fmla="*/ 1296 h 12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1296">
                <a:moveTo>
                  <a:pt x="96" y="0"/>
                </a:moveTo>
                <a:cubicBezTo>
                  <a:pt x="48" y="228"/>
                  <a:pt x="0" y="456"/>
                  <a:pt x="0" y="672"/>
                </a:cubicBezTo>
                <a:cubicBezTo>
                  <a:pt x="0" y="888"/>
                  <a:pt x="48" y="1092"/>
                  <a:pt x="96" y="1296"/>
                </a:cubicBezTo>
              </a:path>
            </a:pathLst>
          </a:custGeom>
          <a:noFill/>
          <a:ln w="50800" cap="flat" cmpd="sng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85CDB07-1148-9331-A195-03FEBB8DAECB}"/>
              </a:ext>
            </a:extLst>
          </p:cNvPr>
          <p:cNvSpPr txBox="1">
            <a:spLocks/>
          </p:cNvSpPr>
          <p:nvPr/>
        </p:nvSpPr>
        <p:spPr>
          <a:xfrm>
            <a:off x="657447" y="274432"/>
            <a:ext cx="8841931" cy="530222"/>
          </a:xfrm>
          <a:prstGeom prst="rect">
            <a:avLst/>
          </a:prstGeom>
        </p:spPr>
        <p:txBody>
          <a:bodyPr anchor="t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altLang="pt-BR" b="1" dirty="0"/>
              <a:t>Caminho Mínimo em Grafos Ponderados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6734C-968D-0623-9A2F-1BD9DFB81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B78B3C69-4496-7CB2-E1C6-D8FEF8791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76" y="384177"/>
            <a:ext cx="8229600" cy="1143000"/>
          </a:xfrm>
        </p:spPr>
        <p:txBody>
          <a:bodyPr anchor="t"/>
          <a:lstStyle/>
          <a:p>
            <a:pPr eaLnBrk="1" hangingPunct="1"/>
            <a:r>
              <a:rPr lang="pt-BR" altLang="pt-BR" b="1" dirty="0"/>
              <a:t>Algoritmo de </a:t>
            </a:r>
            <a:r>
              <a:rPr lang="pt-BR" altLang="pt-BR" b="1" dirty="0" err="1"/>
              <a:t>Dijkstra</a:t>
            </a:r>
            <a:endParaRPr lang="pt-BR" altLang="pt-BR" b="1" dirty="0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A4423EE3-177F-48A3-0724-22626FD28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469" y="1617884"/>
            <a:ext cx="11515061" cy="4687223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pt-BR" altLang="pt-BR" dirty="0"/>
              <a:t>O </a:t>
            </a:r>
            <a:r>
              <a:rPr lang="pt-BR" altLang="pt-BR" b="1" dirty="0"/>
              <a:t>algoritmo de </a:t>
            </a:r>
            <a:r>
              <a:rPr lang="pt-BR" altLang="pt-BR" b="1" dirty="0" err="1"/>
              <a:t>Dijkstra</a:t>
            </a:r>
            <a:r>
              <a:rPr lang="pt-BR" altLang="pt-BR" dirty="0"/>
              <a:t>, é um </a:t>
            </a:r>
            <a:r>
              <a:rPr lang="pt-BR" altLang="pt-BR" b="1" dirty="0"/>
              <a:t>método guloso </a:t>
            </a:r>
            <a:r>
              <a:rPr lang="pt-BR" altLang="pt-BR" dirty="0"/>
              <a:t>utilizado para encontrar o menor caminho entre um vértice de origem e todos os outros (ou um vértice específico) em </a:t>
            </a:r>
            <a:r>
              <a:rPr lang="pt-BR" altLang="pt-BR" b="1" dirty="0"/>
              <a:t>grafos direcionados </a:t>
            </a:r>
            <a:r>
              <a:rPr lang="pt-BR" altLang="pt-BR" dirty="0"/>
              <a:t>ou </a:t>
            </a:r>
            <a:r>
              <a:rPr lang="pt-BR" altLang="pt-BR" b="1" dirty="0"/>
              <a:t>não direcionados ponderados</a:t>
            </a:r>
            <a:r>
              <a:rPr lang="pt-BR" altLang="pt-BR" dirty="0"/>
              <a:t>. </a:t>
            </a:r>
          </a:p>
          <a:p>
            <a:pPr eaLnBrk="1" hangingPunct="1">
              <a:lnSpc>
                <a:spcPct val="120000"/>
              </a:lnSpc>
            </a:pPr>
            <a:r>
              <a:rPr lang="pt-BR" altLang="pt-BR" dirty="0"/>
              <a:t>Ele funciona relaxando arestas para atualizar distâncias mínimas, com complexidade eficiente de O(E + </a:t>
            </a:r>
            <a:r>
              <a:rPr lang="pt-BR" altLang="pt-BR" dirty="0" err="1"/>
              <a:t>Vlog</a:t>
            </a:r>
            <a:r>
              <a:rPr lang="pt-BR" altLang="pt-BR" dirty="0"/>
              <a:t> V) utilizando fila de prioridade. </a:t>
            </a:r>
          </a:p>
          <a:p>
            <a:pPr eaLnBrk="1" hangingPunct="1">
              <a:lnSpc>
                <a:spcPct val="120000"/>
              </a:lnSpc>
            </a:pPr>
            <a:r>
              <a:rPr lang="pt-BR" altLang="pt-BR" dirty="0"/>
              <a:t>O Algoritmo de </a:t>
            </a:r>
            <a:r>
              <a:rPr lang="pt-BR" altLang="pt-BR" dirty="0" err="1"/>
              <a:t>Dijkstra</a:t>
            </a:r>
            <a:r>
              <a:rPr lang="pt-BR" altLang="pt-BR" dirty="0"/>
              <a:t> só funciona com </a:t>
            </a:r>
            <a:r>
              <a:rPr lang="pt-BR" altLang="pt-BR" b="1" dirty="0"/>
              <a:t>grafos com pesos positivos</a:t>
            </a:r>
            <a:r>
              <a:rPr lang="pt-BR" altLang="pt-BR" dirty="0"/>
              <a:t>. Isso porque, durante o processo, os pesos das arestas devem ser somados para encontrar o caminho de menor custo.</a:t>
            </a:r>
          </a:p>
          <a:p>
            <a:pPr eaLnBrk="1" hangingPunct="1">
              <a:lnSpc>
                <a:spcPct val="120000"/>
              </a:lnSpc>
            </a:pPr>
            <a:r>
              <a:rPr lang="pt-BR" altLang="pt-BR" b="1" dirty="0"/>
              <a:t>Se houver um peso negativo no grafo, o algoritmo não funcionará corretamente.</a:t>
            </a:r>
            <a:r>
              <a:rPr lang="pt-BR" altLang="pt-BR" dirty="0"/>
              <a:t> Uma vez que um nó tenha sido marcado como "visitado", o caminho atual para esse nó é marcado como o caminho de menor custo para chegar a esse nó. E pesos negativos podem alterar isso se o peso total puder ser decrementado após essa etapa ter ocorrido. </a:t>
            </a:r>
          </a:p>
          <a:p>
            <a:pPr eaLnBrk="1" hangingPunct="1">
              <a:lnSpc>
                <a:spcPct val="120000"/>
              </a:lnSpc>
            </a:pPr>
            <a:r>
              <a:rPr lang="pt-BR" altLang="pt-BR" dirty="0"/>
              <a:t>Caso haja pesos negativos, se recomenda o uso do </a:t>
            </a:r>
            <a:r>
              <a:rPr lang="pt-BR" altLang="pt-BR" b="1" dirty="0"/>
              <a:t>Algoritmo </a:t>
            </a:r>
            <a:r>
              <a:rPr lang="pt-BR" altLang="pt-BR" b="1" dirty="0" err="1"/>
              <a:t>Bellman</a:t>
            </a:r>
            <a:r>
              <a:rPr lang="pt-BR" altLang="pt-BR" b="1" dirty="0"/>
              <a:t>-Ford</a:t>
            </a:r>
            <a:r>
              <a:rPr lang="pt-BR" altLang="pt-BR" dirty="0"/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pt-BR" altLang="pt-BR" dirty="0"/>
              <a:t>O algoritmo de </a:t>
            </a:r>
            <a:r>
              <a:rPr lang="pt-BR" altLang="pt-BR" dirty="0" err="1"/>
              <a:t>Dijkstra</a:t>
            </a:r>
            <a:r>
              <a:rPr lang="pt-BR" altLang="pt-BR" dirty="0"/>
              <a:t> é frequentemente comparado ao </a:t>
            </a:r>
            <a:r>
              <a:rPr lang="pt-BR" altLang="pt-BR" b="1" dirty="0"/>
              <a:t>algoritmo de </a:t>
            </a:r>
            <a:r>
              <a:rPr lang="pt-BR" altLang="pt-BR" b="1" dirty="0" err="1"/>
              <a:t>Prim</a:t>
            </a:r>
            <a:r>
              <a:rPr lang="pt-BR" altLang="pt-BR" b="1" dirty="0"/>
              <a:t> </a:t>
            </a:r>
            <a:r>
              <a:rPr lang="pt-BR" altLang="pt-BR" dirty="0"/>
              <a:t>para árvores geradoras mínimas, sendo o </a:t>
            </a:r>
            <a:r>
              <a:rPr lang="pt-BR" altLang="pt-BR" dirty="0" err="1"/>
              <a:t>Dijkstra</a:t>
            </a:r>
            <a:r>
              <a:rPr lang="pt-BR" altLang="pt-BR" dirty="0"/>
              <a:t> focado no caminho mínimo a partir de uma fonte (vértice de origem). </a:t>
            </a:r>
          </a:p>
        </p:txBody>
      </p:sp>
    </p:spTree>
    <p:extLst>
      <p:ext uri="{BB962C8B-B14F-4D97-AF65-F5344CB8AC3E}">
        <p14:creationId xmlns:p14="http://schemas.microsoft.com/office/powerpoint/2010/main" val="962590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DC788-19D5-8220-D01A-7D84D53A7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7F2A9035-8F85-87AC-FC09-7D9ABA57A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76" y="384177"/>
            <a:ext cx="8229600" cy="1143000"/>
          </a:xfrm>
        </p:spPr>
        <p:txBody>
          <a:bodyPr anchor="t"/>
          <a:lstStyle/>
          <a:p>
            <a:pPr eaLnBrk="1" hangingPunct="1"/>
            <a:r>
              <a:rPr lang="pt-BR" altLang="pt-BR" b="1" dirty="0"/>
              <a:t>Algoritmo de </a:t>
            </a:r>
            <a:r>
              <a:rPr lang="pt-BR" altLang="pt-BR" b="1" dirty="0" err="1"/>
              <a:t>Dijkstra</a:t>
            </a:r>
            <a:endParaRPr lang="pt-BR" altLang="pt-BR" b="1" dirty="0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B04283D6-2B81-8741-90F2-B57261CD0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58" y="1671046"/>
            <a:ext cx="6921795" cy="4687223"/>
          </a:xfrm>
        </p:spPr>
        <p:txBody>
          <a:bodyPr>
            <a:normAutofit fontScale="62500" lnSpcReduction="20000"/>
          </a:bodyPr>
          <a:lstStyle/>
          <a:p>
            <a:pPr algn="just" eaLnBrk="1" hangingPunct="1">
              <a:lnSpc>
                <a:spcPct val="120000"/>
              </a:lnSpc>
            </a:pPr>
            <a:r>
              <a:rPr lang="pt-BR" altLang="pt-BR" dirty="0"/>
              <a:t>O algoritmo de </a:t>
            </a:r>
            <a:r>
              <a:rPr lang="pt-BR" altLang="pt-BR" dirty="0" err="1"/>
              <a:t>Dijkstra</a:t>
            </a:r>
            <a:r>
              <a:rPr lang="pt-BR" altLang="pt-BR" dirty="0"/>
              <a:t> foi criado pelo matemático holandês </a:t>
            </a:r>
            <a:r>
              <a:rPr lang="pt-BR" altLang="pt-BR" b="1" dirty="0" err="1"/>
              <a:t>Edsger</a:t>
            </a:r>
            <a:r>
              <a:rPr lang="pt-BR" altLang="pt-BR" b="1" dirty="0"/>
              <a:t> W. </a:t>
            </a:r>
            <a:r>
              <a:rPr lang="pt-BR" altLang="pt-BR" b="1" dirty="0" err="1"/>
              <a:t>Dijkstra</a:t>
            </a:r>
            <a:r>
              <a:rPr lang="pt-BR" altLang="pt-BR" dirty="0"/>
              <a:t> em </a:t>
            </a:r>
            <a:r>
              <a:rPr lang="pt-BR" altLang="pt-BR" b="1" dirty="0"/>
              <a:t>1956</a:t>
            </a:r>
            <a:r>
              <a:rPr lang="pt-BR" altLang="pt-BR" dirty="0"/>
              <a:t>. </a:t>
            </a:r>
          </a:p>
          <a:p>
            <a:pPr algn="just" eaLnBrk="1" hangingPunct="1">
              <a:lnSpc>
                <a:spcPct val="120000"/>
              </a:lnSpc>
            </a:pPr>
            <a:r>
              <a:rPr lang="pt-BR" altLang="pt-BR" dirty="0"/>
              <a:t>Em </a:t>
            </a:r>
            <a:r>
              <a:rPr lang="pt-BR" altLang="pt-BR" b="1" dirty="0"/>
              <a:t>1959</a:t>
            </a:r>
            <a:r>
              <a:rPr lang="pt-BR" altLang="pt-BR" dirty="0"/>
              <a:t>, ele publicou um artigo de 3 páginas intitulado </a:t>
            </a:r>
            <a:r>
              <a:rPr lang="pt-BR" altLang="pt-BR" b="1" dirty="0"/>
              <a:t>"A note </a:t>
            </a:r>
            <a:r>
              <a:rPr lang="pt-BR" altLang="pt-BR" b="1" dirty="0" err="1"/>
              <a:t>on</a:t>
            </a:r>
            <a:r>
              <a:rPr lang="pt-BR" altLang="pt-BR" b="1" dirty="0"/>
              <a:t> </a:t>
            </a:r>
            <a:r>
              <a:rPr lang="pt-BR" altLang="pt-BR" b="1" dirty="0" err="1"/>
              <a:t>two</a:t>
            </a:r>
            <a:r>
              <a:rPr lang="pt-BR" altLang="pt-BR" b="1" dirty="0"/>
              <a:t> </a:t>
            </a:r>
            <a:r>
              <a:rPr lang="pt-BR" altLang="pt-BR" b="1" dirty="0" err="1"/>
              <a:t>problems</a:t>
            </a:r>
            <a:r>
              <a:rPr lang="pt-BR" altLang="pt-BR" b="1" dirty="0"/>
              <a:t> in </a:t>
            </a:r>
            <a:r>
              <a:rPr lang="pt-BR" altLang="pt-BR" b="1" dirty="0" err="1"/>
              <a:t>connexion</a:t>
            </a:r>
            <a:r>
              <a:rPr lang="pt-BR" altLang="pt-BR" b="1" dirty="0"/>
              <a:t> </a:t>
            </a:r>
            <a:r>
              <a:rPr lang="pt-BR" altLang="pt-BR" b="1" dirty="0" err="1"/>
              <a:t>with</a:t>
            </a:r>
            <a:r>
              <a:rPr lang="pt-BR" altLang="pt-BR" b="1" dirty="0"/>
              <a:t> </a:t>
            </a:r>
            <a:r>
              <a:rPr lang="pt-BR" altLang="pt-BR" b="1" dirty="0" err="1"/>
              <a:t>graphs</a:t>
            </a:r>
            <a:r>
              <a:rPr lang="pt-BR" altLang="pt-BR" b="1" dirty="0"/>
              <a:t>" </a:t>
            </a:r>
            <a:r>
              <a:rPr lang="pt-BR" altLang="pt-BR" dirty="0"/>
              <a:t>(Uma nota sobre dois problemas em conexão com grafos, em tradução livre), onde explicou seu novo algoritmo.</a:t>
            </a:r>
          </a:p>
          <a:p>
            <a:pPr algn="just" eaLnBrk="1" hangingPunct="1">
              <a:lnSpc>
                <a:spcPct val="120000"/>
              </a:lnSpc>
            </a:pPr>
            <a:r>
              <a:rPr lang="pt-BR" altLang="pt-BR" dirty="0"/>
              <a:t>Ele foi desenvolvido originalmente para resolver </a:t>
            </a:r>
            <a:r>
              <a:rPr lang="pt-BR" altLang="pt-BR" b="1" dirty="0"/>
              <a:t>problemas de roteamento em redes de telecomunicações</a:t>
            </a:r>
            <a:r>
              <a:rPr lang="pt-BR" altLang="pt-BR" dirty="0"/>
              <a:t>, mas rapidamente se tornou uma ferramenta importante em muitas outras áreas, como em sistemas de navegação, logística e em diversas outras áreas.</a:t>
            </a:r>
          </a:p>
          <a:p>
            <a:pPr algn="just" eaLnBrk="1" hangingPunct="1">
              <a:lnSpc>
                <a:spcPct val="120000"/>
              </a:lnSpc>
            </a:pPr>
            <a:r>
              <a:rPr lang="pt-BR" altLang="pt-BR" dirty="0"/>
              <a:t>É usado principalmente nas seguintes aplicações:</a:t>
            </a:r>
          </a:p>
          <a:p>
            <a:pPr lvl="1" algn="just">
              <a:lnSpc>
                <a:spcPct val="120000"/>
              </a:lnSpc>
            </a:pPr>
            <a:r>
              <a:rPr lang="pt-BR" altLang="pt-BR" b="1" dirty="0"/>
              <a:t>GPS e Mapas: </a:t>
            </a:r>
            <a:r>
              <a:rPr lang="pt-BR" altLang="pt-BR" dirty="0"/>
              <a:t>Para encontrar a rota mais curta ou rápida entre dois locais.</a:t>
            </a:r>
          </a:p>
          <a:p>
            <a:pPr lvl="1" algn="just">
              <a:lnSpc>
                <a:spcPct val="120000"/>
              </a:lnSpc>
            </a:pPr>
            <a:r>
              <a:rPr lang="pt-BR" altLang="pt-BR" b="1" dirty="0"/>
              <a:t>Redes de Computadores: </a:t>
            </a:r>
            <a:r>
              <a:rPr lang="pt-BR" altLang="pt-BR" dirty="0"/>
              <a:t>Para protocolos de roteamento (como OSPF) que determinam o caminho mais eficiente para pacotes de dados.</a:t>
            </a:r>
          </a:p>
          <a:p>
            <a:pPr lvl="1" algn="just">
              <a:lnSpc>
                <a:spcPct val="120000"/>
              </a:lnSpc>
            </a:pPr>
            <a:r>
              <a:rPr lang="pt-BR" altLang="pt-BR" b="1" dirty="0"/>
              <a:t>Logística: </a:t>
            </a:r>
            <a:r>
              <a:rPr lang="pt-BR" altLang="pt-BR" dirty="0"/>
              <a:t>Planejamento de rotas de transporte. 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5A6998C-85AF-1516-B781-0BCEF8323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000" y="1775637"/>
            <a:ext cx="2353953" cy="397535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06A2005-6231-1813-E359-87B226CD9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1209" y="1775637"/>
            <a:ext cx="2183833" cy="397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301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46B62-F52D-B786-1E61-7BFA3B349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E29570B4-4C77-A37E-9C38-F7E4C2A5A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76" y="384177"/>
            <a:ext cx="8229600" cy="1143000"/>
          </a:xfrm>
        </p:spPr>
        <p:txBody>
          <a:bodyPr anchor="t"/>
          <a:lstStyle/>
          <a:p>
            <a:pPr eaLnBrk="1" hangingPunct="1"/>
            <a:r>
              <a:rPr lang="pt-BR" altLang="pt-BR" b="1" dirty="0"/>
              <a:t>Algoritmo de </a:t>
            </a:r>
            <a:r>
              <a:rPr lang="pt-BR" altLang="pt-BR" b="1" dirty="0" err="1"/>
              <a:t>Dijkstra</a:t>
            </a:r>
            <a:endParaRPr lang="pt-BR" altLang="pt-BR" b="1" dirty="0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581F2A70-2688-65A4-C588-4B21B46C5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59" y="1671046"/>
            <a:ext cx="5979042" cy="4687223"/>
          </a:xfrm>
        </p:spPr>
        <p:txBody>
          <a:bodyPr>
            <a:normAutofit fontScale="62500" lnSpcReduction="20000"/>
          </a:bodyPr>
          <a:lstStyle/>
          <a:p>
            <a:pPr marL="0" indent="0" algn="just" eaLnBrk="1" hangingPunct="1">
              <a:lnSpc>
                <a:spcPct val="120000"/>
              </a:lnSpc>
              <a:buNone/>
            </a:pPr>
            <a:r>
              <a:rPr lang="pt-BR" altLang="pt-BR" b="1" dirty="0"/>
              <a:t>Funcionamento (Passo a passo):</a:t>
            </a:r>
          </a:p>
          <a:p>
            <a:pPr algn="just" eaLnBrk="1" hangingPunct="1">
              <a:lnSpc>
                <a:spcPct val="120000"/>
              </a:lnSpc>
            </a:pPr>
            <a:r>
              <a:rPr lang="pt-BR" altLang="pt-BR" b="1" dirty="0"/>
              <a:t>1. Inicialização: </a:t>
            </a:r>
            <a:r>
              <a:rPr lang="pt-BR" altLang="pt-BR" dirty="0"/>
              <a:t>Atribua a distância zero ao nó de origem e infinito a todos os outros nós.</a:t>
            </a:r>
          </a:p>
          <a:p>
            <a:pPr algn="just" eaLnBrk="1" hangingPunct="1">
              <a:lnSpc>
                <a:spcPct val="120000"/>
              </a:lnSpc>
            </a:pPr>
            <a:r>
              <a:rPr lang="pt-BR" altLang="pt-BR" b="1" dirty="0"/>
              <a:t>2. Visitados: </a:t>
            </a:r>
            <a:r>
              <a:rPr lang="pt-BR" altLang="pt-BR" dirty="0"/>
              <a:t>Marque todos os nós como "não visitados".</a:t>
            </a:r>
          </a:p>
          <a:p>
            <a:pPr algn="just" eaLnBrk="1" hangingPunct="1">
              <a:lnSpc>
                <a:spcPct val="120000"/>
              </a:lnSpc>
            </a:pPr>
            <a:r>
              <a:rPr lang="pt-BR" altLang="pt-BR" b="1" dirty="0"/>
              <a:t>3. Seleção: </a:t>
            </a:r>
            <a:r>
              <a:rPr lang="pt-BR" altLang="pt-BR" dirty="0"/>
              <a:t>Selecione o nó não visitado com a menor distância atual (o nó mais próximo).</a:t>
            </a:r>
          </a:p>
          <a:p>
            <a:pPr algn="just" eaLnBrk="1" hangingPunct="1">
              <a:lnSpc>
                <a:spcPct val="120000"/>
              </a:lnSpc>
            </a:pPr>
            <a:r>
              <a:rPr lang="pt-BR" altLang="pt-BR" b="1" dirty="0"/>
              <a:t>4. Relaxamento: </a:t>
            </a:r>
            <a:r>
              <a:rPr lang="pt-BR" altLang="pt-BR" dirty="0"/>
              <a:t>Para o nó atual, atualize a distância dos seus vizinhos não visitados (se o caminho através do nó atual for menor que o anterior).</a:t>
            </a:r>
          </a:p>
          <a:p>
            <a:pPr algn="just" eaLnBrk="1" hangingPunct="1">
              <a:lnSpc>
                <a:spcPct val="120000"/>
              </a:lnSpc>
            </a:pPr>
            <a:r>
              <a:rPr lang="pt-BR" altLang="pt-BR" b="1" dirty="0"/>
              <a:t>5. Finalização: </a:t>
            </a:r>
            <a:r>
              <a:rPr lang="pt-BR" altLang="pt-BR" dirty="0"/>
              <a:t>Marque o nó atual como visitado.</a:t>
            </a:r>
          </a:p>
          <a:p>
            <a:pPr algn="just" eaLnBrk="1" hangingPunct="1">
              <a:lnSpc>
                <a:spcPct val="120000"/>
              </a:lnSpc>
            </a:pPr>
            <a:r>
              <a:rPr lang="pt-BR" altLang="pt-BR" b="1" dirty="0"/>
              <a:t>6. Repetição: </a:t>
            </a:r>
            <a:r>
              <a:rPr lang="pt-BR" altLang="pt-BR" dirty="0"/>
              <a:t>Repita os passos 3 a 5 até que todos os nós sejam visitados.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02B6BFB-CF7E-27B2-6A55-F59A0952D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883" y="1671046"/>
            <a:ext cx="5804158" cy="46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4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BB207-83FF-E44D-2724-5482A7865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405B5CC8-A500-BA2A-E52F-67A1A332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76" y="384177"/>
            <a:ext cx="8229600" cy="1143000"/>
          </a:xfrm>
        </p:spPr>
        <p:txBody>
          <a:bodyPr anchor="t"/>
          <a:lstStyle/>
          <a:p>
            <a:pPr eaLnBrk="1" hangingPunct="1"/>
            <a:r>
              <a:rPr lang="pt-BR" altLang="pt-BR" b="1" dirty="0"/>
              <a:t>Algoritmo de </a:t>
            </a:r>
            <a:r>
              <a:rPr lang="pt-BR" altLang="pt-BR" b="1" dirty="0" err="1"/>
              <a:t>Dijkstra</a:t>
            </a:r>
            <a:endParaRPr lang="pt-BR" altLang="pt-BR" b="1" dirty="0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FC447D60-428F-8781-B8CE-D572FAF7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59" y="1671046"/>
            <a:ext cx="5683914" cy="4921140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pt-BR" altLang="pt-BR" dirty="0"/>
              <a:t>Para exemplificar a execução do passo a passo do algoritmo, vamos admitir o uso do grafo do exemplo.</a:t>
            </a:r>
          </a:p>
          <a:p>
            <a:pPr algn="just">
              <a:lnSpc>
                <a:spcPct val="120000"/>
              </a:lnSpc>
            </a:pPr>
            <a:r>
              <a:rPr lang="pt-BR" altLang="pt-BR" dirty="0"/>
              <a:t>O algoritmo gerará o caminho de menor custo do nó 0 (origem) para todos os outros nós do grafo.</a:t>
            </a:r>
          </a:p>
          <a:p>
            <a:pPr algn="just">
              <a:lnSpc>
                <a:spcPct val="120000"/>
              </a:lnSpc>
            </a:pPr>
            <a:r>
              <a:rPr lang="pt-BR" altLang="pt-BR" dirty="0"/>
              <a:t>Neste caso, assumiremos que o peso das arestas representa a distância entre dois nós.</a:t>
            </a:r>
          </a:p>
          <a:p>
            <a:pPr algn="just">
              <a:lnSpc>
                <a:spcPct val="120000"/>
              </a:lnSpc>
            </a:pPr>
            <a:r>
              <a:rPr lang="pt-BR" altLang="pt-BR" dirty="0"/>
              <a:t>Inicialmente, temos esta </a:t>
            </a:r>
            <a:r>
              <a:rPr lang="pt-BR" altLang="pt-BR" b="1" dirty="0"/>
              <a:t>lista de distâncias</a:t>
            </a:r>
            <a:r>
              <a:rPr lang="pt-BR" altLang="pt-BR" dirty="0"/>
              <a:t>:</a:t>
            </a:r>
          </a:p>
          <a:p>
            <a:pPr lvl="1" algn="just">
              <a:lnSpc>
                <a:spcPct val="120000"/>
              </a:lnSpc>
            </a:pPr>
            <a:r>
              <a:rPr lang="pt-BR" altLang="pt-BR" dirty="0"/>
              <a:t>A distância do nó de origem até ele mesmo é 0. Para este exemplo, o nó de origem será o nó 0, mas pode ser qualquer nó que você escolher.</a:t>
            </a:r>
          </a:p>
          <a:p>
            <a:pPr lvl="1" algn="just">
              <a:lnSpc>
                <a:spcPct val="120000"/>
              </a:lnSpc>
            </a:pPr>
            <a:r>
              <a:rPr lang="pt-BR" altLang="pt-BR" dirty="0"/>
              <a:t>A distância do nó de origem para todos os outros nós ainda não foi determinada, então usamos o símbolo do infinito para representar isso inicialmente.</a:t>
            </a:r>
          </a:p>
          <a:p>
            <a:pPr algn="just">
              <a:lnSpc>
                <a:spcPct val="120000"/>
              </a:lnSpc>
            </a:pPr>
            <a:r>
              <a:rPr lang="pt-BR" altLang="pt-BR" dirty="0"/>
              <a:t>Também temos a </a:t>
            </a:r>
            <a:r>
              <a:rPr lang="pt-BR" altLang="pt-BR" b="1" dirty="0"/>
              <a:t>lista </a:t>
            </a:r>
            <a:r>
              <a:rPr lang="pt-BR" altLang="pt-BR" dirty="0"/>
              <a:t>para acompanhar os </a:t>
            </a:r>
            <a:r>
              <a:rPr lang="pt-BR" altLang="pt-BR" b="1" dirty="0"/>
              <a:t>nós </a:t>
            </a:r>
            <a:r>
              <a:rPr lang="pt-BR" altLang="pt-BR" dirty="0"/>
              <a:t>que ainda </a:t>
            </a:r>
            <a:r>
              <a:rPr lang="pt-BR" altLang="pt-BR" b="1" dirty="0"/>
              <a:t>não foram visitados</a:t>
            </a:r>
            <a:r>
              <a:rPr lang="pt-BR" altLang="pt-BR" dirty="0"/>
              <a:t> (nós que não foram incluídos no caminho).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BF0588E-7D6F-A35D-F672-7B3A179F9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873" y="955677"/>
            <a:ext cx="6184605" cy="257188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520F52A-9FC9-2963-3671-E5C7F34DC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129" y="3429000"/>
            <a:ext cx="1704532" cy="257188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8AA8C9F-E1C3-889B-85E9-865B6DAD8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873" y="5859623"/>
            <a:ext cx="5803605" cy="73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685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574DE-2BB8-13EB-206A-DAF1DB6DA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1322915C-1213-B663-B356-2EF6E6CA4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76" y="384177"/>
            <a:ext cx="8229600" cy="1143000"/>
          </a:xfrm>
        </p:spPr>
        <p:txBody>
          <a:bodyPr anchor="t"/>
          <a:lstStyle/>
          <a:p>
            <a:pPr eaLnBrk="1" hangingPunct="1"/>
            <a:r>
              <a:rPr lang="pt-BR" altLang="pt-BR" b="1" dirty="0"/>
              <a:t>Algoritmo de </a:t>
            </a:r>
            <a:r>
              <a:rPr lang="pt-BR" altLang="pt-BR" b="1" dirty="0" err="1"/>
              <a:t>Dijkstra</a:t>
            </a:r>
            <a:endParaRPr lang="pt-BR" altLang="pt-BR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969996D-87C3-234A-FCF5-7C06A8DE4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380" y="5751644"/>
            <a:ext cx="8737641" cy="63091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E494556-5AA6-E714-DA23-61F2483BD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76" y="2464012"/>
            <a:ext cx="6811337" cy="267151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A20F1BB-8442-5FD0-C79D-520D9F9CE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4913" y="1650361"/>
            <a:ext cx="2572117" cy="379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975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99190-1806-47B4-6A77-4D6C2ADB5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0FE941C-5611-CFC6-D23F-52357404A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76" y="384177"/>
            <a:ext cx="8229600" cy="1143000"/>
          </a:xfrm>
        </p:spPr>
        <p:txBody>
          <a:bodyPr anchor="t"/>
          <a:lstStyle/>
          <a:p>
            <a:pPr eaLnBrk="1" hangingPunct="1"/>
            <a:r>
              <a:rPr lang="pt-BR" altLang="pt-BR" b="1" dirty="0"/>
              <a:t>Algoritmo de </a:t>
            </a:r>
            <a:r>
              <a:rPr lang="pt-BR" altLang="pt-BR" b="1" dirty="0" err="1"/>
              <a:t>Dijkstra</a:t>
            </a:r>
            <a:endParaRPr lang="pt-BR" altLang="pt-BR" b="1" dirty="0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1FA0FB0F-FAA6-6828-0AC9-2F8994CD1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59" y="1671046"/>
            <a:ext cx="5683914" cy="492114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pt-BR" altLang="pt-BR" dirty="0"/>
              <a:t>Após atualizar as distâncias dos nós adjacentes, precisamos:</a:t>
            </a:r>
          </a:p>
          <a:p>
            <a:pPr lvl="1" algn="just">
              <a:lnSpc>
                <a:spcPct val="120000"/>
              </a:lnSpc>
            </a:pPr>
            <a:r>
              <a:rPr lang="pt-BR" altLang="pt-BR" dirty="0"/>
              <a:t>Selecionar o nó mais próximo do nó de origem com base nas distâncias conhecidas atuais.</a:t>
            </a:r>
          </a:p>
          <a:p>
            <a:pPr lvl="1" algn="just">
              <a:lnSpc>
                <a:spcPct val="120000"/>
              </a:lnSpc>
            </a:pPr>
            <a:r>
              <a:rPr lang="pt-BR" altLang="pt-BR" dirty="0"/>
              <a:t>Marcá-lo como visitado.</a:t>
            </a:r>
          </a:p>
          <a:p>
            <a:pPr lvl="1" algn="just">
              <a:lnSpc>
                <a:spcPct val="120000"/>
              </a:lnSpc>
            </a:pPr>
            <a:r>
              <a:rPr lang="pt-BR" altLang="pt-BR" dirty="0"/>
              <a:t>Adicioná-lo ao caminho.</a:t>
            </a:r>
          </a:p>
          <a:p>
            <a:pPr algn="just">
              <a:lnSpc>
                <a:spcPct val="120000"/>
              </a:lnSpc>
            </a:pPr>
            <a:r>
              <a:rPr lang="pt-BR" altLang="pt-BR" dirty="0"/>
              <a:t>Se verificarmos a lista de distâncias, podemos ver que o nó 1 tem a menor distância até a origem (distância igual a 2), então, nós o adicionamos ao caminho.</a:t>
            </a:r>
          </a:p>
        </p:txBody>
      </p:sp>
      <p:pic>
        <p:nvPicPr>
          <p:cNvPr id="2050" name="Picture 2" descr="image-94">
            <a:extLst>
              <a:ext uri="{FF2B5EF4-FFF2-40B4-BE49-F238E27FC236}">
                <a16:creationId xmlns:a16="http://schemas.microsoft.com/office/drawing/2014/main" id="{3F0639BD-C764-8A70-35C2-8A262CE9B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069" y="1394599"/>
            <a:ext cx="5597377" cy="2407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D92ACD0-42E3-E05C-C865-6559E0CD1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920" y="3801822"/>
            <a:ext cx="1905806" cy="262048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989CB9C-CBCE-F640-A6F8-88C840318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0211" y="5702345"/>
            <a:ext cx="4046020" cy="55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284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9EDD9-ED7C-D4C2-5C3C-95867923E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7A4F78D5-DE6D-B75D-72D5-F5E773F76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76" y="384177"/>
            <a:ext cx="8229600" cy="1143000"/>
          </a:xfrm>
        </p:spPr>
        <p:txBody>
          <a:bodyPr anchor="t"/>
          <a:lstStyle/>
          <a:p>
            <a:pPr eaLnBrk="1" hangingPunct="1"/>
            <a:r>
              <a:rPr lang="pt-BR" altLang="pt-BR" b="1" dirty="0"/>
              <a:t>Algoritmo de </a:t>
            </a:r>
            <a:r>
              <a:rPr lang="pt-BR" altLang="pt-BR" b="1" dirty="0" err="1"/>
              <a:t>Dijkstra</a:t>
            </a:r>
            <a:endParaRPr lang="pt-BR" altLang="pt-BR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3E00E59-98EA-5137-A4CA-9E9BCFAA8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81" y="2081408"/>
            <a:ext cx="7206438" cy="309922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AB1C869-4F57-B9F5-5DA1-F4420F6B5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021" y="1762432"/>
            <a:ext cx="2524309" cy="354634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46ABBE9-5B2A-B619-E4F7-9B0093647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8072" y="5384973"/>
            <a:ext cx="7980474" cy="108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13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B39B5-F169-8949-8A68-61C567EFE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AA9E460F-80C6-0CDE-E451-3FB698409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76" y="384177"/>
            <a:ext cx="8229600" cy="1143000"/>
          </a:xfrm>
        </p:spPr>
        <p:txBody>
          <a:bodyPr anchor="t"/>
          <a:lstStyle/>
          <a:p>
            <a:pPr eaLnBrk="1" hangingPunct="1"/>
            <a:r>
              <a:rPr lang="pt-BR" altLang="pt-BR" b="1" dirty="0"/>
              <a:t>Algoritmo de </a:t>
            </a:r>
            <a:r>
              <a:rPr lang="pt-BR" altLang="pt-BR" b="1" dirty="0" err="1"/>
              <a:t>Dijkstra</a:t>
            </a:r>
            <a:endParaRPr lang="pt-BR" altLang="pt-BR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8899CF4-65A6-0110-4372-E8C455705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15" y="2239817"/>
            <a:ext cx="6209123" cy="259157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0C2E836-8A20-42F6-4234-16435FB4F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238" y="1961980"/>
            <a:ext cx="2590690" cy="342299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E8A9E7F-F04C-7693-268C-758620B82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4876" y="5646331"/>
            <a:ext cx="49149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37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E75A4-7440-D045-BFE0-B742054AD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69333BA2-C649-70B8-5B49-A8765A3A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76" y="384177"/>
            <a:ext cx="8229600" cy="1143000"/>
          </a:xfrm>
        </p:spPr>
        <p:txBody>
          <a:bodyPr anchor="t"/>
          <a:lstStyle/>
          <a:p>
            <a:pPr eaLnBrk="1" hangingPunct="1"/>
            <a:r>
              <a:rPr lang="pt-BR" altLang="pt-BR" b="1" dirty="0"/>
              <a:t>Algoritmo de </a:t>
            </a:r>
            <a:r>
              <a:rPr lang="pt-BR" altLang="pt-BR" b="1" dirty="0" err="1"/>
              <a:t>Dijkstra</a:t>
            </a:r>
            <a:endParaRPr lang="pt-BR" altLang="pt-BR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200E14C-49FF-34E4-3A3D-13065654A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15" y="2239817"/>
            <a:ext cx="6209123" cy="259157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C1D9E19-E5D8-1998-7AAB-800BD9B70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876" y="5646331"/>
            <a:ext cx="4914900" cy="6477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5DC744A-066B-1DF0-58B2-03F9F9AE3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781" y="2239817"/>
            <a:ext cx="5099875" cy="291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361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A863A-B0D1-0103-F575-490FFD545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D837CF5-0571-4701-1467-F757B14E9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76" y="384177"/>
            <a:ext cx="8229600" cy="1143000"/>
          </a:xfrm>
        </p:spPr>
        <p:txBody>
          <a:bodyPr anchor="t"/>
          <a:lstStyle/>
          <a:p>
            <a:pPr eaLnBrk="1" hangingPunct="1"/>
            <a:r>
              <a:rPr lang="pt-BR" altLang="pt-BR" b="1" dirty="0"/>
              <a:t>Algoritmo de </a:t>
            </a:r>
            <a:r>
              <a:rPr lang="pt-BR" altLang="pt-BR" b="1" dirty="0" err="1"/>
              <a:t>Dijkstra</a:t>
            </a:r>
            <a:endParaRPr lang="pt-BR" altLang="pt-BR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073D25F-F01A-9E09-664E-5748FA949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76" y="2166310"/>
            <a:ext cx="6319881" cy="28110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E29E45A-0472-660F-9465-733BE1961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757" y="2196104"/>
            <a:ext cx="1943100" cy="27813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E6AFA2D-4A86-DC2D-244C-DB09BA09C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023" y="5308193"/>
            <a:ext cx="5486400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630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81E1E-47EE-FA16-9CC8-FBA2E3667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B8E920F8-5182-9236-4046-0CA28F790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76" y="384177"/>
            <a:ext cx="8229600" cy="1143000"/>
          </a:xfrm>
        </p:spPr>
        <p:txBody>
          <a:bodyPr anchor="t"/>
          <a:lstStyle/>
          <a:p>
            <a:pPr eaLnBrk="1" hangingPunct="1"/>
            <a:r>
              <a:rPr lang="pt-BR" altLang="pt-BR" b="1" dirty="0"/>
              <a:t>Algoritmo de </a:t>
            </a:r>
            <a:r>
              <a:rPr lang="pt-BR" altLang="pt-BR" b="1" dirty="0" err="1"/>
              <a:t>Dijkstra</a:t>
            </a:r>
            <a:endParaRPr lang="pt-BR" altLang="pt-BR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A1F9F90-2B01-2243-356F-FDC998669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76" y="2166310"/>
            <a:ext cx="6319881" cy="281109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5700262-97E6-D631-5289-B77C02B31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023" y="5308193"/>
            <a:ext cx="5486400" cy="67627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93D4D58C-572B-4722-73AD-46BE3575E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553" y="2166310"/>
            <a:ext cx="333375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638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15F7F-F6D5-2A2F-3AB3-5B5167194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18E2D99D-E5AB-DCE8-F75B-6AC73BBB9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76" y="384177"/>
            <a:ext cx="8229600" cy="1143000"/>
          </a:xfrm>
        </p:spPr>
        <p:txBody>
          <a:bodyPr anchor="t"/>
          <a:lstStyle/>
          <a:p>
            <a:pPr eaLnBrk="1" hangingPunct="1"/>
            <a:r>
              <a:rPr lang="pt-BR" altLang="pt-BR" b="1" dirty="0"/>
              <a:t>Algoritmo de </a:t>
            </a:r>
            <a:r>
              <a:rPr lang="pt-BR" altLang="pt-BR" b="1" dirty="0" err="1"/>
              <a:t>Dijkstra</a:t>
            </a:r>
            <a:endParaRPr lang="pt-BR" altLang="pt-BR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4B4EFA1-521C-BA40-F18E-471DF1A43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692" y="2196104"/>
            <a:ext cx="1924050" cy="27813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C8D0BDF-E6C2-6AA3-4CED-3177D5A19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0" y="5365897"/>
            <a:ext cx="5524500" cy="762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2A904A1-1728-FC94-3C9D-6F3D7472D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14" y="2094581"/>
            <a:ext cx="6772608" cy="307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673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D46F7-ADD8-3E44-CF10-F9686722D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7274776B-5943-D78B-B453-F268BB4F4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76" y="384177"/>
            <a:ext cx="8229600" cy="1143000"/>
          </a:xfrm>
        </p:spPr>
        <p:txBody>
          <a:bodyPr anchor="t"/>
          <a:lstStyle/>
          <a:p>
            <a:pPr eaLnBrk="1" hangingPunct="1"/>
            <a:r>
              <a:rPr lang="pt-BR" altLang="pt-BR" b="1" dirty="0"/>
              <a:t>Algoritmo de </a:t>
            </a:r>
            <a:r>
              <a:rPr lang="pt-BR" altLang="pt-BR" b="1" dirty="0" err="1"/>
              <a:t>Dijkstra</a:t>
            </a:r>
            <a:endParaRPr lang="pt-BR" altLang="pt-BR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D5F936C-BC66-868B-3287-CCE1CBB93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0" y="5365897"/>
            <a:ext cx="5524500" cy="762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95762E1-C05B-2346-3379-9DEADF1FA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14" y="2094581"/>
            <a:ext cx="6772608" cy="3077070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B2607A94-73A7-AC2B-FB67-B22E2371A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796" y="2094581"/>
            <a:ext cx="4143375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251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545F3-F23A-A4DA-2C8E-A9BBAA434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B574BD51-D2A5-BCAA-6DA2-72E4FFDFB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76" y="384177"/>
            <a:ext cx="8229600" cy="1143000"/>
          </a:xfrm>
        </p:spPr>
        <p:txBody>
          <a:bodyPr anchor="t"/>
          <a:lstStyle/>
          <a:p>
            <a:pPr eaLnBrk="1" hangingPunct="1"/>
            <a:r>
              <a:rPr lang="pt-BR" altLang="pt-BR" b="1" dirty="0"/>
              <a:t>Algoritmo de </a:t>
            </a:r>
            <a:r>
              <a:rPr lang="pt-BR" altLang="pt-BR" b="1" dirty="0" err="1"/>
              <a:t>Dijkstra</a:t>
            </a:r>
            <a:endParaRPr lang="pt-BR" altLang="pt-BR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B324545-BF43-4454-FA17-9B03F4D5C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903" y="3631019"/>
            <a:ext cx="4635795" cy="51508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4E6AE55-ECAF-A703-4CC4-E1AA213CA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02" y="1108851"/>
            <a:ext cx="7488976" cy="332186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A39D0F2-8DC9-C31E-B406-AD96CE814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61" y="4338423"/>
            <a:ext cx="8229600" cy="241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719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29DB5-271B-6FDC-A7A8-43523B8B6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8271857F-0A32-9DB4-D9B7-CF4A030ED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76" y="384177"/>
            <a:ext cx="8229600" cy="1143000"/>
          </a:xfrm>
        </p:spPr>
        <p:txBody>
          <a:bodyPr anchor="t"/>
          <a:lstStyle/>
          <a:p>
            <a:pPr eaLnBrk="1" hangingPunct="1"/>
            <a:r>
              <a:rPr lang="pt-BR" altLang="pt-BR" b="1" dirty="0"/>
              <a:t>Algoritmo de </a:t>
            </a:r>
            <a:r>
              <a:rPr lang="pt-BR" altLang="pt-BR" b="1" dirty="0" err="1"/>
              <a:t>Dijkstra</a:t>
            </a:r>
            <a:endParaRPr lang="pt-BR" altLang="pt-BR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06163E9-B414-D59D-E132-34EC2B59B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82" y="2094581"/>
            <a:ext cx="6231565" cy="2868267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349F5C3-EC58-E089-A03E-00BA4C38E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158" y="5452810"/>
            <a:ext cx="5648325" cy="6477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55C41B4-A045-E981-EEB5-2C2829AE0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0489" y="1731837"/>
            <a:ext cx="2453241" cy="351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673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91FF4-DC50-D5CD-FE45-01F13679F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DEAB9A2-16C9-1214-B170-32EEFE26F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76" y="384177"/>
            <a:ext cx="8229600" cy="1143000"/>
          </a:xfrm>
        </p:spPr>
        <p:txBody>
          <a:bodyPr anchor="t"/>
          <a:lstStyle/>
          <a:p>
            <a:pPr eaLnBrk="1" hangingPunct="1"/>
            <a:r>
              <a:rPr lang="pt-BR" altLang="pt-BR" b="1" dirty="0"/>
              <a:t>Algoritmo de </a:t>
            </a:r>
            <a:r>
              <a:rPr lang="pt-BR" altLang="pt-BR" b="1" dirty="0" err="1"/>
              <a:t>Dijkstra</a:t>
            </a:r>
            <a:endParaRPr lang="pt-BR" altLang="pt-BR" b="1" dirty="0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C996535B-5FD5-AB5E-E1E4-BB9A537C6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59" y="1671046"/>
            <a:ext cx="5683914" cy="4921140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20000"/>
              </a:lnSpc>
            </a:pPr>
            <a:r>
              <a:rPr lang="pt-BR" altLang="pt-BR" dirty="0"/>
              <a:t>No diagrama, as </a:t>
            </a:r>
            <a:r>
              <a:rPr lang="pt-BR" altLang="pt-BR" b="1" dirty="0"/>
              <a:t>linhas vermelhas </a:t>
            </a:r>
            <a:r>
              <a:rPr lang="pt-BR" altLang="pt-BR" dirty="0"/>
              <a:t>marcam as </a:t>
            </a:r>
            <a:r>
              <a:rPr lang="pt-BR" altLang="pt-BR" b="1" dirty="0"/>
              <a:t>arestas que pertencem ao caminho mais curto</a:t>
            </a:r>
            <a:r>
              <a:rPr lang="pt-BR" altLang="pt-BR" dirty="0"/>
              <a:t>. Você precisa seguir essas arestas para seguir o caminho mais curto para chegar a um determinado nó no grafo a partir do nó 0 (origem).</a:t>
            </a:r>
          </a:p>
          <a:p>
            <a:pPr algn="just">
              <a:lnSpc>
                <a:spcPct val="120000"/>
              </a:lnSpc>
            </a:pPr>
            <a:r>
              <a:rPr lang="pt-BR" altLang="pt-BR" dirty="0"/>
              <a:t>Por exemplo, se você deseja alcançar o nó 6 a partir do nó 0, basta seguir as arestas vermelhas e estará, automaticamente, seguindo o caminho mais curto:                  </a:t>
            </a:r>
            <a:r>
              <a:rPr lang="pt-BR" altLang="pt-BR" b="1" dirty="0"/>
              <a:t>0 -&gt; 1 -&gt; 3 -&gt; 4 - &gt; 6 (Custo 19)</a:t>
            </a:r>
            <a:r>
              <a:rPr lang="pt-BR" altLang="pt-BR" dirty="0"/>
              <a:t>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97928C3-EFE3-F950-1B11-06FBF502B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763" y="2328066"/>
            <a:ext cx="5983472" cy="275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53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2FF54-661A-6A6F-621C-3ED5BED20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0DB426D1-6DF4-14B3-C715-301116EEB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76" y="384177"/>
            <a:ext cx="8229600" cy="1143000"/>
          </a:xfrm>
        </p:spPr>
        <p:txBody>
          <a:bodyPr anchor="t"/>
          <a:lstStyle/>
          <a:p>
            <a:pPr eaLnBrk="1" hangingPunct="1"/>
            <a:r>
              <a:rPr lang="pt-BR" altLang="pt-BR" b="1" dirty="0"/>
              <a:t>Algoritmo de </a:t>
            </a:r>
            <a:r>
              <a:rPr lang="pt-BR" altLang="pt-BR" b="1" dirty="0" err="1"/>
              <a:t>Dijkstra</a:t>
            </a:r>
            <a:endParaRPr lang="pt-BR" altLang="pt-BR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FBF53BE-8A54-8B48-63F0-28BA1C532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93" y="1171315"/>
            <a:ext cx="10555047" cy="551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154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EC790-2814-45F4-841F-14A26203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357" y="2891238"/>
            <a:ext cx="11229285" cy="1268984"/>
          </a:xfrm>
        </p:spPr>
        <p:txBody>
          <a:bodyPr>
            <a:normAutofit/>
          </a:bodyPr>
          <a:lstStyle/>
          <a:p>
            <a:pPr algn="ctr"/>
            <a:r>
              <a:rPr lang="pt-BR" altLang="pt-BR" b="1" dirty="0"/>
              <a:t>Exercícios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174079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51517-F879-295E-FA53-19812E006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Diagrama, Esquemático&#10;&#10;O conteúdo gerado por IA pode estar incorreto.">
            <a:extLst>
              <a:ext uri="{FF2B5EF4-FFF2-40B4-BE49-F238E27FC236}">
                <a16:creationId xmlns:a16="http://schemas.microsoft.com/office/drawing/2014/main" id="{EB3AEA39-D0F1-4729-1E54-EB143ED68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480" y="699145"/>
            <a:ext cx="9751039" cy="545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5756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B277D-BDEC-1A80-719F-AEB1249E6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Texto, Carta&#10;&#10;O conteúdo gerado por IA pode estar incorreto.">
            <a:extLst>
              <a:ext uri="{FF2B5EF4-FFF2-40B4-BE49-F238E27FC236}">
                <a16:creationId xmlns:a16="http://schemas.microsoft.com/office/drawing/2014/main" id="{F31BDCE5-657C-C4A8-5FDA-091991667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761" y="304364"/>
            <a:ext cx="7640116" cy="6249272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9B257DA8-793A-4C80-5F9E-6992197B8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31" y="3036932"/>
            <a:ext cx="2602085" cy="537762"/>
          </a:xfrm>
        </p:spPr>
        <p:txBody>
          <a:bodyPr>
            <a:normAutofit fontScale="90000"/>
          </a:bodyPr>
          <a:lstStyle/>
          <a:p>
            <a:pPr algn="ctr"/>
            <a:r>
              <a:rPr lang="pt-BR" altLang="pt-BR" b="1" dirty="0"/>
              <a:t>Problema 2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6855112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D491C-A6AD-43A6-FF76-0E4ACE4CC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C75071D-DD27-969F-751D-568EAE6DE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76" y="384177"/>
            <a:ext cx="8229600" cy="1143000"/>
          </a:xfrm>
        </p:spPr>
        <p:txBody>
          <a:bodyPr anchor="t"/>
          <a:lstStyle/>
          <a:p>
            <a:pPr eaLnBrk="1" hangingPunct="1"/>
            <a:r>
              <a:rPr lang="pt-BR" altLang="pt-BR" b="1" dirty="0"/>
              <a:t>Pesquisa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194A28A4-1E8C-8C69-300B-DD6CE7C81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59" y="1671046"/>
            <a:ext cx="6847368" cy="4921140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pt-BR" altLang="pt-BR" dirty="0"/>
              <a:t>O </a:t>
            </a:r>
            <a:r>
              <a:rPr lang="pt-BR" altLang="pt-BR" b="1" dirty="0"/>
              <a:t>algoritmo de </a:t>
            </a:r>
            <a:r>
              <a:rPr lang="pt-BR" altLang="pt-BR" b="1" dirty="0" err="1"/>
              <a:t>Dijkstra</a:t>
            </a:r>
            <a:r>
              <a:rPr lang="pt-BR" altLang="pt-BR" b="1" dirty="0"/>
              <a:t> </a:t>
            </a:r>
            <a:r>
              <a:rPr lang="pt-BR" altLang="pt-BR" dirty="0"/>
              <a:t>é muito útil em aplicações diversas que envolvem o problema do </a:t>
            </a:r>
            <a:r>
              <a:rPr lang="pt-BR" altLang="pt-BR" b="1" dirty="0"/>
              <a:t>caminho mínimo</a:t>
            </a:r>
            <a:r>
              <a:rPr lang="pt-BR" altLang="pt-BR" dirty="0"/>
              <a:t>, no entanto tem a limitação de </a:t>
            </a:r>
            <a:r>
              <a:rPr lang="pt-BR" altLang="pt-BR" b="1" dirty="0"/>
              <a:t>não funcionar </a:t>
            </a:r>
            <a:r>
              <a:rPr lang="pt-BR" altLang="pt-BR" dirty="0"/>
              <a:t>caso haja </a:t>
            </a:r>
            <a:r>
              <a:rPr lang="pt-BR" altLang="pt-BR" b="1" dirty="0"/>
              <a:t>pesos negativos </a:t>
            </a:r>
            <a:r>
              <a:rPr lang="pt-BR" altLang="pt-BR" dirty="0"/>
              <a:t>no grafo.</a:t>
            </a:r>
          </a:p>
          <a:p>
            <a:pPr algn="just">
              <a:lnSpc>
                <a:spcPct val="120000"/>
              </a:lnSpc>
            </a:pPr>
            <a:r>
              <a:rPr lang="pt-BR" altLang="pt-BR" dirty="0"/>
              <a:t>O </a:t>
            </a:r>
            <a:r>
              <a:rPr lang="pt-BR" altLang="pt-BR" b="1" dirty="0"/>
              <a:t>algoritmo de </a:t>
            </a:r>
            <a:r>
              <a:rPr lang="pt-BR" altLang="pt-BR" b="1" dirty="0" err="1"/>
              <a:t>Bellman</a:t>
            </a:r>
            <a:r>
              <a:rPr lang="pt-BR" altLang="pt-BR" b="1" dirty="0"/>
              <a:t>-Ford </a:t>
            </a:r>
            <a:r>
              <a:rPr lang="pt-BR" altLang="pt-BR" dirty="0"/>
              <a:t>é indicado nessas situações.</a:t>
            </a:r>
          </a:p>
          <a:p>
            <a:pPr algn="just">
              <a:lnSpc>
                <a:spcPct val="120000"/>
              </a:lnSpc>
            </a:pPr>
            <a:r>
              <a:rPr lang="pt-BR" altLang="pt-BR" dirty="0"/>
              <a:t>Sobre o referido algoritmo, faça o que se pede:</a:t>
            </a:r>
          </a:p>
          <a:p>
            <a:pPr lvl="1" algn="just">
              <a:lnSpc>
                <a:spcPct val="120000"/>
              </a:lnSpc>
            </a:pPr>
            <a:r>
              <a:rPr lang="pt-BR" altLang="pt-BR" dirty="0"/>
              <a:t>Pesquise e documente quem criou o algoritmo, quando foi criado, particularidades, principais diferenciais comparado ao algoritmo de </a:t>
            </a:r>
            <a:r>
              <a:rPr lang="pt-BR" altLang="pt-BR" dirty="0" err="1"/>
              <a:t>Djikstra</a:t>
            </a:r>
            <a:r>
              <a:rPr lang="pt-BR" altLang="pt-BR" dirty="0"/>
              <a:t> e detalhes de seu funcionamento.</a:t>
            </a:r>
          </a:p>
          <a:p>
            <a:pPr lvl="1" algn="just">
              <a:lnSpc>
                <a:spcPct val="120000"/>
              </a:lnSpc>
            </a:pPr>
            <a:r>
              <a:rPr lang="pt-BR" altLang="pt-BR" dirty="0"/>
              <a:t>Execute um exemplo passo a passo do mesmo considerando o grafo ao lado. </a:t>
            </a:r>
          </a:p>
          <a:p>
            <a:pPr lvl="1" algn="just">
              <a:lnSpc>
                <a:spcPct val="120000"/>
              </a:lnSpc>
            </a:pPr>
            <a:r>
              <a:rPr lang="pt-BR" altLang="pt-BR" dirty="0"/>
              <a:t>Determine a solução final, admitindo que o vértice de origem é </a:t>
            </a:r>
            <a:r>
              <a:rPr lang="pt-BR" altLang="pt-BR" b="1" dirty="0"/>
              <a:t>0</a:t>
            </a:r>
            <a:r>
              <a:rPr lang="pt-BR" altLang="pt-BR" dirty="0"/>
              <a:t> e o término desejado é </a:t>
            </a:r>
            <a:r>
              <a:rPr lang="pt-BR" altLang="pt-BR" b="1" dirty="0"/>
              <a:t>2</a:t>
            </a:r>
            <a:r>
              <a:rPr lang="pt-BR" altLang="pt-BR" dirty="0"/>
              <a:t>.</a:t>
            </a:r>
          </a:p>
          <a:p>
            <a:pPr lvl="1" algn="just">
              <a:lnSpc>
                <a:spcPct val="120000"/>
              </a:lnSpc>
            </a:pPr>
            <a:r>
              <a:rPr lang="pt-BR" altLang="pt-BR" dirty="0"/>
              <a:t>Desenhe o grafo a cada iteração do algoritmo.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210DB00-E218-CEDC-513E-051827991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7120" y="2500644"/>
            <a:ext cx="4102646" cy="282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346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5131" y="685801"/>
            <a:ext cx="261731" cy="261731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pPr defTabSz="609630"/>
              <a:endParaRPr lang="pt-BR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" name="AutoShape 4"/>
          <p:cNvSpPr/>
          <p:nvPr/>
        </p:nvSpPr>
        <p:spPr>
          <a:xfrm flipV="1">
            <a:off x="186631" y="684213"/>
            <a:ext cx="7832871" cy="3175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86584" y="1351389"/>
            <a:ext cx="7832918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0235355" y="0"/>
            <a:ext cx="1956645" cy="6858000"/>
          </a:xfrm>
          <a:custGeom>
            <a:avLst/>
            <a:gdLst/>
            <a:ahLst/>
            <a:cxnLst/>
            <a:rect l="l" t="t" r="r" b="b"/>
            <a:pathLst>
              <a:path w="2934968" h="10287000">
                <a:moveTo>
                  <a:pt x="0" y="0"/>
                </a:moveTo>
                <a:lnTo>
                  <a:pt x="2934968" y="0"/>
                </a:lnTo>
                <a:lnTo>
                  <a:pt x="29349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4651" r="-105845"/>
            </a:stretch>
          </a:blipFill>
        </p:spPr>
        <p:txBody>
          <a:bodyPr/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6632" y="2965450"/>
            <a:ext cx="4687109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7200"/>
              </a:lnSpc>
            </a:pPr>
            <a:r>
              <a:rPr lang="en-US" sz="6000">
                <a:solidFill>
                  <a:srgbClr val="F6F6F6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Bibliografia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96888" y="886782"/>
            <a:ext cx="2522615" cy="22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609630">
              <a:lnSpc>
                <a:spcPts val="1867"/>
              </a:lnSpc>
            </a:pPr>
            <a:r>
              <a:rPr lang="en-US" sz="1333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2767" y="886782"/>
            <a:ext cx="2530255" cy="22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867"/>
              </a:lnSpc>
            </a:pPr>
            <a:r>
              <a:rPr lang="en-US" sz="1333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624003" y="2000678"/>
            <a:ext cx="5372783" cy="2662993"/>
            <a:chOff x="0" y="-28575"/>
            <a:chExt cx="10745567" cy="5325986"/>
          </a:xfrm>
        </p:grpSpPr>
        <p:sp>
          <p:nvSpPr>
            <p:cNvPr id="11" name="TextBox 11"/>
            <p:cNvSpPr txBox="1"/>
            <p:nvPr/>
          </p:nvSpPr>
          <p:spPr>
            <a:xfrm>
              <a:off x="0" y="940705"/>
              <a:ext cx="10745567" cy="43567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GOLDBARG, Marco; GOLDBARG, Elizabeth.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Grafos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: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Conceitos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,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Algoritmos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e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Aplicações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Elsevier, 2012.</a:t>
              </a:r>
            </a:p>
            <a:p>
              <a:pPr defTabSz="609630">
                <a:lnSpc>
                  <a:spcPts val="1928"/>
                </a:lnSpc>
              </a:pPr>
              <a:endParaRPr lang="en-US" sz="1483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SZWARCFITER, Jayme Luiz. Teoria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Computacional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de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Grafos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: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Algoritmos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Série SBC. Elsevier. 2018.</a:t>
              </a:r>
            </a:p>
            <a:p>
              <a:pPr defTabSz="609630">
                <a:lnSpc>
                  <a:spcPts val="1928"/>
                </a:lnSpc>
              </a:pPr>
              <a:endParaRPr lang="en-US" sz="1483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NICOLETTI, Maria do Carmo; HRUSCHKA JR, E. R.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Fundamentos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da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teoria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dos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grafos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para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computação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3. Ed. LTC, 2018.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745567" cy="567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361"/>
                </a:lnSpc>
              </a:pPr>
              <a:r>
                <a:rPr lang="en-US" sz="1816" b="1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Principal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5131" y="685801"/>
            <a:ext cx="261731" cy="261731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pPr defTabSz="609630"/>
              <a:endParaRPr lang="pt-BR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" name="AutoShape 4"/>
          <p:cNvSpPr/>
          <p:nvPr/>
        </p:nvSpPr>
        <p:spPr>
          <a:xfrm flipV="1">
            <a:off x="186630" y="279400"/>
            <a:ext cx="7832871" cy="3175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86630" y="802166"/>
            <a:ext cx="7832918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7740" y="2793082"/>
            <a:ext cx="4072473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7200"/>
              </a:lnSpc>
            </a:pPr>
            <a:r>
              <a:rPr lang="en-US" sz="6000">
                <a:solidFill>
                  <a:srgbClr val="F6F6F6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Bibliografia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03823" y="452967"/>
            <a:ext cx="2522615" cy="22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609630">
              <a:lnSpc>
                <a:spcPts val="1867"/>
              </a:lnSpc>
            </a:pPr>
            <a:r>
              <a:rPr lang="en-US" sz="1333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8322" y="452967"/>
            <a:ext cx="2530255" cy="22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867"/>
              </a:lnSpc>
            </a:pPr>
            <a:r>
              <a:rPr lang="en-US" sz="1333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718474" y="1333294"/>
            <a:ext cx="5372783" cy="4368588"/>
            <a:chOff x="0" y="-28575"/>
            <a:chExt cx="10745567" cy="873717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940705"/>
              <a:ext cx="10745567" cy="77678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BOAVENTURA NETTO, Paulo Oswaldo. NETTO, Boaventura, OSWALDIO, Paulo.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Grafos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: Teoria,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Modelos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,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Algoritmo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45ª ed. São Paulo: Edgard Blucher.</a:t>
              </a:r>
            </a:p>
            <a:p>
              <a:pPr defTabSz="609630">
                <a:lnSpc>
                  <a:spcPts val="1928"/>
                </a:lnSpc>
              </a:pPr>
              <a:endParaRPr lang="en-US" sz="1483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CORMEN, Thomas H. et al.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Algoritmos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: Teoria e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Prática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3. ed. Elsevier, 2012.</a:t>
              </a:r>
            </a:p>
            <a:p>
              <a:pPr defTabSz="609630">
                <a:lnSpc>
                  <a:spcPts val="1928"/>
                </a:lnSpc>
              </a:pPr>
              <a:endParaRPr lang="en-US" sz="1483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FEOFILOFF, Paulo; KOHAYAKAWA,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Yoshiahuro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; WAKABAYASHI, Yoshiro. Teoria dos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Grafos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: Uma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Introdução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Sucinta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São Paulo: USP, 2011.</a:t>
              </a:r>
            </a:p>
            <a:p>
              <a:pPr defTabSz="609630">
                <a:lnSpc>
                  <a:spcPts val="1928"/>
                </a:lnSpc>
              </a:pPr>
              <a:endParaRPr lang="en-US" sz="1483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TRUDEAU, Richard J. Introduction to graph theory. Courier Corporation, 2013.</a:t>
              </a:r>
            </a:p>
            <a:p>
              <a:pPr defTabSz="609630">
                <a:lnSpc>
                  <a:spcPts val="1928"/>
                </a:lnSpc>
              </a:pPr>
              <a:endParaRPr lang="en-US" sz="1483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WILSON, Robin J. Introduction to Graph Theory. 5. ed. Prentice Hall, 2015.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0745567" cy="567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361"/>
                </a:lnSpc>
              </a:pPr>
              <a:r>
                <a:rPr lang="en-US" sz="1816" b="1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Complementar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0235355" y="0"/>
            <a:ext cx="1956645" cy="6858000"/>
          </a:xfrm>
          <a:custGeom>
            <a:avLst/>
            <a:gdLst/>
            <a:ahLst/>
            <a:cxnLst/>
            <a:rect l="l" t="t" r="r" b="b"/>
            <a:pathLst>
              <a:path w="2934968" h="10287000">
                <a:moveTo>
                  <a:pt x="0" y="0"/>
                </a:moveTo>
                <a:lnTo>
                  <a:pt x="2934968" y="0"/>
                </a:lnTo>
                <a:lnTo>
                  <a:pt x="29349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4651" r="-105845"/>
            </a:stretch>
          </a:blipFill>
        </p:spPr>
        <p:txBody>
          <a:bodyPr/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41805-F623-41AB-B29A-D374D78B2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3958" y="276726"/>
            <a:ext cx="6471186" cy="762000"/>
          </a:xfrm>
        </p:spPr>
        <p:txBody>
          <a:bodyPr>
            <a:normAutofit/>
          </a:bodyPr>
          <a:lstStyle/>
          <a:p>
            <a:pPr algn="ctr"/>
            <a:r>
              <a:rPr lang="pt-BR" sz="3600" b="1" dirty="0">
                <a:ln w="0"/>
                <a:latin typeface="+mn-lt"/>
                <a:ea typeface="+mn-ea"/>
                <a:cs typeface="+mn-cs"/>
              </a:rPr>
              <a:t>Muito obrigado e até a Próxima!</a:t>
            </a:r>
            <a:endParaRPr lang="pt-BR" b="1" dirty="0">
              <a:ln w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C2BD879-6317-CE97-0A36-E66775D3E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014" y="1358403"/>
            <a:ext cx="7357730" cy="522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333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6ABC41-BDAB-E451-E4AC-D3BD6D6DB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9BBC728-46BE-1826-8E1E-672CBCC7D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F1915B-5794-95FA-17E0-6C4402D22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49" y="2849909"/>
            <a:ext cx="11344275" cy="1637503"/>
          </a:xfrm>
          <a:solidFill>
            <a:srgbClr val="FFFFFF"/>
          </a:solidFill>
          <a:ln w="38100">
            <a:solidFill>
              <a:srgbClr val="404040"/>
            </a:solidFill>
            <a:miter lim="800000"/>
          </a:ln>
        </p:spPr>
        <p:txBody>
          <a:bodyPr anchor="ctr">
            <a:noAutofit/>
          </a:bodyPr>
          <a:lstStyle/>
          <a:p>
            <a:r>
              <a:rPr lang="pt-BR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Teoria dos Grafos </a:t>
            </a:r>
            <a:br>
              <a:rPr lang="pt-BR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Caminho Mínimo e </a:t>
            </a:r>
            <a:r>
              <a:rPr lang="pt-BR" sz="4800" dirty="0"/>
              <a:t>Algoritmo de </a:t>
            </a:r>
            <a:r>
              <a:rPr lang="pt-BR" sz="4800" dirty="0" err="1"/>
              <a:t>Djikstra</a:t>
            </a:r>
            <a:endParaRPr lang="pt-BR" sz="48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8049A5-5042-654C-8CC5-0798E885D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7966" y="5041078"/>
            <a:ext cx="8519882" cy="847176"/>
          </a:xfrm>
        </p:spPr>
        <p:txBody>
          <a:bodyPr>
            <a:normAutofit/>
          </a:bodyPr>
          <a:lstStyle/>
          <a:p>
            <a:r>
              <a:rPr lang="pt-BR" sz="29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Jonathan Bandeira: </a:t>
            </a:r>
            <a:r>
              <a:rPr lang="pt-BR" sz="29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  <a:hlinkClick r:id="rId2"/>
              </a:rPr>
              <a:t>jonathan.bandeira@souunit.com.br</a:t>
            </a:r>
            <a:r>
              <a:rPr lang="pt-BR" sz="29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</a:p>
          <a:p>
            <a:endParaRPr lang="pt-BR" sz="16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4E752C5-3647-6E59-3D82-E3DA5DEF5D14}"/>
              </a:ext>
            </a:extLst>
          </p:cNvPr>
          <p:cNvSpPr/>
          <p:nvPr/>
        </p:nvSpPr>
        <p:spPr>
          <a:xfrm>
            <a:off x="3979097" y="6319351"/>
            <a:ext cx="3607078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pt-BR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Ciência da Computação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0137A9B-E760-7915-497E-58889B1AB0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113" y="140903"/>
            <a:ext cx="4110038" cy="2195590"/>
          </a:xfrm>
          <a:prstGeom prst="rect">
            <a:avLst/>
          </a:prstGeom>
        </p:spPr>
      </p:pic>
      <p:pic>
        <p:nvPicPr>
          <p:cNvPr id="2052" name="Picture 4" descr="Porto Digital | LinkedIn">
            <a:extLst>
              <a:ext uri="{FF2B5EF4-FFF2-40B4-BE49-F238E27FC236}">
                <a16:creationId xmlns:a16="http://schemas.microsoft.com/office/drawing/2014/main" id="{15513F21-CE74-6195-FB18-429CAFF86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12910" cy="281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6477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4157</TotalTime>
  <Words>1585</Words>
  <Application>Microsoft Office PowerPoint</Application>
  <PresentationFormat>Widescreen</PresentationFormat>
  <Paragraphs>174</Paragraphs>
  <Slides>32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32</vt:i4>
      </vt:variant>
    </vt:vector>
  </HeadingPairs>
  <TitlesOfParts>
    <vt:vector size="41" baseType="lpstr">
      <vt:lpstr>Arial</vt:lpstr>
      <vt:lpstr>Calibri</vt:lpstr>
      <vt:lpstr>Calibri Light</vt:lpstr>
      <vt:lpstr>Libre Franklin Light</vt:lpstr>
      <vt:lpstr>Libre Franklin Semi-Bold</vt:lpstr>
      <vt:lpstr>Libre Franklin Thin</vt:lpstr>
      <vt:lpstr>Times New Roman</vt:lpstr>
      <vt:lpstr>Tema do Office</vt:lpstr>
      <vt:lpstr>Office Theme</vt:lpstr>
      <vt:lpstr>Teoria dos Grafos                 Caminho Mínimo e Algoritmo de Djikstra</vt:lpstr>
      <vt:lpstr>Roteiro</vt:lpstr>
      <vt:lpstr>Caminho Mínimo</vt:lpstr>
      <vt:lpstr>Caminho Mínimo</vt:lpstr>
      <vt:lpstr>Caminho Mínimo em Grafos Ponderados</vt:lpstr>
      <vt:lpstr>Apresentação do PowerPoint</vt:lpstr>
      <vt:lpstr>Apresentação do PowerPoint</vt:lpstr>
      <vt:lpstr>Algoritmo de Dijkstra</vt:lpstr>
      <vt:lpstr>Algoritmo de Dijkstra</vt:lpstr>
      <vt:lpstr>Algoritmo de Dijkstra</vt:lpstr>
      <vt:lpstr>Algoritmo de Dijkstra</vt:lpstr>
      <vt:lpstr>Algoritmo de Dijkstra</vt:lpstr>
      <vt:lpstr>Algoritmo de Dijkstra</vt:lpstr>
      <vt:lpstr>Algoritmo de Dijkstra</vt:lpstr>
      <vt:lpstr>Algoritmo de Dijkstra</vt:lpstr>
      <vt:lpstr>Algoritmo de Dijkstra</vt:lpstr>
      <vt:lpstr>Algoritmo de Dijkstra</vt:lpstr>
      <vt:lpstr>Algoritmo de Dijkstra</vt:lpstr>
      <vt:lpstr>Algoritmo de Dijkstra</vt:lpstr>
      <vt:lpstr>Algoritmo de Dijkstra</vt:lpstr>
      <vt:lpstr>Algoritmo de Dijkstra</vt:lpstr>
      <vt:lpstr>Algoritmo de Dijkstra</vt:lpstr>
      <vt:lpstr>Algoritmo de Dijkstra</vt:lpstr>
      <vt:lpstr>Algoritmo de Dijkstra</vt:lpstr>
      <vt:lpstr>Exercícios</vt:lpstr>
      <vt:lpstr>Apresentação do PowerPoint</vt:lpstr>
      <vt:lpstr>Problema 2</vt:lpstr>
      <vt:lpstr>Pesquisa</vt:lpstr>
      <vt:lpstr>Apresentação do PowerPoint</vt:lpstr>
      <vt:lpstr>Apresentação do PowerPoint</vt:lpstr>
      <vt:lpstr>Muito obrigado e até a Próxima!</vt:lpstr>
      <vt:lpstr>Teoria dos Grafos  Caminho Mínimo e Algoritmo de Djikstra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LINGUAGEM DE PROGRAMAÇÃO ORIENTADA A OBJETOS</dc:title>
  <dc:creator>FLAVIO DA SILVA NEVES</dc:creator>
  <cp:lastModifiedBy>Jonathan da Silva Bandeira</cp:lastModifiedBy>
  <cp:revision>159</cp:revision>
  <dcterms:created xsi:type="dcterms:W3CDTF">2020-02-02T23:21:56Z</dcterms:created>
  <dcterms:modified xsi:type="dcterms:W3CDTF">2026-03-05T09:34:53Z</dcterms:modified>
</cp:coreProperties>
</file>