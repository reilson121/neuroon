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2"/>
  </p:notesMasterIdLst>
  <p:sldIdLst>
    <p:sldId id="256" r:id="rId3"/>
    <p:sldId id="324" r:id="rId4"/>
    <p:sldId id="369" r:id="rId5"/>
    <p:sldId id="368" r:id="rId6"/>
    <p:sldId id="447" r:id="rId7"/>
    <p:sldId id="367" r:id="rId8"/>
    <p:sldId id="448" r:id="rId9"/>
    <p:sldId id="450" r:id="rId10"/>
    <p:sldId id="371" r:id="rId11"/>
    <p:sldId id="376" r:id="rId12"/>
    <p:sldId id="452" r:id="rId13"/>
    <p:sldId id="497" r:id="rId14"/>
    <p:sldId id="498" r:id="rId15"/>
    <p:sldId id="499" r:id="rId16"/>
    <p:sldId id="377" r:id="rId17"/>
    <p:sldId id="378" r:id="rId18"/>
    <p:sldId id="501" r:id="rId19"/>
    <p:sldId id="500" r:id="rId20"/>
    <p:sldId id="502" r:id="rId21"/>
    <p:sldId id="379" r:id="rId22"/>
    <p:sldId id="445" r:id="rId23"/>
    <p:sldId id="380" r:id="rId24"/>
    <p:sldId id="456" r:id="rId25"/>
    <p:sldId id="455" r:id="rId26"/>
    <p:sldId id="458" r:id="rId27"/>
    <p:sldId id="273" r:id="rId28"/>
    <p:sldId id="274" r:id="rId29"/>
    <p:sldId id="495" r:id="rId30"/>
    <p:sldId id="496" r:id="rId3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201" autoAdjust="0"/>
  </p:normalViewPr>
  <p:slideViewPr>
    <p:cSldViewPr snapToGrid="0">
      <p:cViewPr varScale="1">
        <p:scale>
          <a:sx n="72" d="100"/>
          <a:sy n="72" d="100"/>
        </p:scale>
        <p:origin x="10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74A2D-C15E-45C6-8A02-FCE81FFE4094}" type="datetimeFigureOut">
              <a:rPr lang="pt-BR" smtClean="0"/>
              <a:t>28/01/2026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5810EE-DF2A-4EEC-BA0D-5226B6602E43}" type="slidenum">
              <a:rPr lang="pt-BR" smtClean="0"/>
              <a:t>‹nº›</a:t>
            </a:fld>
            <a:endParaRPr lang="pt-BR"/>
          </a:p>
        </p:txBody>
      </p:sp>
    </p:spTree>
    <p:extLst>
      <p:ext uri="{BB962C8B-B14F-4D97-AF65-F5344CB8AC3E}">
        <p14:creationId xmlns:p14="http://schemas.microsoft.com/office/powerpoint/2010/main" val="1154500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1601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A7E698-340F-4EBF-8F30-5045301893D1}"/>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353148B-081B-4AAA-A608-7C7248C868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9561F22-6C42-4B66-95B6-11D312543A74}"/>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75795534-CCD6-491F-A2E1-73E332F45781}"/>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2A52B9C3-B338-421F-97FF-D83A38E1DFD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203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72B48-7FAE-4D90-A750-F67CA7DE25D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2C795F3-C7D4-4453-8EF9-EF2AD65DE0FB}"/>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C5FD1F5-C29A-4D4D-AEFD-CEAC58ACF556}"/>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B29B0816-DD1A-4889-8D4B-FEACBD913229}"/>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48FDFF90-7FA0-4AF1-8FB3-17268578578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515405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B219B9-C203-4DDB-9622-439B05E8223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C070E03-BE51-4677-897D-A0FBB7BB43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33B72A9-AE11-4C2C-96FA-E5412F97FF5F}"/>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B39E67E6-F866-44DA-95E5-3C58679554AB}"/>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C9EFE0C1-F50E-4535-A077-E85F2666FB7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107596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307CC-1EE9-4E03-A8E4-A188391FB9C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F640398-DF18-428D-8BD6-A81755299EC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74F92D6-2AA9-476A-9428-74BB2155EA2C}"/>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5A3D60A-99C0-43D8-A538-032756C6BFF2}"/>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D1A64066-069D-4832-9E95-87DFF30E26E9}"/>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FCA151F2-785F-48FC-A706-B3B6CEEAB18A}"/>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1398869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94693D-5F3B-4CFD-8A7E-0661B4ECB03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1396E33-A9FA-4134-9F74-F9D43767D8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CFF8C7B-A663-44AD-8D10-14F2C930EB8B}"/>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46EBEE3-CA07-4782-A360-635B212032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EE918A83-2868-4683-8EEC-E911D02AE454}"/>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9454105-C3CE-40D9-9F51-066AC34C9057}"/>
              </a:ext>
            </a:extLst>
          </p:cNvPr>
          <p:cNvSpPr>
            <a:spLocks noGrp="1"/>
          </p:cNvSpPr>
          <p:nvPr>
            <p:ph type="dt" sz="half" idx="10"/>
          </p:nvPr>
        </p:nvSpPr>
        <p:spPr/>
        <p:txBody>
          <a:bodyPr/>
          <a:lstStyle/>
          <a:p>
            <a:r>
              <a:rPr lang="pt-BR"/>
              <a:t>09/02/2011</a:t>
            </a:r>
          </a:p>
        </p:txBody>
      </p:sp>
      <p:sp>
        <p:nvSpPr>
          <p:cNvPr id="8" name="Espaço Reservado para Rodapé 7">
            <a:extLst>
              <a:ext uri="{FF2B5EF4-FFF2-40B4-BE49-F238E27FC236}">
                <a16:creationId xmlns:a16="http://schemas.microsoft.com/office/drawing/2014/main" id="{F30CC430-9377-457F-87BC-4325C1B4F176}"/>
              </a:ext>
            </a:extLst>
          </p:cNvPr>
          <p:cNvSpPr>
            <a:spLocks noGrp="1"/>
          </p:cNvSpPr>
          <p:nvPr>
            <p:ph type="ftr" sz="quarter" idx="11"/>
          </p:nvPr>
        </p:nvSpPr>
        <p:spPr/>
        <p:txBody>
          <a:bodyPr/>
          <a:lstStyle/>
          <a:p>
            <a:r>
              <a:rPr lang="pt-BR"/>
              <a:t>Banco de Dados</a:t>
            </a:r>
          </a:p>
        </p:txBody>
      </p:sp>
      <p:sp>
        <p:nvSpPr>
          <p:cNvPr id="9" name="Espaço Reservado para Número de Slide 8">
            <a:extLst>
              <a:ext uri="{FF2B5EF4-FFF2-40B4-BE49-F238E27FC236}">
                <a16:creationId xmlns:a16="http://schemas.microsoft.com/office/drawing/2014/main" id="{C552A023-5E54-45CF-A288-75AAC3A919C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78328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764EE1-7D51-4138-8413-1DB8E29FE38F}"/>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F71B466E-6465-432B-BF93-A670E7A92E96}"/>
              </a:ext>
            </a:extLst>
          </p:cNvPr>
          <p:cNvSpPr>
            <a:spLocks noGrp="1"/>
          </p:cNvSpPr>
          <p:nvPr>
            <p:ph type="dt" sz="half" idx="10"/>
          </p:nvPr>
        </p:nvSpPr>
        <p:spPr/>
        <p:txBody>
          <a:bodyPr/>
          <a:lstStyle/>
          <a:p>
            <a:r>
              <a:rPr lang="pt-BR"/>
              <a:t>09/02/2011</a:t>
            </a:r>
          </a:p>
        </p:txBody>
      </p:sp>
      <p:sp>
        <p:nvSpPr>
          <p:cNvPr id="4" name="Espaço Reservado para Rodapé 3">
            <a:extLst>
              <a:ext uri="{FF2B5EF4-FFF2-40B4-BE49-F238E27FC236}">
                <a16:creationId xmlns:a16="http://schemas.microsoft.com/office/drawing/2014/main" id="{379E9D2F-30CA-41C1-9878-03445A926299}"/>
              </a:ext>
            </a:extLst>
          </p:cNvPr>
          <p:cNvSpPr>
            <a:spLocks noGrp="1"/>
          </p:cNvSpPr>
          <p:nvPr>
            <p:ph type="ftr" sz="quarter" idx="11"/>
          </p:nvPr>
        </p:nvSpPr>
        <p:spPr/>
        <p:txBody>
          <a:bodyPr/>
          <a:lstStyle/>
          <a:p>
            <a:r>
              <a:rPr lang="pt-BR"/>
              <a:t>Banco de Dados</a:t>
            </a:r>
          </a:p>
        </p:txBody>
      </p:sp>
      <p:sp>
        <p:nvSpPr>
          <p:cNvPr id="5" name="Espaço Reservado para Número de Slide 4">
            <a:extLst>
              <a:ext uri="{FF2B5EF4-FFF2-40B4-BE49-F238E27FC236}">
                <a16:creationId xmlns:a16="http://schemas.microsoft.com/office/drawing/2014/main" id="{F4BA8759-97ED-4356-8F07-F67B3CF20B3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2885869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32641B1-C909-4EF1-BF0C-5B3B01B55214}"/>
              </a:ext>
            </a:extLst>
          </p:cNvPr>
          <p:cNvSpPr>
            <a:spLocks noGrp="1"/>
          </p:cNvSpPr>
          <p:nvPr>
            <p:ph type="dt" sz="half" idx="10"/>
          </p:nvPr>
        </p:nvSpPr>
        <p:spPr/>
        <p:txBody>
          <a:bodyPr/>
          <a:lstStyle/>
          <a:p>
            <a:r>
              <a:rPr lang="pt-BR"/>
              <a:t>09/02/2011</a:t>
            </a:r>
          </a:p>
        </p:txBody>
      </p:sp>
      <p:sp>
        <p:nvSpPr>
          <p:cNvPr id="3" name="Espaço Reservado para Rodapé 2">
            <a:extLst>
              <a:ext uri="{FF2B5EF4-FFF2-40B4-BE49-F238E27FC236}">
                <a16:creationId xmlns:a16="http://schemas.microsoft.com/office/drawing/2014/main" id="{46D9BBBB-43C7-48A3-A705-96F0A36512CD}"/>
              </a:ext>
            </a:extLst>
          </p:cNvPr>
          <p:cNvSpPr>
            <a:spLocks noGrp="1"/>
          </p:cNvSpPr>
          <p:nvPr>
            <p:ph type="ftr" sz="quarter" idx="11"/>
          </p:nvPr>
        </p:nvSpPr>
        <p:spPr/>
        <p:txBody>
          <a:bodyPr/>
          <a:lstStyle/>
          <a:p>
            <a:r>
              <a:rPr lang="pt-BR"/>
              <a:t>Banco de Dados</a:t>
            </a:r>
          </a:p>
        </p:txBody>
      </p:sp>
      <p:sp>
        <p:nvSpPr>
          <p:cNvPr id="4" name="Espaço Reservado para Número de Slide 3">
            <a:extLst>
              <a:ext uri="{FF2B5EF4-FFF2-40B4-BE49-F238E27FC236}">
                <a16:creationId xmlns:a16="http://schemas.microsoft.com/office/drawing/2014/main" id="{8098FEE4-F7DE-4CBB-B498-A904FF32F798}"/>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383678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1773E6-1F86-48B3-B617-62BA8F4101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9673076-EBF9-4E18-B856-EEF4B29908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2AB3B9D-23F1-4980-9A8B-4EE72F5AB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010468B-BDA6-4BF0-A2B9-97923EAAC50D}"/>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CB745E7B-CFB3-4806-A8E5-64E2B710ADA9}"/>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DC0F8A86-EA15-4FCE-AD77-5C42440432A7}"/>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4208461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4B41D0-1716-4F0A-89E3-B7F242807FE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361BD11-CA16-472C-A2E4-13BA64C44D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CAA3AF83-743F-4AB8-BD33-8B1B86873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0B877D6-E487-4A25-A13D-B193F3D2131D}"/>
              </a:ext>
            </a:extLst>
          </p:cNvPr>
          <p:cNvSpPr>
            <a:spLocks noGrp="1"/>
          </p:cNvSpPr>
          <p:nvPr>
            <p:ph type="dt" sz="half" idx="10"/>
          </p:nvPr>
        </p:nvSpPr>
        <p:spPr/>
        <p:txBody>
          <a:bodyPr/>
          <a:lstStyle/>
          <a:p>
            <a:r>
              <a:rPr lang="pt-BR"/>
              <a:t>09/02/2011</a:t>
            </a:r>
          </a:p>
        </p:txBody>
      </p:sp>
      <p:sp>
        <p:nvSpPr>
          <p:cNvPr id="6" name="Espaço Reservado para Rodapé 5">
            <a:extLst>
              <a:ext uri="{FF2B5EF4-FFF2-40B4-BE49-F238E27FC236}">
                <a16:creationId xmlns:a16="http://schemas.microsoft.com/office/drawing/2014/main" id="{9299429D-CDCA-4E9C-BCCE-7CC6466B2EEF}"/>
              </a:ext>
            </a:extLst>
          </p:cNvPr>
          <p:cNvSpPr>
            <a:spLocks noGrp="1"/>
          </p:cNvSpPr>
          <p:nvPr>
            <p:ph type="ftr" sz="quarter" idx="11"/>
          </p:nvPr>
        </p:nvSpPr>
        <p:spPr/>
        <p:txBody>
          <a:bodyPr/>
          <a:lstStyle/>
          <a:p>
            <a:r>
              <a:rPr lang="pt-BR"/>
              <a:t>Banco de Dados</a:t>
            </a:r>
          </a:p>
        </p:txBody>
      </p:sp>
      <p:sp>
        <p:nvSpPr>
          <p:cNvPr id="7" name="Espaço Reservado para Número de Slide 6">
            <a:extLst>
              <a:ext uri="{FF2B5EF4-FFF2-40B4-BE49-F238E27FC236}">
                <a16:creationId xmlns:a16="http://schemas.microsoft.com/office/drawing/2014/main" id="{BC6B507C-82C3-4DEB-8CE5-D4444D2DFB9E}"/>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90327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91B732-27AE-438A-8BFF-862D6AB24C66}"/>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601D6B1-9A93-4213-8E10-574E11F3D98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C66302D-DC45-4A1A-995E-B976A6B9DA10}"/>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CFF9D52E-42B7-496A-9698-ECC761DDDA30}"/>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9C73E8CC-B11F-40DA-A0D6-F03C115FFC20}"/>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184413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16A2BCF-45B9-4EA2-AFEA-551F296F6A2E}"/>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D7FC913-1466-4466-93FC-3B186E5F0BF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76DB044-85AF-401E-A0A1-A087317E6212}"/>
              </a:ext>
            </a:extLst>
          </p:cNvPr>
          <p:cNvSpPr>
            <a:spLocks noGrp="1"/>
          </p:cNvSpPr>
          <p:nvPr>
            <p:ph type="dt" sz="half" idx="10"/>
          </p:nvPr>
        </p:nvSpPr>
        <p:spPr/>
        <p:txBody>
          <a:bodyPr/>
          <a:lstStyle/>
          <a:p>
            <a:r>
              <a:rPr lang="pt-BR"/>
              <a:t>09/02/2011</a:t>
            </a:r>
          </a:p>
        </p:txBody>
      </p:sp>
      <p:sp>
        <p:nvSpPr>
          <p:cNvPr id="5" name="Espaço Reservado para Rodapé 4">
            <a:extLst>
              <a:ext uri="{FF2B5EF4-FFF2-40B4-BE49-F238E27FC236}">
                <a16:creationId xmlns:a16="http://schemas.microsoft.com/office/drawing/2014/main" id="{3C1EAAF9-5F5C-48BF-B1DB-37067F2F9251}"/>
              </a:ext>
            </a:extLst>
          </p:cNvPr>
          <p:cNvSpPr>
            <a:spLocks noGrp="1"/>
          </p:cNvSpPr>
          <p:nvPr>
            <p:ph type="ftr" sz="quarter" idx="11"/>
          </p:nvPr>
        </p:nvSpPr>
        <p:spPr/>
        <p:txBody>
          <a:bodyPr/>
          <a:lstStyle/>
          <a:p>
            <a:r>
              <a:rPr lang="pt-BR"/>
              <a:t>Banco de Dados</a:t>
            </a:r>
          </a:p>
        </p:txBody>
      </p:sp>
      <p:sp>
        <p:nvSpPr>
          <p:cNvPr id="6" name="Espaço Reservado para Número de Slide 5">
            <a:extLst>
              <a:ext uri="{FF2B5EF4-FFF2-40B4-BE49-F238E27FC236}">
                <a16:creationId xmlns:a16="http://schemas.microsoft.com/office/drawing/2014/main" id="{F756DFBD-9EB4-4D00-94D0-C67DF97A15B9}"/>
              </a:ext>
            </a:extLst>
          </p:cNvPr>
          <p:cNvSpPr>
            <a:spLocks noGrp="1"/>
          </p:cNvSpPr>
          <p:nvPr>
            <p:ph type="sldNum" sz="quarter" idx="12"/>
          </p:nvPr>
        </p:nvSpPr>
        <p:spPr/>
        <p:txBody>
          <a:bodyPr/>
          <a:lstStyle/>
          <a:p>
            <a:fld id="{43A91214-D368-4B4F-B4B3-73A619B7B876}" type="slidenum">
              <a:rPr lang="pt-BR" smtClean="0"/>
              <a:t>‹nº›</a:t>
            </a:fld>
            <a:endParaRPr lang="pt-BR"/>
          </a:p>
        </p:txBody>
      </p:sp>
    </p:spTree>
    <p:extLst>
      <p:ext uri="{BB962C8B-B14F-4D97-AF65-F5344CB8AC3E}">
        <p14:creationId xmlns:p14="http://schemas.microsoft.com/office/powerpoint/2010/main" val="340628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15127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751317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332867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14449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14787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2381668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74749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8425359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155720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292490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176202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41A4B0C-CEB8-4239-B7CB-D30F63DBCD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3DFDA91-4622-4472-BA27-C1B09036F7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73F8B6-BF5F-4566-A90D-925F57210E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pt-BR"/>
              <a:t>09/02/2011</a:t>
            </a:r>
          </a:p>
        </p:txBody>
      </p:sp>
      <p:sp>
        <p:nvSpPr>
          <p:cNvPr id="5" name="Espaço Reservado para Rodapé 4">
            <a:extLst>
              <a:ext uri="{FF2B5EF4-FFF2-40B4-BE49-F238E27FC236}">
                <a16:creationId xmlns:a16="http://schemas.microsoft.com/office/drawing/2014/main" id="{F2B83AC9-2DF1-4775-B7F8-DCE61C444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Banco de Dados</a:t>
            </a:r>
          </a:p>
        </p:txBody>
      </p:sp>
      <p:sp>
        <p:nvSpPr>
          <p:cNvPr id="6" name="Espaço Reservado para Número de Slide 5">
            <a:extLst>
              <a:ext uri="{FF2B5EF4-FFF2-40B4-BE49-F238E27FC236}">
                <a16:creationId xmlns:a16="http://schemas.microsoft.com/office/drawing/2014/main" id="{1A96475A-9735-477F-BA89-044917D79F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A91214-D368-4B4F-B4B3-73A619B7B876}" type="slidenum">
              <a:rPr lang="pt-BR" smtClean="0"/>
              <a:t>‹nº›</a:t>
            </a:fld>
            <a:endParaRPr lang="pt-BR"/>
          </a:p>
        </p:txBody>
      </p:sp>
    </p:spTree>
    <p:extLst>
      <p:ext uri="{BB962C8B-B14F-4D97-AF65-F5344CB8AC3E}">
        <p14:creationId xmlns:p14="http://schemas.microsoft.com/office/powerpoint/2010/main" val="3827167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1/28/2026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678488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onathan.bandeira@souunit.com.br"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onathan.bandeira@souunit.com.br"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2257994-BD97-4691-8B89-198A6D2BA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C3EE67-EB9B-4CDC-90C2-8819DDDCAFFF}"/>
              </a:ext>
            </a:extLst>
          </p:cNvPr>
          <p:cNvSpPr>
            <a:spLocks noGrp="1"/>
          </p:cNvSpPr>
          <p:nvPr>
            <p:ph type="ctrTitle"/>
          </p:nvPr>
        </p:nvSpPr>
        <p:spPr>
          <a:xfrm>
            <a:off x="514349" y="2849909"/>
            <a:ext cx="11344275" cy="1637503"/>
          </a:xfrm>
          <a:solidFill>
            <a:srgbClr val="FFFFFF"/>
          </a:solidFill>
          <a:ln w="38100">
            <a:solidFill>
              <a:srgbClr val="404040"/>
            </a:solidFill>
            <a:miter lim="800000"/>
          </a:ln>
        </p:spPr>
        <p:txBody>
          <a:bodyPr anchor="ctr">
            <a:noAutofit/>
          </a:bodyPr>
          <a:lstStyle/>
          <a:p>
            <a:r>
              <a:rPr lang="pt-BR" sz="6000" b="1" dirty="0">
                <a:latin typeface="Times New Roman" panose="02020603050405020304" pitchFamily="18" charset="0"/>
                <a:cs typeface="Times New Roman" panose="02020603050405020304" pitchFamily="18" charset="0"/>
              </a:rPr>
              <a:t>Teoria dos Grafos                 </a:t>
            </a:r>
            <a:r>
              <a:rPr lang="pt-BR" sz="5600" dirty="0"/>
              <a:t>Caminho </a:t>
            </a:r>
            <a:r>
              <a:rPr lang="pt-BR" sz="5600" dirty="0" err="1"/>
              <a:t>Euleriano</a:t>
            </a:r>
            <a:r>
              <a:rPr lang="pt-BR" sz="5600" dirty="0"/>
              <a:t> e Hamiltoniano</a:t>
            </a:r>
            <a:endParaRPr lang="pt-BR" sz="5600" dirty="0">
              <a:solidFill>
                <a:srgbClr val="404040"/>
              </a:solidFill>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019F6184-63F4-4F05-8CE5-111C47729D17}"/>
              </a:ext>
            </a:extLst>
          </p:cNvPr>
          <p:cNvSpPr>
            <a:spLocks noGrp="1"/>
          </p:cNvSpPr>
          <p:nvPr>
            <p:ph type="subTitle" idx="1"/>
          </p:nvPr>
        </p:nvSpPr>
        <p:spPr>
          <a:xfrm>
            <a:off x="2247966" y="5041078"/>
            <a:ext cx="8519882" cy="847176"/>
          </a:xfrm>
        </p:spPr>
        <p:txBody>
          <a:bodyPr>
            <a:normAutofit/>
          </a:bodyPr>
          <a:lstStyle/>
          <a:p>
            <a:r>
              <a:rPr lang="pt-BR" sz="2900" dirty="0">
                <a:solidFill>
                  <a:srgbClr val="FFFFFF"/>
                </a:solidFill>
                <a:latin typeface="Times New Roman" panose="02020603050405020304" pitchFamily="18" charset="0"/>
                <a:cs typeface="Times New Roman" panose="02020603050405020304" pitchFamily="18" charset="0"/>
              </a:rPr>
              <a:t>Jonathan Bandeira: </a:t>
            </a:r>
            <a:r>
              <a:rPr lang="pt-BR" sz="2900" dirty="0">
                <a:solidFill>
                  <a:srgbClr val="FFFFFF"/>
                </a:solidFill>
                <a:latin typeface="Times New Roman" panose="02020603050405020304" pitchFamily="18" charset="0"/>
                <a:cs typeface="Times New Roman" panose="02020603050405020304" pitchFamily="18" charset="0"/>
                <a:sym typeface="Calibri"/>
                <a:hlinkClick r:id="rId2"/>
              </a:rPr>
              <a:t>jonathan.bandeira@souunit.com.br</a:t>
            </a:r>
            <a:r>
              <a:rPr lang="pt-BR" sz="2900" dirty="0">
                <a:solidFill>
                  <a:srgbClr val="FFFFFF"/>
                </a:solidFill>
                <a:latin typeface="Times New Roman" panose="02020603050405020304" pitchFamily="18" charset="0"/>
                <a:cs typeface="Times New Roman" panose="02020603050405020304" pitchFamily="18" charset="0"/>
                <a:sym typeface="Calibri"/>
              </a:rPr>
              <a:t> </a:t>
            </a:r>
          </a:p>
          <a:p>
            <a:endParaRPr lang="pt-BR" sz="1600" dirty="0">
              <a:solidFill>
                <a:srgbClr val="FFFFFF"/>
              </a:solidFill>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2FCFCA72-CEF0-4B59-9249-2FF30437C0E2}"/>
              </a:ext>
            </a:extLst>
          </p:cNvPr>
          <p:cNvSpPr/>
          <p:nvPr/>
        </p:nvSpPr>
        <p:spPr>
          <a:xfrm>
            <a:off x="3979097" y="6319351"/>
            <a:ext cx="3607078" cy="480131"/>
          </a:xfrm>
          <a:prstGeom prst="rect">
            <a:avLst/>
          </a:prstGeom>
        </p:spPr>
        <p:txBody>
          <a:bodyPr wrap="none">
            <a:spAutoFit/>
          </a:bodyPr>
          <a:lstStyle/>
          <a:p>
            <a:pPr algn="ctr">
              <a:lnSpc>
                <a:spcPct val="90000"/>
              </a:lnSpc>
              <a:spcBef>
                <a:spcPts val="1000"/>
              </a:spcBef>
            </a:pPr>
            <a:r>
              <a:rPr lang="pt-BR" sz="2800" dirty="0">
                <a:solidFill>
                  <a:srgbClr val="FFFFFF"/>
                </a:solidFill>
                <a:latin typeface="Times New Roman" panose="02020603050405020304" pitchFamily="18" charset="0"/>
                <a:cs typeface="Times New Roman" panose="02020603050405020304" pitchFamily="18" charset="0"/>
              </a:rPr>
              <a:t>Ciência da Computação</a:t>
            </a:r>
          </a:p>
        </p:txBody>
      </p:sp>
      <p:pic>
        <p:nvPicPr>
          <p:cNvPr id="6" name="Image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8113" y="140903"/>
            <a:ext cx="4110038" cy="2195590"/>
          </a:xfrm>
          <a:prstGeom prst="rect">
            <a:avLst/>
          </a:prstGeom>
        </p:spPr>
      </p:pic>
      <p:pic>
        <p:nvPicPr>
          <p:cNvPr id="2052" name="Picture 4" descr="Porto Digital | Linked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12910" cy="281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29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838200" y="365126"/>
            <a:ext cx="10515600" cy="1325563"/>
          </a:xfrm>
          <a:prstGeom prst="rect">
            <a:avLst/>
          </a:prstGeom>
          <a:noFill/>
          <a:ln>
            <a:noFill/>
          </a:ln>
        </p:spPr>
        <p:txBody>
          <a:bodyPr spcFirstLastPara="1" vert="horz" wrap="square" lIns="91425" tIns="45700" rIns="91425" bIns="45700" rtlCol="0" anchor="ctr" anchorCtr="0">
            <a:noAutofit/>
          </a:bodyPr>
          <a:lstStyle/>
          <a:p>
            <a:pPr algn="ctr">
              <a:buClr>
                <a:schemeClr val="dk1"/>
              </a:buClr>
              <a:buSzPts val="4400"/>
            </a:pPr>
            <a:r>
              <a:rPr lang="pt-BR" b="1" dirty="0">
                <a:solidFill>
                  <a:schemeClr val="dk1"/>
                </a:solidFill>
                <a:latin typeface="Calibri"/>
                <a:ea typeface="Calibri"/>
                <a:cs typeface="Calibri"/>
                <a:sym typeface="Calibri"/>
              </a:rPr>
              <a:t>Roteiro</a:t>
            </a:r>
            <a:endParaRPr b="1" dirty="0">
              <a:solidFill>
                <a:schemeClr val="dk1"/>
              </a:solidFill>
              <a:latin typeface="Calibri"/>
              <a:ea typeface="Calibri"/>
              <a:cs typeface="Calibri"/>
              <a:sym typeface="Calibri"/>
            </a:endParaRPr>
          </a:p>
        </p:txBody>
      </p:sp>
      <p:sp>
        <p:nvSpPr>
          <p:cNvPr id="93" name="Google Shape;93;p14"/>
          <p:cNvSpPr txBox="1">
            <a:spLocks noGrp="1"/>
          </p:cNvSpPr>
          <p:nvPr>
            <p:ph type="body" idx="1"/>
          </p:nvPr>
        </p:nvSpPr>
        <p:spPr>
          <a:xfrm>
            <a:off x="838200" y="1825626"/>
            <a:ext cx="10515600" cy="4351338"/>
          </a:xfrm>
          <a:prstGeom prst="rect">
            <a:avLst/>
          </a:prstGeom>
          <a:noFill/>
          <a:ln>
            <a:noFill/>
          </a:ln>
        </p:spPr>
        <p:txBody>
          <a:bodyPr spcFirstLastPara="1" vert="horz" wrap="square" lIns="91425" tIns="45700" rIns="91425" bIns="45700" rtlCol="0" anchor="t" anchorCtr="0">
            <a:noAutofit/>
          </a:bodyPr>
          <a:lstStyle/>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Caminho e Ciclo </a:t>
            </a:r>
            <a:r>
              <a:rPr lang="pt-BR" sz="2400" dirty="0" err="1">
                <a:solidFill>
                  <a:schemeClr val="dk1"/>
                </a:solidFill>
                <a:latin typeface="Calibri"/>
                <a:ea typeface="Calibri"/>
                <a:cs typeface="Calibri"/>
                <a:sym typeface="Calibri"/>
              </a:rPr>
              <a:t>Euleriano</a:t>
            </a:r>
            <a:r>
              <a:rPr lang="pt-BR" sz="2400" dirty="0">
                <a:solidFill>
                  <a:schemeClr val="dk1"/>
                </a:solidFill>
                <a:latin typeface="Calibri"/>
                <a:ea typeface="Calibri"/>
                <a:cs typeface="Calibri"/>
                <a:sym typeface="Calibri"/>
              </a:rPr>
              <a:t>;</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Grafo </a:t>
            </a:r>
            <a:r>
              <a:rPr lang="pt-BR" sz="2400" dirty="0" err="1">
                <a:solidFill>
                  <a:schemeClr val="dk1"/>
                </a:solidFill>
                <a:latin typeface="Calibri"/>
                <a:ea typeface="Calibri"/>
                <a:cs typeface="Calibri"/>
                <a:sym typeface="Calibri"/>
              </a:rPr>
              <a:t>Euleriano</a:t>
            </a:r>
            <a:r>
              <a:rPr lang="pt-BR" sz="2400" dirty="0">
                <a:solidFill>
                  <a:schemeClr val="dk1"/>
                </a:solidFill>
                <a:latin typeface="Calibri"/>
                <a:ea typeface="Calibri"/>
                <a:cs typeface="Calibri"/>
                <a:sym typeface="Calibri"/>
              </a:rPr>
              <a:t>;</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Problemas </a:t>
            </a:r>
            <a:r>
              <a:rPr lang="pt-BR" sz="2400" dirty="0" err="1">
                <a:solidFill>
                  <a:schemeClr val="dk1"/>
                </a:solidFill>
                <a:latin typeface="Calibri"/>
                <a:ea typeface="Calibri"/>
                <a:cs typeface="Calibri"/>
                <a:sym typeface="Calibri"/>
              </a:rPr>
              <a:t>Eulerianos</a:t>
            </a:r>
            <a:r>
              <a:rPr lang="pt-BR" sz="2400" dirty="0">
                <a:solidFill>
                  <a:schemeClr val="dk1"/>
                </a:solidFill>
                <a:latin typeface="Calibri"/>
                <a:ea typeface="Calibri"/>
                <a:cs typeface="Calibri"/>
                <a:sym typeface="Calibri"/>
              </a:rPr>
              <a:t>;</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Caminho e Ciclo Hamiltoniano;</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Grafos Densos e Esparsos;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Representação de Grafos</a:t>
            </a:r>
          </a:p>
          <a:p>
            <a:pPr lvl="1">
              <a:lnSpc>
                <a:spcPct val="100000"/>
              </a:lnSpc>
              <a:spcBef>
                <a:spcPts val="0"/>
              </a:spcBef>
              <a:buClr>
                <a:schemeClr val="dk1"/>
              </a:buClr>
              <a:buSzPts val="2590"/>
              <a:buFont typeface="Arial"/>
              <a:buChar char="•"/>
            </a:pPr>
            <a:r>
              <a:rPr lang="pt-BR" sz="2000" dirty="0">
                <a:solidFill>
                  <a:schemeClr val="dk1"/>
                </a:solidFill>
                <a:latin typeface="Calibri"/>
                <a:ea typeface="Calibri"/>
                <a:cs typeface="Calibri"/>
                <a:sym typeface="Calibri"/>
              </a:rPr>
              <a:t>Lista de Incidência;</a:t>
            </a:r>
          </a:p>
          <a:p>
            <a:pPr lvl="1">
              <a:lnSpc>
                <a:spcPct val="100000"/>
              </a:lnSpc>
              <a:spcBef>
                <a:spcPts val="0"/>
              </a:spcBef>
              <a:buClr>
                <a:schemeClr val="dk1"/>
              </a:buClr>
              <a:buSzPts val="2590"/>
              <a:buFont typeface="Arial"/>
              <a:buChar char="•"/>
            </a:pPr>
            <a:r>
              <a:rPr lang="pt-BR" sz="2000" dirty="0">
                <a:solidFill>
                  <a:schemeClr val="dk1"/>
                </a:solidFill>
                <a:latin typeface="Calibri"/>
                <a:ea typeface="Calibri"/>
                <a:cs typeface="Calibri"/>
                <a:sym typeface="Calibri"/>
              </a:rPr>
              <a:t>Matriz de Adjacência;</a:t>
            </a:r>
          </a:p>
          <a:p>
            <a:pPr lvl="1">
              <a:lnSpc>
                <a:spcPct val="100000"/>
              </a:lnSpc>
              <a:spcBef>
                <a:spcPts val="0"/>
              </a:spcBef>
              <a:buClr>
                <a:schemeClr val="dk1"/>
              </a:buClr>
              <a:buSzPts val="2590"/>
              <a:buFont typeface="Arial"/>
              <a:buChar char="•"/>
            </a:pPr>
            <a:r>
              <a:rPr lang="pt-BR" sz="2000" dirty="0">
                <a:solidFill>
                  <a:schemeClr val="dk1"/>
                </a:solidFill>
                <a:latin typeface="Calibri"/>
                <a:ea typeface="Calibri"/>
                <a:cs typeface="Calibri"/>
                <a:sym typeface="Calibri"/>
              </a:rPr>
              <a:t>Matriz de Incidência;</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Exercícios;</a:t>
            </a:r>
          </a:p>
          <a:p>
            <a:pPr>
              <a:lnSpc>
                <a:spcPct val="100000"/>
              </a:lnSpc>
              <a:spcBef>
                <a:spcPts val="0"/>
              </a:spcBef>
              <a:buClr>
                <a:schemeClr val="dk1"/>
              </a:buClr>
              <a:buSzPts val="2590"/>
              <a:buFont typeface="Arial"/>
              <a:buChar char="•"/>
            </a:pPr>
            <a:r>
              <a:rPr lang="pt-BR" sz="2400" dirty="0">
                <a:solidFill>
                  <a:schemeClr val="dk1"/>
                </a:solidFill>
                <a:latin typeface="Calibri"/>
                <a:ea typeface="Calibri"/>
                <a:cs typeface="Calibri"/>
                <a:sym typeface="Calibri"/>
              </a:rPr>
              <a:t>Bibliografia.</a:t>
            </a:r>
          </a:p>
        </p:txBody>
      </p:sp>
      <p:sp>
        <p:nvSpPr>
          <p:cNvPr id="3" name="Espaço Reservado para Número de Slide 2"/>
          <p:cNvSpPr>
            <a:spLocks noGrp="1"/>
          </p:cNvSpPr>
          <p:nvPr>
            <p:ph type="sldNum" sz="quarter" idx="12"/>
          </p:nvPr>
        </p:nvSpPr>
        <p:spPr/>
        <p:txBody>
          <a:bodyPr/>
          <a:lstStyle/>
          <a:p>
            <a:pPr defTabSz="914446"/>
            <a:fld id="{43A91214-D368-4B4F-B4B3-73A619B7B876}" type="slidenum">
              <a:rPr lang="pt-BR">
                <a:solidFill>
                  <a:prstClr val="black">
                    <a:tint val="75000"/>
                  </a:prstClr>
                </a:solidFill>
                <a:latin typeface="Calibri" panose="020F0502020204030204"/>
              </a:rPr>
              <a:pPr defTabSz="914446"/>
              <a:t>2</a:t>
            </a:fld>
            <a:endParaRPr lang="pt-BR">
              <a:solidFill>
                <a:prstClr val="black">
                  <a:tint val="75000"/>
                </a:prstClr>
              </a:solidFill>
              <a:latin typeface="Calibri" panose="020F0502020204030204"/>
            </a:endParaRPr>
          </a:p>
        </p:txBody>
      </p:sp>
    </p:spTree>
    <p:extLst>
      <p:ext uri="{BB962C8B-B14F-4D97-AF65-F5344CB8AC3E}">
        <p14:creationId xmlns:p14="http://schemas.microsoft.com/office/powerpoint/2010/main" val="334027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FA8606F-82FE-49E9-A9C0-13D12815AB1B}"/>
              </a:ext>
            </a:extLst>
          </p:cNvPr>
          <p:cNvSpPr>
            <a:spLocks noGrp="1"/>
          </p:cNvSpPr>
          <p:nvPr>
            <p:ph type="title"/>
          </p:nvPr>
        </p:nvSpPr>
        <p:spPr>
          <a:xfrm>
            <a:off x="754408" y="789685"/>
            <a:ext cx="8229600" cy="1143000"/>
          </a:xfrm>
        </p:spPr>
        <p:txBody>
          <a:bodyPr anchor="t"/>
          <a:lstStyle/>
          <a:p>
            <a:pPr eaLnBrk="1" hangingPunct="1"/>
            <a:r>
              <a:rPr lang="pt-BR" altLang="pt-BR" b="1" dirty="0"/>
              <a:t>Caminho e Ciclo </a:t>
            </a:r>
            <a:r>
              <a:rPr lang="pt-BR" altLang="pt-BR" b="1" dirty="0" err="1"/>
              <a:t>Euleriano</a:t>
            </a:r>
            <a:endParaRPr lang="pt-BR" altLang="pt-BR" b="1" dirty="0"/>
          </a:p>
        </p:txBody>
      </p:sp>
      <p:sp>
        <p:nvSpPr>
          <p:cNvPr id="49155" name="Rectangle 3">
            <a:extLst>
              <a:ext uri="{FF2B5EF4-FFF2-40B4-BE49-F238E27FC236}">
                <a16:creationId xmlns:a16="http://schemas.microsoft.com/office/drawing/2014/main" id="{11CB45F9-AF3A-4025-B316-85000BEB2507}"/>
              </a:ext>
            </a:extLst>
          </p:cNvPr>
          <p:cNvSpPr>
            <a:spLocks noGrp="1"/>
          </p:cNvSpPr>
          <p:nvPr>
            <p:ph idx="1"/>
          </p:nvPr>
        </p:nvSpPr>
        <p:spPr>
          <a:xfrm>
            <a:off x="588968" y="1868795"/>
            <a:ext cx="10367893" cy="3601212"/>
          </a:xfrm>
        </p:spPr>
        <p:txBody>
          <a:bodyPr/>
          <a:lstStyle/>
          <a:p>
            <a:pPr eaLnBrk="1" hangingPunct="1">
              <a:lnSpc>
                <a:spcPct val="120000"/>
              </a:lnSpc>
            </a:pPr>
            <a:r>
              <a:rPr lang="pt-BR" altLang="pt-BR" sz="2200" b="1" dirty="0"/>
              <a:t>Caminho </a:t>
            </a:r>
            <a:r>
              <a:rPr lang="pt-BR" altLang="pt-BR" sz="2200" b="1" dirty="0" err="1"/>
              <a:t>Euleriano</a:t>
            </a:r>
            <a:endParaRPr lang="pt-BR" altLang="pt-BR" sz="2200" b="1" dirty="0"/>
          </a:p>
          <a:p>
            <a:pPr lvl="1" eaLnBrk="1" hangingPunct="1">
              <a:lnSpc>
                <a:spcPct val="120000"/>
              </a:lnSpc>
            </a:pPr>
            <a:r>
              <a:rPr lang="pt-BR" altLang="pt-BR" sz="2200" dirty="0"/>
              <a:t>É um caminho simples que contém todas as aresta do grafo (não passa duas vezes na mesma aresta).</a:t>
            </a:r>
          </a:p>
          <a:p>
            <a:pPr eaLnBrk="1" hangingPunct="1">
              <a:lnSpc>
                <a:spcPct val="120000"/>
              </a:lnSpc>
            </a:pPr>
            <a:r>
              <a:rPr lang="pt-BR" altLang="pt-BR" sz="2200" b="1" dirty="0"/>
              <a:t>Ciclo </a:t>
            </a:r>
            <a:r>
              <a:rPr lang="pt-BR" altLang="pt-BR" sz="2200" b="1" dirty="0" err="1"/>
              <a:t>Euleriano</a:t>
            </a:r>
            <a:endParaRPr lang="pt-BR" altLang="pt-BR" sz="2200" b="1" dirty="0"/>
          </a:p>
          <a:p>
            <a:pPr lvl="1" eaLnBrk="1" hangingPunct="1">
              <a:lnSpc>
                <a:spcPct val="120000"/>
              </a:lnSpc>
            </a:pPr>
            <a:r>
              <a:rPr lang="pt-BR" altLang="pt-BR" sz="2200" dirty="0"/>
              <a:t>É um caminho fechado (e simples) que contém todas as arestas do grafo.</a:t>
            </a:r>
          </a:p>
          <a:p>
            <a:pPr eaLnBrk="1" hangingPunct="1"/>
            <a:endParaRPr lang="pt-BR" altLang="pt-BR" sz="1600" dirty="0"/>
          </a:p>
          <a:p>
            <a:pPr eaLnBrk="1" hangingPunct="1"/>
            <a:endParaRPr lang="pt-BR" altLang="pt-BR" dirty="0"/>
          </a:p>
        </p:txBody>
      </p:sp>
      <p:grpSp>
        <p:nvGrpSpPr>
          <p:cNvPr id="49156" name="Group 35">
            <a:extLst>
              <a:ext uri="{FF2B5EF4-FFF2-40B4-BE49-F238E27FC236}">
                <a16:creationId xmlns:a16="http://schemas.microsoft.com/office/drawing/2014/main" id="{70BF9CDD-680B-4708-9BF1-A86BEC758DE4}"/>
              </a:ext>
            </a:extLst>
          </p:cNvPr>
          <p:cNvGrpSpPr>
            <a:grpSpLocks/>
          </p:cNvGrpSpPr>
          <p:nvPr/>
        </p:nvGrpSpPr>
        <p:grpSpPr bwMode="auto">
          <a:xfrm>
            <a:off x="3592101" y="4567033"/>
            <a:ext cx="3962400" cy="1449388"/>
            <a:chOff x="1011" y="2863"/>
            <a:chExt cx="2496" cy="913"/>
          </a:xfrm>
        </p:grpSpPr>
        <p:sp>
          <p:nvSpPr>
            <p:cNvPr id="49157" name="Line 5">
              <a:extLst>
                <a:ext uri="{FF2B5EF4-FFF2-40B4-BE49-F238E27FC236}">
                  <a16:creationId xmlns:a16="http://schemas.microsoft.com/office/drawing/2014/main" id="{F50F2FC4-1682-4D65-9153-A0B04DEC6C1A}"/>
                </a:ext>
              </a:extLst>
            </p:cNvPr>
            <p:cNvSpPr>
              <a:spLocks noChangeShapeType="1"/>
            </p:cNvSpPr>
            <p:nvPr/>
          </p:nvSpPr>
          <p:spPr bwMode="auto">
            <a:xfrm>
              <a:off x="1798" y="2937"/>
              <a:ext cx="159" cy="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58" name="Oval 6">
              <a:extLst>
                <a:ext uri="{FF2B5EF4-FFF2-40B4-BE49-F238E27FC236}">
                  <a16:creationId xmlns:a16="http://schemas.microsoft.com/office/drawing/2014/main" id="{A106C60B-6223-477E-BCB6-26F207A2E404}"/>
                </a:ext>
              </a:extLst>
            </p:cNvPr>
            <p:cNvSpPr>
              <a:spLocks noChangeArrowheads="1"/>
            </p:cNvSpPr>
            <p:nvPr/>
          </p:nvSpPr>
          <p:spPr bwMode="auto">
            <a:xfrm>
              <a:off x="1011" y="2915"/>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59" name="Oval 7">
              <a:extLst>
                <a:ext uri="{FF2B5EF4-FFF2-40B4-BE49-F238E27FC236}">
                  <a16:creationId xmlns:a16="http://schemas.microsoft.com/office/drawing/2014/main" id="{53201BAC-6634-45F8-8001-1ED30A59479B}"/>
                </a:ext>
              </a:extLst>
            </p:cNvPr>
            <p:cNvSpPr>
              <a:spLocks noChangeArrowheads="1"/>
            </p:cNvSpPr>
            <p:nvPr/>
          </p:nvSpPr>
          <p:spPr bwMode="auto">
            <a:xfrm>
              <a:off x="1782" y="2915"/>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0" name="Oval 8">
              <a:extLst>
                <a:ext uri="{FF2B5EF4-FFF2-40B4-BE49-F238E27FC236}">
                  <a16:creationId xmlns:a16="http://schemas.microsoft.com/office/drawing/2014/main" id="{E6DEA21A-112E-47D9-8B93-CF1BFFFA04B4}"/>
                </a:ext>
              </a:extLst>
            </p:cNvPr>
            <p:cNvSpPr>
              <a:spLocks noChangeArrowheads="1"/>
            </p:cNvSpPr>
            <p:nvPr/>
          </p:nvSpPr>
          <p:spPr bwMode="auto">
            <a:xfrm>
              <a:off x="1958" y="3520"/>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1" name="Oval 9">
              <a:extLst>
                <a:ext uri="{FF2B5EF4-FFF2-40B4-BE49-F238E27FC236}">
                  <a16:creationId xmlns:a16="http://schemas.microsoft.com/office/drawing/2014/main" id="{82FBAFCA-AA81-43BF-BC37-73CA037FD215}"/>
                </a:ext>
              </a:extLst>
            </p:cNvPr>
            <p:cNvSpPr>
              <a:spLocks noChangeArrowheads="1"/>
            </p:cNvSpPr>
            <p:nvPr/>
          </p:nvSpPr>
          <p:spPr bwMode="auto">
            <a:xfrm>
              <a:off x="1011" y="3731"/>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2" name="Line 10">
              <a:extLst>
                <a:ext uri="{FF2B5EF4-FFF2-40B4-BE49-F238E27FC236}">
                  <a16:creationId xmlns:a16="http://schemas.microsoft.com/office/drawing/2014/main" id="{8FD4CCA0-200B-4B31-9FDD-BDA2BAC0C2D4}"/>
                </a:ext>
              </a:extLst>
            </p:cNvPr>
            <p:cNvSpPr>
              <a:spLocks noChangeShapeType="1"/>
            </p:cNvSpPr>
            <p:nvPr/>
          </p:nvSpPr>
          <p:spPr bwMode="auto">
            <a:xfrm>
              <a:off x="1032" y="2961"/>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63" name="Line 11">
              <a:extLst>
                <a:ext uri="{FF2B5EF4-FFF2-40B4-BE49-F238E27FC236}">
                  <a16:creationId xmlns:a16="http://schemas.microsoft.com/office/drawing/2014/main" id="{828FEA15-5897-44B4-8D42-8B08509D1192}"/>
                </a:ext>
              </a:extLst>
            </p:cNvPr>
            <p:cNvSpPr>
              <a:spLocks noChangeShapeType="1"/>
            </p:cNvSpPr>
            <p:nvPr/>
          </p:nvSpPr>
          <p:spPr bwMode="auto">
            <a:xfrm>
              <a:off x="1027" y="2937"/>
              <a:ext cx="7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64" name="Line 12">
              <a:extLst>
                <a:ext uri="{FF2B5EF4-FFF2-40B4-BE49-F238E27FC236}">
                  <a16:creationId xmlns:a16="http://schemas.microsoft.com/office/drawing/2014/main" id="{FCC012B6-DAE1-408B-8775-32F662CCEF21}"/>
                </a:ext>
              </a:extLst>
            </p:cNvPr>
            <p:cNvSpPr>
              <a:spLocks noChangeShapeType="1"/>
            </p:cNvSpPr>
            <p:nvPr/>
          </p:nvSpPr>
          <p:spPr bwMode="auto">
            <a:xfrm flipV="1">
              <a:off x="1050" y="3566"/>
              <a:ext cx="907"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65" name="Line 13">
              <a:extLst>
                <a:ext uri="{FF2B5EF4-FFF2-40B4-BE49-F238E27FC236}">
                  <a16:creationId xmlns:a16="http://schemas.microsoft.com/office/drawing/2014/main" id="{57D99827-12E5-4AFB-9477-CB794AF51EF5}"/>
                </a:ext>
              </a:extLst>
            </p:cNvPr>
            <p:cNvSpPr>
              <a:spLocks noChangeShapeType="1"/>
            </p:cNvSpPr>
            <p:nvPr/>
          </p:nvSpPr>
          <p:spPr bwMode="auto">
            <a:xfrm flipH="1">
              <a:off x="3214" y="2885"/>
              <a:ext cx="272"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66" name="Oval 14">
              <a:extLst>
                <a:ext uri="{FF2B5EF4-FFF2-40B4-BE49-F238E27FC236}">
                  <a16:creationId xmlns:a16="http://schemas.microsoft.com/office/drawing/2014/main" id="{97DD84C6-E91F-43F0-A130-546DC71EBB23}"/>
                </a:ext>
              </a:extLst>
            </p:cNvPr>
            <p:cNvSpPr>
              <a:spLocks noChangeArrowheads="1"/>
            </p:cNvSpPr>
            <p:nvPr/>
          </p:nvSpPr>
          <p:spPr bwMode="auto">
            <a:xfrm>
              <a:off x="2667" y="2863"/>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7" name="Oval 15">
              <a:extLst>
                <a:ext uri="{FF2B5EF4-FFF2-40B4-BE49-F238E27FC236}">
                  <a16:creationId xmlns:a16="http://schemas.microsoft.com/office/drawing/2014/main" id="{F6658852-278A-4520-948D-908026074B43}"/>
                </a:ext>
              </a:extLst>
            </p:cNvPr>
            <p:cNvSpPr>
              <a:spLocks noChangeArrowheads="1"/>
            </p:cNvSpPr>
            <p:nvPr/>
          </p:nvSpPr>
          <p:spPr bwMode="auto">
            <a:xfrm>
              <a:off x="3198" y="3323"/>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8" name="Oval 16">
              <a:extLst>
                <a:ext uri="{FF2B5EF4-FFF2-40B4-BE49-F238E27FC236}">
                  <a16:creationId xmlns:a16="http://schemas.microsoft.com/office/drawing/2014/main" id="{F86A496B-1F8A-43E9-9697-4402B9E13B3B}"/>
                </a:ext>
              </a:extLst>
            </p:cNvPr>
            <p:cNvSpPr>
              <a:spLocks noChangeArrowheads="1"/>
            </p:cNvSpPr>
            <p:nvPr/>
          </p:nvSpPr>
          <p:spPr bwMode="auto">
            <a:xfrm>
              <a:off x="2667" y="3679"/>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9169" name="Line 17">
              <a:extLst>
                <a:ext uri="{FF2B5EF4-FFF2-40B4-BE49-F238E27FC236}">
                  <a16:creationId xmlns:a16="http://schemas.microsoft.com/office/drawing/2014/main" id="{066E183F-457B-458A-91F4-A593A0D76FA5}"/>
                </a:ext>
              </a:extLst>
            </p:cNvPr>
            <p:cNvSpPr>
              <a:spLocks noChangeShapeType="1"/>
            </p:cNvSpPr>
            <p:nvPr/>
          </p:nvSpPr>
          <p:spPr bwMode="auto">
            <a:xfrm>
              <a:off x="2688" y="2909"/>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70" name="Line 18">
              <a:extLst>
                <a:ext uri="{FF2B5EF4-FFF2-40B4-BE49-F238E27FC236}">
                  <a16:creationId xmlns:a16="http://schemas.microsoft.com/office/drawing/2014/main" id="{5D83DDA5-1B93-4934-A27B-9274BD80BF5B}"/>
                </a:ext>
              </a:extLst>
            </p:cNvPr>
            <p:cNvSpPr>
              <a:spLocks noChangeShapeType="1"/>
            </p:cNvSpPr>
            <p:nvPr/>
          </p:nvSpPr>
          <p:spPr bwMode="auto">
            <a:xfrm>
              <a:off x="2683" y="2885"/>
              <a:ext cx="545"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71" name="Line 19">
              <a:extLst>
                <a:ext uri="{FF2B5EF4-FFF2-40B4-BE49-F238E27FC236}">
                  <a16:creationId xmlns:a16="http://schemas.microsoft.com/office/drawing/2014/main" id="{1187FCDC-48DC-4639-8C85-2ED8D89A84D8}"/>
                </a:ext>
              </a:extLst>
            </p:cNvPr>
            <p:cNvSpPr>
              <a:spLocks noChangeShapeType="1"/>
            </p:cNvSpPr>
            <p:nvPr/>
          </p:nvSpPr>
          <p:spPr bwMode="auto">
            <a:xfrm flipV="1">
              <a:off x="2706" y="3339"/>
              <a:ext cx="522" cy="3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9172" name="Oval 34">
              <a:extLst>
                <a:ext uri="{FF2B5EF4-FFF2-40B4-BE49-F238E27FC236}">
                  <a16:creationId xmlns:a16="http://schemas.microsoft.com/office/drawing/2014/main" id="{55D7D70B-59A1-43BB-B696-2263BDFA2F2A}"/>
                </a:ext>
              </a:extLst>
            </p:cNvPr>
            <p:cNvSpPr>
              <a:spLocks noChangeArrowheads="1"/>
            </p:cNvSpPr>
            <p:nvPr/>
          </p:nvSpPr>
          <p:spPr bwMode="auto">
            <a:xfrm>
              <a:off x="3462" y="2864"/>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9099D01-5E5B-4355-9893-7FB12BE863A5}"/>
              </a:ext>
            </a:extLst>
          </p:cNvPr>
          <p:cNvSpPr>
            <a:spLocks noGrp="1"/>
          </p:cNvSpPr>
          <p:nvPr>
            <p:ph type="title"/>
          </p:nvPr>
        </p:nvSpPr>
        <p:spPr>
          <a:xfrm>
            <a:off x="663576" y="384177"/>
            <a:ext cx="8229600" cy="1143000"/>
          </a:xfrm>
        </p:spPr>
        <p:txBody>
          <a:bodyPr anchor="t"/>
          <a:lstStyle/>
          <a:p>
            <a:pPr eaLnBrk="1" hangingPunct="1"/>
            <a:r>
              <a:rPr lang="pt-BR" altLang="pt-BR" b="1" dirty="0"/>
              <a:t>Grafo </a:t>
            </a:r>
            <a:r>
              <a:rPr lang="pt-BR" altLang="pt-BR" b="1" dirty="0" err="1"/>
              <a:t>Euleriano</a:t>
            </a:r>
            <a:endParaRPr lang="pt-BR" altLang="pt-BR" b="1" dirty="0"/>
          </a:p>
        </p:txBody>
      </p:sp>
      <p:sp>
        <p:nvSpPr>
          <p:cNvPr id="48131" name="Rectangle 3">
            <a:extLst>
              <a:ext uri="{FF2B5EF4-FFF2-40B4-BE49-F238E27FC236}">
                <a16:creationId xmlns:a16="http://schemas.microsoft.com/office/drawing/2014/main" id="{228CF6F2-0D6A-4355-B12D-27935CD51335}"/>
              </a:ext>
            </a:extLst>
          </p:cNvPr>
          <p:cNvSpPr>
            <a:spLocks noGrp="1"/>
          </p:cNvSpPr>
          <p:nvPr>
            <p:ph idx="1"/>
          </p:nvPr>
        </p:nvSpPr>
        <p:spPr>
          <a:xfrm>
            <a:off x="649357" y="1341438"/>
            <a:ext cx="9572556" cy="4525962"/>
          </a:xfrm>
        </p:spPr>
        <p:txBody>
          <a:bodyPr>
            <a:normAutofit fontScale="85000" lnSpcReduction="20000"/>
          </a:bodyPr>
          <a:lstStyle/>
          <a:p>
            <a:pPr eaLnBrk="1" hangingPunct="1">
              <a:lnSpc>
                <a:spcPct val="120000"/>
              </a:lnSpc>
            </a:pPr>
            <a:r>
              <a:rPr lang="pt-BR" altLang="pt-BR" dirty="0"/>
              <a:t>Grafo onde é possível achar um caminho fechado (ciclo), passando em cada aresta uma única vez</a:t>
            </a:r>
          </a:p>
          <a:p>
            <a:pPr eaLnBrk="1" hangingPunct="1">
              <a:lnSpc>
                <a:spcPct val="120000"/>
              </a:lnSpc>
            </a:pPr>
            <a:r>
              <a:rPr lang="pt-BR" altLang="pt-BR" dirty="0"/>
              <a:t>Quais são os grafos de Euler?</a:t>
            </a:r>
          </a:p>
          <a:p>
            <a:pPr eaLnBrk="1" hangingPunct="1">
              <a:lnSpc>
                <a:spcPct val="120000"/>
              </a:lnSpc>
            </a:pPr>
            <a:endParaRPr lang="pt-BR" altLang="pt-BR" sz="1800" dirty="0"/>
          </a:p>
          <a:p>
            <a:pPr eaLnBrk="1" hangingPunct="1">
              <a:lnSpc>
                <a:spcPct val="120000"/>
              </a:lnSpc>
            </a:pPr>
            <a:endParaRPr lang="pt-BR" altLang="pt-BR" sz="1800" dirty="0"/>
          </a:p>
          <a:p>
            <a:pPr eaLnBrk="1" hangingPunct="1">
              <a:lnSpc>
                <a:spcPct val="120000"/>
              </a:lnSpc>
            </a:pPr>
            <a:endParaRPr lang="pt-BR" altLang="pt-BR" sz="1800" dirty="0"/>
          </a:p>
          <a:p>
            <a:pPr eaLnBrk="1" hangingPunct="1">
              <a:lnSpc>
                <a:spcPct val="120000"/>
              </a:lnSpc>
            </a:pPr>
            <a:endParaRPr lang="pt-BR" altLang="pt-BR" sz="1800" dirty="0"/>
          </a:p>
          <a:p>
            <a:pPr eaLnBrk="1" hangingPunct="1">
              <a:lnSpc>
                <a:spcPct val="120000"/>
              </a:lnSpc>
            </a:pPr>
            <a:endParaRPr lang="pt-BR" altLang="pt-BR" sz="1800" dirty="0"/>
          </a:p>
          <a:p>
            <a:pPr eaLnBrk="1" hangingPunct="1">
              <a:lnSpc>
                <a:spcPct val="120000"/>
              </a:lnSpc>
            </a:pPr>
            <a:endParaRPr lang="pt-BR" altLang="pt-BR" sz="1800" dirty="0"/>
          </a:p>
          <a:p>
            <a:pPr eaLnBrk="1" hangingPunct="1">
              <a:lnSpc>
                <a:spcPct val="120000"/>
              </a:lnSpc>
            </a:pPr>
            <a:r>
              <a:rPr lang="pt-BR" altLang="pt-BR" b="1" dirty="0"/>
              <a:t>Teorema: </a:t>
            </a:r>
            <a:r>
              <a:rPr lang="pt-BR" altLang="pt-BR" dirty="0"/>
              <a:t>um grafo conexo G é um grafo de Euler se e somente se todos os seus vértices têm grau par.</a:t>
            </a:r>
          </a:p>
        </p:txBody>
      </p:sp>
      <p:grpSp>
        <p:nvGrpSpPr>
          <p:cNvPr id="48132" name="Group 42">
            <a:extLst>
              <a:ext uri="{FF2B5EF4-FFF2-40B4-BE49-F238E27FC236}">
                <a16:creationId xmlns:a16="http://schemas.microsoft.com/office/drawing/2014/main" id="{937EFCCD-7A94-46FD-8584-BA6F4D04B3F9}"/>
              </a:ext>
            </a:extLst>
          </p:cNvPr>
          <p:cNvGrpSpPr>
            <a:grpSpLocks/>
          </p:cNvGrpSpPr>
          <p:nvPr/>
        </p:nvGrpSpPr>
        <p:grpSpPr bwMode="auto">
          <a:xfrm>
            <a:off x="3143250" y="2852738"/>
            <a:ext cx="6567488" cy="1485900"/>
            <a:chOff x="981" y="2931"/>
            <a:chExt cx="4137" cy="936"/>
          </a:xfrm>
        </p:grpSpPr>
        <p:sp>
          <p:nvSpPr>
            <p:cNvPr id="48133" name="Line 4">
              <a:extLst>
                <a:ext uri="{FF2B5EF4-FFF2-40B4-BE49-F238E27FC236}">
                  <a16:creationId xmlns:a16="http://schemas.microsoft.com/office/drawing/2014/main" id="{DC84EB0C-8CFC-4B8B-A294-1F4845343F8B}"/>
                </a:ext>
              </a:extLst>
            </p:cNvPr>
            <p:cNvSpPr>
              <a:spLocks noChangeShapeType="1"/>
            </p:cNvSpPr>
            <p:nvPr/>
          </p:nvSpPr>
          <p:spPr bwMode="auto">
            <a:xfrm>
              <a:off x="1768" y="3028"/>
              <a:ext cx="159" cy="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34" name="Oval 5">
              <a:extLst>
                <a:ext uri="{FF2B5EF4-FFF2-40B4-BE49-F238E27FC236}">
                  <a16:creationId xmlns:a16="http://schemas.microsoft.com/office/drawing/2014/main" id="{0AE60AC6-6AA5-445C-8EBC-939C1399DD29}"/>
                </a:ext>
              </a:extLst>
            </p:cNvPr>
            <p:cNvSpPr>
              <a:spLocks noChangeArrowheads="1"/>
            </p:cNvSpPr>
            <p:nvPr/>
          </p:nvSpPr>
          <p:spPr bwMode="auto">
            <a:xfrm>
              <a:off x="981" y="3006"/>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35" name="Oval 6">
              <a:extLst>
                <a:ext uri="{FF2B5EF4-FFF2-40B4-BE49-F238E27FC236}">
                  <a16:creationId xmlns:a16="http://schemas.microsoft.com/office/drawing/2014/main" id="{A9463559-D152-4653-A7C1-0520EA3835DF}"/>
                </a:ext>
              </a:extLst>
            </p:cNvPr>
            <p:cNvSpPr>
              <a:spLocks noChangeArrowheads="1"/>
            </p:cNvSpPr>
            <p:nvPr/>
          </p:nvSpPr>
          <p:spPr bwMode="auto">
            <a:xfrm>
              <a:off x="1752" y="3006"/>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36" name="Oval 9">
              <a:extLst>
                <a:ext uri="{FF2B5EF4-FFF2-40B4-BE49-F238E27FC236}">
                  <a16:creationId xmlns:a16="http://schemas.microsoft.com/office/drawing/2014/main" id="{48C84AE5-8F2B-4175-9C1A-38DDD1838CF8}"/>
                </a:ext>
              </a:extLst>
            </p:cNvPr>
            <p:cNvSpPr>
              <a:spLocks noChangeArrowheads="1"/>
            </p:cNvSpPr>
            <p:nvPr/>
          </p:nvSpPr>
          <p:spPr bwMode="auto">
            <a:xfrm>
              <a:off x="1928" y="3611"/>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37" name="Oval 11">
              <a:extLst>
                <a:ext uri="{FF2B5EF4-FFF2-40B4-BE49-F238E27FC236}">
                  <a16:creationId xmlns:a16="http://schemas.microsoft.com/office/drawing/2014/main" id="{19F453FC-8264-43BC-A81F-1AAE128C85D5}"/>
                </a:ext>
              </a:extLst>
            </p:cNvPr>
            <p:cNvSpPr>
              <a:spLocks noChangeArrowheads="1"/>
            </p:cNvSpPr>
            <p:nvPr/>
          </p:nvSpPr>
          <p:spPr bwMode="auto">
            <a:xfrm>
              <a:off x="981" y="3822"/>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38" name="Line 13">
              <a:extLst>
                <a:ext uri="{FF2B5EF4-FFF2-40B4-BE49-F238E27FC236}">
                  <a16:creationId xmlns:a16="http://schemas.microsoft.com/office/drawing/2014/main" id="{C7263589-4612-49AC-914E-DD0B1033CF83}"/>
                </a:ext>
              </a:extLst>
            </p:cNvPr>
            <p:cNvSpPr>
              <a:spLocks noChangeShapeType="1"/>
            </p:cNvSpPr>
            <p:nvPr/>
          </p:nvSpPr>
          <p:spPr bwMode="auto">
            <a:xfrm>
              <a:off x="1002" y="3052"/>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39" name="Line 14">
              <a:extLst>
                <a:ext uri="{FF2B5EF4-FFF2-40B4-BE49-F238E27FC236}">
                  <a16:creationId xmlns:a16="http://schemas.microsoft.com/office/drawing/2014/main" id="{F8315516-4A63-459A-97C1-C48C4E8C0114}"/>
                </a:ext>
              </a:extLst>
            </p:cNvPr>
            <p:cNvSpPr>
              <a:spLocks noChangeShapeType="1"/>
            </p:cNvSpPr>
            <p:nvPr/>
          </p:nvSpPr>
          <p:spPr bwMode="auto">
            <a:xfrm>
              <a:off x="997" y="3028"/>
              <a:ext cx="7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0" name="Line 15">
              <a:extLst>
                <a:ext uri="{FF2B5EF4-FFF2-40B4-BE49-F238E27FC236}">
                  <a16:creationId xmlns:a16="http://schemas.microsoft.com/office/drawing/2014/main" id="{BE31E11D-DC61-4346-9C3E-3518D4AE0A3D}"/>
                </a:ext>
              </a:extLst>
            </p:cNvPr>
            <p:cNvSpPr>
              <a:spLocks noChangeShapeType="1"/>
            </p:cNvSpPr>
            <p:nvPr/>
          </p:nvSpPr>
          <p:spPr bwMode="auto">
            <a:xfrm flipV="1">
              <a:off x="1020" y="3657"/>
              <a:ext cx="907"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1" name="Line 16">
              <a:extLst>
                <a:ext uri="{FF2B5EF4-FFF2-40B4-BE49-F238E27FC236}">
                  <a16:creationId xmlns:a16="http://schemas.microsoft.com/office/drawing/2014/main" id="{EFB8ECE8-2EFE-4B8B-9378-999C4A0B6862}"/>
                </a:ext>
              </a:extLst>
            </p:cNvPr>
            <p:cNvSpPr>
              <a:spLocks noChangeShapeType="1"/>
            </p:cNvSpPr>
            <p:nvPr/>
          </p:nvSpPr>
          <p:spPr bwMode="auto">
            <a:xfrm flipH="1">
              <a:off x="3184" y="2976"/>
              <a:ext cx="272"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2" name="Oval 17">
              <a:extLst>
                <a:ext uri="{FF2B5EF4-FFF2-40B4-BE49-F238E27FC236}">
                  <a16:creationId xmlns:a16="http://schemas.microsoft.com/office/drawing/2014/main" id="{4F814BBA-A58E-4987-810B-F96AAA320A5B}"/>
                </a:ext>
              </a:extLst>
            </p:cNvPr>
            <p:cNvSpPr>
              <a:spLocks noChangeArrowheads="1"/>
            </p:cNvSpPr>
            <p:nvPr/>
          </p:nvSpPr>
          <p:spPr bwMode="auto">
            <a:xfrm>
              <a:off x="2637" y="2954"/>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43" name="Oval 18">
              <a:extLst>
                <a:ext uri="{FF2B5EF4-FFF2-40B4-BE49-F238E27FC236}">
                  <a16:creationId xmlns:a16="http://schemas.microsoft.com/office/drawing/2014/main" id="{58D5CA24-D078-4EE4-BD10-C6FDEEB850D7}"/>
                </a:ext>
              </a:extLst>
            </p:cNvPr>
            <p:cNvSpPr>
              <a:spLocks noChangeArrowheads="1"/>
            </p:cNvSpPr>
            <p:nvPr/>
          </p:nvSpPr>
          <p:spPr bwMode="auto">
            <a:xfrm>
              <a:off x="3168" y="3414"/>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44" name="Oval 21">
              <a:extLst>
                <a:ext uri="{FF2B5EF4-FFF2-40B4-BE49-F238E27FC236}">
                  <a16:creationId xmlns:a16="http://schemas.microsoft.com/office/drawing/2014/main" id="{E6EDC706-D819-4731-BCCA-AEDDE9B13C49}"/>
                </a:ext>
              </a:extLst>
            </p:cNvPr>
            <p:cNvSpPr>
              <a:spLocks noChangeArrowheads="1"/>
            </p:cNvSpPr>
            <p:nvPr/>
          </p:nvSpPr>
          <p:spPr bwMode="auto">
            <a:xfrm>
              <a:off x="2637" y="3770"/>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45" name="Line 23">
              <a:extLst>
                <a:ext uri="{FF2B5EF4-FFF2-40B4-BE49-F238E27FC236}">
                  <a16:creationId xmlns:a16="http://schemas.microsoft.com/office/drawing/2014/main" id="{CCCA842B-60B9-47FF-8209-CFCF67A73D8E}"/>
                </a:ext>
              </a:extLst>
            </p:cNvPr>
            <p:cNvSpPr>
              <a:spLocks noChangeShapeType="1"/>
            </p:cNvSpPr>
            <p:nvPr/>
          </p:nvSpPr>
          <p:spPr bwMode="auto">
            <a:xfrm>
              <a:off x="2658" y="3000"/>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6" name="Line 24">
              <a:extLst>
                <a:ext uri="{FF2B5EF4-FFF2-40B4-BE49-F238E27FC236}">
                  <a16:creationId xmlns:a16="http://schemas.microsoft.com/office/drawing/2014/main" id="{4E24638F-B607-4E63-A0E8-5B1B9F271751}"/>
                </a:ext>
              </a:extLst>
            </p:cNvPr>
            <p:cNvSpPr>
              <a:spLocks noChangeShapeType="1"/>
            </p:cNvSpPr>
            <p:nvPr/>
          </p:nvSpPr>
          <p:spPr bwMode="auto">
            <a:xfrm>
              <a:off x="2653" y="2976"/>
              <a:ext cx="545"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7" name="Line 25">
              <a:extLst>
                <a:ext uri="{FF2B5EF4-FFF2-40B4-BE49-F238E27FC236}">
                  <a16:creationId xmlns:a16="http://schemas.microsoft.com/office/drawing/2014/main" id="{E2641F98-AEF9-4E02-8C58-C8B116EF6F85}"/>
                </a:ext>
              </a:extLst>
            </p:cNvPr>
            <p:cNvSpPr>
              <a:spLocks noChangeShapeType="1"/>
            </p:cNvSpPr>
            <p:nvPr/>
          </p:nvSpPr>
          <p:spPr bwMode="auto">
            <a:xfrm flipV="1">
              <a:off x="2676" y="3430"/>
              <a:ext cx="522" cy="3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8" name="Line 27">
              <a:extLst>
                <a:ext uri="{FF2B5EF4-FFF2-40B4-BE49-F238E27FC236}">
                  <a16:creationId xmlns:a16="http://schemas.microsoft.com/office/drawing/2014/main" id="{4553A4C2-982B-4C6B-B8CB-62DD335B1899}"/>
                </a:ext>
              </a:extLst>
            </p:cNvPr>
            <p:cNvSpPr>
              <a:spLocks noChangeShapeType="1"/>
            </p:cNvSpPr>
            <p:nvPr/>
          </p:nvSpPr>
          <p:spPr bwMode="auto">
            <a:xfrm>
              <a:off x="4876" y="2931"/>
              <a:ext cx="227" cy="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49" name="Oval 28">
              <a:extLst>
                <a:ext uri="{FF2B5EF4-FFF2-40B4-BE49-F238E27FC236}">
                  <a16:creationId xmlns:a16="http://schemas.microsoft.com/office/drawing/2014/main" id="{E587676C-A1C9-4838-9A49-13390C82913E}"/>
                </a:ext>
              </a:extLst>
            </p:cNvPr>
            <p:cNvSpPr>
              <a:spLocks noChangeArrowheads="1"/>
            </p:cNvSpPr>
            <p:nvPr/>
          </p:nvSpPr>
          <p:spPr bwMode="auto">
            <a:xfrm>
              <a:off x="4558" y="3113"/>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0" name="Oval 29">
              <a:extLst>
                <a:ext uri="{FF2B5EF4-FFF2-40B4-BE49-F238E27FC236}">
                  <a16:creationId xmlns:a16="http://schemas.microsoft.com/office/drawing/2014/main" id="{45C6BC2D-4BE4-4BDF-B93D-2F428198F950}"/>
                </a:ext>
              </a:extLst>
            </p:cNvPr>
            <p:cNvSpPr>
              <a:spLocks noChangeArrowheads="1"/>
            </p:cNvSpPr>
            <p:nvPr/>
          </p:nvSpPr>
          <p:spPr bwMode="auto">
            <a:xfrm>
              <a:off x="4558" y="3430"/>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1" name="Oval 30">
              <a:extLst>
                <a:ext uri="{FF2B5EF4-FFF2-40B4-BE49-F238E27FC236}">
                  <a16:creationId xmlns:a16="http://schemas.microsoft.com/office/drawing/2014/main" id="{857DE0A4-E4E6-4DD2-B7B0-FA7CD3F94FDA}"/>
                </a:ext>
              </a:extLst>
            </p:cNvPr>
            <p:cNvSpPr>
              <a:spLocks noChangeArrowheads="1"/>
            </p:cNvSpPr>
            <p:nvPr/>
          </p:nvSpPr>
          <p:spPr bwMode="auto">
            <a:xfrm>
              <a:off x="5073" y="3740"/>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2" name="Oval 31">
              <a:extLst>
                <a:ext uri="{FF2B5EF4-FFF2-40B4-BE49-F238E27FC236}">
                  <a16:creationId xmlns:a16="http://schemas.microsoft.com/office/drawing/2014/main" id="{910FD042-6BAB-4401-9A21-174FFA4F1302}"/>
                </a:ext>
              </a:extLst>
            </p:cNvPr>
            <p:cNvSpPr>
              <a:spLocks noChangeArrowheads="1"/>
            </p:cNvSpPr>
            <p:nvPr/>
          </p:nvSpPr>
          <p:spPr bwMode="auto">
            <a:xfrm>
              <a:off x="4089" y="3725"/>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3" name="Line 32">
              <a:extLst>
                <a:ext uri="{FF2B5EF4-FFF2-40B4-BE49-F238E27FC236}">
                  <a16:creationId xmlns:a16="http://schemas.microsoft.com/office/drawing/2014/main" id="{F165967E-19B9-4D5C-A16A-E1C75C61FD8F}"/>
                </a:ext>
              </a:extLst>
            </p:cNvPr>
            <p:cNvSpPr>
              <a:spLocks noChangeShapeType="1"/>
            </p:cNvSpPr>
            <p:nvPr/>
          </p:nvSpPr>
          <p:spPr bwMode="auto">
            <a:xfrm>
              <a:off x="4110" y="2955"/>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54" name="Line 33">
              <a:extLst>
                <a:ext uri="{FF2B5EF4-FFF2-40B4-BE49-F238E27FC236}">
                  <a16:creationId xmlns:a16="http://schemas.microsoft.com/office/drawing/2014/main" id="{6A574423-7749-4769-98C6-809C097290CE}"/>
                </a:ext>
              </a:extLst>
            </p:cNvPr>
            <p:cNvSpPr>
              <a:spLocks noChangeShapeType="1"/>
            </p:cNvSpPr>
            <p:nvPr/>
          </p:nvSpPr>
          <p:spPr bwMode="auto">
            <a:xfrm>
              <a:off x="4105" y="2955"/>
              <a:ext cx="7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55" name="Line 34">
              <a:extLst>
                <a:ext uri="{FF2B5EF4-FFF2-40B4-BE49-F238E27FC236}">
                  <a16:creationId xmlns:a16="http://schemas.microsoft.com/office/drawing/2014/main" id="{9DE3911B-534A-4175-8D27-32F9D0599C21}"/>
                </a:ext>
              </a:extLst>
            </p:cNvPr>
            <p:cNvSpPr>
              <a:spLocks noChangeShapeType="1"/>
            </p:cNvSpPr>
            <p:nvPr/>
          </p:nvSpPr>
          <p:spPr bwMode="auto">
            <a:xfrm>
              <a:off x="4128" y="3741"/>
              <a:ext cx="929" cy="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56" name="Oval 35">
              <a:extLst>
                <a:ext uri="{FF2B5EF4-FFF2-40B4-BE49-F238E27FC236}">
                  <a16:creationId xmlns:a16="http://schemas.microsoft.com/office/drawing/2014/main" id="{504E87A6-4C62-4E41-8D8D-9A47673696B2}"/>
                </a:ext>
              </a:extLst>
            </p:cNvPr>
            <p:cNvSpPr>
              <a:spLocks noChangeArrowheads="1"/>
            </p:cNvSpPr>
            <p:nvPr/>
          </p:nvSpPr>
          <p:spPr bwMode="auto">
            <a:xfrm>
              <a:off x="4089" y="2931"/>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7" name="Oval 36">
              <a:extLst>
                <a:ext uri="{FF2B5EF4-FFF2-40B4-BE49-F238E27FC236}">
                  <a16:creationId xmlns:a16="http://schemas.microsoft.com/office/drawing/2014/main" id="{9B1C4DFF-1D17-41DD-A6FD-AEFC03E0882F}"/>
                </a:ext>
              </a:extLst>
            </p:cNvPr>
            <p:cNvSpPr>
              <a:spLocks noChangeArrowheads="1"/>
            </p:cNvSpPr>
            <p:nvPr/>
          </p:nvSpPr>
          <p:spPr bwMode="auto">
            <a:xfrm>
              <a:off x="4846" y="2931"/>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8158" name="Line 37">
              <a:extLst>
                <a:ext uri="{FF2B5EF4-FFF2-40B4-BE49-F238E27FC236}">
                  <a16:creationId xmlns:a16="http://schemas.microsoft.com/office/drawing/2014/main" id="{6A923BE1-55D7-43E9-BB4A-321E5965FB46}"/>
                </a:ext>
              </a:extLst>
            </p:cNvPr>
            <p:cNvSpPr>
              <a:spLocks noChangeShapeType="1"/>
            </p:cNvSpPr>
            <p:nvPr/>
          </p:nvSpPr>
          <p:spPr bwMode="auto">
            <a:xfrm flipV="1">
              <a:off x="4105" y="3430"/>
              <a:ext cx="45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59" name="Line 38">
              <a:extLst>
                <a:ext uri="{FF2B5EF4-FFF2-40B4-BE49-F238E27FC236}">
                  <a16:creationId xmlns:a16="http://schemas.microsoft.com/office/drawing/2014/main" id="{3003ABC7-3F74-4AC9-9CF7-27F1D06599C3}"/>
                </a:ext>
              </a:extLst>
            </p:cNvPr>
            <p:cNvSpPr>
              <a:spLocks noChangeShapeType="1"/>
            </p:cNvSpPr>
            <p:nvPr/>
          </p:nvSpPr>
          <p:spPr bwMode="auto">
            <a:xfrm>
              <a:off x="4604" y="3430"/>
              <a:ext cx="499"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60" name="Line 39">
              <a:extLst>
                <a:ext uri="{FF2B5EF4-FFF2-40B4-BE49-F238E27FC236}">
                  <a16:creationId xmlns:a16="http://schemas.microsoft.com/office/drawing/2014/main" id="{F2994B32-E1B8-47A4-B42B-A8C93E36436F}"/>
                </a:ext>
              </a:extLst>
            </p:cNvPr>
            <p:cNvSpPr>
              <a:spLocks noChangeShapeType="1"/>
            </p:cNvSpPr>
            <p:nvPr/>
          </p:nvSpPr>
          <p:spPr bwMode="auto">
            <a:xfrm flipV="1">
              <a:off x="4105" y="3158"/>
              <a:ext cx="453" cy="5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61" name="Line 40">
              <a:extLst>
                <a:ext uri="{FF2B5EF4-FFF2-40B4-BE49-F238E27FC236}">
                  <a16:creationId xmlns:a16="http://schemas.microsoft.com/office/drawing/2014/main" id="{F1D1CA27-D5C2-42CB-AA34-D9B0B9DE2B15}"/>
                </a:ext>
              </a:extLst>
            </p:cNvPr>
            <p:cNvSpPr>
              <a:spLocks noChangeShapeType="1"/>
            </p:cNvSpPr>
            <p:nvPr/>
          </p:nvSpPr>
          <p:spPr bwMode="auto">
            <a:xfrm>
              <a:off x="4604" y="3113"/>
              <a:ext cx="499" cy="6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8162" name="Oval 41">
              <a:extLst>
                <a:ext uri="{FF2B5EF4-FFF2-40B4-BE49-F238E27FC236}">
                  <a16:creationId xmlns:a16="http://schemas.microsoft.com/office/drawing/2014/main" id="{EB9420A3-B89C-4EC7-9B87-8AB0BCA2BBCA}"/>
                </a:ext>
              </a:extLst>
            </p:cNvPr>
            <p:cNvSpPr>
              <a:spLocks noChangeArrowheads="1"/>
            </p:cNvSpPr>
            <p:nvPr/>
          </p:nvSpPr>
          <p:spPr bwMode="auto">
            <a:xfrm>
              <a:off x="3432" y="2955"/>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FA8606F-82FE-49E9-A9C0-13D12815AB1B}"/>
              </a:ext>
            </a:extLst>
          </p:cNvPr>
          <p:cNvSpPr>
            <a:spLocks noGrp="1"/>
          </p:cNvSpPr>
          <p:nvPr>
            <p:ph type="title"/>
          </p:nvPr>
        </p:nvSpPr>
        <p:spPr>
          <a:xfrm>
            <a:off x="462860" y="316116"/>
            <a:ext cx="10367892" cy="1143000"/>
          </a:xfrm>
        </p:spPr>
        <p:txBody>
          <a:bodyPr anchor="t">
            <a:normAutofit fontScale="90000"/>
          </a:bodyPr>
          <a:lstStyle/>
          <a:p>
            <a:r>
              <a:rPr lang="pt-BR" b="1" dirty="0"/>
              <a:t>Condições para a existência de ciclos e caminhos de Euler:</a:t>
            </a:r>
            <a:br>
              <a:rPr lang="pt-BR" b="1" dirty="0"/>
            </a:br>
            <a:endParaRPr lang="pt-BR" altLang="pt-BR" b="1" dirty="0"/>
          </a:p>
        </p:txBody>
      </p:sp>
      <p:sp>
        <p:nvSpPr>
          <p:cNvPr id="49155" name="Rectangle 3">
            <a:extLst>
              <a:ext uri="{FF2B5EF4-FFF2-40B4-BE49-F238E27FC236}">
                <a16:creationId xmlns:a16="http://schemas.microsoft.com/office/drawing/2014/main" id="{11CB45F9-AF3A-4025-B316-85000BEB2507}"/>
              </a:ext>
            </a:extLst>
          </p:cNvPr>
          <p:cNvSpPr>
            <a:spLocks noGrp="1"/>
          </p:cNvSpPr>
          <p:nvPr>
            <p:ph idx="1"/>
          </p:nvPr>
        </p:nvSpPr>
        <p:spPr>
          <a:xfrm>
            <a:off x="588968" y="1987825"/>
            <a:ext cx="10367893" cy="3482181"/>
          </a:xfrm>
        </p:spPr>
        <p:txBody>
          <a:bodyPr/>
          <a:lstStyle/>
          <a:p>
            <a:r>
              <a:rPr lang="pt-BR" sz="2000" dirty="0"/>
              <a:t>Para que um grafo conexo possua um ciclo ou caminho de Euler, é necessário que:</a:t>
            </a:r>
          </a:p>
          <a:p>
            <a:endParaRPr lang="pt-BR" sz="2000" b="1" dirty="0"/>
          </a:p>
          <a:p>
            <a:r>
              <a:rPr lang="pt-BR" sz="2000" b="1" dirty="0"/>
              <a:t>Ciclo de Euler:</a:t>
            </a:r>
            <a:r>
              <a:rPr lang="pt-BR" sz="2000" dirty="0"/>
              <a:t> Todos os vértices do grafo tenham grau par.</a:t>
            </a:r>
          </a:p>
          <a:p>
            <a:endParaRPr lang="pt-BR" sz="2000" b="1" dirty="0"/>
          </a:p>
          <a:p>
            <a:r>
              <a:rPr lang="pt-BR" sz="2000" b="1" dirty="0"/>
              <a:t>Caminho de Euler:</a:t>
            </a:r>
            <a:r>
              <a:rPr lang="pt-BR" sz="2000" dirty="0"/>
              <a:t> Exatamente dois vértices do grafo tenham grau ímpar, e os demais tenham grau par.</a:t>
            </a:r>
          </a:p>
          <a:p>
            <a:pPr eaLnBrk="1" hangingPunct="1"/>
            <a:endParaRPr lang="pt-BR" altLang="pt-BR" sz="1600" dirty="0"/>
          </a:p>
          <a:p>
            <a:pPr eaLnBrk="1" hangingPunct="1"/>
            <a:endParaRPr lang="pt-BR" altLang="pt-BR" dirty="0"/>
          </a:p>
        </p:txBody>
      </p:sp>
    </p:spTree>
    <p:extLst>
      <p:ext uri="{BB962C8B-B14F-4D97-AF65-F5344CB8AC3E}">
        <p14:creationId xmlns:p14="http://schemas.microsoft.com/office/powerpoint/2010/main" val="2810252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FD504E5-F123-452D-9715-89382C4F29B3}"/>
              </a:ext>
            </a:extLst>
          </p:cNvPr>
          <p:cNvSpPr>
            <a:spLocks noGrp="1"/>
          </p:cNvSpPr>
          <p:nvPr>
            <p:ph type="title"/>
          </p:nvPr>
        </p:nvSpPr>
        <p:spPr>
          <a:xfrm>
            <a:off x="889868" y="455604"/>
            <a:ext cx="8229600" cy="739775"/>
          </a:xfrm>
        </p:spPr>
        <p:txBody>
          <a:bodyPr vert="horz" lIns="90488" tIns="44450" rIns="90488" bIns="44450" rtlCol="0" anchor="b">
            <a:normAutofit/>
          </a:bodyPr>
          <a:lstStyle/>
          <a:p>
            <a:pPr eaLnBrk="1" hangingPunct="1"/>
            <a:r>
              <a:rPr lang="pt-BR" altLang="pt-BR" sz="4100" b="1" dirty="0"/>
              <a:t> Grafo </a:t>
            </a:r>
            <a:r>
              <a:rPr lang="pt-BR" altLang="pt-BR" sz="4100" b="1" dirty="0" err="1"/>
              <a:t>Euleriano</a:t>
            </a:r>
            <a:endParaRPr lang="pt-BR" altLang="pt-BR" sz="4100" b="1" dirty="0"/>
          </a:p>
        </p:txBody>
      </p:sp>
      <p:sp>
        <p:nvSpPr>
          <p:cNvPr id="47107" name="Rectangle 3">
            <a:extLst>
              <a:ext uri="{FF2B5EF4-FFF2-40B4-BE49-F238E27FC236}">
                <a16:creationId xmlns:a16="http://schemas.microsoft.com/office/drawing/2014/main" id="{EBABBF1B-1C7F-4F7C-9540-2797E6AA389A}"/>
              </a:ext>
            </a:extLst>
          </p:cNvPr>
          <p:cNvSpPr>
            <a:spLocks noGrp="1"/>
          </p:cNvSpPr>
          <p:nvPr>
            <p:ph idx="1"/>
          </p:nvPr>
        </p:nvSpPr>
        <p:spPr>
          <a:xfrm>
            <a:off x="1215355" y="1505377"/>
            <a:ext cx="9995983" cy="2239962"/>
          </a:xfrm>
        </p:spPr>
        <p:txBody>
          <a:bodyPr vert="horz" lIns="90488" tIns="44450" rIns="90488" bIns="44450" rtlCol="0">
            <a:normAutofit/>
          </a:bodyPr>
          <a:lstStyle/>
          <a:p>
            <a:pPr eaLnBrk="1" hangingPunct="1"/>
            <a:r>
              <a:rPr lang="pt-BR" altLang="pt-BR" dirty="0"/>
              <a:t>Dado o grafo abaixo, o caminho </a:t>
            </a:r>
            <a:r>
              <a:rPr lang="pt-BR" altLang="pt-BR" dirty="0">
                <a:solidFill>
                  <a:srgbClr val="FF0000"/>
                </a:solidFill>
              </a:rPr>
              <a:t>1-2-3-4-1-3</a:t>
            </a:r>
            <a:r>
              <a:rPr lang="pt-BR" altLang="pt-BR" dirty="0"/>
              <a:t> é um </a:t>
            </a:r>
            <a:r>
              <a:rPr lang="pt-BR" altLang="pt-BR" dirty="0">
                <a:solidFill>
                  <a:srgbClr val="FF0000"/>
                </a:solidFill>
              </a:rPr>
              <a:t>caminho </a:t>
            </a:r>
            <a:r>
              <a:rPr lang="pt-BR" altLang="pt-BR" dirty="0" err="1">
                <a:solidFill>
                  <a:srgbClr val="FF0000"/>
                </a:solidFill>
              </a:rPr>
              <a:t>euleriano</a:t>
            </a:r>
            <a:r>
              <a:rPr lang="pt-BR" altLang="pt-BR" dirty="0"/>
              <a:t>, porém </a:t>
            </a:r>
            <a:r>
              <a:rPr lang="pt-BR" altLang="pt-BR" dirty="0">
                <a:solidFill>
                  <a:srgbClr val="FF0000"/>
                </a:solidFill>
              </a:rPr>
              <a:t>não</a:t>
            </a:r>
            <a:r>
              <a:rPr lang="pt-BR" altLang="pt-BR" dirty="0"/>
              <a:t> é um </a:t>
            </a:r>
            <a:r>
              <a:rPr lang="pt-BR" altLang="pt-BR" dirty="0">
                <a:solidFill>
                  <a:srgbClr val="FF0000"/>
                </a:solidFill>
              </a:rPr>
              <a:t>ciclo </a:t>
            </a:r>
            <a:r>
              <a:rPr lang="pt-BR" altLang="pt-BR" dirty="0" err="1">
                <a:solidFill>
                  <a:srgbClr val="FF0000"/>
                </a:solidFill>
              </a:rPr>
              <a:t>euleriano</a:t>
            </a:r>
            <a:r>
              <a:rPr lang="pt-BR" altLang="pt-BR" dirty="0"/>
              <a:t>, já que os vértices de início e fim do caminho </a:t>
            </a:r>
            <a:r>
              <a:rPr lang="pt-BR" altLang="pt-BR" dirty="0">
                <a:solidFill>
                  <a:srgbClr val="FF0000"/>
                </a:solidFill>
              </a:rPr>
              <a:t>não</a:t>
            </a:r>
            <a:r>
              <a:rPr lang="pt-BR" altLang="pt-BR" dirty="0"/>
              <a:t> coincidem. Logo, este grafo </a:t>
            </a:r>
            <a:r>
              <a:rPr lang="pt-BR" altLang="pt-BR" dirty="0">
                <a:solidFill>
                  <a:srgbClr val="FF0000"/>
                </a:solidFill>
              </a:rPr>
              <a:t>não é </a:t>
            </a:r>
            <a:r>
              <a:rPr lang="pt-BR" altLang="pt-BR" dirty="0" err="1">
                <a:solidFill>
                  <a:srgbClr val="FF0000"/>
                </a:solidFill>
              </a:rPr>
              <a:t>euleriano</a:t>
            </a:r>
            <a:r>
              <a:rPr lang="pt-BR" altLang="pt-BR" dirty="0"/>
              <a:t>.</a:t>
            </a:r>
          </a:p>
        </p:txBody>
      </p:sp>
      <p:grpSp>
        <p:nvGrpSpPr>
          <p:cNvPr id="47108" name="Group 26">
            <a:extLst>
              <a:ext uri="{FF2B5EF4-FFF2-40B4-BE49-F238E27FC236}">
                <a16:creationId xmlns:a16="http://schemas.microsoft.com/office/drawing/2014/main" id="{EE85778C-9D49-4AEA-87F6-D16F2C43A647}"/>
              </a:ext>
            </a:extLst>
          </p:cNvPr>
          <p:cNvGrpSpPr>
            <a:grpSpLocks/>
          </p:cNvGrpSpPr>
          <p:nvPr/>
        </p:nvGrpSpPr>
        <p:grpSpPr bwMode="auto">
          <a:xfrm>
            <a:off x="2995752" y="3510723"/>
            <a:ext cx="3829050" cy="1924050"/>
            <a:chOff x="2445" y="2829"/>
            <a:chExt cx="1350" cy="813"/>
          </a:xfrm>
        </p:grpSpPr>
        <p:sp>
          <p:nvSpPr>
            <p:cNvPr id="47109" name="Oval 4">
              <a:extLst>
                <a:ext uri="{FF2B5EF4-FFF2-40B4-BE49-F238E27FC236}">
                  <a16:creationId xmlns:a16="http://schemas.microsoft.com/office/drawing/2014/main" id="{BD8C906C-BCAE-444E-B0B0-4BAE37D8A033}"/>
                </a:ext>
              </a:extLst>
            </p:cNvPr>
            <p:cNvSpPr>
              <a:spLocks noChangeArrowheads="1"/>
            </p:cNvSpPr>
            <p:nvPr/>
          </p:nvSpPr>
          <p:spPr bwMode="auto">
            <a:xfrm>
              <a:off x="2596" y="298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7110" name="Oval 5">
              <a:extLst>
                <a:ext uri="{FF2B5EF4-FFF2-40B4-BE49-F238E27FC236}">
                  <a16:creationId xmlns:a16="http://schemas.microsoft.com/office/drawing/2014/main" id="{9C9B5AAA-4BD1-464C-8F75-7D4C7E1F7AF3}"/>
                </a:ext>
              </a:extLst>
            </p:cNvPr>
            <p:cNvSpPr>
              <a:spLocks noChangeArrowheads="1"/>
            </p:cNvSpPr>
            <p:nvPr/>
          </p:nvSpPr>
          <p:spPr bwMode="auto">
            <a:xfrm>
              <a:off x="2596" y="346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7111" name="Oval 6">
              <a:extLst>
                <a:ext uri="{FF2B5EF4-FFF2-40B4-BE49-F238E27FC236}">
                  <a16:creationId xmlns:a16="http://schemas.microsoft.com/office/drawing/2014/main" id="{E48B93E9-CEA2-4AE2-8784-A66D15266671}"/>
                </a:ext>
              </a:extLst>
            </p:cNvPr>
            <p:cNvSpPr>
              <a:spLocks noChangeArrowheads="1"/>
            </p:cNvSpPr>
            <p:nvPr/>
          </p:nvSpPr>
          <p:spPr bwMode="auto">
            <a:xfrm>
              <a:off x="3460" y="298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7112" name="Oval 7">
              <a:extLst>
                <a:ext uri="{FF2B5EF4-FFF2-40B4-BE49-F238E27FC236}">
                  <a16:creationId xmlns:a16="http://schemas.microsoft.com/office/drawing/2014/main" id="{E6583585-1D66-4BE6-A2CE-A1D22958AE80}"/>
                </a:ext>
              </a:extLst>
            </p:cNvPr>
            <p:cNvSpPr>
              <a:spLocks noChangeArrowheads="1"/>
            </p:cNvSpPr>
            <p:nvPr/>
          </p:nvSpPr>
          <p:spPr bwMode="auto">
            <a:xfrm>
              <a:off x="3460" y="3460"/>
              <a:ext cx="88" cy="88"/>
            </a:xfrm>
            <a:prstGeom prst="ellipse">
              <a:avLst/>
            </a:prstGeom>
            <a:solidFill>
              <a:schemeClr val="tx1"/>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47113" name="Line 8">
              <a:extLst>
                <a:ext uri="{FF2B5EF4-FFF2-40B4-BE49-F238E27FC236}">
                  <a16:creationId xmlns:a16="http://schemas.microsoft.com/office/drawing/2014/main" id="{DA58665B-24E1-4185-B2B9-7AED014FD9D6}"/>
                </a:ext>
              </a:extLst>
            </p:cNvPr>
            <p:cNvSpPr>
              <a:spLocks noChangeShapeType="1"/>
            </p:cNvSpPr>
            <p:nvPr/>
          </p:nvSpPr>
          <p:spPr bwMode="auto">
            <a:xfrm>
              <a:off x="2640" y="3028"/>
              <a:ext cx="0" cy="5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7114" name="Line 9">
              <a:extLst>
                <a:ext uri="{FF2B5EF4-FFF2-40B4-BE49-F238E27FC236}">
                  <a16:creationId xmlns:a16="http://schemas.microsoft.com/office/drawing/2014/main" id="{594E579A-E667-43ED-88F9-EBABBD94789A}"/>
                </a:ext>
              </a:extLst>
            </p:cNvPr>
            <p:cNvSpPr>
              <a:spLocks noChangeShapeType="1"/>
            </p:cNvSpPr>
            <p:nvPr/>
          </p:nvSpPr>
          <p:spPr bwMode="auto">
            <a:xfrm>
              <a:off x="2644" y="3024"/>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7115" name="Line 10">
              <a:extLst>
                <a:ext uri="{FF2B5EF4-FFF2-40B4-BE49-F238E27FC236}">
                  <a16:creationId xmlns:a16="http://schemas.microsoft.com/office/drawing/2014/main" id="{C2E128CB-87AF-4236-8412-BCEDB5AA172C}"/>
                </a:ext>
              </a:extLst>
            </p:cNvPr>
            <p:cNvSpPr>
              <a:spLocks noChangeShapeType="1"/>
            </p:cNvSpPr>
            <p:nvPr/>
          </p:nvSpPr>
          <p:spPr bwMode="auto">
            <a:xfrm>
              <a:off x="2644" y="3504"/>
              <a:ext cx="8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7116" name="Line 11">
              <a:extLst>
                <a:ext uri="{FF2B5EF4-FFF2-40B4-BE49-F238E27FC236}">
                  <a16:creationId xmlns:a16="http://schemas.microsoft.com/office/drawing/2014/main" id="{9B8B18CB-7C37-447C-8EEE-856DE1A33BF7}"/>
                </a:ext>
              </a:extLst>
            </p:cNvPr>
            <p:cNvSpPr>
              <a:spLocks noChangeShapeType="1"/>
            </p:cNvSpPr>
            <p:nvPr/>
          </p:nvSpPr>
          <p:spPr bwMode="auto">
            <a:xfrm>
              <a:off x="3504" y="3028"/>
              <a:ext cx="0" cy="4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7117" name="Line 12">
              <a:extLst>
                <a:ext uri="{FF2B5EF4-FFF2-40B4-BE49-F238E27FC236}">
                  <a16:creationId xmlns:a16="http://schemas.microsoft.com/office/drawing/2014/main" id="{60588D41-1C5D-44D1-91EA-E47F6FFD029E}"/>
                </a:ext>
              </a:extLst>
            </p:cNvPr>
            <p:cNvSpPr>
              <a:spLocks noChangeShapeType="1"/>
            </p:cNvSpPr>
            <p:nvPr/>
          </p:nvSpPr>
          <p:spPr bwMode="auto">
            <a:xfrm>
              <a:off x="2644" y="3504"/>
              <a:ext cx="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47118" name="Line 13">
              <a:extLst>
                <a:ext uri="{FF2B5EF4-FFF2-40B4-BE49-F238E27FC236}">
                  <a16:creationId xmlns:a16="http://schemas.microsoft.com/office/drawing/2014/main" id="{ED05C32A-293E-45D4-8A48-F96434331215}"/>
                </a:ext>
              </a:extLst>
            </p:cNvPr>
            <p:cNvSpPr>
              <a:spLocks noChangeShapeType="1"/>
            </p:cNvSpPr>
            <p:nvPr/>
          </p:nvSpPr>
          <p:spPr bwMode="auto">
            <a:xfrm>
              <a:off x="2644" y="3028"/>
              <a:ext cx="856" cy="4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52238" name="Rectangle 14">
              <a:extLst>
                <a:ext uri="{FF2B5EF4-FFF2-40B4-BE49-F238E27FC236}">
                  <a16:creationId xmlns:a16="http://schemas.microsoft.com/office/drawing/2014/main" id="{3D89C389-89F8-406A-91E8-8CA1D1F2C16F}"/>
                </a:ext>
              </a:extLst>
            </p:cNvPr>
            <p:cNvSpPr>
              <a:spLocks noChangeArrowheads="1"/>
            </p:cNvSpPr>
            <p:nvPr/>
          </p:nvSpPr>
          <p:spPr bwMode="auto">
            <a:xfrm>
              <a:off x="2445" y="2829"/>
              <a:ext cx="246" cy="141"/>
            </a:xfrm>
            <a:prstGeom prst="rect">
              <a:avLst/>
            </a:prstGeom>
            <a:noFill/>
            <a:ln>
              <a:noFill/>
            </a:ln>
            <a:effectLst/>
          </p:spPr>
          <p:txBody>
            <a:bodyPr lIns="90488" tIns="44450" rIns="90488" bIns="44450">
              <a:spAutoFit/>
            </a:bodyPr>
            <a:lstStyle/>
            <a:p>
              <a:pPr>
                <a:spcBef>
                  <a:spcPct val="50000"/>
                </a:spcBef>
                <a:defRPr/>
              </a:pPr>
              <a:r>
                <a:rPr lang="pt-BR" sz="1600" i="1">
                  <a:effectLst>
                    <a:outerShdw blurRad="38100" dist="38100" dir="2700000" algn="tl">
                      <a:srgbClr val="C0C0C0"/>
                    </a:outerShdw>
                  </a:effectLst>
                  <a:latin typeface="Arial" charset="0"/>
                </a:rPr>
                <a:t>1</a:t>
              </a:r>
            </a:p>
          </p:txBody>
        </p:sp>
        <p:sp>
          <p:nvSpPr>
            <p:cNvPr id="52239" name="Rectangle 15">
              <a:extLst>
                <a:ext uri="{FF2B5EF4-FFF2-40B4-BE49-F238E27FC236}">
                  <a16:creationId xmlns:a16="http://schemas.microsoft.com/office/drawing/2014/main" id="{8BB58A5A-A091-4ED5-A04E-9B708DF14BCF}"/>
                </a:ext>
              </a:extLst>
            </p:cNvPr>
            <p:cNvSpPr>
              <a:spLocks noChangeArrowheads="1"/>
            </p:cNvSpPr>
            <p:nvPr/>
          </p:nvSpPr>
          <p:spPr bwMode="auto">
            <a:xfrm>
              <a:off x="2445" y="3453"/>
              <a:ext cx="246" cy="141"/>
            </a:xfrm>
            <a:prstGeom prst="rect">
              <a:avLst/>
            </a:prstGeom>
            <a:noFill/>
            <a:ln>
              <a:noFill/>
            </a:ln>
            <a:effectLst/>
          </p:spPr>
          <p:txBody>
            <a:bodyPr lIns="90488" tIns="44450" rIns="90488" bIns="44450">
              <a:spAutoFit/>
            </a:bodyPr>
            <a:lstStyle/>
            <a:p>
              <a:pPr>
                <a:spcBef>
                  <a:spcPct val="50000"/>
                </a:spcBef>
                <a:defRPr/>
              </a:pPr>
              <a:r>
                <a:rPr lang="pt-BR" sz="1600" i="1">
                  <a:effectLst>
                    <a:outerShdw blurRad="38100" dist="38100" dir="2700000" algn="tl">
                      <a:srgbClr val="C0C0C0"/>
                    </a:outerShdw>
                  </a:effectLst>
                  <a:latin typeface="Arial" charset="0"/>
                </a:rPr>
                <a:t>2</a:t>
              </a:r>
            </a:p>
          </p:txBody>
        </p:sp>
        <p:sp>
          <p:nvSpPr>
            <p:cNvPr id="52240" name="Rectangle 16">
              <a:extLst>
                <a:ext uri="{FF2B5EF4-FFF2-40B4-BE49-F238E27FC236}">
                  <a16:creationId xmlns:a16="http://schemas.microsoft.com/office/drawing/2014/main" id="{440A620E-120B-41C0-A4C3-ADA7C2EEA974}"/>
                </a:ext>
              </a:extLst>
            </p:cNvPr>
            <p:cNvSpPr>
              <a:spLocks noChangeArrowheads="1"/>
            </p:cNvSpPr>
            <p:nvPr/>
          </p:nvSpPr>
          <p:spPr bwMode="auto">
            <a:xfrm>
              <a:off x="3549" y="3501"/>
              <a:ext cx="246" cy="141"/>
            </a:xfrm>
            <a:prstGeom prst="rect">
              <a:avLst/>
            </a:prstGeom>
            <a:noFill/>
            <a:ln>
              <a:noFill/>
            </a:ln>
            <a:effectLst/>
          </p:spPr>
          <p:txBody>
            <a:bodyPr lIns="90488" tIns="44450" rIns="90488" bIns="44450">
              <a:spAutoFit/>
            </a:bodyPr>
            <a:lstStyle/>
            <a:p>
              <a:pPr>
                <a:spcBef>
                  <a:spcPct val="50000"/>
                </a:spcBef>
                <a:defRPr/>
              </a:pPr>
              <a:r>
                <a:rPr lang="pt-BR" sz="1600" i="1">
                  <a:effectLst>
                    <a:outerShdw blurRad="38100" dist="38100" dir="2700000" algn="tl">
                      <a:srgbClr val="C0C0C0"/>
                    </a:outerShdw>
                  </a:effectLst>
                  <a:latin typeface="Arial" charset="0"/>
                </a:rPr>
                <a:t>3</a:t>
              </a:r>
            </a:p>
          </p:txBody>
        </p:sp>
        <p:sp>
          <p:nvSpPr>
            <p:cNvPr id="52241" name="Rectangle 17">
              <a:extLst>
                <a:ext uri="{FF2B5EF4-FFF2-40B4-BE49-F238E27FC236}">
                  <a16:creationId xmlns:a16="http://schemas.microsoft.com/office/drawing/2014/main" id="{4E06B8EF-EF2A-4BC5-BF9C-2AB584AAD59E}"/>
                </a:ext>
              </a:extLst>
            </p:cNvPr>
            <p:cNvSpPr>
              <a:spLocks noChangeArrowheads="1"/>
            </p:cNvSpPr>
            <p:nvPr/>
          </p:nvSpPr>
          <p:spPr bwMode="auto">
            <a:xfrm>
              <a:off x="3501" y="2829"/>
              <a:ext cx="246" cy="141"/>
            </a:xfrm>
            <a:prstGeom prst="rect">
              <a:avLst/>
            </a:prstGeom>
            <a:noFill/>
            <a:ln>
              <a:noFill/>
            </a:ln>
            <a:effectLst/>
          </p:spPr>
          <p:txBody>
            <a:bodyPr lIns="90488" tIns="44450" rIns="90488" bIns="44450">
              <a:spAutoFit/>
            </a:bodyPr>
            <a:lstStyle/>
            <a:p>
              <a:pPr>
                <a:spcBef>
                  <a:spcPct val="50000"/>
                </a:spcBef>
                <a:defRPr/>
              </a:pPr>
              <a:r>
                <a:rPr lang="pt-BR" sz="1600" i="1">
                  <a:effectLst>
                    <a:outerShdw blurRad="38100" dist="38100" dir="2700000" algn="tl">
                      <a:srgbClr val="C0C0C0"/>
                    </a:outerShdw>
                  </a:effectLst>
                  <a:latin typeface="Arial" charset="0"/>
                </a:rPr>
                <a:t>4</a:t>
              </a:r>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FA8606F-82FE-49E9-A9C0-13D12815AB1B}"/>
              </a:ext>
            </a:extLst>
          </p:cNvPr>
          <p:cNvSpPr>
            <a:spLocks noGrp="1"/>
          </p:cNvSpPr>
          <p:nvPr>
            <p:ph type="title"/>
          </p:nvPr>
        </p:nvSpPr>
        <p:spPr>
          <a:xfrm>
            <a:off x="462860" y="316116"/>
            <a:ext cx="10367892" cy="1143000"/>
          </a:xfrm>
        </p:spPr>
        <p:txBody>
          <a:bodyPr anchor="t">
            <a:normAutofit fontScale="90000"/>
          </a:bodyPr>
          <a:lstStyle/>
          <a:p>
            <a:r>
              <a:rPr lang="pt-BR" b="1" dirty="0"/>
              <a:t>Problemas </a:t>
            </a:r>
            <a:r>
              <a:rPr lang="pt-BR" b="1" dirty="0" err="1"/>
              <a:t>Eulerianos</a:t>
            </a:r>
            <a:br>
              <a:rPr lang="pt-BR" b="1" dirty="0"/>
            </a:br>
            <a:endParaRPr lang="pt-BR" altLang="pt-BR" b="1" dirty="0"/>
          </a:p>
        </p:txBody>
      </p:sp>
      <p:sp>
        <p:nvSpPr>
          <p:cNvPr id="49155" name="Rectangle 3">
            <a:extLst>
              <a:ext uri="{FF2B5EF4-FFF2-40B4-BE49-F238E27FC236}">
                <a16:creationId xmlns:a16="http://schemas.microsoft.com/office/drawing/2014/main" id="{11CB45F9-AF3A-4025-B316-85000BEB2507}"/>
              </a:ext>
            </a:extLst>
          </p:cNvPr>
          <p:cNvSpPr>
            <a:spLocks noGrp="1"/>
          </p:cNvSpPr>
          <p:nvPr>
            <p:ph idx="1"/>
          </p:nvPr>
        </p:nvSpPr>
        <p:spPr>
          <a:xfrm>
            <a:off x="588968" y="1987825"/>
            <a:ext cx="10367893" cy="3482181"/>
          </a:xfrm>
        </p:spPr>
        <p:txBody>
          <a:bodyPr>
            <a:normAutofit fontScale="85000" lnSpcReduction="20000"/>
          </a:bodyPr>
          <a:lstStyle/>
          <a:p>
            <a:pPr marL="419100" indent="-382588"/>
            <a:r>
              <a:rPr lang="pt-BR" altLang="pt-BR" b="1" dirty="0"/>
              <a:t>Problema do Carteiro Chinês: </a:t>
            </a:r>
            <a:r>
              <a:rPr lang="pt-BR" altLang="pt-BR" dirty="0"/>
              <a:t>Encontrar a rota mais eficiente para cobrir todas as ruas de um mapa sem repetir, se possível.</a:t>
            </a:r>
          </a:p>
          <a:p>
            <a:pPr marL="419100" indent="-382588"/>
            <a:r>
              <a:rPr lang="pt-BR" altLang="pt-BR" b="1" dirty="0"/>
              <a:t>Desenho sem levantar o lápis: </a:t>
            </a:r>
            <a:r>
              <a:rPr lang="pt-BR" altLang="pt-BR" dirty="0"/>
              <a:t>Traçar figuras geométricas compostas por arestas uma única vez.</a:t>
            </a:r>
          </a:p>
          <a:p>
            <a:pPr marL="419100" indent="-382588"/>
            <a:r>
              <a:rPr lang="pt-BR" altLang="pt-BR" dirty="0"/>
              <a:t>Variações do problema do carteiro chinês aparecem em diversas aplicações:</a:t>
            </a:r>
          </a:p>
          <a:p>
            <a:pPr marL="722313" lvl="1" indent="-273050"/>
            <a:r>
              <a:rPr lang="pt-BR" altLang="pt-BR" dirty="0"/>
              <a:t>Coleta de lixo</a:t>
            </a:r>
          </a:p>
          <a:p>
            <a:pPr marL="722313" lvl="1" indent="-273050"/>
            <a:r>
              <a:rPr lang="pt-BR" altLang="pt-BR" dirty="0"/>
              <a:t>Limpeza das ruas </a:t>
            </a:r>
          </a:p>
          <a:p>
            <a:pPr marL="722313" lvl="1" indent="-273050"/>
            <a:r>
              <a:rPr lang="pt-BR" altLang="pt-BR" dirty="0"/>
              <a:t>Pintura de linhas no centro das ruas</a:t>
            </a:r>
          </a:p>
          <a:p>
            <a:pPr marL="722313" lvl="1" indent="-273050"/>
            <a:r>
              <a:rPr lang="pt-BR" altLang="pt-BR" dirty="0"/>
              <a:t>Patrulhamento da polícia</a:t>
            </a:r>
          </a:p>
          <a:p>
            <a:pPr marL="722313" lvl="1" indent="-273050"/>
            <a:r>
              <a:rPr lang="pt-BR" altLang="pt-BR" dirty="0"/>
              <a:t>Pesquisa de opinião e recenseamento</a:t>
            </a:r>
          </a:p>
          <a:p>
            <a:pPr marL="722313" lvl="1" indent="-273050"/>
            <a:r>
              <a:rPr lang="pt-BR" altLang="pt-BR" dirty="0"/>
              <a:t>Plotagem de uma rede</a:t>
            </a:r>
          </a:p>
          <a:p>
            <a:pPr eaLnBrk="1" hangingPunct="1"/>
            <a:endParaRPr lang="pt-BR" altLang="pt-BR" dirty="0"/>
          </a:p>
        </p:txBody>
      </p:sp>
      <p:pic>
        <p:nvPicPr>
          <p:cNvPr id="2" name="Imagem 1">
            <a:extLst>
              <a:ext uri="{FF2B5EF4-FFF2-40B4-BE49-F238E27FC236}">
                <a16:creationId xmlns:a16="http://schemas.microsoft.com/office/drawing/2014/main" id="{4B3087B1-16F2-4F8A-8652-8124E6E6FA28}"/>
              </a:ext>
            </a:extLst>
          </p:cNvPr>
          <p:cNvPicPr>
            <a:picLocks noChangeAspect="1"/>
          </p:cNvPicPr>
          <p:nvPr/>
        </p:nvPicPr>
        <p:blipFill>
          <a:blip r:embed="rId2"/>
          <a:stretch>
            <a:fillRect/>
          </a:stretch>
        </p:blipFill>
        <p:spPr>
          <a:xfrm>
            <a:off x="5233544" y="5011479"/>
            <a:ext cx="6677945" cy="1665768"/>
          </a:xfrm>
          <a:prstGeom prst="rect">
            <a:avLst/>
          </a:prstGeom>
        </p:spPr>
      </p:pic>
    </p:spTree>
    <p:extLst>
      <p:ext uri="{BB962C8B-B14F-4D97-AF65-F5344CB8AC3E}">
        <p14:creationId xmlns:p14="http://schemas.microsoft.com/office/powerpoint/2010/main" val="2037240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FA8606F-82FE-49E9-A9C0-13D12815AB1B}"/>
              </a:ext>
            </a:extLst>
          </p:cNvPr>
          <p:cNvSpPr>
            <a:spLocks noGrp="1"/>
          </p:cNvSpPr>
          <p:nvPr>
            <p:ph type="title"/>
          </p:nvPr>
        </p:nvSpPr>
        <p:spPr>
          <a:xfrm>
            <a:off x="462860" y="316116"/>
            <a:ext cx="10367892" cy="1143000"/>
          </a:xfrm>
        </p:spPr>
        <p:txBody>
          <a:bodyPr anchor="t">
            <a:normAutofit fontScale="90000"/>
          </a:bodyPr>
          <a:lstStyle/>
          <a:p>
            <a:r>
              <a:rPr lang="pt-BR" b="1" dirty="0"/>
              <a:t>Caminho e Ciclo Hamiltoniano</a:t>
            </a:r>
            <a:br>
              <a:rPr lang="pt-BR" b="1" dirty="0"/>
            </a:br>
            <a:endParaRPr lang="pt-BR" altLang="pt-BR" b="1" dirty="0"/>
          </a:p>
        </p:txBody>
      </p:sp>
      <p:sp>
        <p:nvSpPr>
          <p:cNvPr id="49155" name="Rectangle 3">
            <a:extLst>
              <a:ext uri="{FF2B5EF4-FFF2-40B4-BE49-F238E27FC236}">
                <a16:creationId xmlns:a16="http://schemas.microsoft.com/office/drawing/2014/main" id="{11CB45F9-AF3A-4025-B316-85000BEB2507}"/>
              </a:ext>
            </a:extLst>
          </p:cNvPr>
          <p:cNvSpPr>
            <a:spLocks noGrp="1"/>
          </p:cNvSpPr>
          <p:nvPr>
            <p:ph idx="1"/>
          </p:nvPr>
        </p:nvSpPr>
        <p:spPr>
          <a:xfrm>
            <a:off x="588968" y="1987825"/>
            <a:ext cx="10367893" cy="3482181"/>
          </a:xfrm>
        </p:spPr>
        <p:txBody>
          <a:bodyPr>
            <a:normAutofit fontScale="92500" lnSpcReduction="20000"/>
          </a:bodyPr>
          <a:lstStyle/>
          <a:p>
            <a:r>
              <a:rPr lang="pt-BR" dirty="0"/>
              <a:t>Em teoria dos grafos, um ciclo ou caminho de Hamilton é uma sequência de arestas em um grafo que passa por </a:t>
            </a:r>
            <a:r>
              <a:rPr lang="pt-BR" b="1" dirty="0"/>
              <a:t>todos os vértices</a:t>
            </a:r>
            <a:r>
              <a:rPr lang="pt-BR" dirty="0"/>
              <a:t> exatamente uma vez. A diferença entre um ciclo e um caminho está no ponto de partida e chegada:</a:t>
            </a:r>
          </a:p>
          <a:p>
            <a:endParaRPr lang="pt-BR" b="1" dirty="0"/>
          </a:p>
          <a:p>
            <a:r>
              <a:rPr lang="pt-BR" b="1" dirty="0">
                <a:solidFill>
                  <a:srgbClr val="FF0000"/>
                </a:solidFill>
              </a:rPr>
              <a:t>Caminho de Hamilton</a:t>
            </a:r>
            <a:r>
              <a:rPr lang="pt-BR" b="1" dirty="0"/>
              <a:t>:</a:t>
            </a:r>
            <a:r>
              <a:rPr lang="pt-BR" dirty="0"/>
              <a:t> Começa em um vértice e termina em outro vértice diferente.</a:t>
            </a:r>
          </a:p>
          <a:p>
            <a:endParaRPr lang="pt-BR" b="1" dirty="0"/>
          </a:p>
          <a:p>
            <a:r>
              <a:rPr lang="pt-BR" b="1" dirty="0">
                <a:solidFill>
                  <a:srgbClr val="FF0000"/>
                </a:solidFill>
              </a:rPr>
              <a:t>Ciclo de Hamilton</a:t>
            </a:r>
            <a:r>
              <a:rPr lang="pt-BR" b="1" dirty="0"/>
              <a:t>:</a:t>
            </a:r>
            <a:r>
              <a:rPr lang="pt-BR" dirty="0"/>
              <a:t> Começa e termina no mesmo vértice, formando um circuito completo.</a:t>
            </a:r>
          </a:p>
          <a:p>
            <a:pPr eaLnBrk="1" hangingPunct="1"/>
            <a:endParaRPr lang="pt-BR" altLang="pt-BR" dirty="0"/>
          </a:p>
        </p:txBody>
      </p:sp>
    </p:spTree>
    <p:extLst>
      <p:ext uri="{BB962C8B-B14F-4D97-AF65-F5344CB8AC3E}">
        <p14:creationId xmlns:p14="http://schemas.microsoft.com/office/powerpoint/2010/main" val="1458697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B4FCBCC6-130E-4D90-8BDF-F4F11B0D7519}"/>
              </a:ext>
            </a:extLst>
          </p:cNvPr>
          <p:cNvSpPr>
            <a:spLocks noGrp="1"/>
          </p:cNvSpPr>
          <p:nvPr>
            <p:ph type="title"/>
          </p:nvPr>
        </p:nvSpPr>
        <p:spPr>
          <a:xfrm>
            <a:off x="1803400" y="149569"/>
            <a:ext cx="8229600" cy="1143000"/>
          </a:xfrm>
        </p:spPr>
        <p:txBody>
          <a:bodyPr anchor="t"/>
          <a:lstStyle/>
          <a:p>
            <a:pPr eaLnBrk="1" hangingPunct="1"/>
            <a:r>
              <a:rPr lang="pt-BR" altLang="pt-BR" b="1" dirty="0"/>
              <a:t>Caminho e Ciclo Hamiltoniano</a:t>
            </a:r>
          </a:p>
        </p:txBody>
      </p:sp>
      <p:sp>
        <p:nvSpPr>
          <p:cNvPr id="51203" name="Rectangle 3">
            <a:extLst>
              <a:ext uri="{FF2B5EF4-FFF2-40B4-BE49-F238E27FC236}">
                <a16:creationId xmlns:a16="http://schemas.microsoft.com/office/drawing/2014/main" id="{2FADD839-D5FB-4F24-B6AE-34949F28643D}"/>
              </a:ext>
            </a:extLst>
          </p:cNvPr>
          <p:cNvSpPr>
            <a:spLocks noGrp="1"/>
          </p:cNvSpPr>
          <p:nvPr>
            <p:ph idx="1"/>
          </p:nvPr>
        </p:nvSpPr>
        <p:spPr>
          <a:xfrm>
            <a:off x="431800" y="1003442"/>
            <a:ext cx="10972800" cy="4525962"/>
          </a:xfrm>
        </p:spPr>
        <p:txBody>
          <a:bodyPr/>
          <a:lstStyle/>
          <a:p>
            <a:pPr eaLnBrk="1" hangingPunct="1">
              <a:lnSpc>
                <a:spcPct val="110000"/>
              </a:lnSpc>
            </a:pPr>
            <a:r>
              <a:rPr lang="pt-BR" altLang="pt-BR" sz="2200" dirty="0"/>
              <a:t>Ciclo Hamiltoniano</a:t>
            </a:r>
          </a:p>
          <a:p>
            <a:pPr lvl="1" eaLnBrk="1" hangingPunct="1">
              <a:lnSpc>
                <a:spcPct val="110000"/>
              </a:lnSpc>
            </a:pPr>
            <a:r>
              <a:rPr lang="pt-BR" altLang="pt-BR" sz="2200" dirty="0"/>
              <a:t>É um caminho simples e fechado em que cada vértice é visitado uma única vez (com exceção do vértice final=inicial)</a:t>
            </a:r>
          </a:p>
          <a:p>
            <a:pPr lvl="1" eaLnBrk="1" hangingPunct="1">
              <a:lnSpc>
                <a:spcPct val="110000"/>
              </a:lnSpc>
            </a:pPr>
            <a:r>
              <a:rPr lang="pt-BR" altLang="pt-BR" sz="2200" dirty="0"/>
              <a:t>Um ciclo Hamiltoniano em um grafo de n vértices tem n arestas</a:t>
            </a:r>
          </a:p>
          <a:p>
            <a:pPr eaLnBrk="1" hangingPunct="1">
              <a:lnSpc>
                <a:spcPct val="110000"/>
              </a:lnSpc>
            </a:pPr>
            <a:r>
              <a:rPr lang="pt-BR" altLang="pt-BR" sz="2200" dirty="0"/>
              <a:t>Caminho Hamiltoniano</a:t>
            </a:r>
          </a:p>
          <a:p>
            <a:pPr lvl="1" eaLnBrk="1" hangingPunct="1">
              <a:lnSpc>
                <a:spcPct val="110000"/>
              </a:lnSpc>
            </a:pPr>
            <a:r>
              <a:rPr lang="pt-BR" altLang="pt-BR" sz="2200" dirty="0"/>
              <a:t>É um caminho simples em que cada vértice é visitado uma única vez</a:t>
            </a:r>
          </a:p>
          <a:p>
            <a:pPr lvl="1" eaLnBrk="1" hangingPunct="1"/>
            <a:endParaRPr lang="pt-BR" altLang="pt-BR" dirty="0"/>
          </a:p>
        </p:txBody>
      </p:sp>
      <p:grpSp>
        <p:nvGrpSpPr>
          <p:cNvPr id="51204" name="Group 4">
            <a:extLst>
              <a:ext uri="{FF2B5EF4-FFF2-40B4-BE49-F238E27FC236}">
                <a16:creationId xmlns:a16="http://schemas.microsoft.com/office/drawing/2014/main" id="{5A96810D-8FCC-4934-A47F-C49A54E6C3BA}"/>
              </a:ext>
            </a:extLst>
          </p:cNvPr>
          <p:cNvGrpSpPr>
            <a:grpSpLocks/>
          </p:cNvGrpSpPr>
          <p:nvPr/>
        </p:nvGrpSpPr>
        <p:grpSpPr bwMode="auto">
          <a:xfrm>
            <a:off x="2495551" y="3984281"/>
            <a:ext cx="3101975" cy="2152650"/>
            <a:chOff x="497" y="2266"/>
            <a:chExt cx="1954" cy="1356"/>
          </a:xfrm>
        </p:grpSpPr>
        <p:sp>
          <p:nvSpPr>
            <p:cNvPr id="51206" name="Line 5">
              <a:extLst>
                <a:ext uri="{FF2B5EF4-FFF2-40B4-BE49-F238E27FC236}">
                  <a16:creationId xmlns:a16="http://schemas.microsoft.com/office/drawing/2014/main" id="{128E454D-9A93-45F4-8BDE-CA8B4B4EE3B1}"/>
                </a:ext>
              </a:extLst>
            </p:cNvPr>
            <p:cNvSpPr>
              <a:spLocks noChangeShapeType="1"/>
            </p:cNvSpPr>
            <p:nvPr/>
          </p:nvSpPr>
          <p:spPr bwMode="auto">
            <a:xfrm>
              <a:off x="1520" y="2510"/>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07" name="Oval 6">
              <a:extLst>
                <a:ext uri="{FF2B5EF4-FFF2-40B4-BE49-F238E27FC236}">
                  <a16:creationId xmlns:a16="http://schemas.microsoft.com/office/drawing/2014/main" id="{1EBDFBF4-F264-4D6D-805A-D59A67BFAD40}"/>
                </a:ext>
              </a:extLst>
            </p:cNvPr>
            <p:cNvSpPr>
              <a:spLocks noChangeArrowheads="1"/>
            </p:cNvSpPr>
            <p:nvPr/>
          </p:nvSpPr>
          <p:spPr bwMode="auto">
            <a:xfrm>
              <a:off x="733" y="2488"/>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1208" name="Oval 7">
              <a:extLst>
                <a:ext uri="{FF2B5EF4-FFF2-40B4-BE49-F238E27FC236}">
                  <a16:creationId xmlns:a16="http://schemas.microsoft.com/office/drawing/2014/main" id="{07ACCDD4-50B4-4084-B334-167CC0797547}"/>
                </a:ext>
              </a:extLst>
            </p:cNvPr>
            <p:cNvSpPr>
              <a:spLocks noChangeArrowheads="1"/>
            </p:cNvSpPr>
            <p:nvPr/>
          </p:nvSpPr>
          <p:spPr bwMode="auto">
            <a:xfrm>
              <a:off x="1504" y="2488"/>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1209" name="Text Box 8">
              <a:extLst>
                <a:ext uri="{FF2B5EF4-FFF2-40B4-BE49-F238E27FC236}">
                  <a16:creationId xmlns:a16="http://schemas.microsoft.com/office/drawing/2014/main" id="{CA651891-556C-4503-9523-7DBF7674C892}"/>
                </a:ext>
              </a:extLst>
            </p:cNvPr>
            <p:cNvSpPr txBox="1">
              <a:spLocks noChangeArrowheads="1"/>
            </p:cNvSpPr>
            <p:nvPr/>
          </p:nvSpPr>
          <p:spPr bwMode="auto">
            <a:xfrm>
              <a:off x="2093" y="2266"/>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v4</a:t>
              </a:r>
            </a:p>
          </p:txBody>
        </p:sp>
        <p:sp>
          <p:nvSpPr>
            <p:cNvPr id="51210" name="Text Box 9">
              <a:extLst>
                <a:ext uri="{FF2B5EF4-FFF2-40B4-BE49-F238E27FC236}">
                  <a16:creationId xmlns:a16="http://schemas.microsoft.com/office/drawing/2014/main" id="{35CC7E1D-59C2-46D7-8ACF-39ED4AFC3BC0}"/>
                </a:ext>
              </a:extLst>
            </p:cNvPr>
            <p:cNvSpPr txBox="1">
              <a:spLocks noChangeArrowheads="1"/>
            </p:cNvSpPr>
            <p:nvPr/>
          </p:nvSpPr>
          <p:spPr bwMode="auto">
            <a:xfrm>
              <a:off x="612" y="2266"/>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v2</a:t>
              </a:r>
            </a:p>
          </p:txBody>
        </p:sp>
        <p:sp>
          <p:nvSpPr>
            <p:cNvPr id="51211" name="Oval 10">
              <a:extLst>
                <a:ext uri="{FF2B5EF4-FFF2-40B4-BE49-F238E27FC236}">
                  <a16:creationId xmlns:a16="http://schemas.microsoft.com/office/drawing/2014/main" id="{049CCFA1-BD49-403B-939D-B51A66182BCF}"/>
                </a:ext>
              </a:extLst>
            </p:cNvPr>
            <p:cNvSpPr>
              <a:spLocks noChangeArrowheads="1"/>
            </p:cNvSpPr>
            <p:nvPr/>
          </p:nvSpPr>
          <p:spPr bwMode="auto">
            <a:xfrm>
              <a:off x="2184" y="2488"/>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1212" name="Text Box 11">
              <a:extLst>
                <a:ext uri="{FF2B5EF4-FFF2-40B4-BE49-F238E27FC236}">
                  <a16:creationId xmlns:a16="http://schemas.microsoft.com/office/drawing/2014/main" id="{7C6D8C92-BF46-46D2-B25F-CF8CE02BA2EB}"/>
                </a:ext>
              </a:extLst>
            </p:cNvPr>
            <p:cNvSpPr txBox="1">
              <a:spLocks noChangeArrowheads="1"/>
            </p:cNvSpPr>
            <p:nvPr/>
          </p:nvSpPr>
          <p:spPr bwMode="auto">
            <a:xfrm>
              <a:off x="1413" y="2266"/>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v3</a:t>
              </a:r>
            </a:p>
          </p:txBody>
        </p:sp>
        <p:sp>
          <p:nvSpPr>
            <p:cNvPr id="51213" name="Oval 12">
              <a:extLst>
                <a:ext uri="{FF2B5EF4-FFF2-40B4-BE49-F238E27FC236}">
                  <a16:creationId xmlns:a16="http://schemas.microsoft.com/office/drawing/2014/main" id="{1BF25BEE-8003-47E1-851F-05652D3E67B6}"/>
                </a:ext>
              </a:extLst>
            </p:cNvPr>
            <p:cNvSpPr>
              <a:spLocks noChangeArrowheads="1"/>
            </p:cNvSpPr>
            <p:nvPr/>
          </p:nvSpPr>
          <p:spPr bwMode="auto">
            <a:xfrm>
              <a:off x="733" y="3304"/>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1214" name="Text Box 13">
              <a:extLst>
                <a:ext uri="{FF2B5EF4-FFF2-40B4-BE49-F238E27FC236}">
                  <a16:creationId xmlns:a16="http://schemas.microsoft.com/office/drawing/2014/main" id="{C897B0CA-C7B6-4349-A705-D819DA0F60DE}"/>
                </a:ext>
              </a:extLst>
            </p:cNvPr>
            <p:cNvSpPr txBox="1">
              <a:spLocks noChangeArrowheads="1"/>
            </p:cNvSpPr>
            <p:nvPr/>
          </p:nvSpPr>
          <p:spPr bwMode="auto">
            <a:xfrm>
              <a:off x="2093" y="3385"/>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v5</a:t>
              </a:r>
            </a:p>
          </p:txBody>
        </p:sp>
        <p:sp>
          <p:nvSpPr>
            <p:cNvPr id="51215" name="Text Box 14">
              <a:extLst>
                <a:ext uri="{FF2B5EF4-FFF2-40B4-BE49-F238E27FC236}">
                  <a16:creationId xmlns:a16="http://schemas.microsoft.com/office/drawing/2014/main" id="{A1D518A4-C953-4597-833A-1041EE11EA07}"/>
                </a:ext>
              </a:extLst>
            </p:cNvPr>
            <p:cNvSpPr txBox="1">
              <a:spLocks noChangeArrowheads="1"/>
            </p:cNvSpPr>
            <p:nvPr/>
          </p:nvSpPr>
          <p:spPr bwMode="auto">
            <a:xfrm>
              <a:off x="612" y="3410"/>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v1</a:t>
              </a:r>
            </a:p>
          </p:txBody>
        </p:sp>
        <p:sp>
          <p:nvSpPr>
            <p:cNvPr id="51216" name="Oval 15">
              <a:extLst>
                <a:ext uri="{FF2B5EF4-FFF2-40B4-BE49-F238E27FC236}">
                  <a16:creationId xmlns:a16="http://schemas.microsoft.com/office/drawing/2014/main" id="{789A56C6-8CFF-4768-A911-6A1F193C39CD}"/>
                </a:ext>
              </a:extLst>
            </p:cNvPr>
            <p:cNvSpPr>
              <a:spLocks noChangeArrowheads="1"/>
            </p:cNvSpPr>
            <p:nvPr/>
          </p:nvSpPr>
          <p:spPr bwMode="auto">
            <a:xfrm>
              <a:off x="2184" y="3304"/>
              <a:ext cx="45" cy="45"/>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1217" name="Line 16">
              <a:extLst>
                <a:ext uri="{FF2B5EF4-FFF2-40B4-BE49-F238E27FC236}">
                  <a16:creationId xmlns:a16="http://schemas.microsoft.com/office/drawing/2014/main" id="{245A938B-6F86-4F09-AD0E-2233E32F28B4}"/>
                </a:ext>
              </a:extLst>
            </p:cNvPr>
            <p:cNvSpPr>
              <a:spLocks noChangeShapeType="1"/>
            </p:cNvSpPr>
            <p:nvPr/>
          </p:nvSpPr>
          <p:spPr bwMode="auto">
            <a:xfrm flipH="1">
              <a:off x="778" y="2534"/>
              <a:ext cx="75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18" name="Line 17">
              <a:extLst>
                <a:ext uri="{FF2B5EF4-FFF2-40B4-BE49-F238E27FC236}">
                  <a16:creationId xmlns:a16="http://schemas.microsoft.com/office/drawing/2014/main" id="{6665C401-6B83-45C5-B5B8-35C6C3F17409}"/>
                </a:ext>
              </a:extLst>
            </p:cNvPr>
            <p:cNvSpPr>
              <a:spLocks noChangeShapeType="1"/>
            </p:cNvSpPr>
            <p:nvPr/>
          </p:nvSpPr>
          <p:spPr bwMode="auto">
            <a:xfrm>
              <a:off x="2200" y="2534"/>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19" name="Line 18">
              <a:extLst>
                <a:ext uri="{FF2B5EF4-FFF2-40B4-BE49-F238E27FC236}">
                  <a16:creationId xmlns:a16="http://schemas.microsoft.com/office/drawing/2014/main" id="{0350FCE2-59F4-445E-AB4A-9E79C56238A3}"/>
                </a:ext>
              </a:extLst>
            </p:cNvPr>
            <p:cNvSpPr>
              <a:spLocks noChangeShapeType="1"/>
            </p:cNvSpPr>
            <p:nvPr/>
          </p:nvSpPr>
          <p:spPr bwMode="auto">
            <a:xfrm>
              <a:off x="754" y="2534"/>
              <a:ext cx="0" cy="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20" name="Line 19">
              <a:extLst>
                <a:ext uri="{FF2B5EF4-FFF2-40B4-BE49-F238E27FC236}">
                  <a16:creationId xmlns:a16="http://schemas.microsoft.com/office/drawing/2014/main" id="{8C42E371-F2A6-4A44-9460-4B10E9B9E6FB}"/>
                </a:ext>
              </a:extLst>
            </p:cNvPr>
            <p:cNvSpPr>
              <a:spLocks noChangeShapeType="1"/>
            </p:cNvSpPr>
            <p:nvPr/>
          </p:nvSpPr>
          <p:spPr bwMode="auto">
            <a:xfrm flipV="1">
              <a:off x="772" y="3323"/>
              <a:ext cx="140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21" name="Line 20">
              <a:extLst>
                <a:ext uri="{FF2B5EF4-FFF2-40B4-BE49-F238E27FC236}">
                  <a16:creationId xmlns:a16="http://schemas.microsoft.com/office/drawing/2014/main" id="{88B1215D-6685-44CE-BE9D-FEC9C87A7506}"/>
                </a:ext>
              </a:extLst>
            </p:cNvPr>
            <p:cNvSpPr>
              <a:spLocks noChangeShapeType="1"/>
            </p:cNvSpPr>
            <p:nvPr/>
          </p:nvSpPr>
          <p:spPr bwMode="auto">
            <a:xfrm>
              <a:off x="749" y="2510"/>
              <a:ext cx="77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1222" name="Text Box 21">
              <a:extLst>
                <a:ext uri="{FF2B5EF4-FFF2-40B4-BE49-F238E27FC236}">
                  <a16:creationId xmlns:a16="http://schemas.microsoft.com/office/drawing/2014/main" id="{B9EA5D53-E149-4498-AFFE-CBBA91100E5D}"/>
                </a:ext>
              </a:extLst>
            </p:cNvPr>
            <p:cNvSpPr txBox="1">
              <a:spLocks noChangeArrowheads="1"/>
            </p:cNvSpPr>
            <p:nvPr/>
          </p:nvSpPr>
          <p:spPr bwMode="auto">
            <a:xfrm>
              <a:off x="497" y="2821"/>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c1</a:t>
              </a:r>
            </a:p>
          </p:txBody>
        </p:sp>
        <p:sp>
          <p:nvSpPr>
            <p:cNvPr id="51223" name="Text Box 22">
              <a:extLst>
                <a:ext uri="{FF2B5EF4-FFF2-40B4-BE49-F238E27FC236}">
                  <a16:creationId xmlns:a16="http://schemas.microsoft.com/office/drawing/2014/main" id="{7A6D8DE2-0412-4C54-A5B1-9D131BACEC51}"/>
                </a:ext>
              </a:extLst>
            </p:cNvPr>
            <p:cNvSpPr txBox="1">
              <a:spLocks noChangeArrowheads="1"/>
            </p:cNvSpPr>
            <p:nvPr/>
          </p:nvSpPr>
          <p:spPr bwMode="auto">
            <a:xfrm>
              <a:off x="1005" y="2311"/>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c2</a:t>
              </a:r>
            </a:p>
          </p:txBody>
        </p:sp>
        <p:sp>
          <p:nvSpPr>
            <p:cNvPr id="51224" name="Text Box 23">
              <a:extLst>
                <a:ext uri="{FF2B5EF4-FFF2-40B4-BE49-F238E27FC236}">
                  <a16:creationId xmlns:a16="http://schemas.microsoft.com/office/drawing/2014/main" id="{9B35B9A5-A7AD-4C9A-8750-EA0499AB600A}"/>
                </a:ext>
              </a:extLst>
            </p:cNvPr>
            <p:cNvSpPr txBox="1">
              <a:spLocks noChangeArrowheads="1"/>
            </p:cNvSpPr>
            <p:nvPr/>
          </p:nvSpPr>
          <p:spPr bwMode="auto">
            <a:xfrm>
              <a:off x="1776" y="2311"/>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c3</a:t>
              </a:r>
            </a:p>
          </p:txBody>
        </p:sp>
        <p:sp>
          <p:nvSpPr>
            <p:cNvPr id="51225" name="Text Box 24">
              <a:extLst>
                <a:ext uri="{FF2B5EF4-FFF2-40B4-BE49-F238E27FC236}">
                  <a16:creationId xmlns:a16="http://schemas.microsoft.com/office/drawing/2014/main" id="{F6530317-AA32-45EF-B440-05486C70E99D}"/>
                </a:ext>
              </a:extLst>
            </p:cNvPr>
            <p:cNvSpPr txBox="1">
              <a:spLocks noChangeArrowheads="1"/>
            </p:cNvSpPr>
            <p:nvPr/>
          </p:nvSpPr>
          <p:spPr bwMode="auto">
            <a:xfrm>
              <a:off x="2200" y="2810"/>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c4</a:t>
              </a:r>
            </a:p>
          </p:txBody>
        </p:sp>
        <p:sp>
          <p:nvSpPr>
            <p:cNvPr id="51226" name="Text Box 25">
              <a:extLst>
                <a:ext uri="{FF2B5EF4-FFF2-40B4-BE49-F238E27FC236}">
                  <a16:creationId xmlns:a16="http://schemas.microsoft.com/office/drawing/2014/main" id="{45FAEECC-2A4D-4761-AC70-492C7892CEAF}"/>
                </a:ext>
              </a:extLst>
            </p:cNvPr>
            <p:cNvSpPr txBox="1">
              <a:spLocks noChangeArrowheads="1"/>
            </p:cNvSpPr>
            <p:nvPr/>
          </p:nvSpPr>
          <p:spPr bwMode="auto">
            <a:xfrm>
              <a:off x="1413" y="3365"/>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c5</a:t>
              </a:r>
            </a:p>
          </p:txBody>
        </p:sp>
        <p:sp>
          <p:nvSpPr>
            <p:cNvPr id="51227" name="Text Box 26">
              <a:extLst>
                <a:ext uri="{FF2B5EF4-FFF2-40B4-BE49-F238E27FC236}">
                  <a16:creationId xmlns:a16="http://schemas.microsoft.com/office/drawing/2014/main" id="{9BD97A66-89D2-4E12-AFBD-8AD6723190F4}"/>
                </a:ext>
              </a:extLst>
            </p:cNvPr>
            <p:cNvSpPr txBox="1">
              <a:spLocks noChangeArrowheads="1"/>
            </p:cNvSpPr>
            <p:nvPr/>
          </p:nvSpPr>
          <p:spPr bwMode="auto">
            <a:xfrm>
              <a:off x="1232" y="2821"/>
              <a:ext cx="2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pt-BR" sz="1600">
                  <a:latin typeface="Arial" panose="020B0604020202020204" pitchFamily="34" charset="0"/>
                </a:rPr>
                <a:t>c6</a:t>
              </a:r>
            </a:p>
          </p:txBody>
        </p:sp>
      </p:grpSp>
      <p:sp>
        <p:nvSpPr>
          <p:cNvPr id="51205" name="Text Box 27">
            <a:extLst>
              <a:ext uri="{FF2B5EF4-FFF2-40B4-BE49-F238E27FC236}">
                <a16:creationId xmlns:a16="http://schemas.microsoft.com/office/drawing/2014/main" id="{32AE1686-5FCD-4745-BF99-6A79332CB038}"/>
              </a:ext>
            </a:extLst>
          </p:cNvPr>
          <p:cNvSpPr txBox="1">
            <a:spLocks noChangeArrowheads="1"/>
          </p:cNvSpPr>
          <p:nvPr/>
        </p:nvSpPr>
        <p:spPr bwMode="auto">
          <a:xfrm>
            <a:off x="7589701" y="3910013"/>
            <a:ext cx="417049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pt-BR" altLang="pt-BR" sz="2200" dirty="0">
                <a:latin typeface="+mn-lt"/>
              </a:rPr>
              <a:t>É um grafo </a:t>
            </a:r>
            <a:r>
              <a:rPr lang="pt-BR" altLang="pt-BR" sz="2200" dirty="0" err="1">
                <a:latin typeface="+mn-lt"/>
              </a:rPr>
              <a:t>Euleriano</a:t>
            </a:r>
            <a:r>
              <a:rPr lang="pt-BR" altLang="pt-BR" sz="2200" dirty="0">
                <a:latin typeface="+mn-lt"/>
              </a:rPr>
              <a:t>?</a:t>
            </a:r>
          </a:p>
          <a:p>
            <a:pPr eaLnBrk="1" hangingPunct="1">
              <a:lnSpc>
                <a:spcPct val="150000"/>
              </a:lnSpc>
              <a:spcBef>
                <a:spcPct val="0"/>
              </a:spcBef>
              <a:buFontTx/>
              <a:buNone/>
            </a:pPr>
            <a:r>
              <a:rPr lang="pt-BR" altLang="pt-BR" sz="2200" dirty="0">
                <a:latin typeface="+mn-lt"/>
              </a:rPr>
              <a:t>Possui um ciclo Hamiltoniano?</a:t>
            </a:r>
          </a:p>
          <a:p>
            <a:pPr eaLnBrk="1" hangingPunct="1">
              <a:spcBef>
                <a:spcPct val="50000"/>
              </a:spcBef>
              <a:buFontTx/>
              <a:buNone/>
            </a:pPr>
            <a:endParaRPr lang="pt-BR" altLang="pt-BR" sz="1600" dirty="0">
              <a:latin typeface="Verdana" panose="020B060403050404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14FDC9C-6855-4A44-B002-2EA26EE4F1DB}"/>
              </a:ext>
            </a:extLst>
          </p:cNvPr>
          <p:cNvSpPr>
            <a:spLocks noGrp="1"/>
          </p:cNvSpPr>
          <p:nvPr>
            <p:ph idx="1"/>
          </p:nvPr>
        </p:nvSpPr>
        <p:spPr>
          <a:xfrm>
            <a:off x="1500187" y="212726"/>
            <a:ext cx="8791575" cy="1676400"/>
          </a:xfrm>
        </p:spPr>
        <p:txBody>
          <a:bodyPr/>
          <a:lstStyle/>
          <a:p>
            <a:pPr marL="285750" indent="0">
              <a:buNone/>
            </a:pPr>
            <a:r>
              <a:rPr lang="pt-BR" altLang="pt-BR" sz="3400" b="1" dirty="0"/>
              <a:t>Ciclo Hamiltoniano </a:t>
            </a:r>
          </a:p>
          <a:p>
            <a:pPr marL="285750" indent="0">
              <a:buNone/>
            </a:pPr>
            <a:endParaRPr lang="pt-BR" altLang="pt-BR" sz="3400" b="1" dirty="0">
              <a:solidFill>
                <a:srgbClr val="A50021"/>
              </a:solidFill>
            </a:endParaRPr>
          </a:p>
        </p:txBody>
      </p:sp>
      <p:sp>
        <p:nvSpPr>
          <p:cNvPr id="52227" name="Oval 5">
            <a:extLst>
              <a:ext uri="{FF2B5EF4-FFF2-40B4-BE49-F238E27FC236}">
                <a16:creationId xmlns:a16="http://schemas.microsoft.com/office/drawing/2014/main" id="{794AFE17-BA5B-488D-87CE-86B99C1BEF69}"/>
              </a:ext>
            </a:extLst>
          </p:cNvPr>
          <p:cNvSpPr>
            <a:spLocks noChangeArrowheads="1"/>
          </p:cNvSpPr>
          <p:nvPr/>
        </p:nvSpPr>
        <p:spPr bwMode="auto">
          <a:xfrm>
            <a:off x="5230813" y="2205039"/>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28" name="Oval 6">
            <a:extLst>
              <a:ext uri="{FF2B5EF4-FFF2-40B4-BE49-F238E27FC236}">
                <a16:creationId xmlns:a16="http://schemas.microsoft.com/office/drawing/2014/main" id="{6326374C-EE10-4711-A4DC-C97846D82845}"/>
              </a:ext>
            </a:extLst>
          </p:cNvPr>
          <p:cNvSpPr>
            <a:spLocks noChangeArrowheads="1"/>
          </p:cNvSpPr>
          <p:nvPr/>
        </p:nvSpPr>
        <p:spPr bwMode="auto">
          <a:xfrm>
            <a:off x="3768726" y="3573464"/>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29" name="Oval 8">
            <a:extLst>
              <a:ext uri="{FF2B5EF4-FFF2-40B4-BE49-F238E27FC236}">
                <a16:creationId xmlns:a16="http://schemas.microsoft.com/office/drawing/2014/main" id="{640E109E-8476-4DF8-A6AF-2D2C2AFDB212}"/>
              </a:ext>
            </a:extLst>
          </p:cNvPr>
          <p:cNvSpPr>
            <a:spLocks noChangeArrowheads="1"/>
          </p:cNvSpPr>
          <p:nvPr/>
        </p:nvSpPr>
        <p:spPr bwMode="auto">
          <a:xfrm>
            <a:off x="5962651" y="4724401"/>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0" name="Oval 9">
            <a:extLst>
              <a:ext uri="{FF2B5EF4-FFF2-40B4-BE49-F238E27FC236}">
                <a16:creationId xmlns:a16="http://schemas.microsoft.com/office/drawing/2014/main" id="{1491FFC8-8588-4FD8-A09A-999E4D9FF4C7}"/>
              </a:ext>
            </a:extLst>
          </p:cNvPr>
          <p:cNvSpPr>
            <a:spLocks noChangeArrowheads="1"/>
          </p:cNvSpPr>
          <p:nvPr/>
        </p:nvSpPr>
        <p:spPr bwMode="auto">
          <a:xfrm>
            <a:off x="6892926" y="3716339"/>
            <a:ext cx="131763" cy="142875"/>
          </a:xfrm>
          <a:prstGeom prst="ellipse">
            <a:avLst/>
          </a:prstGeom>
          <a:solidFill>
            <a:schemeClr val="tx1"/>
          </a:solidFill>
          <a:ln w="2857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1" name="Oval 10">
            <a:extLst>
              <a:ext uri="{FF2B5EF4-FFF2-40B4-BE49-F238E27FC236}">
                <a16:creationId xmlns:a16="http://schemas.microsoft.com/office/drawing/2014/main" id="{249FFB21-14FC-4320-A5A3-51CDF1046189}"/>
              </a:ext>
            </a:extLst>
          </p:cNvPr>
          <p:cNvSpPr>
            <a:spLocks noChangeArrowheads="1"/>
          </p:cNvSpPr>
          <p:nvPr/>
        </p:nvSpPr>
        <p:spPr bwMode="auto">
          <a:xfrm>
            <a:off x="5032376" y="3644901"/>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2" name="Oval 11">
            <a:extLst>
              <a:ext uri="{FF2B5EF4-FFF2-40B4-BE49-F238E27FC236}">
                <a16:creationId xmlns:a16="http://schemas.microsoft.com/office/drawing/2014/main" id="{49D04CAD-AC3F-4CBC-9F8A-43AD5D2D0872}"/>
              </a:ext>
            </a:extLst>
          </p:cNvPr>
          <p:cNvSpPr>
            <a:spLocks noChangeArrowheads="1"/>
          </p:cNvSpPr>
          <p:nvPr/>
        </p:nvSpPr>
        <p:spPr bwMode="auto">
          <a:xfrm>
            <a:off x="4900613" y="4076701"/>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3" name="Oval 12">
            <a:extLst>
              <a:ext uri="{FF2B5EF4-FFF2-40B4-BE49-F238E27FC236}">
                <a16:creationId xmlns:a16="http://schemas.microsoft.com/office/drawing/2014/main" id="{771ECD16-8C26-443C-9374-758E1FF23BC9}"/>
              </a:ext>
            </a:extLst>
          </p:cNvPr>
          <p:cNvSpPr>
            <a:spLocks noChangeArrowheads="1"/>
          </p:cNvSpPr>
          <p:nvPr/>
        </p:nvSpPr>
        <p:spPr bwMode="auto">
          <a:xfrm>
            <a:off x="4633913" y="4221164"/>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4" name="Oval 13">
            <a:extLst>
              <a:ext uri="{FF2B5EF4-FFF2-40B4-BE49-F238E27FC236}">
                <a16:creationId xmlns:a16="http://schemas.microsoft.com/office/drawing/2014/main" id="{D215979E-457F-4730-93B0-7676285ABDBC}"/>
              </a:ext>
            </a:extLst>
          </p:cNvPr>
          <p:cNvSpPr>
            <a:spLocks noChangeArrowheads="1"/>
          </p:cNvSpPr>
          <p:nvPr/>
        </p:nvSpPr>
        <p:spPr bwMode="auto">
          <a:xfrm>
            <a:off x="5364163" y="4868864"/>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5" name="Oval 14">
            <a:extLst>
              <a:ext uri="{FF2B5EF4-FFF2-40B4-BE49-F238E27FC236}">
                <a16:creationId xmlns:a16="http://schemas.microsoft.com/office/drawing/2014/main" id="{D5CEBC9D-DEC8-4B44-A47F-33D98CEBED46}"/>
              </a:ext>
            </a:extLst>
          </p:cNvPr>
          <p:cNvSpPr>
            <a:spLocks noChangeArrowheads="1"/>
          </p:cNvSpPr>
          <p:nvPr/>
        </p:nvSpPr>
        <p:spPr bwMode="auto">
          <a:xfrm>
            <a:off x="4699001" y="5516564"/>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6" name="Oval 15">
            <a:extLst>
              <a:ext uri="{FF2B5EF4-FFF2-40B4-BE49-F238E27FC236}">
                <a16:creationId xmlns:a16="http://schemas.microsoft.com/office/drawing/2014/main" id="{CE5B46D5-1023-4C08-9BF9-FF0FB8A6ED24}"/>
              </a:ext>
            </a:extLst>
          </p:cNvPr>
          <p:cNvSpPr>
            <a:spLocks noChangeArrowheads="1"/>
          </p:cNvSpPr>
          <p:nvPr/>
        </p:nvSpPr>
        <p:spPr bwMode="auto">
          <a:xfrm>
            <a:off x="4368801" y="3644901"/>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7" name="Oval 16">
            <a:extLst>
              <a:ext uri="{FF2B5EF4-FFF2-40B4-BE49-F238E27FC236}">
                <a16:creationId xmlns:a16="http://schemas.microsoft.com/office/drawing/2014/main" id="{D26B9386-9844-4014-83D6-D6AF2CEE75B3}"/>
              </a:ext>
            </a:extLst>
          </p:cNvPr>
          <p:cNvSpPr>
            <a:spLocks noChangeArrowheads="1"/>
          </p:cNvSpPr>
          <p:nvPr/>
        </p:nvSpPr>
        <p:spPr bwMode="auto">
          <a:xfrm>
            <a:off x="6494463" y="5516564"/>
            <a:ext cx="131762" cy="142875"/>
          </a:xfrm>
          <a:prstGeom prst="ellipse">
            <a:avLst/>
          </a:prstGeom>
          <a:solidFill>
            <a:schemeClr val="tx1"/>
          </a:solidFill>
          <a:ln w="2857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8" name="Oval 17">
            <a:extLst>
              <a:ext uri="{FF2B5EF4-FFF2-40B4-BE49-F238E27FC236}">
                <a16:creationId xmlns:a16="http://schemas.microsoft.com/office/drawing/2014/main" id="{4717DE6B-232E-4DC3-9AAB-66E51B4685AE}"/>
              </a:ext>
            </a:extLst>
          </p:cNvPr>
          <p:cNvSpPr>
            <a:spLocks noChangeArrowheads="1"/>
          </p:cNvSpPr>
          <p:nvPr/>
        </p:nvSpPr>
        <p:spPr bwMode="auto">
          <a:xfrm>
            <a:off x="5364163" y="4365626"/>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39" name="Oval 18">
            <a:extLst>
              <a:ext uri="{FF2B5EF4-FFF2-40B4-BE49-F238E27FC236}">
                <a16:creationId xmlns:a16="http://schemas.microsoft.com/office/drawing/2014/main" id="{0E0C0420-6D33-4558-A32F-131C75F06A35}"/>
              </a:ext>
            </a:extLst>
          </p:cNvPr>
          <p:cNvSpPr>
            <a:spLocks noChangeArrowheads="1"/>
          </p:cNvSpPr>
          <p:nvPr/>
        </p:nvSpPr>
        <p:spPr bwMode="auto">
          <a:xfrm>
            <a:off x="5230813" y="2997201"/>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0" name="Oval 19">
            <a:extLst>
              <a:ext uri="{FF2B5EF4-FFF2-40B4-BE49-F238E27FC236}">
                <a16:creationId xmlns:a16="http://schemas.microsoft.com/office/drawing/2014/main" id="{1B253882-180C-4F75-BEDB-DBEAEE780DD1}"/>
              </a:ext>
            </a:extLst>
          </p:cNvPr>
          <p:cNvSpPr>
            <a:spLocks noChangeArrowheads="1"/>
          </p:cNvSpPr>
          <p:nvPr/>
        </p:nvSpPr>
        <p:spPr bwMode="auto">
          <a:xfrm>
            <a:off x="4832351" y="3357564"/>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1" name="Oval 20">
            <a:extLst>
              <a:ext uri="{FF2B5EF4-FFF2-40B4-BE49-F238E27FC236}">
                <a16:creationId xmlns:a16="http://schemas.microsoft.com/office/drawing/2014/main" id="{873AB4EB-0F66-4A31-8473-4FA838EF9FE7}"/>
              </a:ext>
            </a:extLst>
          </p:cNvPr>
          <p:cNvSpPr>
            <a:spLocks noChangeArrowheads="1"/>
          </p:cNvSpPr>
          <p:nvPr/>
        </p:nvSpPr>
        <p:spPr bwMode="auto">
          <a:xfrm>
            <a:off x="5629275" y="3284539"/>
            <a:ext cx="133350"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2" name="Oval 21">
            <a:extLst>
              <a:ext uri="{FF2B5EF4-FFF2-40B4-BE49-F238E27FC236}">
                <a16:creationId xmlns:a16="http://schemas.microsoft.com/office/drawing/2014/main" id="{3B1BCFBF-F860-4F41-9120-19FDA75E3540}"/>
              </a:ext>
            </a:extLst>
          </p:cNvPr>
          <p:cNvSpPr>
            <a:spLocks noChangeArrowheads="1"/>
          </p:cNvSpPr>
          <p:nvPr/>
        </p:nvSpPr>
        <p:spPr bwMode="auto">
          <a:xfrm>
            <a:off x="5564188" y="3644901"/>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3" name="Oval 22">
            <a:extLst>
              <a:ext uri="{FF2B5EF4-FFF2-40B4-BE49-F238E27FC236}">
                <a16:creationId xmlns:a16="http://schemas.microsoft.com/office/drawing/2014/main" id="{C236CE42-F587-4FF3-B56A-91B908D47BBB}"/>
              </a:ext>
            </a:extLst>
          </p:cNvPr>
          <p:cNvSpPr>
            <a:spLocks noChangeArrowheads="1"/>
          </p:cNvSpPr>
          <p:nvPr/>
        </p:nvSpPr>
        <p:spPr bwMode="auto">
          <a:xfrm>
            <a:off x="5697538" y="4005264"/>
            <a:ext cx="131762"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4" name="Oval 23">
            <a:extLst>
              <a:ext uri="{FF2B5EF4-FFF2-40B4-BE49-F238E27FC236}">
                <a16:creationId xmlns:a16="http://schemas.microsoft.com/office/drawing/2014/main" id="{68A4A2B1-CDAE-4F99-96FC-58B61751F898}"/>
              </a:ext>
            </a:extLst>
          </p:cNvPr>
          <p:cNvSpPr>
            <a:spLocks noChangeArrowheads="1"/>
          </p:cNvSpPr>
          <p:nvPr/>
        </p:nvSpPr>
        <p:spPr bwMode="auto">
          <a:xfrm>
            <a:off x="4832351" y="4868864"/>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5" name="Oval 24">
            <a:extLst>
              <a:ext uri="{FF2B5EF4-FFF2-40B4-BE49-F238E27FC236}">
                <a16:creationId xmlns:a16="http://schemas.microsoft.com/office/drawing/2014/main" id="{D22080EE-45D8-43C2-84EE-94F8512AAE93}"/>
              </a:ext>
            </a:extLst>
          </p:cNvPr>
          <p:cNvSpPr>
            <a:spLocks noChangeArrowheads="1"/>
          </p:cNvSpPr>
          <p:nvPr/>
        </p:nvSpPr>
        <p:spPr bwMode="auto">
          <a:xfrm>
            <a:off x="6029325" y="4076701"/>
            <a:ext cx="133350"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52246" name="Oval 25">
            <a:extLst>
              <a:ext uri="{FF2B5EF4-FFF2-40B4-BE49-F238E27FC236}">
                <a16:creationId xmlns:a16="http://schemas.microsoft.com/office/drawing/2014/main" id="{D081AAC2-5FF6-4919-B86C-44CF08917D66}"/>
              </a:ext>
            </a:extLst>
          </p:cNvPr>
          <p:cNvSpPr>
            <a:spLocks noChangeArrowheads="1"/>
          </p:cNvSpPr>
          <p:nvPr/>
        </p:nvSpPr>
        <p:spPr bwMode="auto">
          <a:xfrm>
            <a:off x="6162676" y="3573464"/>
            <a:ext cx="131763" cy="142875"/>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pt-BR" altLang="pt-BR" sz="1800">
              <a:latin typeface="Arial" panose="020B0604020202020204" pitchFamily="34" charset="0"/>
            </a:endParaRPr>
          </a:p>
        </p:txBody>
      </p:sp>
      <p:sp>
        <p:nvSpPr>
          <p:cNvPr id="354330" name="Line 26">
            <a:extLst>
              <a:ext uri="{FF2B5EF4-FFF2-40B4-BE49-F238E27FC236}">
                <a16:creationId xmlns:a16="http://schemas.microsoft.com/office/drawing/2014/main" id="{66B23FE6-7C66-4DB9-A1E7-20F81E8F69CF}"/>
              </a:ext>
            </a:extLst>
          </p:cNvPr>
          <p:cNvSpPr>
            <a:spLocks noChangeShapeType="1"/>
          </p:cNvSpPr>
          <p:nvPr/>
        </p:nvSpPr>
        <p:spPr bwMode="auto">
          <a:xfrm>
            <a:off x="3836989" y="3716338"/>
            <a:ext cx="930275" cy="187325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48" name="Line 27">
            <a:extLst>
              <a:ext uri="{FF2B5EF4-FFF2-40B4-BE49-F238E27FC236}">
                <a16:creationId xmlns:a16="http://schemas.microsoft.com/office/drawing/2014/main" id="{1F61923A-FF1A-4503-B864-B4B33FCE4E18}"/>
              </a:ext>
            </a:extLst>
          </p:cNvPr>
          <p:cNvSpPr>
            <a:spLocks noChangeShapeType="1"/>
          </p:cNvSpPr>
          <p:nvPr/>
        </p:nvSpPr>
        <p:spPr bwMode="auto">
          <a:xfrm>
            <a:off x="4832351" y="5589588"/>
            <a:ext cx="16621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2" name="Line 28">
            <a:extLst>
              <a:ext uri="{FF2B5EF4-FFF2-40B4-BE49-F238E27FC236}">
                <a16:creationId xmlns:a16="http://schemas.microsoft.com/office/drawing/2014/main" id="{557C3E21-303D-401D-82B3-4DA548293719}"/>
              </a:ext>
            </a:extLst>
          </p:cNvPr>
          <p:cNvSpPr>
            <a:spLocks noChangeShapeType="1"/>
          </p:cNvSpPr>
          <p:nvPr/>
        </p:nvSpPr>
        <p:spPr bwMode="auto">
          <a:xfrm flipH="1">
            <a:off x="6562726" y="3860800"/>
            <a:ext cx="398463" cy="1728788"/>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3" name="Line 29">
            <a:extLst>
              <a:ext uri="{FF2B5EF4-FFF2-40B4-BE49-F238E27FC236}">
                <a16:creationId xmlns:a16="http://schemas.microsoft.com/office/drawing/2014/main" id="{E5D6BDD1-111E-4C4F-925D-A077284040D7}"/>
              </a:ext>
            </a:extLst>
          </p:cNvPr>
          <p:cNvSpPr>
            <a:spLocks noChangeShapeType="1"/>
          </p:cNvSpPr>
          <p:nvPr/>
        </p:nvSpPr>
        <p:spPr bwMode="auto">
          <a:xfrm flipV="1">
            <a:off x="3836989" y="2349500"/>
            <a:ext cx="1393825" cy="129540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51" name="Line 30">
            <a:extLst>
              <a:ext uri="{FF2B5EF4-FFF2-40B4-BE49-F238E27FC236}">
                <a16:creationId xmlns:a16="http://schemas.microsoft.com/office/drawing/2014/main" id="{D92362C8-5579-4F64-917B-2B8649D94D6C}"/>
              </a:ext>
            </a:extLst>
          </p:cNvPr>
          <p:cNvSpPr>
            <a:spLocks noChangeShapeType="1"/>
          </p:cNvSpPr>
          <p:nvPr/>
        </p:nvSpPr>
        <p:spPr bwMode="auto">
          <a:xfrm>
            <a:off x="5364164" y="2349501"/>
            <a:ext cx="1597025" cy="14398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5" name="Line 31">
            <a:extLst>
              <a:ext uri="{FF2B5EF4-FFF2-40B4-BE49-F238E27FC236}">
                <a16:creationId xmlns:a16="http://schemas.microsoft.com/office/drawing/2014/main" id="{3B71892B-0944-4B7D-9021-EDB78C81742A}"/>
              </a:ext>
            </a:extLst>
          </p:cNvPr>
          <p:cNvSpPr>
            <a:spLocks noChangeShapeType="1"/>
          </p:cNvSpPr>
          <p:nvPr/>
        </p:nvSpPr>
        <p:spPr bwMode="auto">
          <a:xfrm>
            <a:off x="5299075" y="2276476"/>
            <a:ext cx="0" cy="792163"/>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53" name="Line 32">
            <a:extLst>
              <a:ext uri="{FF2B5EF4-FFF2-40B4-BE49-F238E27FC236}">
                <a16:creationId xmlns:a16="http://schemas.microsoft.com/office/drawing/2014/main" id="{605DF108-DFED-4263-BC97-55E7CE2B76A7}"/>
              </a:ext>
            </a:extLst>
          </p:cNvPr>
          <p:cNvSpPr>
            <a:spLocks noChangeShapeType="1"/>
          </p:cNvSpPr>
          <p:nvPr/>
        </p:nvSpPr>
        <p:spPr bwMode="auto">
          <a:xfrm flipH="1">
            <a:off x="4965701" y="3141664"/>
            <a:ext cx="333375"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7" name="Line 33">
            <a:extLst>
              <a:ext uri="{FF2B5EF4-FFF2-40B4-BE49-F238E27FC236}">
                <a16:creationId xmlns:a16="http://schemas.microsoft.com/office/drawing/2014/main" id="{FC108738-0562-478A-A183-96589313610B}"/>
              </a:ext>
            </a:extLst>
          </p:cNvPr>
          <p:cNvSpPr>
            <a:spLocks noChangeShapeType="1"/>
          </p:cNvSpPr>
          <p:nvPr/>
        </p:nvSpPr>
        <p:spPr bwMode="auto">
          <a:xfrm>
            <a:off x="4832351" y="3429000"/>
            <a:ext cx="333375" cy="287338"/>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8" name="Line 34">
            <a:extLst>
              <a:ext uri="{FF2B5EF4-FFF2-40B4-BE49-F238E27FC236}">
                <a16:creationId xmlns:a16="http://schemas.microsoft.com/office/drawing/2014/main" id="{52C035C8-4265-49CF-9F4B-7000908C6B6D}"/>
              </a:ext>
            </a:extLst>
          </p:cNvPr>
          <p:cNvSpPr>
            <a:spLocks noChangeShapeType="1"/>
          </p:cNvSpPr>
          <p:nvPr/>
        </p:nvSpPr>
        <p:spPr bwMode="auto">
          <a:xfrm>
            <a:off x="5165725" y="3716338"/>
            <a:ext cx="463550" cy="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39" name="Line 35">
            <a:extLst>
              <a:ext uri="{FF2B5EF4-FFF2-40B4-BE49-F238E27FC236}">
                <a16:creationId xmlns:a16="http://schemas.microsoft.com/office/drawing/2014/main" id="{84D90764-6C23-4380-A434-4F0AB0281A05}"/>
              </a:ext>
            </a:extLst>
          </p:cNvPr>
          <p:cNvSpPr>
            <a:spLocks noChangeShapeType="1"/>
          </p:cNvSpPr>
          <p:nvPr/>
        </p:nvSpPr>
        <p:spPr bwMode="auto">
          <a:xfrm>
            <a:off x="5299076" y="3141663"/>
            <a:ext cx="398463" cy="21590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40" name="Line 36">
            <a:extLst>
              <a:ext uri="{FF2B5EF4-FFF2-40B4-BE49-F238E27FC236}">
                <a16:creationId xmlns:a16="http://schemas.microsoft.com/office/drawing/2014/main" id="{A69AA6A8-A271-41D9-A3F9-540BBD8161F6}"/>
              </a:ext>
            </a:extLst>
          </p:cNvPr>
          <p:cNvSpPr>
            <a:spLocks noChangeShapeType="1"/>
          </p:cNvSpPr>
          <p:nvPr/>
        </p:nvSpPr>
        <p:spPr bwMode="auto">
          <a:xfrm flipH="1">
            <a:off x="5629276" y="3357564"/>
            <a:ext cx="68263" cy="358775"/>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41" name="Line 37">
            <a:extLst>
              <a:ext uri="{FF2B5EF4-FFF2-40B4-BE49-F238E27FC236}">
                <a16:creationId xmlns:a16="http://schemas.microsoft.com/office/drawing/2014/main" id="{D46F8266-E5DF-46A6-9F24-C7F39C7FA0AF}"/>
              </a:ext>
            </a:extLst>
          </p:cNvPr>
          <p:cNvSpPr>
            <a:spLocks noChangeShapeType="1"/>
          </p:cNvSpPr>
          <p:nvPr/>
        </p:nvSpPr>
        <p:spPr bwMode="auto">
          <a:xfrm flipV="1">
            <a:off x="4500564" y="3429000"/>
            <a:ext cx="331787" cy="287338"/>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59" name="Line 38">
            <a:extLst>
              <a:ext uri="{FF2B5EF4-FFF2-40B4-BE49-F238E27FC236}">
                <a16:creationId xmlns:a16="http://schemas.microsoft.com/office/drawing/2014/main" id="{BC1ED0B7-4C5B-4493-9AB6-EC8B6FA797B7}"/>
              </a:ext>
            </a:extLst>
          </p:cNvPr>
          <p:cNvSpPr>
            <a:spLocks noChangeShapeType="1"/>
          </p:cNvSpPr>
          <p:nvPr/>
        </p:nvSpPr>
        <p:spPr bwMode="auto">
          <a:xfrm>
            <a:off x="3836988" y="3716338"/>
            <a:ext cx="596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43" name="Line 39">
            <a:extLst>
              <a:ext uri="{FF2B5EF4-FFF2-40B4-BE49-F238E27FC236}">
                <a16:creationId xmlns:a16="http://schemas.microsoft.com/office/drawing/2014/main" id="{4A46F1BD-CEBB-4179-8509-DD359FC0E6CA}"/>
              </a:ext>
            </a:extLst>
          </p:cNvPr>
          <p:cNvSpPr>
            <a:spLocks noChangeShapeType="1"/>
          </p:cNvSpPr>
          <p:nvPr/>
        </p:nvSpPr>
        <p:spPr bwMode="auto">
          <a:xfrm>
            <a:off x="4433888" y="3716338"/>
            <a:ext cx="265112" cy="576262"/>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44" name="Line 40">
            <a:extLst>
              <a:ext uri="{FF2B5EF4-FFF2-40B4-BE49-F238E27FC236}">
                <a16:creationId xmlns:a16="http://schemas.microsoft.com/office/drawing/2014/main" id="{F0975EFC-7E68-4675-9B36-69057738968A}"/>
              </a:ext>
            </a:extLst>
          </p:cNvPr>
          <p:cNvSpPr>
            <a:spLocks noChangeShapeType="1"/>
          </p:cNvSpPr>
          <p:nvPr/>
        </p:nvSpPr>
        <p:spPr bwMode="auto">
          <a:xfrm flipV="1">
            <a:off x="4767264" y="4149726"/>
            <a:ext cx="198437" cy="142875"/>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62" name="Line 42">
            <a:extLst>
              <a:ext uri="{FF2B5EF4-FFF2-40B4-BE49-F238E27FC236}">
                <a16:creationId xmlns:a16="http://schemas.microsoft.com/office/drawing/2014/main" id="{AF1858E7-9437-49E3-8DCF-7415AE2756BA}"/>
              </a:ext>
            </a:extLst>
          </p:cNvPr>
          <p:cNvSpPr>
            <a:spLocks noChangeShapeType="1"/>
          </p:cNvSpPr>
          <p:nvPr/>
        </p:nvSpPr>
        <p:spPr bwMode="auto">
          <a:xfrm flipH="1">
            <a:off x="4965700" y="3716338"/>
            <a:ext cx="13335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63" name="Line 43">
            <a:extLst>
              <a:ext uri="{FF2B5EF4-FFF2-40B4-BE49-F238E27FC236}">
                <a16:creationId xmlns:a16="http://schemas.microsoft.com/office/drawing/2014/main" id="{A355A226-9A2E-48CE-89B8-1CC011152E72}"/>
              </a:ext>
            </a:extLst>
          </p:cNvPr>
          <p:cNvSpPr>
            <a:spLocks noChangeShapeType="1"/>
          </p:cNvSpPr>
          <p:nvPr/>
        </p:nvSpPr>
        <p:spPr bwMode="auto">
          <a:xfrm>
            <a:off x="5629275" y="3789364"/>
            <a:ext cx="133350"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48" name="Line 44">
            <a:extLst>
              <a:ext uri="{FF2B5EF4-FFF2-40B4-BE49-F238E27FC236}">
                <a16:creationId xmlns:a16="http://schemas.microsoft.com/office/drawing/2014/main" id="{F1E32186-DDFA-4885-9009-26E8A12DCB30}"/>
              </a:ext>
            </a:extLst>
          </p:cNvPr>
          <p:cNvSpPr>
            <a:spLocks noChangeShapeType="1"/>
          </p:cNvSpPr>
          <p:nvPr/>
        </p:nvSpPr>
        <p:spPr bwMode="auto">
          <a:xfrm>
            <a:off x="4965700" y="4221164"/>
            <a:ext cx="465138" cy="287337"/>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50" name="Line 46">
            <a:extLst>
              <a:ext uri="{FF2B5EF4-FFF2-40B4-BE49-F238E27FC236}">
                <a16:creationId xmlns:a16="http://schemas.microsoft.com/office/drawing/2014/main" id="{0F4E9B54-EE5D-4D3C-AB39-6C367BC7DA20}"/>
              </a:ext>
            </a:extLst>
          </p:cNvPr>
          <p:cNvSpPr>
            <a:spLocks noChangeShapeType="1"/>
          </p:cNvSpPr>
          <p:nvPr/>
        </p:nvSpPr>
        <p:spPr bwMode="auto">
          <a:xfrm flipH="1">
            <a:off x="5430839" y="4076701"/>
            <a:ext cx="331787" cy="360363"/>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66" name="Line 47">
            <a:extLst>
              <a:ext uri="{FF2B5EF4-FFF2-40B4-BE49-F238E27FC236}">
                <a16:creationId xmlns:a16="http://schemas.microsoft.com/office/drawing/2014/main" id="{342F5ABC-F1D2-4A74-BAF6-AD56F79203A5}"/>
              </a:ext>
            </a:extLst>
          </p:cNvPr>
          <p:cNvSpPr>
            <a:spLocks noChangeShapeType="1"/>
          </p:cNvSpPr>
          <p:nvPr/>
        </p:nvSpPr>
        <p:spPr bwMode="auto">
          <a:xfrm>
            <a:off x="4699001" y="4365626"/>
            <a:ext cx="201613"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52" name="Line 48">
            <a:extLst>
              <a:ext uri="{FF2B5EF4-FFF2-40B4-BE49-F238E27FC236}">
                <a16:creationId xmlns:a16="http://schemas.microsoft.com/office/drawing/2014/main" id="{3682E4BD-564D-4756-A03D-238E07CD159C}"/>
              </a:ext>
            </a:extLst>
          </p:cNvPr>
          <p:cNvSpPr>
            <a:spLocks noChangeShapeType="1"/>
          </p:cNvSpPr>
          <p:nvPr/>
        </p:nvSpPr>
        <p:spPr bwMode="auto">
          <a:xfrm flipH="1">
            <a:off x="4767263" y="5013325"/>
            <a:ext cx="133350" cy="64770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53" name="Line 49">
            <a:extLst>
              <a:ext uri="{FF2B5EF4-FFF2-40B4-BE49-F238E27FC236}">
                <a16:creationId xmlns:a16="http://schemas.microsoft.com/office/drawing/2014/main" id="{8B3DB8C7-05E9-4D82-9695-314DBB0B3A62}"/>
              </a:ext>
            </a:extLst>
          </p:cNvPr>
          <p:cNvSpPr>
            <a:spLocks noChangeShapeType="1"/>
          </p:cNvSpPr>
          <p:nvPr/>
        </p:nvSpPr>
        <p:spPr bwMode="auto">
          <a:xfrm>
            <a:off x="4900614" y="4941888"/>
            <a:ext cx="530225" cy="0"/>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69" name="Line 50">
            <a:extLst>
              <a:ext uri="{FF2B5EF4-FFF2-40B4-BE49-F238E27FC236}">
                <a16:creationId xmlns:a16="http://schemas.microsoft.com/office/drawing/2014/main" id="{CE0975D1-4F09-42B1-886F-32D7A3FBF986}"/>
              </a:ext>
            </a:extLst>
          </p:cNvPr>
          <p:cNvSpPr>
            <a:spLocks noChangeShapeType="1"/>
          </p:cNvSpPr>
          <p:nvPr/>
        </p:nvSpPr>
        <p:spPr bwMode="auto">
          <a:xfrm>
            <a:off x="5430838" y="4508500"/>
            <a:ext cx="0" cy="4333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56" name="Line 52">
            <a:extLst>
              <a:ext uri="{FF2B5EF4-FFF2-40B4-BE49-F238E27FC236}">
                <a16:creationId xmlns:a16="http://schemas.microsoft.com/office/drawing/2014/main" id="{F59E045B-C3B3-428A-AFA6-F139C265C846}"/>
              </a:ext>
            </a:extLst>
          </p:cNvPr>
          <p:cNvSpPr>
            <a:spLocks noChangeShapeType="1"/>
          </p:cNvSpPr>
          <p:nvPr/>
        </p:nvSpPr>
        <p:spPr bwMode="auto">
          <a:xfrm flipV="1">
            <a:off x="5430839" y="4797426"/>
            <a:ext cx="598487" cy="144463"/>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71" name="Line 54">
            <a:extLst>
              <a:ext uri="{FF2B5EF4-FFF2-40B4-BE49-F238E27FC236}">
                <a16:creationId xmlns:a16="http://schemas.microsoft.com/office/drawing/2014/main" id="{5BC6B8BF-5343-4CF4-8441-942F38E2B39D}"/>
              </a:ext>
            </a:extLst>
          </p:cNvPr>
          <p:cNvSpPr>
            <a:spLocks noChangeShapeType="1"/>
          </p:cNvSpPr>
          <p:nvPr/>
        </p:nvSpPr>
        <p:spPr bwMode="auto">
          <a:xfrm>
            <a:off x="5762626" y="3357564"/>
            <a:ext cx="466725"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59" name="Line 55">
            <a:extLst>
              <a:ext uri="{FF2B5EF4-FFF2-40B4-BE49-F238E27FC236}">
                <a16:creationId xmlns:a16="http://schemas.microsoft.com/office/drawing/2014/main" id="{01905E2D-3AFD-4D40-81C0-EACC63272A5E}"/>
              </a:ext>
            </a:extLst>
          </p:cNvPr>
          <p:cNvSpPr>
            <a:spLocks noChangeShapeType="1"/>
          </p:cNvSpPr>
          <p:nvPr/>
        </p:nvSpPr>
        <p:spPr bwMode="auto">
          <a:xfrm flipH="1">
            <a:off x="6096000" y="3716339"/>
            <a:ext cx="133350" cy="433387"/>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60" name="Line 56">
            <a:extLst>
              <a:ext uri="{FF2B5EF4-FFF2-40B4-BE49-F238E27FC236}">
                <a16:creationId xmlns:a16="http://schemas.microsoft.com/office/drawing/2014/main" id="{4BB75380-FB2B-4EA9-BB4C-13C1B99132C2}"/>
              </a:ext>
            </a:extLst>
          </p:cNvPr>
          <p:cNvSpPr>
            <a:spLocks noChangeShapeType="1"/>
          </p:cNvSpPr>
          <p:nvPr/>
        </p:nvSpPr>
        <p:spPr bwMode="auto">
          <a:xfrm>
            <a:off x="5762625" y="4076701"/>
            <a:ext cx="266700" cy="73025"/>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61" name="Line 57">
            <a:extLst>
              <a:ext uri="{FF2B5EF4-FFF2-40B4-BE49-F238E27FC236}">
                <a16:creationId xmlns:a16="http://schemas.microsoft.com/office/drawing/2014/main" id="{6FB9BD56-6C4B-43BE-A558-C3698981F156}"/>
              </a:ext>
            </a:extLst>
          </p:cNvPr>
          <p:cNvSpPr>
            <a:spLocks noChangeShapeType="1"/>
          </p:cNvSpPr>
          <p:nvPr/>
        </p:nvSpPr>
        <p:spPr bwMode="auto">
          <a:xfrm>
            <a:off x="6296026" y="3644901"/>
            <a:ext cx="665163" cy="144463"/>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75" name="Line 58">
            <a:extLst>
              <a:ext uri="{FF2B5EF4-FFF2-40B4-BE49-F238E27FC236}">
                <a16:creationId xmlns:a16="http://schemas.microsoft.com/office/drawing/2014/main" id="{02C9AB27-58BC-49D5-9798-B5CBF6935F83}"/>
              </a:ext>
            </a:extLst>
          </p:cNvPr>
          <p:cNvSpPr>
            <a:spLocks noChangeShapeType="1"/>
          </p:cNvSpPr>
          <p:nvPr/>
        </p:nvSpPr>
        <p:spPr bwMode="auto">
          <a:xfrm flipH="1">
            <a:off x="6029326" y="4221163"/>
            <a:ext cx="66675"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354363" name="Line 59">
            <a:extLst>
              <a:ext uri="{FF2B5EF4-FFF2-40B4-BE49-F238E27FC236}">
                <a16:creationId xmlns:a16="http://schemas.microsoft.com/office/drawing/2014/main" id="{7C160664-708E-4687-915C-1356C6E331EB}"/>
              </a:ext>
            </a:extLst>
          </p:cNvPr>
          <p:cNvSpPr>
            <a:spLocks noChangeShapeType="1"/>
          </p:cNvSpPr>
          <p:nvPr/>
        </p:nvSpPr>
        <p:spPr bwMode="auto">
          <a:xfrm>
            <a:off x="6029325" y="4797426"/>
            <a:ext cx="533400" cy="792163"/>
          </a:xfrm>
          <a:prstGeom prst="line">
            <a:avLst/>
          </a:prstGeom>
          <a:noFill/>
          <a:ln w="57150">
            <a:solidFill>
              <a:srgbClr val="FC66E7"/>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77" name="Text Box 60">
            <a:extLst>
              <a:ext uri="{FF2B5EF4-FFF2-40B4-BE49-F238E27FC236}">
                <a16:creationId xmlns:a16="http://schemas.microsoft.com/office/drawing/2014/main" id="{C6B0C054-38F6-4197-AA6F-FF5E78E18EC5}"/>
              </a:ext>
            </a:extLst>
          </p:cNvPr>
          <p:cNvSpPr txBox="1">
            <a:spLocks noChangeArrowheads="1"/>
          </p:cNvSpPr>
          <p:nvPr/>
        </p:nvSpPr>
        <p:spPr bwMode="auto">
          <a:xfrm>
            <a:off x="2706688" y="3357563"/>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pt-BR" altLang="pt-BR" sz="1800" b="1">
                <a:latin typeface="Arial" panose="020B0604020202020204" pitchFamily="34" charset="0"/>
              </a:rPr>
              <a:t>origem</a:t>
            </a:r>
          </a:p>
        </p:txBody>
      </p:sp>
      <p:sp>
        <p:nvSpPr>
          <p:cNvPr id="52278" name="Line 61">
            <a:extLst>
              <a:ext uri="{FF2B5EF4-FFF2-40B4-BE49-F238E27FC236}">
                <a16:creationId xmlns:a16="http://schemas.microsoft.com/office/drawing/2014/main" id="{B0C25ADD-7D78-4F24-8D44-8DB6427AEA8C}"/>
              </a:ext>
            </a:extLst>
          </p:cNvPr>
          <p:cNvSpPr>
            <a:spLocks noChangeShapeType="1"/>
          </p:cNvSpPr>
          <p:nvPr/>
        </p:nvSpPr>
        <p:spPr bwMode="auto">
          <a:xfrm flipH="1">
            <a:off x="3836989" y="2276476"/>
            <a:ext cx="1462087"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79" name="Line 62">
            <a:extLst>
              <a:ext uri="{FF2B5EF4-FFF2-40B4-BE49-F238E27FC236}">
                <a16:creationId xmlns:a16="http://schemas.microsoft.com/office/drawing/2014/main" id="{F8B3CD80-308E-4D2E-BCA0-3BF09B1C51E6}"/>
              </a:ext>
            </a:extLst>
          </p:cNvPr>
          <p:cNvSpPr>
            <a:spLocks noChangeShapeType="1"/>
          </p:cNvSpPr>
          <p:nvPr/>
        </p:nvSpPr>
        <p:spPr bwMode="auto">
          <a:xfrm>
            <a:off x="3902075" y="3789363"/>
            <a:ext cx="865188" cy="1871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0" name="Line 63">
            <a:extLst>
              <a:ext uri="{FF2B5EF4-FFF2-40B4-BE49-F238E27FC236}">
                <a16:creationId xmlns:a16="http://schemas.microsoft.com/office/drawing/2014/main" id="{1682DF10-CFBB-413E-8E7B-AEFD7BDA83FA}"/>
              </a:ext>
            </a:extLst>
          </p:cNvPr>
          <p:cNvSpPr>
            <a:spLocks noChangeShapeType="1"/>
          </p:cNvSpPr>
          <p:nvPr/>
        </p:nvSpPr>
        <p:spPr bwMode="auto">
          <a:xfrm flipV="1">
            <a:off x="4767263" y="4941888"/>
            <a:ext cx="13335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1" name="Line 64">
            <a:extLst>
              <a:ext uri="{FF2B5EF4-FFF2-40B4-BE49-F238E27FC236}">
                <a16:creationId xmlns:a16="http://schemas.microsoft.com/office/drawing/2014/main" id="{507ADCB2-D31B-4CC0-8309-7071989E6EBB}"/>
              </a:ext>
            </a:extLst>
          </p:cNvPr>
          <p:cNvSpPr>
            <a:spLocks noChangeShapeType="1"/>
          </p:cNvSpPr>
          <p:nvPr/>
        </p:nvSpPr>
        <p:spPr bwMode="auto">
          <a:xfrm flipV="1">
            <a:off x="4900613" y="4941889"/>
            <a:ext cx="59690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2" name="Line 65">
            <a:extLst>
              <a:ext uri="{FF2B5EF4-FFF2-40B4-BE49-F238E27FC236}">
                <a16:creationId xmlns:a16="http://schemas.microsoft.com/office/drawing/2014/main" id="{2912E9FD-E486-429C-A725-ABC4B14ECCBB}"/>
              </a:ext>
            </a:extLst>
          </p:cNvPr>
          <p:cNvSpPr>
            <a:spLocks noChangeShapeType="1"/>
          </p:cNvSpPr>
          <p:nvPr/>
        </p:nvSpPr>
        <p:spPr bwMode="auto">
          <a:xfrm flipV="1">
            <a:off x="5497513" y="4797426"/>
            <a:ext cx="531812"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3" name="Line 66">
            <a:extLst>
              <a:ext uri="{FF2B5EF4-FFF2-40B4-BE49-F238E27FC236}">
                <a16:creationId xmlns:a16="http://schemas.microsoft.com/office/drawing/2014/main" id="{E3B90BA7-7873-4313-9196-D252D92BBDA4}"/>
              </a:ext>
            </a:extLst>
          </p:cNvPr>
          <p:cNvSpPr>
            <a:spLocks noChangeShapeType="1"/>
          </p:cNvSpPr>
          <p:nvPr/>
        </p:nvSpPr>
        <p:spPr bwMode="auto">
          <a:xfrm>
            <a:off x="6096001" y="4797426"/>
            <a:ext cx="466725"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4" name="Line 67">
            <a:extLst>
              <a:ext uri="{FF2B5EF4-FFF2-40B4-BE49-F238E27FC236}">
                <a16:creationId xmlns:a16="http://schemas.microsoft.com/office/drawing/2014/main" id="{EB11B248-0760-4B44-B1F9-81CAAD80C4BD}"/>
              </a:ext>
            </a:extLst>
          </p:cNvPr>
          <p:cNvSpPr>
            <a:spLocks noChangeShapeType="1"/>
          </p:cNvSpPr>
          <p:nvPr/>
        </p:nvSpPr>
        <p:spPr bwMode="auto">
          <a:xfrm flipH="1">
            <a:off x="6562726" y="3789364"/>
            <a:ext cx="398463"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5" name="Line 68">
            <a:extLst>
              <a:ext uri="{FF2B5EF4-FFF2-40B4-BE49-F238E27FC236}">
                <a16:creationId xmlns:a16="http://schemas.microsoft.com/office/drawing/2014/main" id="{1B772824-983B-46B5-9779-C2905C2EE7D7}"/>
              </a:ext>
            </a:extLst>
          </p:cNvPr>
          <p:cNvSpPr>
            <a:spLocks noChangeShapeType="1"/>
          </p:cNvSpPr>
          <p:nvPr/>
        </p:nvSpPr>
        <p:spPr bwMode="auto">
          <a:xfrm>
            <a:off x="6296026" y="3644901"/>
            <a:ext cx="665163"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6" name="Line 69">
            <a:extLst>
              <a:ext uri="{FF2B5EF4-FFF2-40B4-BE49-F238E27FC236}">
                <a16:creationId xmlns:a16="http://schemas.microsoft.com/office/drawing/2014/main" id="{B39B3C33-3334-4FDC-A3A8-C76F85479CC3}"/>
              </a:ext>
            </a:extLst>
          </p:cNvPr>
          <p:cNvSpPr>
            <a:spLocks noChangeShapeType="1"/>
          </p:cNvSpPr>
          <p:nvPr/>
        </p:nvSpPr>
        <p:spPr bwMode="auto">
          <a:xfrm flipH="1">
            <a:off x="6096000" y="3644901"/>
            <a:ext cx="13335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7" name="Line 70">
            <a:extLst>
              <a:ext uri="{FF2B5EF4-FFF2-40B4-BE49-F238E27FC236}">
                <a16:creationId xmlns:a16="http://schemas.microsoft.com/office/drawing/2014/main" id="{A0D59314-6F8F-4C97-8B67-A145B6F16663}"/>
              </a:ext>
            </a:extLst>
          </p:cNvPr>
          <p:cNvSpPr>
            <a:spLocks noChangeShapeType="1"/>
          </p:cNvSpPr>
          <p:nvPr/>
        </p:nvSpPr>
        <p:spPr bwMode="auto">
          <a:xfrm flipH="1" flipV="1">
            <a:off x="5762626" y="4076701"/>
            <a:ext cx="333375"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8" name="Line 71">
            <a:extLst>
              <a:ext uri="{FF2B5EF4-FFF2-40B4-BE49-F238E27FC236}">
                <a16:creationId xmlns:a16="http://schemas.microsoft.com/office/drawing/2014/main" id="{04EBA57D-0CA2-41A3-95C5-EF30FF36E751}"/>
              </a:ext>
            </a:extLst>
          </p:cNvPr>
          <p:cNvSpPr>
            <a:spLocks noChangeShapeType="1"/>
          </p:cNvSpPr>
          <p:nvPr/>
        </p:nvSpPr>
        <p:spPr bwMode="auto">
          <a:xfrm flipH="1">
            <a:off x="5430838" y="4076701"/>
            <a:ext cx="40005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89" name="Line 74">
            <a:extLst>
              <a:ext uri="{FF2B5EF4-FFF2-40B4-BE49-F238E27FC236}">
                <a16:creationId xmlns:a16="http://schemas.microsoft.com/office/drawing/2014/main" id="{080A1D3E-DA43-4872-8751-0C1781B07690}"/>
              </a:ext>
            </a:extLst>
          </p:cNvPr>
          <p:cNvSpPr>
            <a:spLocks noChangeShapeType="1"/>
          </p:cNvSpPr>
          <p:nvPr/>
        </p:nvSpPr>
        <p:spPr bwMode="auto">
          <a:xfrm flipH="1" flipV="1">
            <a:off x="4900614" y="4149726"/>
            <a:ext cx="530225"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0" name="Line 75">
            <a:extLst>
              <a:ext uri="{FF2B5EF4-FFF2-40B4-BE49-F238E27FC236}">
                <a16:creationId xmlns:a16="http://schemas.microsoft.com/office/drawing/2014/main" id="{FFAEC637-D468-435C-9971-F696CC60E4DC}"/>
              </a:ext>
            </a:extLst>
          </p:cNvPr>
          <p:cNvSpPr>
            <a:spLocks noChangeShapeType="1"/>
          </p:cNvSpPr>
          <p:nvPr/>
        </p:nvSpPr>
        <p:spPr bwMode="auto">
          <a:xfrm flipH="1">
            <a:off x="4699000" y="4149726"/>
            <a:ext cx="266700"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1" name="Line 76">
            <a:extLst>
              <a:ext uri="{FF2B5EF4-FFF2-40B4-BE49-F238E27FC236}">
                <a16:creationId xmlns:a16="http://schemas.microsoft.com/office/drawing/2014/main" id="{CA009339-3853-47BC-9B7B-A5BDAF9664B2}"/>
              </a:ext>
            </a:extLst>
          </p:cNvPr>
          <p:cNvSpPr>
            <a:spLocks noChangeShapeType="1"/>
          </p:cNvSpPr>
          <p:nvPr/>
        </p:nvSpPr>
        <p:spPr bwMode="auto">
          <a:xfrm flipH="1" flipV="1">
            <a:off x="4433888" y="3716338"/>
            <a:ext cx="265112"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2" name="Line 77">
            <a:extLst>
              <a:ext uri="{FF2B5EF4-FFF2-40B4-BE49-F238E27FC236}">
                <a16:creationId xmlns:a16="http://schemas.microsoft.com/office/drawing/2014/main" id="{EE35C18E-2546-498A-96EE-20671BD52931}"/>
              </a:ext>
            </a:extLst>
          </p:cNvPr>
          <p:cNvSpPr>
            <a:spLocks noChangeShapeType="1"/>
          </p:cNvSpPr>
          <p:nvPr/>
        </p:nvSpPr>
        <p:spPr bwMode="auto">
          <a:xfrm flipV="1">
            <a:off x="4500563" y="3357564"/>
            <a:ext cx="400050"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3" name="Line 78">
            <a:extLst>
              <a:ext uri="{FF2B5EF4-FFF2-40B4-BE49-F238E27FC236}">
                <a16:creationId xmlns:a16="http://schemas.microsoft.com/office/drawing/2014/main" id="{7DFC84C8-A57E-48BD-964C-68D3120AA8C3}"/>
              </a:ext>
            </a:extLst>
          </p:cNvPr>
          <p:cNvSpPr>
            <a:spLocks noChangeShapeType="1"/>
          </p:cNvSpPr>
          <p:nvPr/>
        </p:nvSpPr>
        <p:spPr bwMode="auto">
          <a:xfrm>
            <a:off x="4900614" y="3357564"/>
            <a:ext cx="198437"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4" name="Line 79">
            <a:extLst>
              <a:ext uri="{FF2B5EF4-FFF2-40B4-BE49-F238E27FC236}">
                <a16:creationId xmlns:a16="http://schemas.microsoft.com/office/drawing/2014/main" id="{BF595DA5-7B19-468F-B281-01B97125718B}"/>
              </a:ext>
            </a:extLst>
          </p:cNvPr>
          <p:cNvSpPr>
            <a:spLocks noChangeShapeType="1"/>
          </p:cNvSpPr>
          <p:nvPr/>
        </p:nvSpPr>
        <p:spPr bwMode="auto">
          <a:xfrm>
            <a:off x="5099051" y="3716338"/>
            <a:ext cx="530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5" name="Line 80">
            <a:extLst>
              <a:ext uri="{FF2B5EF4-FFF2-40B4-BE49-F238E27FC236}">
                <a16:creationId xmlns:a16="http://schemas.microsoft.com/office/drawing/2014/main" id="{A4584413-A9F3-4D17-BB23-42F14BF57084}"/>
              </a:ext>
            </a:extLst>
          </p:cNvPr>
          <p:cNvSpPr>
            <a:spLocks noChangeShapeType="1"/>
          </p:cNvSpPr>
          <p:nvPr/>
        </p:nvSpPr>
        <p:spPr bwMode="auto">
          <a:xfrm flipV="1">
            <a:off x="5629276" y="3357564"/>
            <a:ext cx="68263"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6" name="Line 81">
            <a:extLst>
              <a:ext uri="{FF2B5EF4-FFF2-40B4-BE49-F238E27FC236}">
                <a16:creationId xmlns:a16="http://schemas.microsoft.com/office/drawing/2014/main" id="{09E13FDD-5D49-422E-8B19-48185A9AD6B0}"/>
              </a:ext>
            </a:extLst>
          </p:cNvPr>
          <p:cNvSpPr>
            <a:spLocks noChangeShapeType="1"/>
          </p:cNvSpPr>
          <p:nvPr/>
        </p:nvSpPr>
        <p:spPr bwMode="auto">
          <a:xfrm flipH="1" flipV="1">
            <a:off x="5230814" y="3068639"/>
            <a:ext cx="4667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52297" name="Line 82">
            <a:extLst>
              <a:ext uri="{FF2B5EF4-FFF2-40B4-BE49-F238E27FC236}">
                <a16:creationId xmlns:a16="http://schemas.microsoft.com/office/drawing/2014/main" id="{73423FF0-767B-4611-BBE5-474B819C2D18}"/>
              </a:ext>
            </a:extLst>
          </p:cNvPr>
          <p:cNvSpPr>
            <a:spLocks noChangeShapeType="1"/>
          </p:cNvSpPr>
          <p:nvPr/>
        </p:nvSpPr>
        <p:spPr bwMode="auto">
          <a:xfrm>
            <a:off x="5299075" y="2276475"/>
            <a:ext cx="0" cy="865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54333"/>
                                        </p:tgtEl>
                                        <p:attrNameLst>
                                          <p:attrName>style.visibility</p:attrName>
                                        </p:attrNameLst>
                                      </p:cBhvr>
                                      <p:to>
                                        <p:strVal val="visible"/>
                                      </p:to>
                                    </p:set>
                                    <p:animEffect transition="in" filter="wipe(down)">
                                      <p:cBhvr>
                                        <p:cTn id="7" dur="500"/>
                                        <p:tgtEl>
                                          <p:spTgt spid="354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54335"/>
                                        </p:tgtEl>
                                        <p:attrNameLst>
                                          <p:attrName>style.visibility</p:attrName>
                                        </p:attrNameLst>
                                      </p:cBhvr>
                                      <p:to>
                                        <p:strVal val="visible"/>
                                      </p:to>
                                    </p:set>
                                    <p:animEffect transition="in" filter="wipe(up)">
                                      <p:cBhvr>
                                        <p:cTn id="12" dur="500"/>
                                        <p:tgtEl>
                                          <p:spTgt spid="3543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54339"/>
                                        </p:tgtEl>
                                        <p:attrNameLst>
                                          <p:attrName>style.visibility</p:attrName>
                                        </p:attrNameLst>
                                      </p:cBhvr>
                                      <p:to>
                                        <p:strVal val="visible"/>
                                      </p:to>
                                    </p:set>
                                    <p:animEffect transition="in" filter="wipe(up)">
                                      <p:cBhvr>
                                        <p:cTn id="17" dur="500"/>
                                        <p:tgtEl>
                                          <p:spTgt spid="3543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54340"/>
                                        </p:tgtEl>
                                        <p:attrNameLst>
                                          <p:attrName>style.visibility</p:attrName>
                                        </p:attrNameLst>
                                      </p:cBhvr>
                                      <p:to>
                                        <p:strVal val="visible"/>
                                      </p:to>
                                    </p:set>
                                    <p:animEffect transition="in" filter="wipe(up)">
                                      <p:cBhvr>
                                        <p:cTn id="22" dur="500"/>
                                        <p:tgtEl>
                                          <p:spTgt spid="354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54338"/>
                                        </p:tgtEl>
                                        <p:attrNameLst>
                                          <p:attrName>style.visibility</p:attrName>
                                        </p:attrNameLst>
                                      </p:cBhvr>
                                      <p:to>
                                        <p:strVal val="visible"/>
                                      </p:to>
                                    </p:set>
                                    <p:animEffect transition="in" filter="wipe(up)">
                                      <p:cBhvr>
                                        <p:cTn id="27" dur="500"/>
                                        <p:tgtEl>
                                          <p:spTgt spid="3543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54337"/>
                                        </p:tgtEl>
                                        <p:attrNameLst>
                                          <p:attrName>style.visibility</p:attrName>
                                        </p:attrNameLst>
                                      </p:cBhvr>
                                      <p:to>
                                        <p:strVal val="visible"/>
                                      </p:to>
                                    </p:set>
                                    <p:animEffect transition="in" filter="wipe(down)">
                                      <p:cBhvr>
                                        <p:cTn id="32" dur="500"/>
                                        <p:tgtEl>
                                          <p:spTgt spid="3543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54341"/>
                                        </p:tgtEl>
                                        <p:attrNameLst>
                                          <p:attrName>style.visibility</p:attrName>
                                        </p:attrNameLst>
                                      </p:cBhvr>
                                      <p:to>
                                        <p:strVal val="visible"/>
                                      </p:to>
                                    </p:set>
                                    <p:animEffect transition="in" filter="wipe(up)">
                                      <p:cBhvr>
                                        <p:cTn id="37" dur="500"/>
                                        <p:tgtEl>
                                          <p:spTgt spid="3543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354343"/>
                                        </p:tgtEl>
                                        <p:attrNameLst>
                                          <p:attrName>style.visibility</p:attrName>
                                        </p:attrNameLst>
                                      </p:cBhvr>
                                      <p:to>
                                        <p:strVal val="visible"/>
                                      </p:to>
                                    </p:set>
                                    <p:animEffect transition="in" filter="wipe(up)">
                                      <p:cBhvr>
                                        <p:cTn id="42" dur="500"/>
                                        <p:tgtEl>
                                          <p:spTgt spid="3543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354344"/>
                                        </p:tgtEl>
                                        <p:attrNameLst>
                                          <p:attrName>style.visibility</p:attrName>
                                        </p:attrNameLst>
                                      </p:cBhvr>
                                      <p:to>
                                        <p:strVal val="visible"/>
                                      </p:to>
                                    </p:set>
                                    <p:animEffect transition="in" filter="wipe(down)">
                                      <p:cBhvr>
                                        <p:cTn id="47" dur="500"/>
                                        <p:tgtEl>
                                          <p:spTgt spid="3543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354348"/>
                                        </p:tgtEl>
                                        <p:attrNameLst>
                                          <p:attrName>style.visibility</p:attrName>
                                        </p:attrNameLst>
                                      </p:cBhvr>
                                      <p:to>
                                        <p:strVal val="visible"/>
                                      </p:to>
                                    </p:set>
                                    <p:animEffect transition="in" filter="wipe(up)">
                                      <p:cBhvr>
                                        <p:cTn id="52" dur="500"/>
                                        <p:tgtEl>
                                          <p:spTgt spid="35434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54350"/>
                                        </p:tgtEl>
                                        <p:attrNameLst>
                                          <p:attrName>style.visibility</p:attrName>
                                        </p:attrNameLst>
                                      </p:cBhvr>
                                      <p:to>
                                        <p:strVal val="visible"/>
                                      </p:to>
                                    </p:set>
                                    <p:animEffect transition="in" filter="wipe(down)">
                                      <p:cBhvr>
                                        <p:cTn id="57" dur="500"/>
                                        <p:tgtEl>
                                          <p:spTgt spid="35435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354360"/>
                                        </p:tgtEl>
                                        <p:attrNameLst>
                                          <p:attrName>style.visibility</p:attrName>
                                        </p:attrNameLst>
                                      </p:cBhvr>
                                      <p:to>
                                        <p:strVal val="visible"/>
                                      </p:to>
                                    </p:set>
                                    <p:animEffect transition="in" filter="wipe(up)">
                                      <p:cBhvr>
                                        <p:cTn id="62" dur="500"/>
                                        <p:tgtEl>
                                          <p:spTgt spid="35436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354359"/>
                                        </p:tgtEl>
                                        <p:attrNameLst>
                                          <p:attrName>style.visibility</p:attrName>
                                        </p:attrNameLst>
                                      </p:cBhvr>
                                      <p:to>
                                        <p:strVal val="visible"/>
                                      </p:to>
                                    </p:set>
                                    <p:animEffect transition="in" filter="wipe(down)">
                                      <p:cBhvr>
                                        <p:cTn id="67" dur="500"/>
                                        <p:tgtEl>
                                          <p:spTgt spid="35435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354361"/>
                                        </p:tgtEl>
                                        <p:attrNameLst>
                                          <p:attrName>style.visibility</p:attrName>
                                        </p:attrNameLst>
                                      </p:cBhvr>
                                      <p:to>
                                        <p:strVal val="visible"/>
                                      </p:to>
                                    </p:set>
                                    <p:animEffect transition="in" filter="wipe(up)">
                                      <p:cBhvr>
                                        <p:cTn id="72" dur="500"/>
                                        <p:tgtEl>
                                          <p:spTgt spid="35436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354332"/>
                                        </p:tgtEl>
                                        <p:attrNameLst>
                                          <p:attrName>style.visibility</p:attrName>
                                        </p:attrNameLst>
                                      </p:cBhvr>
                                      <p:to>
                                        <p:strVal val="visible"/>
                                      </p:to>
                                    </p:set>
                                    <p:animEffect transition="in" filter="wipe(up)">
                                      <p:cBhvr>
                                        <p:cTn id="77" dur="500"/>
                                        <p:tgtEl>
                                          <p:spTgt spid="3543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nodeType="clickEffect">
                                  <p:stCondLst>
                                    <p:cond delay="0"/>
                                  </p:stCondLst>
                                  <p:childTnLst>
                                    <p:set>
                                      <p:cBhvr>
                                        <p:cTn id="81" dur="1" fill="hold">
                                          <p:stCondLst>
                                            <p:cond delay="0"/>
                                          </p:stCondLst>
                                        </p:cTn>
                                        <p:tgtEl>
                                          <p:spTgt spid="354363"/>
                                        </p:tgtEl>
                                        <p:attrNameLst>
                                          <p:attrName>style.visibility</p:attrName>
                                        </p:attrNameLst>
                                      </p:cBhvr>
                                      <p:to>
                                        <p:strVal val="visible"/>
                                      </p:to>
                                    </p:set>
                                    <p:animEffect transition="in" filter="wipe(down)">
                                      <p:cBhvr>
                                        <p:cTn id="82" dur="500"/>
                                        <p:tgtEl>
                                          <p:spTgt spid="35436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nodeType="clickEffect">
                                  <p:stCondLst>
                                    <p:cond delay="0"/>
                                  </p:stCondLst>
                                  <p:childTnLst>
                                    <p:set>
                                      <p:cBhvr>
                                        <p:cTn id="86" dur="1" fill="hold">
                                          <p:stCondLst>
                                            <p:cond delay="0"/>
                                          </p:stCondLst>
                                        </p:cTn>
                                        <p:tgtEl>
                                          <p:spTgt spid="354356"/>
                                        </p:tgtEl>
                                        <p:attrNameLst>
                                          <p:attrName>style.visibility</p:attrName>
                                        </p:attrNameLst>
                                      </p:cBhvr>
                                      <p:to>
                                        <p:strVal val="visible"/>
                                      </p:to>
                                    </p:set>
                                    <p:animEffect transition="in" filter="wipe(up)">
                                      <p:cBhvr>
                                        <p:cTn id="87" dur="500"/>
                                        <p:tgtEl>
                                          <p:spTgt spid="35435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354353"/>
                                        </p:tgtEl>
                                        <p:attrNameLst>
                                          <p:attrName>style.visibility</p:attrName>
                                        </p:attrNameLst>
                                      </p:cBhvr>
                                      <p:to>
                                        <p:strVal val="visible"/>
                                      </p:to>
                                    </p:set>
                                    <p:animEffect transition="in" filter="wipe(up)">
                                      <p:cBhvr>
                                        <p:cTn id="92" dur="500"/>
                                        <p:tgtEl>
                                          <p:spTgt spid="35435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354352"/>
                                        </p:tgtEl>
                                        <p:attrNameLst>
                                          <p:attrName>style.visibility</p:attrName>
                                        </p:attrNameLst>
                                      </p:cBhvr>
                                      <p:to>
                                        <p:strVal val="visible"/>
                                      </p:to>
                                    </p:set>
                                    <p:animEffect transition="in" filter="wipe(up)">
                                      <p:cBhvr>
                                        <p:cTn id="97" dur="500"/>
                                        <p:tgtEl>
                                          <p:spTgt spid="35435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nodeType="clickEffect">
                                  <p:stCondLst>
                                    <p:cond delay="0"/>
                                  </p:stCondLst>
                                  <p:childTnLst>
                                    <p:set>
                                      <p:cBhvr>
                                        <p:cTn id="101" dur="1" fill="hold">
                                          <p:stCondLst>
                                            <p:cond delay="0"/>
                                          </p:stCondLst>
                                        </p:cTn>
                                        <p:tgtEl>
                                          <p:spTgt spid="354330"/>
                                        </p:tgtEl>
                                        <p:attrNameLst>
                                          <p:attrName>style.visibility</p:attrName>
                                        </p:attrNameLst>
                                      </p:cBhvr>
                                      <p:to>
                                        <p:strVal val="visible"/>
                                      </p:to>
                                    </p:set>
                                    <p:animEffect transition="in" filter="wipe(down)">
                                      <p:cBhvr>
                                        <p:cTn id="102" dur="500"/>
                                        <p:tgtEl>
                                          <p:spTgt spid="354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14FDC9C-6855-4A44-B002-2EA26EE4F1DB}"/>
              </a:ext>
            </a:extLst>
          </p:cNvPr>
          <p:cNvSpPr>
            <a:spLocks noGrp="1"/>
          </p:cNvSpPr>
          <p:nvPr>
            <p:ph idx="1"/>
          </p:nvPr>
        </p:nvSpPr>
        <p:spPr>
          <a:xfrm>
            <a:off x="1524001" y="0"/>
            <a:ext cx="8791575" cy="1676400"/>
          </a:xfrm>
        </p:spPr>
        <p:txBody>
          <a:bodyPr/>
          <a:lstStyle/>
          <a:p>
            <a:pPr marL="285750" indent="0">
              <a:buNone/>
            </a:pPr>
            <a:endParaRPr lang="pt-BR" altLang="pt-BR" sz="3400" b="1" dirty="0"/>
          </a:p>
          <a:p>
            <a:pPr marL="285750" indent="0">
              <a:buNone/>
            </a:pPr>
            <a:r>
              <a:rPr lang="pt-BR" altLang="pt-BR" sz="3400" b="1" dirty="0"/>
              <a:t>Euler </a:t>
            </a:r>
            <a:r>
              <a:rPr lang="pt-BR" altLang="pt-BR" sz="3400" b="1" dirty="0" err="1"/>
              <a:t>vs</a:t>
            </a:r>
            <a:r>
              <a:rPr lang="pt-BR" altLang="pt-BR" sz="3400" b="1" dirty="0"/>
              <a:t> Hamilton</a:t>
            </a:r>
          </a:p>
          <a:p>
            <a:pPr marL="285750" indent="0">
              <a:buNone/>
            </a:pPr>
            <a:endParaRPr lang="pt-BR" altLang="pt-BR" sz="3400" b="1" dirty="0">
              <a:solidFill>
                <a:srgbClr val="A50021"/>
              </a:solidFill>
            </a:endParaRPr>
          </a:p>
        </p:txBody>
      </p:sp>
      <p:pic>
        <p:nvPicPr>
          <p:cNvPr id="2" name="Imagem 1">
            <a:extLst>
              <a:ext uri="{FF2B5EF4-FFF2-40B4-BE49-F238E27FC236}">
                <a16:creationId xmlns:a16="http://schemas.microsoft.com/office/drawing/2014/main" id="{A508F72E-B2B6-4BDA-9FC7-C734CDDD7D2B}"/>
              </a:ext>
            </a:extLst>
          </p:cNvPr>
          <p:cNvPicPr>
            <a:picLocks noChangeAspect="1"/>
          </p:cNvPicPr>
          <p:nvPr/>
        </p:nvPicPr>
        <p:blipFill>
          <a:blip r:embed="rId2"/>
          <a:stretch>
            <a:fillRect/>
          </a:stretch>
        </p:blipFill>
        <p:spPr>
          <a:xfrm>
            <a:off x="919661" y="1394998"/>
            <a:ext cx="9748337" cy="5019054"/>
          </a:xfrm>
          <a:prstGeom prst="rect">
            <a:avLst/>
          </a:prstGeom>
        </p:spPr>
      </p:pic>
    </p:spTree>
    <p:extLst>
      <p:ext uri="{BB962C8B-B14F-4D97-AF65-F5344CB8AC3E}">
        <p14:creationId xmlns:p14="http://schemas.microsoft.com/office/powerpoint/2010/main" val="3856873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9B73-083F-A178-682B-45EB0500C284}"/>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34BF3A57-1EE5-0C25-5405-F4C5F458ACDE}"/>
              </a:ext>
            </a:extLst>
          </p:cNvPr>
          <p:cNvSpPr>
            <a:spLocks noGrp="1"/>
          </p:cNvSpPr>
          <p:nvPr>
            <p:ph type="title"/>
          </p:nvPr>
        </p:nvSpPr>
        <p:spPr>
          <a:xfrm>
            <a:off x="663576" y="384177"/>
            <a:ext cx="8229600" cy="1143000"/>
          </a:xfrm>
        </p:spPr>
        <p:txBody>
          <a:bodyPr anchor="t"/>
          <a:lstStyle/>
          <a:p>
            <a:pPr eaLnBrk="1" hangingPunct="1"/>
            <a:r>
              <a:rPr lang="pt-BR" altLang="pt-BR" b="1" dirty="0"/>
              <a:t>Grafos Densos e Esparsos</a:t>
            </a:r>
          </a:p>
        </p:txBody>
      </p:sp>
      <p:sp>
        <p:nvSpPr>
          <p:cNvPr id="48131" name="Rectangle 3">
            <a:extLst>
              <a:ext uri="{FF2B5EF4-FFF2-40B4-BE49-F238E27FC236}">
                <a16:creationId xmlns:a16="http://schemas.microsoft.com/office/drawing/2014/main" id="{CBC143F4-A62E-742F-BC75-6BDB11EAF2FF}"/>
              </a:ext>
            </a:extLst>
          </p:cNvPr>
          <p:cNvSpPr>
            <a:spLocks noGrp="1"/>
          </p:cNvSpPr>
          <p:nvPr>
            <p:ph idx="1"/>
          </p:nvPr>
        </p:nvSpPr>
        <p:spPr>
          <a:xfrm>
            <a:off x="649356" y="1341437"/>
            <a:ext cx="5879035" cy="5132385"/>
          </a:xfrm>
        </p:spPr>
        <p:txBody>
          <a:bodyPr>
            <a:normAutofit fontScale="70000" lnSpcReduction="20000"/>
          </a:bodyPr>
          <a:lstStyle/>
          <a:p>
            <a:pPr eaLnBrk="1" hangingPunct="1">
              <a:lnSpc>
                <a:spcPct val="120000"/>
              </a:lnSpc>
            </a:pPr>
            <a:r>
              <a:rPr lang="pt-BR" altLang="pt-BR" dirty="0"/>
              <a:t>Um grafo é </a:t>
            </a:r>
            <a:r>
              <a:rPr lang="pt-BR" altLang="pt-BR" b="1" dirty="0"/>
              <a:t>denso</a:t>
            </a:r>
            <a:r>
              <a:rPr lang="pt-BR" altLang="pt-BR" dirty="0"/>
              <a:t> se tem muitas arestas em relação ao seu número de vértices e </a:t>
            </a:r>
            <a:r>
              <a:rPr lang="pt-BR" altLang="pt-BR" b="1" dirty="0"/>
              <a:t>esparso</a:t>
            </a:r>
            <a:r>
              <a:rPr lang="pt-BR" altLang="pt-BR" dirty="0"/>
              <a:t> se tem poucas arestas em comparação aos seus vértices.</a:t>
            </a:r>
          </a:p>
          <a:p>
            <a:pPr eaLnBrk="1" hangingPunct="1">
              <a:lnSpc>
                <a:spcPct val="120000"/>
              </a:lnSpc>
            </a:pPr>
            <a:r>
              <a:rPr lang="pt-BR" altLang="pt-BR" b="1" dirty="0"/>
              <a:t>A distinção é crucial para a eficiência: </a:t>
            </a:r>
            <a:r>
              <a:rPr lang="pt-BR" altLang="pt-BR" dirty="0"/>
              <a:t>grafos densos utilizam melhor matrizes de adjacência, e esparsos, listas de adjacência. </a:t>
            </a:r>
          </a:p>
          <a:p>
            <a:pPr eaLnBrk="1" hangingPunct="1">
              <a:lnSpc>
                <a:spcPct val="120000"/>
              </a:lnSpc>
            </a:pPr>
            <a:r>
              <a:rPr lang="pt-BR" altLang="pt-BR" b="1" dirty="0"/>
              <a:t>Grafo Denso (</a:t>
            </a:r>
            <a:r>
              <a:rPr lang="pt-BR" altLang="pt-BR" b="1" dirty="0" err="1"/>
              <a:t>Dense</a:t>
            </a:r>
            <a:r>
              <a:rPr lang="pt-BR" altLang="pt-BR" b="1" dirty="0"/>
              <a:t> </a:t>
            </a:r>
            <a:r>
              <a:rPr lang="pt-BR" altLang="pt-BR" b="1" dirty="0" err="1"/>
              <a:t>Graph</a:t>
            </a:r>
            <a:r>
              <a:rPr lang="pt-BR" altLang="pt-BR" b="1" dirty="0"/>
              <a:t>):</a:t>
            </a:r>
          </a:p>
          <a:p>
            <a:pPr lvl="1">
              <a:lnSpc>
                <a:spcPct val="120000"/>
              </a:lnSpc>
            </a:pPr>
            <a:r>
              <a:rPr lang="pt-BR" altLang="pt-BR" b="1" dirty="0"/>
              <a:t>Estrutura: </a:t>
            </a:r>
            <a:r>
              <a:rPr lang="pt-BR" altLang="pt-BR" dirty="0"/>
              <a:t>Muitas arestas. A maioria dos vértices está conectada entre si.</a:t>
            </a:r>
          </a:p>
          <a:p>
            <a:pPr lvl="1">
              <a:lnSpc>
                <a:spcPct val="120000"/>
              </a:lnSpc>
            </a:pPr>
            <a:r>
              <a:rPr lang="pt-BR" altLang="pt-BR" b="1" dirty="0"/>
              <a:t>Arestas: </a:t>
            </a:r>
            <a:r>
              <a:rPr lang="pt-BR" altLang="pt-BR" dirty="0"/>
              <a:t>O número de arestas |E| aproxima-se de O(|V|²), onde |V| é o número de vértices.</a:t>
            </a:r>
          </a:p>
          <a:p>
            <a:pPr lvl="1">
              <a:lnSpc>
                <a:spcPct val="120000"/>
              </a:lnSpc>
            </a:pPr>
            <a:r>
              <a:rPr lang="pt-BR" altLang="pt-BR" b="1" dirty="0"/>
              <a:t>Representação Recomendada: </a:t>
            </a:r>
            <a:r>
              <a:rPr lang="pt-BR" altLang="pt-BR" dirty="0"/>
              <a:t>Matriz de Adjacência O(|V|² de memória), permitindo verificar se uma aresta existe em tempo O(1).</a:t>
            </a:r>
          </a:p>
          <a:p>
            <a:pPr lvl="1">
              <a:lnSpc>
                <a:spcPct val="120000"/>
              </a:lnSpc>
            </a:pPr>
            <a:r>
              <a:rPr lang="pt-BR" altLang="pt-BR" b="1" dirty="0"/>
              <a:t>Exemplo: </a:t>
            </a:r>
            <a:r>
              <a:rPr lang="pt-BR" altLang="pt-BR" dirty="0"/>
              <a:t>Redes sociais onde quase todos se conhecem (grafo completo). </a:t>
            </a:r>
          </a:p>
        </p:txBody>
      </p:sp>
      <p:pic>
        <p:nvPicPr>
          <p:cNvPr id="3" name="Imagem 2">
            <a:extLst>
              <a:ext uri="{FF2B5EF4-FFF2-40B4-BE49-F238E27FC236}">
                <a16:creationId xmlns:a16="http://schemas.microsoft.com/office/drawing/2014/main" id="{2E3ECC5A-F90A-8BFE-0EA1-D16D44C6882A}"/>
              </a:ext>
            </a:extLst>
          </p:cNvPr>
          <p:cNvPicPr>
            <a:picLocks noChangeAspect="1"/>
          </p:cNvPicPr>
          <p:nvPr/>
        </p:nvPicPr>
        <p:blipFill>
          <a:blip r:embed="rId2"/>
          <a:stretch>
            <a:fillRect/>
          </a:stretch>
        </p:blipFill>
        <p:spPr>
          <a:xfrm>
            <a:off x="6950851" y="2203746"/>
            <a:ext cx="5067099" cy="2793556"/>
          </a:xfrm>
          <a:prstGeom prst="rect">
            <a:avLst/>
          </a:prstGeom>
        </p:spPr>
      </p:pic>
    </p:spTree>
    <p:extLst>
      <p:ext uri="{BB962C8B-B14F-4D97-AF65-F5344CB8AC3E}">
        <p14:creationId xmlns:p14="http://schemas.microsoft.com/office/powerpoint/2010/main" val="1506525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B2A3-B8B5-BE04-CCD0-72FEB7F106FE}"/>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335458F5-4EDF-5F42-176F-B4A730B090D0}"/>
              </a:ext>
            </a:extLst>
          </p:cNvPr>
          <p:cNvSpPr>
            <a:spLocks noGrp="1"/>
          </p:cNvSpPr>
          <p:nvPr>
            <p:ph type="title"/>
          </p:nvPr>
        </p:nvSpPr>
        <p:spPr>
          <a:xfrm>
            <a:off x="663576" y="384177"/>
            <a:ext cx="8229600" cy="1143000"/>
          </a:xfrm>
        </p:spPr>
        <p:txBody>
          <a:bodyPr anchor="t"/>
          <a:lstStyle/>
          <a:p>
            <a:pPr eaLnBrk="1" hangingPunct="1"/>
            <a:r>
              <a:rPr lang="pt-BR" altLang="pt-BR" b="1" dirty="0"/>
              <a:t>Grafos Densos e Esparsos</a:t>
            </a:r>
          </a:p>
        </p:txBody>
      </p:sp>
      <p:sp>
        <p:nvSpPr>
          <p:cNvPr id="48131" name="Rectangle 3">
            <a:extLst>
              <a:ext uri="{FF2B5EF4-FFF2-40B4-BE49-F238E27FC236}">
                <a16:creationId xmlns:a16="http://schemas.microsoft.com/office/drawing/2014/main" id="{0406A7F0-4F05-D3B5-3945-A2D5FF98FFC9}"/>
              </a:ext>
            </a:extLst>
          </p:cNvPr>
          <p:cNvSpPr>
            <a:spLocks noGrp="1"/>
          </p:cNvSpPr>
          <p:nvPr>
            <p:ph idx="1"/>
          </p:nvPr>
        </p:nvSpPr>
        <p:spPr>
          <a:xfrm>
            <a:off x="649356" y="1341437"/>
            <a:ext cx="5879035" cy="5132385"/>
          </a:xfrm>
        </p:spPr>
        <p:txBody>
          <a:bodyPr>
            <a:normAutofit fontScale="92500" lnSpcReduction="10000"/>
          </a:bodyPr>
          <a:lstStyle/>
          <a:p>
            <a:pPr eaLnBrk="1" hangingPunct="1">
              <a:lnSpc>
                <a:spcPct val="120000"/>
              </a:lnSpc>
            </a:pPr>
            <a:r>
              <a:rPr lang="pt-BR" altLang="pt-BR" b="1" dirty="0"/>
              <a:t>Grafo Esparso (</a:t>
            </a:r>
            <a:r>
              <a:rPr lang="pt-BR" altLang="pt-BR" b="1" dirty="0" err="1"/>
              <a:t>Sparse</a:t>
            </a:r>
            <a:r>
              <a:rPr lang="pt-BR" altLang="pt-BR" b="1" dirty="0"/>
              <a:t> </a:t>
            </a:r>
            <a:r>
              <a:rPr lang="pt-BR" altLang="pt-BR" b="1" dirty="0" err="1"/>
              <a:t>Graph</a:t>
            </a:r>
            <a:r>
              <a:rPr lang="pt-BR" altLang="pt-BR" b="1" dirty="0"/>
              <a:t>):</a:t>
            </a:r>
          </a:p>
          <a:p>
            <a:pPr lvl="1">
              <a:lnSpc>
                <a:spcPct val="120000"/>
              </a:lnSpc>
            </a:pPr>
            <a:r>
              <a:rPr lang="pt-BR" altLang="pt-BR" b="1" dirty="0"/>
              <a:t>Estrutura: </a:t>
            </a:r>
            <a:r>
              <a:rPr lang="pt-BR" altLang="pt-BR" dirty="0"/>
              <a:t>Poucas arestas. A maioria dos vértices não está conectada diretamente.</a:t>
            </a:r>
          </a:p>
          <a:p>
            <a:pPr lvl="1">
              <a:lnSpc>
                <a:spcPct val="120000"/>
              </a:lnSpc>
            </a:pPr>
            <a:r>
              <a:rPr lang="pt-BR" altLang="pt-BR" b="1" dirty="0"/>
              <a:t>Arestas: </a:t>
            </a:r>
            <a:r>
              <a:rPr lang="pt-BR" altLang="pt-BR" dirty="0"/>
              <a:t>O número de arestas é pequeno, geralmente O(|V|) ou um pouco mais que isso.</a:t>
            </a:r>
          </a:p>
          <a:p>
            <a:pPr lvl="1">
              <a:lnSpc>
                <a:spcPct val="120000"/>
              </a:lnSpc>
            </a:pPr>
            <a:r>
              <a:rPr lang="pt-BR" altLang="pt-BR" b="1" dirty="0"/>
              <a:t>Representação Recomendada: </a:t>
            </a:r>
            <a:r>
              <a:rPr lang="pt-BR" altLang="pt-BR" dirty="0"/>
              <a:t>Lista de Adjacência (O(|V|+|E|) de memória), eficiente em espaço para poucos vértices conectados.</a:t>
            </a:r>
          </a:p>
          <a:p>
            <a:pPr lvl="1">
              <a:lnSpc>
                <a:spcPct val="120000"/>
              </a:lnSpc>
            </a:pPr>
            <a:r>
              <a:rPr lang="pt-BR" altLang="pt-BR" b="1" dirty="0"/>
              <a:t>Exemplo: </a:t>
            </a:r>
            <a:r>
              <a:rPr lang="pt-BR" altLang="pt-BR" dirty="0"/>
              <a:t>Redes rodoviárias (cidades conectadas apenas aos vizinhos próximos). </a:t>
            </a:r>
          </a:p>
        </p:txBody>
      </p:sp>
      <p:pic>
        <p:nvPicPr>
          <p:cNvPr id="2" name="Imagem 1">
            <a:extLst>
              <a:ext uri="{FF2B5EF4-FFF2-40B4-BE49-F238E27FC236}">
                <a16:creationId xmlns:a16="http://schemas.microsoft.com/office/drawing/2014/main" id="{766337C8-80EE-4E66-59D6-AE3C50A8D38C}"/>
              </a:ext>
            </a:extLst>
          </p:cNvPr>
          <p:cNvPicPr>
            <a:picLocks noChangeAspect="1"/>
          </p:cNvPicPr>
          <p:nvPr/>
        </p:nvPicPr>
        <p:blipFill>
          <a:blip r:embed="rId2"/>
          <a:stretch>
            <a:fillRect/>
          </a:stretch>
        </p:blipFill>
        <p:spPr>
          <a:xfrm>
            <a:off x="7053556" y="1515533"/>
            <a:ext cx="4474868" cy="4784191"/>
          </a:xfrm>
          <a:prstGeom prst="rect">
            <a:avLst/>
          </a:prstGeom>
        </p:spPr>
      </p:pic>
    </p:spTree>
    <p:extLst>
      <p:ext uri="{BB962C8B-B14F-4D97-AF65-F5344CB8AC3E}">
        <p14:creationId xmlns:p14="http://schemas.microsoft.com/office/powerpoint/2010/main" val="3246059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69287-90A6-2236-7F38-430F08D3C828}"/>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D4319C4E-BED4-9560-8AFC-B258B728F1A1}"/>
              </a:ext>
            </a:extLst>
          </p:cNvPr>
          <p:cNvSpPr>
            <a:spLocks noGrp="1"/>
          </p:cNvSpPr>
          <p:nvPr>
            <p:ph type="title"/>
          </p:nvPr>
        </p:nvSpPr>
        <p:spPr>
          <a:xfrm>
            <a:off x="663576" y="384177"/>
            <a:ext cx="8229600" cy="647181"/>
          </a:xfrm>
        </p:spPr>
        <p:txBody>
          <a:bodyPr anchor="t">
            <a:normAutofit fontScale="90000"/>
          </a:bodyPr>
          <a:lstStyle/>
          <a:p>
            <a:pPr eaLnBrk="1" hangingPunct="1"/>
            <a:r>
              <a:rPr lang="pt-BR" altLang="pt-BR" b="1" dirty="0"/>
              <a:t>Representação de Grafos</a:t>
            </a:r>
          </a:p>
        </p:txBody>
      </p:sp>
      <p:sp>
        <p:nvSpPr>
          <p:cNvPr id="48131" name="Rectangle 3">
            <a:extLst>
              <a:ext uri="{FF2B5EF4-FFF2-40B4-BE49-F238E27FC236}">
                <a16:creationId xmlns:a16="http://schemas.microsoft.com/office/drawing/2014/main" id="{E2817612-C035-E7EE-E2D3-89553FCC0EC3}"/>
              </a:ext>
            </a:extLst>
          </p:cNvPr>
          <p:cNvSpPr>
            <a:spLocks noGrp="1"/>
          </p:cNvSpPr>
          <p:nvPr>
            <p:ph idx="1"/>
          </p:nvPr>
        </p:nvSpPr>
        <p:spPr>
          <a:xfrm>
            <a:off x="649356" y="1341437"/>
            <a:ext cx="10748746" cy="5132385"/>
          </a:xfrm>
        </p:spPr>
        <p:txBody>
          <a:bodyPr>
            <a:normAutofit fontScale="92500" lnSpcReduction="10000"/>
          </a:bodyPr>
          <a:lstStyle/>
          <a:p>
            <a:pPr marL="0" indent="0" eaLnBrk="1" hangingPunct="1">
              <a:lnSpc>
                <a:spcPct val="120000"/>
              </a:lnSpc>
              <a:buNone/>
            </a:pPr>
            <a:r>
              <a:rPr lang="pt-BR" altLang="pt-BR" b="1" dirty="0"/>
              <a:t>Matriz de Adjacência</a:t>
            </a:r>
          </a:p>
          <a:p>
            <a:pPr eaLnBrk="1" hangingPunct="1">
              <a:lnSpc>
                <a:spcPct val="120000"/>
              </a:lnSpc>
            </a:pPr>
            <a:r>
              <a:rPr lang="pt-BR" altLang="pt-BR" b="1" dirty="0"/>
              <a:t>Definição: </a:t>
            </a:r>
            <a:r>
              <a:rPr lang="pt-BR" altLang="pt-BR" dirty="0"/>
              <a:t>Uma matriz bidimensional M de tamanho n x n (onde n é o número de vértices).</a:t>
            </a:r>
          </a:p>
          <a:p>
            <a:pPr eaLnBrk="1" hangingPunct="1">
              <a:lnSpc>
                <a:spcPct val="120000"/>
              </a:lnSpc>
            </a:pPr>
            <a:r>
              <a:rPr lang="pt-BR" altLang="pt-BR" b="1" dirty="0"/>
              <a:t>Funcionamento: </a:t>
            </a:r>
            <a:r>
              <a:rPr lang="pt-BR" altLang="pt-BR" dirty="0"/>
              <a:t>A entrada M[i][j] é 1 (ou o peso da aresta) se houver uma aresta do vértice i para o j, e 0 caso contrário.</a:t>
            </a:r>
          </a:p>
          <a:p>
            <a:pPr eaLnBrk="1" hangingPunct="1">
              <a:lnSpc>
                <a:spcPct val="120000"/>
              </a:lnSpc>
            </a:pPr>
            <a:r>
              <a:rPr lang="pt-BR" altLang="pt-BR" b="1" dirty="0"/>
              <a:t>Vantagens: </a:t>
            </a:r>
            <a:r>
              <a:rPr lang="pt-BR" altLang="pt-BR" dirty="0"/>
              <a:t>Permite verificar se existe uma aresta entre dois vértices em tempo constante O(1).</a:t>
            </a:r>
          </a:p>
          <a:p>
            <a:pPr eaLnBrk="1" hangingPunct="1">
              <a:lnSpc>
                <a:spcPct val="120000"/>
              </a:lnSpc>
            </a:pPr>
            <a:r>
              <a:rPr lang="pt-BR" altLang="pt-BR" b="1" dirty="0"/>
              <a:t>Desvantagens: </a:t>
            </a:r>
            <a:r>
              <a:rPr lang="pt-BR" altLang="pt-BR" dirty="0"/>
              <a:t>Consome O(|V|²) espaço, o que é ineficiente para grafos com poucas arestas (esparsos).</a:t>
            </a:r>
          </a:p>
          <a:p>
            <a:pPr eaLnBrk="1" hangingPunct="1">
              <a:lnSpc>
                <a:spcPct val="120000"/>
              </a:lnSpc>
            </a:pPr>
            <a:r>
              <a:rPr lang="pt-BR" altLang="pt-BR" b="1" dirty="0"/>
              <a:t>Uso: </a:t>
            </a:r>
            <a:r>
              <a:rPr lang="pt-BR" altLang="pt-BR" dirty="0"/>
              <a:t>Ideal para grafos densos, onde o número de arestas é próximo de |V|². </a:t>
            </a:r>
          </a:p>
        </p:txBody>
      </p:sp>
    </p:spTree>
    <p:extLst>
      <p:ext uri="{BB962C8B-B14F-4D97-AF65-F5344CB8AC3E}">
        <p14:creationId xmlns:p14="http://schemas.microsoft.com/office/powerpoint/2010/main" val="3099054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a:extLst>
              <a:ext uri="{FF2B5EF4-FFF2-40B4-BE49-F238E27FC236}">
                <a16:creationId xmlns:a16="http://schemas.microsoft.com/office/drawing/2014/main" id="{6EBED022-BB78-4BFB-9713-B33B689BB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0316" y="0"/>
            <a:ext cx="966083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233E22F3-2A9C-5A3A-5B9D-64EEE7B521E4}"/>
              </a:ext>
            </a:extLst>
          </p:cNvPr>
          <p:cNvSpPr txBox="1">
            <a:spLocks/>
          </p:cNvSpPr>
          <p:nvPr/>
        </p:nvSpPr>
        <p:spPr>
          <a:xfrm>
            <a:off x="153213" y="3105409"/>
            <a:ext cx="1920136" cy="647181"/>
          </a:xfrm>
          <a:prstGeom prst="rect">
            <a:avLst/>
          </a:prstGeom>
        </p:spPr>
        <p:txBody>
          <a:bodyPr anchor="t">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altLang="pt-BR" b="1"/>
              <a:t>Representação de Grafos</a:t>
            </a:r>
            <a:endParaRPr lang="pt-BR" altLang="pt-BR"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80B7C004-01D2-496F-BE82-AECF24FA6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3938" y="1701211"/>
            <a:ext cx="9579472" cy="3710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3A418EC0-0E1E-23DB-D337-49350E667D1D}"/>
              </a:ext>
            </a:extLst>
          </p:cNvPr>
          <p:cNvSpPr txBox="1">
            <a:spLocks/>
          </p:cNvSpPr>
          <p:nvPr/>
        </p:nvSpPr>
        <p:spPr>
          <a:xfrm>
            <a:off x="663576" y="384177"/>
            <a:ext cx="8229600" cy="647181"/>
          </a:xfrm>
          <a:prstGeom prst="rect">
            <a:avLst/>
          </a:prstGeom>
        </p:spPr>
        <p:txBody>
          <a:bodyPr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altLang="pt-BR" b="1"/>
              <a:t>Representação de Grafos</a:t>
            </a:r>
            <a:endParaRPr lang="pt-BR" altLang="pt-B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5BA66-7926-C99A-77E2-16FF6F55EEC7}"/>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90E21A69-EA18-9FAC-1A6A-EA091B27E863}"/>
              </a:ext>
            </a:extLst>
          </p:cNvPr>
          <p:cNvSpPr>
            <a:spLocks noGrp="1"/>
          </p:cNvSpPr>
          <p:nvPr>
            <p:ph type="title"/>
          </p:nvPr>
        </p:nvSpPr>
        <p:spPr>
          <a:xfrm>
            <a:off x="663576" y="384177"/>
            <a:ext cx="8229600" cy="647181"/>
          </a:xfrm>
        </p:spPr>
        <p:txBody>
          <a:bodyPr anchor="t">
            <a:normAutofit fontScale="90000"/>
          </a:bodyPr>
          <a:lstStyle/>
          <a:p>
            <a:pPr eaLnBrk="1" hangingPunct="1"/>
            <a:r>
              <a:rPr lang="pt-BR" altLang="pt-BR" b="1" dirty="0"/>
              <a:t>Representação de Grafos</a:t>
            </a:r>
          </a:p>
        </p:txBody>
      </p:sp>
      <p:sp>
        <p:nvSpPr>
          <p:cNvPr id="48131" name="Rectangle 3">
            <a:extLst>
              <a:ext uri="{FF2B5EF4-FFF2-40B4-BE49-F238E27FC236}">
                <a16:creationId xmlns:a16="http://schemas.microsoft.com/office/drawing/2014/main" id="{9FB23442-12A7-CB7C-76E8-9F0D808A4274}"/>
              </a:ext>
            </a:extLst>
          </p:cNvPr>
          <p:cNvSpPr>
            <a:spLocks noGrp="1"/>
          </p:cNvSpPr>
          <p:nvPr>
            <p:ph idx="1"/>
          </p:nvPr>
        </p:nvSpPr>
        <p:spPr>
          <a:xfrm>
            <a:off x="649356" y="1341437"/>
            <a:ext cx="10748746" cy="5132385"/>
          </a:xfrm>
        </p:spPr>
        <p:txBody>
          <a:bodyPr>
            <a:normAutofit fontScale="92500" lnSpcReduction="20000"/>
          </a:bodyPr>
          <a:lstStyle/>
          <a:p>
            <a:pPr marL="0" indent="0" eaLnBrk="1" hangingPunct="1">
              <a:lnSpc>
                <a:spcPct val="120000"/>
              </a:lnSpc>
              <a:buNone/>
            </a:pPr>
            <a:r>
              <a:rPr lang="pt-BR" altLang="pt-BR" b="1" dirty="0"/>
              <a:t>Lista de Adjacência</a:t>
            </a:r>
          </a:p>
          <a:p>
            <a:pPr eaLnBrk="1" hangingPunct="1">
              <a:lnSpc>
                <a:spcPct val="120000"/>
              </a:lnSpc>
            </a:pPr>
            <a:r>
              <a:rPr lang="pt-BR" altLang="pt-BR" b="1" dirty="0"/>
              <a:t>Definição: </a:t>
            </a:r>
            <a:r>
              <a:rPr lang="pt-BR" altLang="pt-BR" dirty="0"/>
              <a:t>Um arranjo (vetor) de V listas, onde cada lista i contém os vizinhos do vértice i.</a:t>
            </a:r>
          </a:p>
          <a:p>
            <a:pPr eaLnBrk="1" hangingPunct="1">
              <a:lnSpc>
                <a:spcPct val="120000"/>
              </a:lnSpc>
            </a:pPr>
            <a:r>
              <a:rPr lang="pt-BR" altLang="pt-BR" b="1" dirty="0"/>
              <a:t>Funcionamento: </a:t>
            </a:r>
            <a:r>
              <a:rPr lang="pt-BR" altLang="pt-BR" dirty="0"/>
              <a:t>Cada vértice armazena uma lista encadeada ou vetor dos vértices aos quais está diretamente conectado.</a:t>
            </a:r>
          </a:p>
          <a:p>
            <a:pPr eaLnBrk="1" hangingPunct="1">
              <a:lnSpc>
                <a:spcPct val="120000"/>
              </a:lnSpc>
            </a:pPr>
            <a:r>
              <a:rPr lang="pt-BR" altLang="pt-BR" b="1" dirty="0"/>
              <a:t>Vantagens: </a:t>
            </a:r>
            <a:r>
              <a:rPr lang="pt-BR" altLang="pt-BR" dirty="0"/>
              <a:t>Eficiente em espaço, consumindo O(V+E), ideal para grafos esparsos. Facilita percorrer todos os vizinhos de um vértice.</a:t>
            </a:r>
          </a:p>
          <a:p>
            <a:pPr eaLnBrk="1" hangingPunct="1">
              <a:lnSpc>
                <a:spcPct val="120000"/>
              </a:lnSpc>
            </a:pPr>
            <a:r>
              <a:rPr lang="pt-BR" altLang="pt-BR" b="1" dirty="0"/>
              <a:t>Desvantagens: </a:t>
            </a:r>
            <a:r>
              <a:rPr lang="pt-BR" altLang="pt-BR" dirty="0"/>
              <a:t>Verificar se existe uma aresta específica entre dois vértices pode levar tempo O(grau do vértice).</a:t>
            </a:r>
          </a:p>
          <a:p>
            <a:pPr eaLnBrk="1" hangingPunct="1">
              <a:lnSpc>
                <a:spcPct val="120000"/>
              </a:lnSpc>
            </a:pPr>
            <a:r>
              <a:rPr lang="pt-BR" altLang="pt-BR" b="1" dirty="0"/>
              <a:t>Uso: </a:t>
            </a:r>
            <a:r>
              <a:rPr lang="pt-BR" altLang="pt-BR" dirty="0"/>
              <a:t>Mais comum em algoritmos de busca (BFS, DFS) e grafos grandes/esparsos. </a:t>
            </a:r>
          </a:p>
        </p:txBody>
      </p:sp>
    </p:spTree>
    <p:extLst>
      <p:ext uri="{BB962C8B-B14F-4D97-AF65-F5344CB8AC3E}">
        <p14:creationId xmlns:p14="http://schemas.microsoft.com/office/powerpoint/2010/main" val="1279932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13C20-486F-10FF-26D0-D0CB4752DA51}"/>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31498D60-CCE4-0D72-4990-9A82DA361F6E}"/>
              </a:ext>
            </a:extLst>
          </p:cNvPr>
          <p:cNvSpPr>
            <a:spLocks noGrp="1"/>
          </p:cNvSpPr>
          <p:nvPr>
            <p:ph type="title"/>
          </p:nvPr>
        </p:nvSpPr>
        <p:spPr>
          <a:xfrm>
            <a:off x="663576" y="384177"/>
            <a:ext cx="8229600" cy="647181"/>
          </a:xfrm>
        </p:spPr>
        <p:txBody>
          <a:bodyPr anchor="t">
            <a:normAutofit fontScale="90000"/>
          </a:bodyPr>
          <a:lstStyle/>
          <a:p>
            <a:pPr eaLnBrk="1" hangingPunct="1"/>
            <a:r>
              <a:rPr lang="pt-BR" altLang="pt-BR" b="1" dirty="0"/>
              <a:t>Representação de Grafos</a:t>
            </a:r>
          </a:p>
        </p:txBody>
      </p:sp>
      <p:sp>
        <p:nvSpPr>
          <p:cNvPr id="48131" name="Rectangle 3">
            <a:extLst>
              <a:ext uri="{FF2B5EF4-FFF2-40B4-BE49-F238E27FC236}">
                <a16:creationId xmlns:a16="http://schemas.microsoft.com/office/drawing/2014/main" id="{48A1B326-06A9-AD53-6FC9-0C2D17BB6A58}"/>
              </a:ext>
            </a:extLst>
          </p:cNvPr>
          <p:cNvSpPr>
            <a:spLocks noGrp="1"/>
          </p:cNvSpPr>
          <p:nvPr>
            <p:ph idx="1"/>
          </p:nvPr>
        </p:nvSpPr>
        <p:spPr>
          <a:xfrm>
            <a:off x="649356" y="1341437"/>
            <a:ext cx="5879035" cy="5132385"/>
          </a:xfrm>
        </p:spPr>
        <p:txBody>
          <a:bodyPr>
            <a:normAutofit fontScale="70000" lnSpcReduction="20000"/>
          </a:bodyPr>
          <a:lstStyle/>
          <a:p>
            <a:pPr eaLnBrk="1" hangingPunct="1">
              <a:lnSpc>
                <a:spcPct val="120000"/>
              </a:lnSpc>
            </a:pPr>
            <a:r>
              <a:rPr lang="pt-BR" altLang="pt-BR" dirty="0"/>
              <a:t>A </a:t>
            </a:r>
            <a:r>
              <a:rPr lang="pt-BR" altLang="pt-BR" b="1" dirty="0"/>
              <a:t>lista de adjacência </a:t>
            </a:r>
            <a:r>
              <a:rPr lang="pt-BR" altLang="pt-BR" dirty="0"/>
              <a:t>é uma das formas mais comuns de representarmos um grafo. Basicamente, podemos criar uma classe com dois atributos: valor e vizinhos.</a:t>
            </a:r>
          </a:p>
          <a:p>
            <a:pPr eaLnBrk="1" hangingPunct="1">
              <a:lnSpc>
                <a:spcPct val="120000"/>
              </a:lnSpc>
            </a:pPr>
            <a:r>
              <a:rPr lang="pt-BR" altLang="pt-BR" dirty="0"/>
              <a:t>Quando temos poucas arestas, representar dessa forma pode ser muito mais eficiente em termos de espaço de memória, visto que estamos olhando apenas para os vértices que possuem uma ligação. Na matriz de adjacência, tínhamos um espaço na memória guardado até para as conexões que não existiam (quando os elementos eram 0).</a:t>
            </a:r>
          </a:p>
          <a:p>
            <a:pPr eaLnBrk="1" hangingPunct="1">
              <a:lnSpc>
                <a:spcPct val="120000"/>
              </a:lnSpc>
            </a:pPr>
            <a:r>
              <a:rPr lang="pt-BR" altLang="pt-BR" dirty="0"/>
              <a:t>Utilizar a Lista de Adjacência pode ser muito útil quando queremos explorar os vizinhos de um determinado vértice.</a:t>
            </a:r>
          </a:p>
        </p:txBody>
      </p:sp>
      <p:pic>
        <p:nvPicPr>
          <p:cNvPr id="3" name="Imagem 2">
            <a:extLst>
              <a:ext uri="{FF2B5EF4-FFF2-40B4-BE49-F238E27FC236}">
                <a16:creationId xmlns:a16="http://schemas.microsoft.com/office/drawing/2014/main" id="{C1CB8C51-F523-E40A-6E52-83E29A3278BA}"/>
              </a:ext>
            </a:extLst>
          </p:cNvPr>
          <p:cNvPicPr>
            <a:picLocks noChangeAspect="1"/>
          </p:cNvPicPr>
          <p:nvPr/>
        </p:nvPicPr>
        <p:blipFill>
          <a:blip r:embed="rId2"/>
          <a:stretch>
            <a:fillRect/>
          </a:stretch>
        </p:blipFill>
        <p:spPr>
          <a:xfrm>
            <a:off x="6528391" y="1807532"/>
            <a:ext cx="5457449" cy="3413053"/>
          </a:xfrm>
          <a:prstGeom prst="rect">
            <a:avLst/>
          </a:prstGeom>
        </p:spPr>
      </p:pic>
    </p:spTree>
    <p:extLst>
      <p:ext uri="{BB962C8B-B14F-4D97-AF65-F5344CB8AC3E}">
        <p14:creationId xmlns:p14="http://schemas.microsoft.com/office/powerpoint/2010/main" val="1405431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28880-7D7E-B58C-2969-F2A291025AFB}"/>
            </a:ext>
          </a:extLst>
        </p:cNvPr>
        <p:cNvGrpSpPr/>
        <p:nvPr/>
      </p:nvGrpSpPr>
      <p:grpSpPr>
        <a:xfrm>
          <a:off x="0" y="0"/>
          <a:ext cx="0" cy="0"/>
          <a:chOff x="0" y="0"/>
          <a:chExt cx="0" cy="0"/>
        </a:xfrm>
      </p:grpSpPr>
      <p:sp>
        <p:nvSpPr>
          <p:cNvPr id="48130" name="Rectangle 2">
            <a:extLst>
              <a:ext uri="{FF2B5EF4-FFF2-40B4-BE49-F238E27FC236}">
                <a16:creationId xmlns:a16="http://schemas.microsoft.com/office/drawing/2014/main" id="{45A94721-22D7-D943-7F54-A4E152B08E9D}"/>
              </a:ext>
            </a:extLst>
          </p:cNvPr>
          <p:cNvSpPr>
            <a:spLocks noGrp="1"/>
          </p:cNvSpPr>
          <p:nvPr>
            <p:ph type="title"/>
          </p:nvPr>
        </p:nvSpPr>
        <p:spPr>
          <a:xfrm>
            <a:off x="663576" y="384177"/>
            <a:ext cx="8229600" cy="647181"/>
          </a:xfrm>
        </p:spPr>
        <p:txBody>
          <a:bodyPr anchor="t">
            <a:normAutofit fontScale="90000"/>
          </a:bodyPr>
          <a:lstStyle/>
          <a:p>
            <a:pPr eaLnBrk="1" hangingPunct="1"/>
            <a:r>
              <a:rPr lang="pt-BR" altLang="pt-BR" b="1" dirty="0"/>
              <a:t>Representação de Grafos</a:t>
            </a:r>
          </a:p>
        </p:txBody>
      </p:sp>
      <p:sp>
        <p:nvSpPr>
          <p:cNvPr id="48131" name="Rectangle 3">
            <a:extLst>
              <a:ext uri="{FF2B5EF4-FFF2-40B4-BE49-F238E27FC236}">
                <a16:creationId xmlns:a16="http://schemas.microsoft.com/office/drawing/2014/main" id="{20C4D151-E2D9-99D4-801E-82F3076381B5}"/>
              </a:ext>
            </a:extLst>
          </p:cNvPr>
          <p:cNvSpPr>
            <a:spLocks noGrp="1"/>
          </p:cNvSpPr>
          <p:nvPr>
            <p:ph idx="1"/>
          </p:nvPr>
        </p:nvSpPr>
        <p:spPr>
          <a:xfrm>
            <a:off x="649356" y="1341437"/>
            <a:ext cx="10748746" cy="5132385"/>
          </a:xfrm>
        </p:spPr>
        <p:txBody>
          <a:bodyPr>
            <a:normAutofit fontScale="92500" lnSpcReduction="10000"/>
          </a:bodyPr>
          <a:lstStyle/>
          <a:p>
            <a:pPr marL="0" indent="0" eaLnBrk="1" hangingPunct="1">
              <a:lnSpc>
                <a:spcPct val="120000"/>
              </a:lnSpc>
              <a:buNone/>
            </a:pPr>
            <a:r>
              <a:rPr lang="pt-BR" altLang="pt-BR" b="1" dirty="0"/>
              <a:t>Matriz de Incidência</a:t>
            </a:r>
          </a:p>
          <a:p>
            <a:pPr eaLnBrk="1" hangingPunct="1">
              <a:lnSpc>
                <a:spcPct val="120000"/>
              </a:lnSpc>
            </a:pPr>
            <a:r>
              <a:rPr lang="pt-BR" altLang="pt-BR" b="1" dirty="0"/>
              <a:t>Definição: </a:t>
            </a:r>
            <a:r>
              <a:rPr lang="pt-BR" altLang="pt-BR" dirty="0"/>
              <a:t>Uma matriz de n x m (vértices x arestas).</a:t>
            </a:r>
          </a:p>
          <a:p>
            <a:pPr eaLnBrk="1" hangingPunct="1">
              <a:lnSpc>
                <a:spcPct val="120000"/>
              </a:lnSpc>
            </a:pPr>
            <a:r>
              <a:rPr lang="pt-BR" altLang="pt-BR" b="1" dirty="0"/>
              <a:t>Funcionamento: </a:t>
            </a:r>
            <a:r>
              <a:rPr lang="pt-BR" altLang="pt-BR" dirty="0"/>
              <a:t>Cada entrada M[i][j] indica a relação entre o vértice i e a aresta j. Geralmente, usa-se 1 se a aresta incide no vértice, 2 para laços e 0 caso contrário.</a:t>
            </a:r>
          </a:p>
          <a:p>
            <a:pPr eaLnBrk="1" hangingPunct="1">
              <a:lnSpc>
                <a:spcPct val="120000"/>
              </a:lnSpc>
            </a:pPr>
            <a:r>
              <a:rPr lang="pt-BR" altLang="pt-BR" b="1" dirty="0"/>
              <a:t>Vantagens: </a:t>
            </a:r>
            <a:r>
              <a:rPr lang="pt-BR" altLang="pt-BR" dirty="0"/>
              <a:t>Útil quando as propriedades das arestas são mais importantes que as dos vértices ou em grafos com múltiplos tipos de conexões.</a:t>
            </a:r>
          </a:p>
          <a:p>
            <a:pPr eaLnBrk="1" hangingPunct="1">
              <a:lnSpc>
                <a:spcPct val="120000"/>
              </a:lnSpc>
            </a:pPr>
            <a:r>
              <a:rPr lang="pt-BR" altLang="pt-BR" b="1" dirty="0"/>
              <a:t>Desvantagens: </a:t>
            </a:r>
            <a:r>
              <a:rPr lang="pt-BR" altLang="pt-BR" dirty="0"/>
              <a:t>Consome O(V x E) espaço, sendo geralmente menos eficiente que as outras duas para algoritmos de busca. </a:t>
            </a:r>
          </a:p>
          <a:p>
            <a:pPr eaLnBrk="1" hangingPunct="1">
              <a:lnSpc>
                <a:spcPct val="120000"/>
              </a:lnSpc>
            </a:pPr>
            <a:r>
              <a:rPr lang="pt-BR" altLang="pt-BR" b="1" dirty="0"/>
              <a:t>Uso: </a:t>
            </a:r>
            <a:r>
              <a:rPr lang="pt-BR" altLang="pt-BR" dirty="0"/>
              <a:t>Análise de Arestas em grafos.</a:t>
            </a:r>
          </a:p>
        </p:txBody>
      </p:sp>
    </p:spTree>
    <p:extLst>
      <p:ext uri="{BB962C8B-B14F-4D97-AF65-F5344CB8AC3E}">
        <p14:creationId xmlns:p14="http://schemas.microsoft.com/office/powerpoint/2010/main" val="3894452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a:extLst>
              <a:ext uri="{FF2B5EF4-FFF2-40B4-BE49-F238E27FC236}">
                <a16:creationId xmlns:a16="http://schemas.microsoft.com/office/drawing/2014/main" id="{9A07D9C3-DDFC-42BA-AA4E-86FA1AF0B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6097" y="0"/>
            <a:ext cx="987287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F9B52436-DA61-84B3-EF72-12E80196643C}"/>
              </a:ext>
            </a:extLst>
          </p:cNvPr>
          <p:cNvSpPr txBox="1">
            <a:spLocks/>
          </p:cNvSpPr>
          <p:nvPr/>
        </p:nvSpPr>
        <p:spPr>
          <a:xfrm>
            <a:off x="482822" y="3105409"/>
            <a:ext cx="1909503" cy="647181"/>
          </a:xfrm>
          <a:prstGeom prst="rect">
            <a:avLst/>
          </a:prstGeom>
        </p:spPr>
        <p:txBody>
          <a:bodyPr anchor="t">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altLang="pt-BR" b="1"/>
              <a:t>Representação de Grafos</a:t>
            </a:r>
            <a:endParaRPr lang="pt-BR" altLang="pt-BR"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BEC790-2814-45F4-841F-14A262031ECB}"/>
              </a:ext>
            </a:extLst>
          </p:cNvPr>
          <p:cNvSpPr>
            <a:spLocks noGrp="1"/>
          </p:cNvSpPr>
          <p:nvPr>
            <p:ph type="title"/>
          </p:nvPr>
        </p:nvSpPr>
        <p:spPr>
          <a:xfrm>
            <a:off x="481357" y="2891238"/>
            <a:ext cx="11229285" cy="1268984"/>
          </a:xfrm>
        </p:spPr>
        <p:txBody>
          <a:bodyPr>
            <a:normAutofit/>
          </a:bodyPr>
          <a:lstStyle/>
          <a:p>
            <a:pPr algn="ctr"/>
            <a:r>
              <a:rPr lang="pt-BR" altLang="pt-BR" b="1" dirty="0"/>
              <a:t>Exercícios</a:t>
            </a:r>
            <a:endParaRPr lang="pt-BR" b="1" dirty="0"/>
          </a:p>
        </p:txBody>
      </p:sp>
    </p:spTree>
    <p:extLst>
      <p:ext uri="{BB962C8B-B14F-4D97-AF65-F5344CB8AC3E}">
        <p14:creationId xmlns:p14="http://schemas.microsoft.com/office/powerpoint/2010/main" val="2174079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ítulo 1">
            <a:extLst>
              <a:ext uri="{FF2B5EF4-FFF2-40B4-BE49-F238E27FC236}">
                <a16:creationId xmlns:a16="http://schemas.microsoft.com/office/drawing/2014/main" id="{860C26FB-A9DC-46C3-9748-84A81067E9C0}"/>
              </a:ext>
            </a:extLst>
          </p:cNvPr>
          <p:cNvSpPr>
            <a:spLocks noGrp="1"/>
          </p:cNvSpPr>
          <p:nvPr>
            <p:ph type="title"/>
          </p:nvPr>
        </p:nvSpPr>
        <p:spPr>
          <a:xfrm>
            <a:off x="562851" y="188913"/>
            <a:ext cx="11066299" cy="1143000"/>
          </a:xfrm>
          <a:ln>
            <a:miter lim="800000"/>
            <a:headEnd/>
            <a:tailEnd/>
          </a:ln>
        </p:spPr>
        <p:txBody>
          <a:bodyPr rtlCol="0" anchor="t">
            <a:normAutofit fontScale="90000"/>
          </a:bodyPr>
          <a:lstStyle/>
          <a:p>
            <a:pPr>
              <a:defRPr/>
            </a:pPr>
            <a:r>
              <a:rPr lang="pt-BR" b="1" dirty="0"/>
              <a:t>Mostre o caminho de Euler nos grafos abaixo:</a:t>
            </a:r>
            <a:br>
              <a:rPr lang="pt-BR" b="1" dirty="0"/>
            </a:br>
            <a:endParaRPr lang="pt-BR" b="1" dirty="0"/>
          </a:p>
        </p:txBody>
      </p:sp>
      <p:pic>
        <p:nvPicPr>
          <p:cNvPr id="59397" name="Picture 2">
            <a:extLst>
              <a:ext uri="{FF2B5EF4-FFF2-40B4-BE49-F238E27FC236}">
                <a16:creationId xmlns:a16="http://schemas.microsoft.com/office/drawing/2014/main" id="{68675ED3-8200-4B51-9825-FF64B826D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766" y="1717675"/>
            <a:ext cx="3887788"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3">
            <a:extLst>
              <a:ext uri="{FF2B5EF4-FFF2-40B4-BE49-F238E27FC236}">
                <a16:creationId xmlns:a16="http://schemas.microsoft.com/office/drawing/2014/main" id="{E8EB0CF8-7FAD-4622-AD1F-3C9A07524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675" y="1825625"/>
            <a:ext cx="40338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3B63FB55-16F8-4514-86EE-C34D64CE1D87}"/>
              </a:ext>
            </a:extLst>
          </p:cNvPr>
          <p:cNvPicPr>
            <a:picLocks noChangeAspect="1"/>
          </p:cNvPicPr>
          <p:nvPr/>
        </p:nvPicPr>
        <p:blipFill>
          <a:blip r:embed="rId2"/>
          <a:stretch>
            <a:fillRect/>
          </a:stretch>
        </p:blipFill>
        <p:spPr>
          <a:xfrm>
            <a:off x="192194" y="0"/>
            <a:ext cx="10486189" cy="6096208"/>
          </a:xfrm>
          <a:prstGeom prst="rect">
            <a:avLst/>
          </a:prstGeom>
        </p:spPr>
      </p:pic>
    </p:spTree>
    <p:extLst>
      <p:ext uri="{BB962C8B-B14F-4D97-AF65-F5344CB8AC3E}">
        <p14:creationId xmlns:p14="http://schemas.microsoft.com/office/powerpoint/2010/main" val="3848584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BEC790-2814-45F4-841F-14A262031ECB}"/>
              </a:ext>
            </a:extLst>
          </p:cNvPr>
          <p:cNvSpPr>
            <a:spLocks noGrp="1"/>
          </p:cNvSpPr>
          <p:nvPr>
            <p:ph type="title"/>
          </p:nvPr>
        </p:nvSpPr>
        <p:spPr>
          <a:xfrm>
            <a:off x="565150" y="770890"/>
            <a:ext cx="11096763" cy="1268984"/>
          </a:xfrm>
        </p:spPr>
        <p:txBody>
          <a:bodyPr>
            <a:normAutofit fontScale="90000"/>
          </a:bodyPr>
          <a:lstStyle/>
          <a:p>
            <a:r>
              <a:rPr lang="pt-BR" altLang="pt-BR" dirty="0"/>
              <a:t>Represente os grafos abaixo por meio de uma matriz de adjacência  </a:t>
            </a:r>
            <a:endParaRPr lang="pt-BR" dirty="0"/>
          </a:p>
        </p:txBody>
      </p:sp>
      <p:pic>
        <p:nvPicPr>
          <p:cNvPr id="6" name="Imagem 5">
            <a:extLst>
              <a:ext uri="{FF2B5EF4-FFF2-40B4-BE49-F238E27FC236}">
                <a16:creationId xmlns:a16="http://schemas.microsoft.com/office/drawing/2014/main" id="{52CEC6F7-DA88-4F1B-A8FE-54EB33E18B4C}"/>
              </a:ext>
            </a:extLst>
          </p:cNvPr>
          <p:cNvPicPr>
            <a:picLocks noChangeAspect="1"/>
          </p:cNvPicPr>
          <p:nvPr/>
        </p:nvPicPr>
        <p:blipFill>
          <a:blip r:embed="rId2"/>
          <a:stretch>
            <a:fillRect/>
          </a:stretch>
        </p:blipFill>
        <p:spPr>
          <a:xfrm>
            <a:off x="0" y="2039874"/>
            <a:ext cx="3803374" cy="3860947"/>
          </a:xfrm>
          <a:prstGeom prst="rect">
            <a:avLst/>
          </a:prstGeom>
        </p:spPr>
      </p:pic>
      <p:pic>
        <p:nvPicPr>
          <p:cNvPr id="7" name="Imagem 6">
            <a:extLst>
              <a:ext uri="{FF2B5EF4-FFF2-40B4-BE49-F238E27FC236}">
                <a16:creationId xmlns:a16="http://schemas.microsoft.com/office/drawing/2014/main" id="{316743F6-1925-43BC-B5AF-25360C0E9E23}"/>
              </a:ext>
            </a:extLst>
          </p:cNvPr>
          <p:cNvPicPr>
            <a:picLocks noChangeAspect="1"/>
          </p:cNvPicPr>
          <p:nvPr/>
        </p:nvPicPr>
        <p:blipFill>
          <a:blip r:embed="rId3"/>
          <a:stretch>
            <a:fillRect/>
          </a:stretch>
        </p:blipFill>
        <p:spPr>
          <a:xfrm>
            <a:off x="4139993" y="2171148"/>
            <a:ext cx="3912013" cy="3729673"/>
          </a:xfrm>
          <a:prstGeom prst="rect">
            <a:avLst/>
          </a:prstGeom>
        </p:spPr>
      </p:pic>
      <p:pic>
        <p:nvPicPr>
          <p:cNvPr id="8" name="Imagem 7">
            <a:extLst>
              <a:ext uri="{FF2B5EF4-FFF2-40B4-BE49-F238E27FC236}">
                <a16:creationId xmlns:a16="http://schemas.microsoft.com/office/drawing/2014/main" id="{B788D30F-1CBC-4295-BCC4-01DEFC015D24}"/>
              </a:ext>
            </a:extLst>
          </p:cNvPr>
          <p:cNvPicPr>
            <a:picLocks noChangeAspect="1"/>
          </p:cNvPicPr>
          <p:nvPr/>
        </p:nvPicPr>
        <p:blipFill>
          <a:blip r:embed="rId4"/>
          <a:stretch>
            <a:fillRect/>
          </a:stretch>
        </p:blipFill>
        <p:spPr>
          <a:xfrm>
            <a:off x="8052007" y="2171148"/>
            <a:ext cx="3762718" cy="3729672"/>
          </a:xfrm>
          <a:prstGeom prst="rect">
            <a:avLst/>
          </a:prstGeom>
        </p:spPr>
      </p:pic>
    </p:spTree>
    <p:extLst>
      <p:ext uri="{BB962C8B-B14F-4D97-AF65-F5344CB8AC3E}">
        <p14:creationId xmlns:p14="http://schemas.microsoft.com/office/powerpoint/2010/main" val="4006718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BEC790-2814-45F4-841F-14A262031ECB}"/>
              </a:ext>
            </a:extLst>
          </p:cNvPr>
          <p:cNvSpPr>
            <a:spLocks noGrp="1"/>
          </p:cNvSpPr>
          <p:nvPr>
            <p:ph type="title"/>
          </p:nvPr>
        </p:nvSpPr>
        <p:spPr>
          <a:xfrm>
            <a:off x="565150" y="770890"/>
            <a:ext cx="11096763" cy="1268984"/>
          </a:xfrm>
        </p:spPr>
        <p:txBody>
          <a:bodyPr>
            <a:normAutofit fontScale="90000"/>
          </a:bodyPr>
          <a:lstStyle/>
          <a:p>
            <a:r>
              <a:rPr lang="pt-BR" altLang="pt-BR" dirty="0"/>
              <a:t>Represente os grafos abaixo por meio de uma lista de adjacência  </a:t>
            </a:r>
            <a:endParaRPr lang="pt-BR" dirty="0"/>
          </a:p>
        </p:txBody>
      </p:sp>
      <p:pic>
        <p:nvPicPr>
          <p:cNvPr id="3" name="Imagem 2">
            <a:extLst>
              <a:ext uri="{FF2B5EF4-FFF2-40B4-BE49-F238E27FC236}">
                <a16:creationId xmlns:a16="http://schemas.microsoft.com/office/drawing/2014/main" id="{9B42DE91-9943-4221-A8CE-139114EA010B}"/>
              </a:ext>
            </a:extLst>
          </p:cNvPr>
          <p:cNvPicPr>
            <a:picLocks noChangeAspect="1"/>
          </p:cNvPicPr>
          <p:nvPr/>
        </p:nvPicPr>
        <p:blipFill>
          <a:blip r:embed="rId2"/>
          <a:stretch>
            <a:fillRect/>
          </a:stretch>
        </p:blipFill>
        <p:spPr>
          <a:xfrm>
            <a:off x="89038" y="2248968"/>
            <a:ext cx="3756163" cy="3669482"/>
          </a:xfrm>
          <a:prstGeom prst="rect">
            <a:avLst/>
          </a:prstGeom>
        </p:spPr>
      </p:pic>
      <p:pic>
        <p:nvPicPr>
          <p:cNvPr id="9" name="Imagem 8">
            <a:extLst>
              <a:ext uri="{FF2B5EF4-FFF2-40B4-BE49-F238E27FC236}">
                <a16:creationId xmlns:a16="http://schemas.microsoft.com/office/drawing/2014/main" id="{58D29AE2-4421-4816-ADB8-4E15A1D58D28}"/>
              </a:ext>
            </a:extLst>
          </p:cNvPr>
          <p:cNvPicPr/>
          <p:nvPr/>
        </p:nvPicPr>
        <p:blipFill>
          <a:blip r:embed="rId3">
            <a:extLst>
              <a:ext uri="{28A0092B-C50C-407E-A947-70E740481C1C}">
                <a14:useLocalDpi xmlns:a14="http://schemas.microsoft.com/office/drawing/2010/main" val="0"/>
              </a:ext>
            </a:extLst>
          </a:blip>
          <a:srcRect l="-34" t="-34" r="-34" b="-34"/>
          <a:stretch>
            <a:fillRect/>
          </a:stretch>
        </p:blipFill>
        <p:spPr bwMode="auto">
          <a:xfrm>
            <a:off x="4407252" y="2417627"/>
            <a:ext cx="3377496" cy="3332163"/>
          </a:xfrm>
          <a:prstGeom prst="rect">
            <a:avLst/>
          </a:prstGeom>
          <a:solidFill>
            <a:srgbClr val="FFFFFF"/>
          </a:solidFill>
          <a:ln>
            <a:noFill/>
          </a:ln>
        </p:spPr>
      </p:pic>
      <p:pic>
        <p:nvPicPr>
          <p:cNvPr id="10" name="Imagem 9">
            <a:extLst>
              <a:ext uri="{FF2B5EF4-FFF2-40B4-BE49-F238E27FC236}">
                <a16:creationId xmlns:a16="http://schemas.microsoft.com/office/drawing/2014/main" id="{3C53F2AD-2F6C-4B5E-96C8-476697E55F6A}"/>
              </a:ext>
            </a:extLst>
          </p:cNvPr>
          <p:cNvPicPr/>
          <p:nvPr/>
        </p:nvPicPr>
        <p:blipFill>
          <a:blip r:embed="rId4">
            <a:extLst>
              <a:ext uri="{28A0092B-C50C-407E-A947-70E740481C1C}">
                <a14:useLocalDpi xmlns:a14="http://schemas.microsoft.com/office/drawing/2010/main" val="0"/>
              </a:ext>
            </a:extLst>
          </a:blip>
          <a:srcRect l="-27" t="-43" r="-27" b="-43"/>
          <a:stretch>
            <a:fillRect/>
          </a:stretch>
        </p:blipFill>
        <p:spPr bwMode="auto">
          <a:xfrm>
            <a:off x="8051332" y="3004929"/>
            <a:ext cx="3252236" cy="2136913"/>
          </a:xfrm>
          <a:prstGeom prst="rect">
            <a:avLst/>
          </a:prstGeom>
          <a:solidFill>
            <a:srgbClr val="FFFFFF"/>
          </a:solidFill>
          <a:ln>
            <a:noFill/>
          </a:ln>
        </p:spPr>
      </p:pic>
    </p:spTree>
    <p:extLst>
      <p:ext uri="{BB962C8B-B14F-4D97-AF65-F5344CB8AC3E}">
        <p14:creationId xmlns:p14="http://schemas.microsoft.com/office/powerpoint/2010/main" val="1565122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6665131" y="685801"/>
            <a:ext cx="261731" cy="26173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txBody>
            <a:bodyPr/>
            <a:lstStyle/>
            <a:p>
              <a:pPr defTabSz="609630"/>
              <a:endParaRPr lang="pt-BR" sz="1200">
                <a:solidFill>
                  <a:prstClr val="black"/>
                </a:solidFill>
                <a:latin typeface="Calibri"/>
              </a:endParaRPr>
            </a:p>
          </p:txBody>
        </p:sp>
      </p:grpSp>
      <p:sp>
        <p:nvSpPr>
          <p:cNvPr id="4" name="AutoShape 4"/>
          <p:cNvSpPr/>
          <p:nvPr/>
        </p:nvSpPr>
        <p:spPr>
          <a:xfrm flipV="1">
            <a:off x="186631" y="684213"/>
            <a:ext cx="7832871" cy="3175"/>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5" name="AutoShape 5"/>
          <p:cNvSpPr/>
          <p:nvPr/>
        </p:nvSpPr>
        <p:spPr>
          <a:xfrm>
            <a:off x="186584" y="1351389"/>
            <a:ext cx="7832918" cy="0"/>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6" name="Freeform 6"/>
          <p:cNvSpPr/>
          <p:nvPr/>
        </p:nvSpPr>
        <p:spPr>
          <a:xfrm>
            <a:off x="10235355" y="0"/>
            <a:ext cx="1956645" cy="6858000"/>
          </a:xfrm>
          <a:custGeom>
            <a:avLst/>
            <a:gdLst/>
            <a:ahLst/>
            <a:cxnLst/>
            <a:rect l="l" t="t" r="r" b="b"/>
            <a:pathLst>
              <a:path w="2934968" h="10287000">
                <a:moveTo>
                  <a:pt x="0" y="0"/>
                </a:moveTo>
                <a:lnTo>
                  <a:pt x="2934968" y="0"/>
                </a:lnTo>
                <a:lnTo>
                  <a:pt x="2934968" y="10287000"/>
                </a:lnTo>
                <a:lnTo>
                  <a:pt x="0" y="10287000"/>
                </a:lnTo>
                <a:lnTo>
                  <a:pt x="0" y="0"/>
                </a:lnTo>
                <a:close/>
              </a:path>
            </a:pathLst>
          </a:custGeom>
          <a:blipFill>
            <a:blip r:embed="rId2"/>
            <a:stretch>
              <a:fillRect l="-144651" r="-105845"/>
            </a:stretch>
          </a:blipFill>
        </p:spPr>
        <p:txBody>
          <a:bodyPr/>
          <a:lstStyle/>
          <a:p>
            <a:pPr defTabSz="609630"/>
            <a:endParaRPr lang="pt-BR" sz="1200">
              <a:solidFill>
                <a:prstClr val="black"/>
              </a:solidFill>
              <a:latin typeface="Calibri"/>
            </a:endParaRPr>
          </a:p>
        </p:txBody>
      </p:sp>
      <p:sp>
        <p:nvSpPr>
          <p:cNvPr id="7" name="TextBox 7"/>
          <p:cNvSpPr txBox="1"/>
          <p:nvPr/>
        </p:nvSpPr>
        <p:spPr>
          <a:xfrm>
            <a:off x="186632" y="2965450"/>
            <a:ext cx="4687109" cy="923330"/>
          </a:xfrm>
          <a:prstGeom prst="rect">
            <a:avLst/>
          </a:prstGeom>
        </p:spPr>
        <p:txBody>
          <a:bodyPr lIns="0" tIns="0" rIns="0" bIns="0" rtlCol="0" anchor="t">
            <a:spAutoFit/>
          </a:bodyPr>
          <a:lstStyle/>
          <a:p>
            <a:pPr defTabSz="609630">
              <a:lnSpc>
                <a:spcPts val="7200"/>
              </a:lnSpc>
            </a:pPr>
            <a:r>
              <a:rPr lang="en-US" sz="6000">
                <a:solidFill>
                  <a:srgbClr val="F6F6F6"/>
                </a:solidFill>
                <a:latin typeface="Libre Franklin Thin"/>
                <a:ea typeface="Libre Franklin Thin"/>
                <a:cs typeface="Libre Franklin Thin"/>
                <a:sym typeface="Libre Franklin Thin"/>
              </a:rPr>
              <a:t>Bibliografia</a:t>
            </a:r>
          </a:p>
        </p:txBody>
      </p:sp>
      <p:sp>
        <p:nvSpPr>
          <p:cNvPr id="8" name="TextBox 8"/>
          <p:cNvSpPr txBox="1"/>
          <p:nvPr/>
        </p:nvSpPr>
        <p:spPr>
          <a:xfrm>
            <a:off x="5496888" y="886782"/>
            <a:ext cx="2522615" cy="224420"/>
          </a:xfrm>
          <a:prstGeom prst="rect">
            <a:avLst/>
          </a:prstGeom>
        </p:spPr>
        <p:txBody>
          <a:bodyPr lIns="0" tIns="0" rIns="0" bIns="0" rtlCol="0" anchor="t">
            <a:spAutoFit/>
          </a:bodyPr>
          <a:lstStyle/>
          <a:p>
            <a:pPr algn="r" defTabSz="609630">
              <a:lnSpc>
                <a:spcPts val="1867"/>
              </a:lnSpc>
            </a:pPr>
            <a:r>
              <a:rPr lang="en-US" sz="1333">
                <a:solidFill>
                  <a:srgbClr val="F6F6F6"/>
                </a:solidFill>
                <a:latin typeface="Libre Franklin Light"/>
                <a:ea typeface="Libre Franklin Light"/>
                <a:cs typeface="Libre Franklin Light"/>
                <a:sym typeface="Libre Franklin Light"/>
              </a:rPr>
              <a:t>Professor Jonathan Bandeira</a:t>
            </a:r>
          </a:p>
        </p:txBody>
      </p:sp>
      <p:sp>
        <p:nvSpPr>
          <p:cNvPr id="9" name="TextBox 9"/>
          <p:cNvSpPr txBox="1"/>
          <p:nvPr/>
        </p:nvSpPr>
        <p:spPr>
          <a:xfrm>
            <a:off x="342767" y="886782"/>
            <a:ext cx="2530255" cy="224420"/>
          </a:xfrm>
          <a:prstGeom prst="rect">
            <a:avLst/>
          </a:prstGeom>
        </p:spPr>
        <p:txBody>
          <a:bodyPr lIns="0" tIns="0" rIns="0" bIns="0" rtlCol="0" anchor="t">
            <a:spAutoFit/>
          </a:bodyPr>
          <a:lstStyle/>
          <a:p>
            <a:pPr defTabSz="609630">
              <a:lnSpc>
                <a:spcPts val="1867"/>
              </a:lnSpc>
            </a:pPr>
            <a:r>
              <a:rPr lang="en-US" sz="1333">
                <a:solidFill>
                  <a:srgbClr val="F6F6F6"/>
                </a:solidFill>
                <a:latin typeface="Libre Franklin Light"/>
                <a:ea typeface="Libre Franklin Light"/>
                <a:cs typeface="Libre Franklin Light"/>
                <a:sym typeface="Libre Franklin Light"/>
              </a:rPr>
              <a:t>Unit/PE</a:t>
            </a:r>
          </a:p>
        </p:txBody>
      </p:sp>
      <p:grpSp>
        <p:nvGrpSpPr>
          <p:cNvPr id="10" name="Group 10"/>
          <p:cNvGrpSpPr/>
          <p:nvPr/>
        </p:nvGrpSpPr>
        <p:grpSpPr>
          <a:xfrm>
            <a:off x="4624003" y="2000678"/>
            <a:ext cx="5372783" cy="2662993"/>
            <a:chOff x="0" y="-28575"/>
            <a:chExt cx="10745567" cy="5325986"/>
          </a:xfrm>
        </p:grpSpPr>
        <p:sp>
          <p:nvSpPr>
            <p:cNvPr id="11" name="TextBox 11"/>
            <p:cNvSpPr txBox="1"/>
            <p:nvPr/>
          </p:nvSpPr>
          <p:spPr>
            <a:xfrm>
              <a:off x="0" y="940705"/>
              <a:ext cx="10745567" cy="4356706"/>
            </a:xfrm>
            <a:prstGeom prst="rect">
              <a:avLst/>
            </a:prstGeom>
          </p:spPr>
          <p:txBody>
            <a:bodyPr lIns="0" tIns="0" rIns="0" bIns="0" rtlCol="0" anchor="t">
              <a:spAutoFit/>
            </a:bodyPr>
            <a:lstStyle/>
            <a:p>
              <a:pPr defTabSz="609630">
                <a:lnSpc>
                  <a:spcPts val="1928"/>
                </a:lnSpc>
              </a:pPr>
              <a:r>
                <a:rPr lang="en-US" sz="1483" dirty="0">
                  <a:solidFill>
                    <a:srgbClr val="F6F6F6"/>
                  </a:solidFill>
                  <a:latin typeface="Libre Franklin Light"/>
                  <a:ea typeface="Libre Franklin Light"/>
                  <a:cs typeface="Libre Franklin Light"/>
                  <a:sym typeface="Libre Franklin Light"/>
                </a:rPr>
                <a:t>GOLDBARG, Marco; GOLDBARG, Elizabeth.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Conceitos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e </a:t>
              </a:r>
              <a:r>
                <a:rPr lang="en-US" sz="1483" dirty="0" err="1">
                  <a:solidFill>
                    <a:srgbClr val="F6F6F6"/>
                  </a:solidFill>
                  <a:latin typeface="Libre Franklin Light"/>
                  <a:ea typeface="Libre Franklin Light"/>
                  <a:cs typeface="Libre Franklin Light"/>
                  <a:sym typeface="Libre Franklin Light"/>
                </a:rPr>
                <a:t>Aplicações</a:t>
              </a:r>
              <a:r>
                <a:rPr lang="en-US" sz="1483" dirty="0">
                  <a:solidFill>
                    <a:srgbClr val="F6F6F6"/>
                  </a:solidFill>
                  <a:latin typeface="Libre Franklin Light"/>
                  <a:ea typeface="Libre Franklin Light"/>
                  <a:cs typeface="Libre Franklin Light"/>
                  <a:sym typeface="Libre Franklin Light"/>
                </a:rPr>
                <a:t>. Elsevier, 2012.</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SZWARCFITER, Jayme Luiz. Teoria </a:t>
              </a:r>
              <a:r>
                <a:rPr lang="en-US" sz="1483" dirty="0" err="1">
                  <a:solidFill>
                    <a:srgbClr val="F6F6F6"/>
                  </a:solidFill>
                  <a:latin typeface="Libre Franklin Light"/>
                  <a:ea typeface="Libre Franklin Light"/>
                  <a:cs typeface="Libre Franklin Light"/>
                  <a:sym typeface="Libre Franklin Light"/>
                </a:rPr>
                <a:t>Computacional</a:t>
              </a:r>
              <a:r>
                <a:rPr lang="en-US" sz="1483" dirty="0">
                  <a:solidFill>
                    <a:srgbClr val="F6F6F6"/>
                  </a:solidFill>
                  <a:latin typeface="Libre Franklin Light"/>
                  <a:ea typeface="Libre Franklin Light"/>
                  <a:cs typeface="Libre Franklin Light"/>
                  <a:sym typeface="Libre Franklin Light"/>
                </a:rPr>
                <a:t> de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Série SBC. Elsevier. 2018.</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NICOLETTI, Maria do Carmo; HRUSCHKA JR, E. R. </a:t>
              </a:r>
              <a:r>
                <a:rPr lang="en-US" sz="1483" dirty="0" err="1">
                  <a:solidFill>
                    <a:srgbClr val="F6F6F6"/>
                  </a:solidFill>
                  <a:latin typeface="Libre Franklin Light"/>
                  <a:ea typeface="Libre Franklin Light"/>
                  <a:cs typeface="Libre Franklin Light"/>
                  <a:sym typeface="Libre Franklin Light"/>
                </a:rPr>
                <a:t>Fundamentos</a:t>
              </a:r>
              <a:r>
                <a:rPr lang="en-US" sz="1483" dirty="0">
                  <a:solidFill>
                    <a:srgbClr val="F6F6F6"/>
                  </a:solidFill>
                  <a:latin typeface="Libre Franklin Light"/>
                  <a:ea typeface="Libre Franklin Light"/>
                  <a:cs typeface="Libre Franklin Light"/>
                  <a:sym typeface="Libre Franklin Light"/>
                </a:rPr>
                <a:t> da </a:t>
              </a:r>
              <a:r>
                <a:rPr lang="en-US" sz="1483" dirty="0" err="1">
                  <a:solidFill>
                    <a:srgbClr val="F6F6F6"/>
                  </a:solidFill>
                  <a:latin typeface="Libre Franklin Light"/>
                  <a:ea typeface="Libre Franklin Light"/>
                  <a:cs typeface="Libre Franklin Light"/>
                  <a:sym typeface="Libre Franklin Light"/>
                </a:rPr>
                <a:t>teoria</a:t>
              </a:r>
              <a:r>
                <a:rPr lang="en-US" sz="1483" dirty="0">
                  <a:solidFill>
                    <a:srgbClr val="F6F6F6"/>
                  </a:solidFill>
                  <a:latin typeface="Libre Franklin Light"/>
                  <a:ea typeface="Libre Franklin Light"/>
                  <a:cs typeface="Libre Franklin Light"/>
                  <a:sym typeface="Libre Franklin Light"/>
                </a:rPr>
                <a:t> dos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para </a:t>
              </a:r>
              <a:r>
                <a:rPr lang="en-US" sz="1483" dirty="0" err="1">
                  <a:solidFill>
                    <a:srgbClr val="F6F6F6"/>
                  </a:solidFill>
                  <a:latin typeface="Libre Franklin Light"/>
                  <a:ea typeface="Libre Franklin Light"/>
                  <a:cs typeface="Libre Franklin Light"/>
                  <a:sym typeface="Libre Franklin Light"/>
                </a:rPr>
                <a:t>computação</a:t>
              </a:r>
              <a:r>
                <a:rPr lang="en-US" sz="1483" dirty="0">
                  <a:solidFill>
                    <a:srgbClr val="F6F6F6"/>
                  </a:solidFill>
                  <a:latin typeface="Libre Franklin Light"/>
                  <a:ea typeface="Libre Franklin Light"/>
                  <a:cs typeface="Libre Franklin Light"/>
                  <a:sym typeface="Libre Franklin Light"/>
                </a:rPr>
                <a:t>. 3. Ed. LTC, 2018.</a:t>
              </a:r>
            </a:p>
          </p:txBody>
        </p:sp>
        <p:sp>
          <p:nvSpPr>
            <p:cNvPr id="12" name="TextBox 12"/>
            <p:cNvSpPr txBox="1"/>
            <p:nvPr/>
          </p:nvSpPr>
          <p:spPr>
            <a:xfrm>
              <a:off x="0" y="-28575"/>
              <a:ext cx="10745567" cy="567720"/>
            </a:xfrm>
            <a:prstGeom prst="rect">
              <a:avLst/>
            </a:prstGeom>
          </p:spPr>
          <p:txBody>
            <a:bodyPr lIns="0" tIns="0" rIns="0" bIns="0" rtlCol="0" anchor="t">
              <a:spAutoFit/>
            </a:bodyPr>
            <a:lstStyle/>
            <a:p>
              <a:pPr defTabSz="609630">
                <a:lnSpc>
                  <a:spcPts val="2361"/>
                </a:lnSpc>
              </a:pPr>
              <a:r>
                <a:rPr lang="en-US" sz="1816" b="1">
                  <a:solidFill>
                    <a:srgbClr val="FFFFFF"/>
                  </a:solidFill>
                  <a:latin typeface="Libre Franklin Semi-Bold"/>
                  <a:ea typeface="Libre Franklin Semi-Bold"/>
                  <a:cs typeface="Libre Franklin Semi-Bold"/>
                  <a:sym typeface="Libre Franklin Semi-Bold"/>
                </a:rPr>
                <a:t>Principal</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grpSp>
        <p:nvGrpSpPr>
          <p:cNvPr id="2" name="Group 2"/>
          <p:cNvGrpSpPr/>
          <p:nvPr/>
        </p:nvGrpSpPr>
        <p:grpSpPr>
          <a:xfrm>
            <a:off x="6665131" y="685801"/>
            <a:ext cx="261731" cy="26173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txBody>
            <a:bodyPr/>
            <a:lstStyle/>
            <a:p>
              <a:pPr defTabSz="609630"/>
              <a:endParaRPr lang="pt-BR" sz="1200">
                <a:solidFill>
                  <a:prstClr val="black"/>
                </a:solidFill>
                <a:latin typeface="Calibri"/>
              </a:endParaRPr>
            </a:p>
          </p:txBody>
        </p:sp>
      </p:grpSp>
      <p:sp>
        <p:nvSpPr>
          <p:cNvPr id="4" name="AutoShape 4"/>
          <p:cNvSpPr/>
          <p:nvPr/>
        </p:nvSpPr>
        <p:spPr>
          <a:xfrm flipV="1">
            <a:off x="186630" y="279400"/>
            <a:ext cx="7832871" cy="3175"/>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5" name="AutoShape 5"/>
          <p:cNvSpPr/>
          <p:nvPr/>
        </p:nvSpPr>
        <p:spPr>
          <a:xfrm>
            <a:off x="186630" y="802166"/>
            <a:ext cx="7832918" cy="0"/>
          </a:xfrm>
          <a:prstGeom prst="line">
            <a:avLst/>
          </a:prstGeom>
          <a:ln w="9525" cap="flat">
            <a:solidFill>
              <a:srgbClr val="BFBFBF"/>
            </a:solidFill>
            <a:prstDash val="solid"/>
            <a:headEnd type="none" w="sm" len="sm"/>
            <a:tailEnd type="none" w="sm" len="sm"/>
          </a:ln>
        </p:spPr>
        <p:txBody>
          <a:bodyPr/>
          <a:lstStyle/>
          <a:p>
            <a:pPr defTabSz="609630"/>
            <a:endParaRPr lang="pt-BR" sz="1200">
              <a:solidFill>
                <a:prstClr val="black"/>
              </a:solidFill>
              <a:latin typeface="Calibri"/>
            </a:endParaRPr>
          </a:p>
        </p:txBody>
      </p:sp>
      <p:sp>
        <p:nvSpPr>
          <p:cNvPr id="6" name="TextBox 6"/>
          <p:cNvSpPr txBox="1"/>
          <p:nvPr/>
        </p:nvSpPr>
        <p:spPr>
          <a:xfrm>
            <a:off x="137740" y="2793082"/>
            <a:ext cx="4072473" cy="923330"/>
          </a:xfrm>
          <a:prstGeom prst="rect">
            <a:avLst/>
          </a:prstGeom>
        </p:spPr>
        <p:txBody>
          <a:bodyPr lIns="0" tIns="0" rIns="0" bIns="0" rtlCol="0" anchor="t">
            <a:spAutoFit/>
          </a:bodyPr>
          <a:lstStyle/>
          <a:p>
            <a:pPr defTabSz="609630">
              <a:lnSpc>
                <a:spcPts val="7200"/>
              </a:lnSpc>
            </a:pPr>
            <a:r>
              <a:rPr lang="en-US" sz="6000">
                <a:solidFill>
                  <a:srgbClr val="F6F6F6"/>
                </a:solidFill>
                <a:latin typeface="Libre Franklin Thin"/>
                <a:ea typeface="Libre Franklin Thin"/>
                <a:cs typeface="Libre Franklin Thin"/>
                <a:sym typeface="Libre Franklin Thin"/>
              </a:rPr>
              <a:t>Bibliografia</a:t>
            </a:r>
          </a:p>
        </p:txBody>
      </p:sp>
      <p:sp>
        <p:nvSpPr>
          <p:cNvPr id="7" name="TextBox 7"/>
          <p:cNvSpPr txBox="1"/>
          <p:nvPr/>
        </p:nvSpPr>
        <p:spPr>
          <a:xfrm>
            <a:off x="5403823" y="452967"/>
            <a:ext cx="2522615" cy="224420"/>
          </a:xfrm>
          <a:prstGeom prst="rect">
            <a:avLst/>
          </a:prstGeom>
        </p:spPr>
        <p:txBody>
          <a:bodyPr lIns="0" tIns="0" rIns="0" bIns="0" rtlCol="0" anchor="t">
            <a:spAutoFit/>
          </a:bodyPr>
          <a:lstStyle/>
          <a:p>
            <a:pPr algn="r" defTabSz="609630">
              <a:lnSpc>
                <a:spcPts val="1867"/>
              </a:lnSpc>
            </a:pPr>
            <a:r>
              <a:rPr lang="en-US" sz="1333">
                <a:solidFill>
                  <a:srgbClr val="F6F6F6"/>
                </a:solidFill>
                <a:latin typeface="Libre Franklin Light"/>
                <a:ea typeface="Libre Franklin Light"/>
                <a:cs typeface="Libre Franklin Light"/>
                <a:sym typeface="Libre Franklin Light"/>
              </a:rPr>
              <a:t>Professor Jonathan Bandeira</a:t>
            </a:r>
          </a:p>
        </p:txBody>
      </p:sp>
      <p:sp>
        <p:nvSpPr>
          <p:cNvPr id="8" name="TextBox 8"/>
          <p:cNvSpPr txBox="1"/>
          <p:nvPr/>
        </p:nvSpPr>
        <p:spPr>
          <a:xfrm>
            <a:off x="318322" y="452967"/>
            <a:ext cx="2530255" cy="224420"/>
          </a:xfrm>
          <a:prstGeom prst="rect">
            <a:avLst/>
          </a:prstGeom>
        </p:spPr>
        <p:txBody>
          <a:bodyPr lIns="0" tIns="0" rIns="0" bIns="0" rtlCol="0" anchor="t">
            <a:spAutoFit/>
          </a:bodyPr>
          <a:lstStyle/>
          <a:p>
            <a:pPr defTabSz="609630">
              <a:lnSpc>
                <a:spcPts val="1867"/>
              </a:lnSpc>
            </a:pPr>
            <a:r>
              <a:rPr lang="en-US" sz="1333">
                <a:solidFill>
                  <a:srgbClr val="F6F6F6"/>
                </a:solidFill>
                <a:latin typeface="Libre Franklin Light"/>
                <a:ea typeface="Libre Franklin Light"/>
                <a:cs typeface="Libre Franklin Light"/>
                <a:sym typeface="Libre Franklin Light"/>
              </a:rPr>
              <a:t>Unit/PE</a:t>
            </a:r>
          </a:p>
        </p:txBody>
      </p:sp>
      <p:grpSp>
        <p:nvGrpSpPr>
          <p:cNvPr id="9" name="Group 9"/>
          <p:cNvGrpSpPr/>
          <p:nvPr/>
        </p:nvGrpSpPr>
        <p:grpSpPr>
          <a:xfrm>
            <a:off x="4718474" y="1333294"/>
            <a:ext cx="5372783" cy="4368588"/>
            <a:chOff x="0" y="-28575"/>
            <a:chExt cx="10745567" cy="8737176"/>
          </a:xfrm>
        </p:grpSpPr>
        <p:sp>
          <p:nvSpPr>
            <p:cNvPr id="10" name="TextBox 10"/>
            <p:cNvSpPr txBox="1"/>
            <p:nvPr/>
          </p:nvSpPr>
          <p:spPr>
            <a:xfrm>
              <a:off x="0" y="940705"/>
              <a:ext cx="10745567" cy="7767896"/>
            </a:xfrm>
            <a:prstGeom prst="rect">
              <a:avLst/>
            </a:prstGeom>
          </p:spPr>
          <p:txBody>
            <a:bodyPr lIns="0" tIns="0" rIns="0" bIns="0" rtlCol="0" anchor="t">
              <a:spAutoFit/>
            </a:bodyPr>
            <a:lstStyle/>
            <a:p>
              <a:pPr defTabSz="609630">
                <a:lnSpc>
                  <a:spcPts val="1928"/>
                </a:lnSpc>
              </a:pPr>
              <a:r>
                <a:rPr lang="en-US" sz="1483" dirty="0">
                  <a:solidFill>
                    <a:srgbClr val="F6F6F6"/>
                  </a:solidFill>
                  <a:latin typeface="Libre Franklin Light"/>
                  <a:ea typeface="Libre Franklin Light"/>
                  <a:cs typeface="Libre Franklin Light"/>
                  <a:sym typeface="Libre Franklin Light"/>
                </a:rPr>
                <a:t>BOAVENTURA NETTO, Paulo Oswaldo. NETTO, Boaventura, OSWALDIO, Paulo.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Teoria, </a:t>
              </a:r>
              <a:r>
                <a:rPr lang="en-US" sz="1483" dirty="0" err="1">
                  <a:solidFill>
                    <a:srgbClr val="F6F6F6"/>
                  </a:solidFill>
                  <a:latin typeface="Libre Franklin Light"/>
                  <a:ea typeface="Libre Franklin Light"/>
                  <a:cs typeface="Libre Franklin Light"/>
                  <a:sym typeface="Libre Franklin Light"/>
                </a:rPr>
                <a:t>Modelos</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Algoritmo</a:t>
              </a:r>
              <a:r>
                <a:rPr lang="en-US" sz="1483" dirty="0">
                  <a:solidFill>
                    <a:srgbClr val="F6F6F6"/>
                  </a:solidFill>
                  <a:latin typeface="Libre Franklin Light"/>
                  <a:ea typeface="Libre Franklin Light"/>
                  <a:cs typeface="Libre Franklin Light"/>
                  <a:sym typeface="Libre Franklin Light"/>
                </a:rPr>
                <a:t>. 45ª ed. São Paulo: Edgard Blucher.</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CORMEN, Thomas H. et al. </a:t>
              </a:r>
              <a:r>
                <a:rPr lang="en-US" sz="1483" dirty="0" err="1">
                  <a:solidFill>
                    <a:srgbClr val="F6F6F6"/>
                  </a:solidFill>
                  <a:latin typeface="Libre Franklin Light"/>
                  <a:ea typeface="Libre Franklin Light"/>
                  <a:cs typeface="Libre Franklin Light"/>
                  <a:sym typeface="Libre Franklin Light"/>
                </a:rPr>
                <a:t>Algoritmos</a:t>
              </a:r>
              <a:r>
                <a:rPr lang="en-US" sz="1483" dirty="0">
                  <a:solidFill>
                    <a:srgbClr val="F6F6F6"/>
                  </a:solidFill>
                  <a:latin typeface="Libre Franklin Light"/>
                  <a:ea typeface="Libre Franklin Light"/>
                  <a:cs typeface="Libre Franklin Light"/>
                  <a:sym typeface="Libre Franklin Light"/>
                </a:rPr>
                <a:t>: Teoria e </a:t>
              </a:r>
              <a:r>
                <a:rPr lang="en-US" sz="1483" dirty="0" err="1">
                  <a:solidFill>
                    <a:srgbClr val="F6F6F6"/>
                  </a:solidFill>
                  <a:latin typeface="Libre Franklin Light"/>
                  <a:ea typeface="Libre Franklin Light"/>
                  <a:cs typeface="Libre Franklin Light"/>
                  <a:sym typeface="Libre Franklin Light"/>
                </a:rPr>
                <a:t>Prática</a:t>
              </a:r>
              <a:r>
                <a:rPr lang="en-US" sz="1483" dirty="0">
                  <a:solidFill>
                    <a:srgbClr val="F6F6F6"/>
                  </a:solidFill>
                  <a:latin typeface="Libre Franklin Light"/>
                  <a:ea typeface="Libre Franklin Light"/>
                  <a:cs typeface="Libre Franklin Light"/>
                  <a:sym typeface="Libre Franklin Light"/>
                </a:rPr>
                <a:t>. 3. ed. Elsevier, 2012.</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FEOFILOFF, Paulo; KOHAYAKAWA, </a:t>
              </a:r>
              <a:r>
                <a:rPr lang="en-US" sz="1483" dirty="0" err="1">
                  <a:solidFill>
                    <a:srgbClr val="F6F6F6"/>
                  </a:solidFill>
                  <a:latin typeface="Libre Franklin Light"/>
                  <a:ea typeface="Libre Franklin Light"/>
                  <a:cs typeface="Libre Franklin Light"/>
                  <a:sym typeface="Libre Franklin Light"/>
                </a:rPr>
                <a:t>Yoshiahuro</a:t>
              </a:r>
              <a:r>
                <a:rPr lang="en-US" sz="1483" dirty="0">
                  <a:solidFill>
                    <a:srgbClr val="F6F6F6"/>
                  </a:solidFill>
                  <a:latin typeface="Libre Franklin Light"/>
                  <a:ea typeface="Libre Franklin Light"/>
                  <a:cs typeface="Libre Franklin Light"/>
                  <a:sym typeface="Libre Franklin Light"/>
                </a:rPr>
                <a:t>; WAKABAYASHI, Yoshiro. Teoria dos </a:t>
              </a:r>
              <a:r>
                <a:rPr lang="en-US" sz="1483" dirty="0" err="1">
                  <a:solidFill>
                    <a:srgbClr val="F6F6F6"/>
                  </a:solidFill>
                  <a:latin typeface="Libre Franklin Light"/>
                  <a:ea typeface="Libre Franklin Light"/>
                  <a:cs typeface="Libre Franklin Light"/>
                  <a:sym typeface="Libre Franklin Light"/>
                </a:rPr>
                <a:t>Grafos</a:t>
              </a:r>
              <a:r>
                <a:rPr lang="en-US" sz="1483" dirty="0">
                  <a:solidFill>
                    <a:srgbClr val="F6F6F6"/>
                  </a:solidFill>
                  <a:latin typeface="Libre Franklin Light"/>
                  <a:ea typeface="Libre Franklin Light"/>
                  <a:cs typeface="Libre Franklin Light"/>
                  <a:sym typeface="Libre Franklin Light"/>
                </a:rPr>
                <a:t>: Uma </a:t>
              </a:r>
              <a:r>
                <a:rPr lang="en-US" sz="1483" dirty="0" err="1">
                  <a:solidFill>
                    <a:srgbClr val="F6F6F6"/>
                  </a:solidFill>
                  <a:latin typeface="Libre Franklin Light"/>
                  <a:ea typeface="Libre Franklin Light"/>
                  <a:cs typeface="Libre Franklin Light"/>
                  <a:sym typeface="Libre Franklin Light"/>
                </a:rPr>
                <a:t>Introdução</a:t>
              </a:r>
              <a:r>
                <a:rPr lang="en-US" sz="1483" dirty="0">
                  <a:solidFill>
                    <a:srgbClr val="F6F6F6"/>
                  </a:solidFill>
                  <a:latin typeface="Libre Franklin Light"/>
                  <a:ea typeface="Libre Franklin Light"/>
                  <a:cs typeface="Libre Franklin Light"/>
                  <a:sym typeface="Libre Franklin Light"/>
                </a:rPr>
                <a:t> </a:t>
              </a:r>
              <a:r>
                <a:rPr lang="en-US" sz="1483" dirty="0" err="1">
                  <a:solidFill>
                    <a:srgbClr val="F6F6F6"/>
                  </a:solidFill>
                  <a:latin typeface="Libre Franklin Light"/>
                  <a:ea typeface="Libre Franklin Light"/>
                  <a:cs typeface="Libre Franklin Light"/>
                  <a:sym typeface="Libre Franklin Light"/>
                </a:rPr>
                <a:t>Sucinta</a:t>
              </a:r>
              <a:r>
                <a:rPr lang="en-US" sz="1483" dirty="0">
                  <a:solidFill>
                    <a:srgbClr val="F6F6F6"/>
                  </a:solidFill>
                  <a:latin typeface="Libre Franklin Light"/>
                  <a:ea typeface="Libre Franklin Light"/>
                  <a:cs typeface="Libre Franklin Light"/>
                  <a:sym typeface="Libre Franklin Light"/>
                </a:rPr>
                <a:t>. São Paulo: USP, 2011.</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TRUDEAU, Richard J. Introduction to graph theory. Courier Corporation, 2013.</a:t>
              </a:r>
            </a:p>
            <a:p>
              <a:pPr defTabSz="609630">
                <a:lnSpc>
                  <a:spcPts val="1928"/>
                </a:lnSpc>
              </a:pPr>
              <a:endParaRPr lang="en-US" sz="1483" dirty="0">
                <a:solidFill>
                  <a:srgbClr val="F6F6F6"/>
                </a:solidFill>
                <a:latin typeface="Libre Franklin Light"/>
                <a:ea typeface="Libre Franklin Light"/>
                <a:cs typeface="Libre Franklin Light"/>
                <a:sym typeface="Libre Franklin Light"/>
              </a:endParaRPr>
            </a:p>
            <a:p>
              <a:pPr defTabSz="609630">
                <a:lnSpc>
                  <a:spcPts val="1928"/>
                </a:lnSpc>
              </a:pPr>
              <a:r>
                <a:rPr lang="en-US" sz="1483" dirty="0">
                  <a:solidFill>
                    <a:srgbClr val="F6F6F6"/>
                  </a:solidFill>
                  <a:latin typeface="Libre Franklin Light"/>
                  <a:ea typeface="Libre Franklin Light"/>
                  <a:cs typeface="Libre Franklin Light"/>
                  <a:sym typeface="Libre Franklin Light"/>
                </a:rPr>
                <a:t>WILSON, Robin J. Introduction to Graph Theory. 5. ed. Prentice Hall, 2015.</a:t>
              </a:r>
            </a:p>
          </p:txBody>
        </p:sp>
        <p:sp>
          <p:nvSpPr>
            <p:cNvPr id="11" name="TextBox 11"/>
            <p:cNvSpPr txBox="1"/>
            <p:nvPr/>
          </p:nvSpPr>
          <p:spPr>
            <a:xfrm>
              <a:off x="0" y="-28575"/>
              <a:ext cx="10745567" cy="567720"/>
            </a:xfrm>
            <a:prstGeom prst="rect">
              <a:avLst/>
            </a:prstGeom>
          </p:spPr>
          <p:txBody>
            <a:bodyPr lIns="0" tIns="0" rIns="0" bIns="0" rtlCol="0" anchor="t">
              <a:spAutoFit/>
            </a:bodyPr>
            <a:lstStyle/>
            <a:p>
              <a:pPr defTabSz="609630">
                <a:lnSpc>
                  <a:spcPts val="2361"/>
                </a:lnSpc>
              </a:pPr>
              <a:r>
                <a:rPr lang="en-US" sz="1816" b="1">
                  <a:solidFill>
                    <a:srgbClr val="FFFFFF"/>
                  </a:solidFill>
                  <a:latin typeface="Libre Franklin Semi-Bold"/>
                  <a:ea typeface="Libre Franklin Semi-Bold"/>
                  <a:cs typeface="Libre Franklin Semi-Bold"/>
                  <a:sym typeface="Libre Franklin Semi-Bold"/>
                </a:rPr>
                <a:t>Complementar</a:t>
              </a:r>
            </a:p>
          </p:txBody>
        </p:sp>
      </p:grpSp>
      <p:sp>
        <p:nvSpPr>
          <p:cNvPr id="12" name="Freeform 12"/>
          <p:cNvSpPr/>
          <p:nvPr/>
        </p:nvSpPr>
        <p:spPr>
          <a:xfrm>
            <a:off x="10235355" y="0"/>
            <a:ext cx="1956645" cy="6858000"/>
          </a:xfrm>
          <a:custGeom>
            <a:avLst/>
            <a:gdLst/>
            <a:ahLst/>
            <a:cxnLst/>
            <a:rect l="l" t="t" r="r" b="b"/>
            <a:pathLst>
              <a:path w="2934968" h="10287000">
                <a:moveTo>
                  <a:pt x="0" y="0"/>
                </a:moveTo>
                <a:lnTo>
                  <a:pt x="2934968" y="0"/>
                </a:lnTo>
                <a:lnTo>
                  <a:pt x="2934968" y="10287000"/>
                </a:lnTo>
                <a:lnTo>
                  <a:pt x="0" y="10287000"/>
                </a:lnTo>
                <a:lnTo>
                  <a:pt x="0" y="0"/>
                </a:lnTo>
                <a:close/>
              </a:path>
            </a:pathLst>
          </a:custGeom>
          <a:blipFill>
            <a:blip r:embed="rId2"/>
            <a:stretch>
              <a:fillRect l="-144651" r="-105845"/>
            </a:stretch>
          </a:blipFill>
        </p:spPr>
        <p:txBody>
          <a:bodyPr/>
          <a:lstStyle/>
          <a:p>
            <a:pPr defTabSz="609630"/>
            <a:endParaRPr lang="pt-BR" sz="1200">
              <a:solidFill>
                <a:prstClr val="black"/>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41805-F623-41AB-B29A-D374D78B242C}"/>
              </a:ext>
            </a:extLst>
          </p:cNvPr>
          <p:cNvSpPr>
            <a:spLocks noGrp="1"/>
          </p:cNvSpPr>
          <p:nvPr>
            <p:ph type="title"/>
          </p:nvPr>
        </p:nvSpPr>
        <p:spPr>
          <a:xfrm>
            <a:off x="2523958" y="276726"/>
            <a:ext cx="6471186" cy="762000"/>
          </a:xfrm>
        </p:spPr>
        <p:txBody>
          <a:bodyPr>
            <a:normAutofit/>
          </a:bodyPr>
          <a:lstStyle/>
          <a:p>
            <a:pPr algn="ctr"/>
            <a:r>
              <a:rPr lang="pt-BR" sz="3600" b="1" dirty="0">
                <a:ln w="0"/>
                <a:latin typeface="+mn-lt"/>
                <a:ea typeface="+mn-ea"/>
                <a:cs typeface="+mn-cs"/>
              </a:rPr>
              <a:t>Muito obrigado e até a Próxima!</a:t>
            </a:r>
            <a:endParaRPr lang="pt-BR" b="1" dirty="0">
              <a:ln w="0"/>
            </a:endParaRPr>
          </a:p>
        </p:txBody>
      </p:sp>
      <p:pic>
        <p:nvPicPr>
          <p:cNvPr id="4" name="Imagem 3">
            <a:extLst>
              <a:ext uri="{FF2B5EF4-FFF2-40B4-BE49-F238E27FC236}">
                <a16:creationId xmlns:a16="http://schemas.microsoft.com/office/drawing/2014/main" id="{0C2BD879-6317-CE97-0A36-E66775D3E96D}"/>
              </a:ext>
            </a:extLst>
          </p:cNvPr>
          <p:cNvPicPr>
            <a:picLocks noChangeAspect="1"/>
          </p:cNvPicPr>
          <p:nvPr/>
        </p:nvPicPr>
        <p:blipFill>
          <a:blip r:embed="rId2"/>
          <a:stretch>
            <a:fillRect/>
          </a:stretch>
        </p:blipFill>
        <p:spPr>
          <a:xfrm>
            <a:off x="2247014" y="1358403"/>
            <a:ext cx="7357730" cy="5222871"/>
          </a:xfrm>
          <a:prstGeom prst="rect">
            <a:avLst/>
          </a:prstGeom>
        </p:spPr>
      </p:pic>
    </p:spTree>
    <p:extLst>
      <p:ext uri="{BB962C8B-B14F-4D97-AF65-F5344CB8AC3E}">
        <p14:creationId xmlns:p14="http://schemas.microsoft.com/office/powerpoint/2010/main" val="1237333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6ABC41-BDAB-E451-E4AC-D3BD6D6DB80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9BBC728-46BE-1826-8E1E-672CBCC7D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3F1915B-5794-95FA-17E0-6C4402D2299B}"/>
              </a:ext>
            </a:extLst>
          </p:cNvPr>
          <p:cNvSpPr>
            <a:spLocks noGrp="1"/>
          </p:cNvSpPr>
          <p:nvPr>
            <p:ph type="ctrTitle"/>
          </p:nvPr>
        </p:nvSpPr>
        <p:spPr>
          <a:xfrm>
            <a:off x="514349" y="2849909"/>
            <a:ext cx="11344275" cy="1637503"/>
          </a:xfrm>
          <a:solidFill>
            <a:srgbClr val="FFFFFF"/>
          </a:solidFill>
          <a:ln w="38100">
            <a:solidFill>
              <a:srgbClr val="404040"/>
            </a:solidFill>
            <a:miter lim="800000"/>
          </a:ln>
        </p:spPr>
        <p:txBody>
          <a:bodyPr anchor="ctr">
            <a:noAutofit/>
          </a:bodyPr>
          <a:lstStyle/>
          <a:p>
            <a:r>
              <a:rPr lang="pt-BR" sz="6000" b="1" dirty="0">
                <a:latin typeface="Times New Roman" panose="02020603050405020304" pitchFamily="18" charset="0"/>
                <a:cs typeface="Times New Roman" panose="02020603050405020304" pitchFamily="18" charset="0"/>
              </a:rPr>
              <a:t>Teoria dos Grafos                 </a:t>
            </a:r>
            <a:r>
              <a:rPr lang="pt-BR" sz="5600" dirty="0"/>
              <a:t>Caminho </a:t>
            </a:r>
            <a:r>
              <a:rPr lang="pt-BR" sz="5600" dirty="0" err="1"/>
              <a:t>Euleriano</a:t>
            </a:r>
            <a:r>
              <a:rPr lang="pt-BR" sz="5600" dirty="0"/>
              <a:t> e Hamiltoniano</a:t>
            </a:r>
            <a:endParaRPr lang="pt-BR" sz="5600" dirty="0">
              <a:solidFill>
                <a:srgbClr val="404040"/>
              </a:solidFill>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id="{088049A5-5042-654C-8CC5-0798E885DE47}"/>
              </a:ext>
            </a:extLst>
          </p:cNvPr>
          <p:cNvSpPr>
            <a:spLocks noGrp="1"/>
          </p:cNvSpPr>
          <p:nvPr>
            <p:ph type="subTitle" idx="1"/>
          </p:nvPr>
        </p:nvSpPr>
        <p:spPr>
          <a:xfrm>
            <a:off x="2247966" y="5041078"/>
            <a:ext cx="8519882" cy="847176"/>
          </a:xfrm>
        </p:spPr>
        <p:txBody>
          <a:bodyPr>
            <a:normAutofit/>
          </a:bodyPr>
          <a:lstStyle/>
          <a:p>
            <a:r>
              <a:rPr lang="pt-BR" sz="2900" dirty="0">
                <a:solidFill>
                  <a:srgbClr val="FFFFFF"/>
                </a:solidFill>
                <a:latin typeface="Times New Roman" panose="02020603050405020304" pitchFamily="18" charset="0"/>
                <a:cs typeface="Times New Roman" panose="02020603050405020304" pitchFamily="18" charset="0"/>
              </a:rPr>
              <a:t>Jonathan Bandeira: </a:t>
            </a:r>
            <a:r>
              <a:rPr lang="pt-BR" sz="2900" dirty="0">
                <a:solidFill>
                  <a:srgbClr val="FFFFFF"/>
                </a:solidFill>
                <a:latin typeface="Times New Roman" panose="02020603050405020304" pitchFamily="18" charset="0"/>
                <a:cs typeface="Times New Roman" panose="02020603050405020304" pitchFamily="18" charset="0"/>
                <a:sym typeface="Calibri"/>
                <a:hlinkClick r:id="rId2"/>
              </a:rPr>
              <a:t>jonathan.bandeira@souunit.com.br</a:t>
            </a:r>
            <a:r>
              <a:rPr lang="pt-BR" sz="2900" dirty="0">
                <a:solidFill>
                  <a:srgbClr val="FFFFFF"/>
                </a:solidFill>
                <a:latin typeface="Times New Roman" panose="02020603050405020304" pitchFamily="18" charset="0"/>
                <a:cs typeface="Times New Roman" panose="02020603050405020304" pitchFamily="18" charset="0"/>
                <a:sym typeface="Calibri"/>
              </a:rPr>
              <a:t> </a:t>
            </a:r>
          </a:p>
          <a:p>
            <a:endParaRPr lang="pt-BR" sz="1600" dirty="0">
              <a:solidFill>
                <a:srgbClr val="FFFFFF"/>
              </a:solidFill>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54E752C5-3647-6E59-3D82-E3DA5DEF5D14}"/>
              </a:ext>
            </a:extLst>
          </p:cNvPr>
          <p:cNvSpPr/>
          <p:nvPr/>
        </p:nvSpPr>
        <p:spPr>
          <a:xfrm>
            <a:off x="3979097" y="6319351"/>
            <a:ext cx="3607078" cy="480131"/>
          </a:xfrm>
          <a:prstGeom prst="rect">
            <a:avLst/>
          </a:prstGeom>
        </p:spPr>
        <p:txBody>
          <a:bodyPr wrap="none">
            <a:spAutoFit/>
          </a:bodyPr>
          <a:lstStyle/>
          <a:p>
            <a:pPr algn="ctr">
              <a:lnSpc>
                <a:spcPct val="90000"/>
              </a:lnSpc>
              <a:spcBef>
                <a:spcPts val="1000"/>
              </a:spcBef>
            </a:pPr>
            <a:r>
              <a:rPr lang="pt-BR" sz="2800" dirty="0">
                <a:solidFill>
                  <a:srgbClr val="FFFFFF"/>
                </a:solidFill>
                <a:latin typeface="Times New Roman" panose="02020603050405020304" pitchFamily="18" charset="0"/>
                <a:cs typeface="Times New Roman" panose="02020603050405020304" pitchFamily="18" charset="0"/>
              </a:rPr>
              <a:t>Ciência da Computação</a:t>
            </a:r>
          </a:p>
        </p:txBody>
      </p:sp>
      <p:pic>
        <p:nvPicPr>
          <p:cNvPr id="6" name="Imagem 5">
            <a:extLst>
              <a:ext uri="{FF2B5EF4-FFF2-40B4-BE49-F238E27FC236}">
                <a16:creationId xmlns:a16="http://schemas.microsoft.com/office/drawing/2014/main" id="{B0137A9B-E760-7915-497E-58889B1AB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8113" y="140903"/>
            <a:ext cx="4110038" cy="2195590"/>
          </a:xfrm>
          <a:prstGeom prst="rect">
            <a:avLst/>
          </a:prstGeom>
        </p:spPr>
      </p:pic>
      <p:pic>
        <p:nvPicPr>
          <p:cNvPr id="2052" name="Picture 4" descr="Porto Digital | LinkedIn">
            <a:extLst>
              <a:ext uri="{FF2B5EF4-FFF2-40B4-BE49-F238E27FC236}">
                <a16:creationId xmlns:a16="http://schemas.microsoft.com/office/drawing/2014/main" id="{15513F21-CE74-6195-FB18-429CAFF86A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812910" cy="281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64778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4008</TotalTime>
  <Words>1462</Words>
  <Application>Microsoft Office PowerPoint</Application>
  <PresentationFormat>Widescreen</PresentationFormat>
  <Paragraphs>154</Paragraphs>
  <Slides>29</Slides>
  <Notes>1</Notes>
  <HiddenSlides>0</HiddenSlides>
  <MMClips>0</MMClips>
  <ScaleCrop>false</ScaleCrop>
  <HeadingPairs>
    <vt:vector size="6" baseType="variant">
      <vt:variant>
        <vt:lpstr>Fontes usadas</vt:lpstr>
      </vt:variant>
      <vt:variant>
        <vt:i4>8</vt:i4>
      </vt:variant>
      <vt:variant>
        <vt:lpstr>Tema</vt:lpstr>
      </vt:variant>
      <vt:variant>
        <vt:i4>2</vt:i4>
      </vt:variant>
      <vt:variant>
        <vt:lpstr>Títulos de slides</vt:lpstr>
      </vt:variant>
      <vt:variant>
        <vt:i4>29</vt:i4>
      </vt:variant>
    </vt:vector>
  </HeadingPairs>
  <TitlesOfParts>
    <vt:vector size="39" baseType="lpstr">
      <vt:lpstr>Arial</vt:lpstr>
      <vt:lpstr>Calibri</vt:lpstr>
      <vt:lpstr>Calibri Light</vt:lpstr>
      <vt:lpstr>Libre Franklin Light</vt:lpstr>
      <vt:lpstr>Libre Franklin Semi-Bold</vt:lpstr>
      <vt:lpstr>Libre Franklin Thin</vt:lpstr>
      <vt:lpstr>Times New Roman</vt:lpstr>
      <vt:lpstr>Verdana</vt:lpstr>
      <vt:lpstr>Tema do Office</vt:lpstr>
      <vt:lpstr>Office Theme</vt:lpstr>
      <vt:lpstr>Teoria dos Grafos                 Caminho Euleriano e Hamiltoniano</vt:lpstr>
      <vt:lpstr>Roteiro</vt:lpstr>
      <vt:lpstr>Caminho e Ciclo Euleriano</vt:lpstr>
      <vt:lpstr>Grafo Euleriano</vt:lpstr>
      <vt:lpstr>Condições para a existência de ciclos e caminhos de Euler: </vt:lpstr>
      <vt:lpstr> Grafo Euleriano</vt:lpstr>
      <vt:lpstr>Problemas Eulerianos </vt:lpstr>
      <vt:lpstr>Caminho e Ciclo Hamiltoniano </vt:lpstr>
      <vt:lpstr>Caminho e Ciclo Hamiltoniano</vt:lpstr>
      <vt:lpstr>Apresentação do PowerPoint</vt:lpstr>
      <vt:lpstr>Apresentação do PowerPoint</vt:lpstr>
      <vt:lpstr>Grafos Densos e Esparsos</vt:lpstr>
      <vt:lpstr>Grafos Densos e Esparsos</vt:lpstr>
      <vt:lpstr>Representação de Grafos</vt:lpstr>
      <vt:lpstr>Apresentação do PowerPoint</vt:lpstr>
      <vt:lpstr>Apresentação do PowerPoint</vt:lpstr>
      <vt:lpstr>Representação de Grafos</vt:lpstr>
      <vt:lpstr>Representação de Grafos</vt:lpstr>
      <vt:lpstr>Representação de Grafos</vt:lpstr>
      <vt:lpstr>Apresentação do PowerPoint</vt:lpstr>
      <vt:lpstr>Exercícios</vt:lpstr>
      <vt:lpstr>Mostre o caminho de Euler nos grafos abaixo: </vt:lpstr>
      <vt:lpstr>Apresentação do PowerPoint</vt:lpstr>
      <vt:lpstr>Represente os grafos abaixo por meio de uma matriz de adjacência  </vt:lpstr>
      <vt:lpstr>Represente os grafos abaixo por meio de uma lista de adjacência  </vt:lpstr>
      <vt:lpstr>Apresentação do PowerPoint</vt:lpstr>
      <vt:lpstr>Apresentação do PowerPoint</vt:lpstr>
      <vt:lpstr>Muito obrigado e até a Próxima!</vt:lpstr>
      <vt:lpstr>Teoria dos Grafos                 Caminho Euleriano e Hamiltoniano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LINGUAGEM DE PROGRAMAÇÃO ORIENTADA A OBJETOS</dc:title>
  <dc:creator>FLAVIO DA SILVA NEVES</dc:creator>
  <cp:lastModifiedBy>Jonathan da Silva Bandeira</cp:lastModifiedBy>
  <cp:revision>155</cp:revision>
  <dcterms:created xsi:type="dcterms:W3CDTF">2020-02-02T23:21:56Z</dcterms:created>
  <dcterms:modified xsi:type="dcterms:W3CDTF">2026-01-28T16:35:22Z</dcterms:modified>
</cp:coreProperties>
</file>